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sng">
                <a:solidFill>
                  <a:srgbClr val="B51E6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rgbClr val="B51E6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12407"/>
            <a:ext cx="11353800" cy="5455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51127" y="6375085"/>
            <a:ext cx="254163" cy="40661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549140" y="629412"/>
            <a:ext cx="2950210" cy="0"/>
          </a:xfrm>
          <a:custGeom>
            <a:avLst/>
            <a:gdLst/>
            <a:ahLst/>
            <a:cxnLst/>
            <a:rect l="l" t="t" r="r" b="b"/>
            <a:pathLst>
              <a:path w="2950209" h="0">
                <a:moveTo>
                  <a:pt x="0" y="0"/>
                </a:moveTo>
                <a:lnTo>
                  <a:pt x="2949702" y="0"/>
                </a:lnTo>
              </a:path>
            </a:pathLst>
          </a:custGeom>
          <a:ln w="9144">
            <a:solidFill>
              <a:srgbClr val="C725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rgbClr val="B51E6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63372" y="1936685"/>
            <a:ext cx="4944110" cy="3862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2A2F3B"/>
                </a:solidFill>
                <a:latin typeface="Corbel"/>
                <a:cs typeface="Corbe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rgbClr val="B51E6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12407"/>
            <a:ext cx="11353800" cy="5455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651127" y="6375085"/>
            <a:ext cx="254163" cy="4066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9896" y="190627"/>
            <a:ext cx="1099756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sng">
                <a:solidFill>
                  <a:srgbClr val="B51E6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16939" y="6504457"/>
            <a:ext cx="4947920" cy="19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53318" y="6503237"/>
            <a:ext cx="2597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Relationship Id="rId24" Type="http://schemas.openxmlformats.org/officeDocument/2006/relationships/image" Target="../media/image31.png"/><Relationship Id="rId25" Type="http://schemas.openxmlformats.org/officeDocument/2006/relationships/image" Target="../media/image32.png"/><Relationship Id="rId26" Type="http://schemas.openxmlformats.org/officeDocument/2006/relationships/image" Target="../media/image33.png"/><Relationship Id="rId27" Type="http://schemas.openxmlformats.org/officeDocument/2006/relationships/image" Target="../media/image34.png"/><Relationship Id="rId28" Type="http://schemas.openxmlformats.org/officeDocument/2006/relationships/image" Target="../media/image35.png"/><Relationship Id="rId29" Type="http://schemas.openxmlformats.org/officeDocument/2006/relationships/image" Target="../media/image36.png"/><Relationship Id="rId30" Type="http://schemas.openxmlformats.org/officeDocument/2006/relationships/image" Target="../media/image3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jpg"/><Relationship Id="rId7" Type="http://schemas.openxmlformats.org/officeDocument/2006/relationships/image" Target="../media/image74.png"/><Relationship Id="rId8" Type="http://schemas.openxmlformats.org/officeDocument/2006/relationships/image" Target="../media/image7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jpg"/><Relationship Id="rId6" Type="http://schemas.openxmlformats.org/officeDocument/2006/relationships/image" Target="../media/image98.png"/><Relationship Id="rId7" Type="http://schemas.openxmlformats.org/officeDocument/2006/relationships/image" Target="../media/image9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jpg"/><Relationship Id="rId3" Type="http://schemas.openxmlformats.org/officeDocument/2006/relationships/image" Target="../media/image101.png"/><Relationship Id="rId4" Type="http://schemas.openxmlformats.org/officeDocument/2006/relationships/image" Target="../media/image102.jpg"/><Relationship Id="rId5" Type="http://schemas.openxmlformats.org/officeDocument/2006/relationships/image" Target="../media/image103.jpg"/><Relationship Id="rId6" Type="http://schemas.openxmlformats.org/officeDocument/2006/relationships/image" Target="../media/image97.jpg"/><Relationship Id="rId7" Type="http://schemas.openxmlformats.org/officeDocument/2006/relationships/image" Target="../media/image10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jpg"/><Relationship Id="rId3" Type="http://schemas.openxmlformats.org/officeDocument/2006/relationships/image" Target="../media/image104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nvestor.Relations@mphasis.com" TargetMode="Externa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jpg"/><Relationship Id="rId3" Type="http://schemas.openxmlformats.org/officeDocument/2006/relationships/image" Target="../media/image110.png"/><Relationship Id="rId4" Type="http://schemas.openxmlformats.org/officeDocument/2006/relationships/image" Target="../media/image111.jpg"/><Relationship Id="rId5" Type="http://schemas.openxmlformats.org/officeDocument/2006/relationships/image" Target="../media/image112.jpg"/><Relationship Id="rId6" Type="http://schemas.openxmlformats.org/officeDocument/2006/relationships/image" Target="../media/image113.jpg"/><Relationship Id="rId7" Type="http://schemas.openxmlformats.org/officeDocument/2006/relationships/image" Target="../media/image114.jpg"/><Relationship Id="rId8" Type="http://schemas.openxmlformats.org/officeDocument/2006/relationships/image" Target="../media/image115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jpg"/><Relationship Id="rId3" Type="http://schemas.openxmlformats.org/officeDocument/2006/relationships/image" Target="../media/image117.jpg"/><Relationship Id="rId4" Type="http://schemas.openxmlformats.org/officeDocument/2006/relationships/image" Target="../media/image118.jpg"/><Relationship Id="rId5" Type="http://schemas.openxmlformats.org/officeDocument/2006/relationships/image" Target="../media/image119.jpg"/><Relationship Id="rId6" Type="http://schemas.openxmlformats.org/officeDocument/2006/relationships/image" Target="../media/image120.jpg"/><Relationship Id="rId7" Type="http://schemas.openxmlformats.org/officeDocument/2006/relationships/image" Target="../media/image121.jpg"/><Relationship Id="rId8" Type="http://schemas.openxmlformats.org/officeDocument/2006/relationships/image" Target="../media/image122.jpg"/><Relationship Id="rId9" Type="http://schemas.openxmlformats.org/officeDocument/2006/relationships/image" Target="../media/image123.jpg"/><Relationship Id="rId10" Type="http://schemas.openxmlformats.org/officeDocument/2006/relationships/image" Target="../media/image12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693279" y="6456679"/>
            <a:ext cx="42271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25-01-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2019</a:t>
            </a:r>
            <a:r>
              <a:rPr dirty="0" sz="10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|</a:t>
            </a:r>
            <a:r>
              <a:rPr dirty="0" sz="10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©</a:t>
            </a:r>
            <a:r>
              <a:rPr dirty="0" sz="10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Mphasis</a:t>
            </a:r>
            <a:r>
              <a:rPr dirty="0" sz="10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2018</a:t>
            </a:r>
            <a:r>
              <a:rPr dirty="0" sz="1050" spc="3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Proprietary</a:t>
            </a:r>
            <a:r>
              <a:rPr dirty="0" sz="10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and confidential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 information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886711" y="1859279"/>
            <a:ext cx="4511040" cy="3420110"/>
            <a:chOff x="1886711" y="1859279"/>
            <a:chExt cx="4511040" cy="3420110"/>
          </a:xfrm>
        </p:grpSpPr>
        <p:sp>
          <p:nvSpPr>
            <p:cNvPr id="4" name="object 4" descr=""/>
            <p:cNvSpPr/>
            <p:nvPr/>
          </p:nvSpPr>
          <p:spPr>
            <a:xfrm>
              <a:off x="6393179" y="1859279"/>
              <a:ext cx="0" cy="3420110"/>
            </a:xfrm>
            <a:custGeom>
              <a:avLst/>
              <a:gdLst/>
              <a:ahLst/>
              <a:cxnLst/>
              <a:rect l="l" t="t" r="r" b="b"/>
              <a:pathLst>
                <a:path w="0" h="3420110">
                  <a:moveTo>
                    <a:pt x="0" y="0"/>
                  </a:moveTo>
                  <a:lnTo>
                    <a:pt x="0" y="3419729"/>
                  </a:lnTo>
                </a:path>
              </a:pathLst>
            </a:custGeom>
            <a:ln w="9144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6711" y="2865119"/>
              <a:ext cx="3720084" cy="12893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28713" y="2224785"/>
            <a:ext cx="3736975" cy="2220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905">
              <a:lnSpc>
                <a:spcPct val="100000"/>
              </a:lnSpc>
              <a:spcBef>
                <a:spcPts val="100"/>
              </a:spcBef>
            </a:pPr>
            <a:r>
              <a:rPr dirty="0" u="none" sz="4800" spc="-10" b="0">
                <a:solidFill>
                  <a:srgbClr val="FFFFFF"/>
                </a:solidFill>
                <a:latin typeface="Calibri"/>
                <a:cs typeface="Calibri"/>
              </a:rPr>
              <a:t>INVESTOR </a:t>
            </a:r>
            <a:r>
              <a:rPr dirty="0" u="none" sz="4800" spc="-70" b="0">
                <a:solidFill>
                  <a:srgbClr val="FFFFFF"/>
                </a:solidFill>
                <a:latin typeface="Calibri"/>
                <a:cs typeface="Calibri"/>
              </a:rPr>
              <a:t>PRESENTATION </a:t>
            </a:r>
            <a:r>
              <a:rPr dirty="0" u="none" sz="4800" b="0">
                <a:solidFill>
                  <a:srgbClr val="FFFFFF"/>
                </a:solidFill>
                <a:latin typeface="Calibri"/>
                <a:cs typeface="Calibri"/>
              </a:rPr>
              <a:t>Q3 </a:t>
            </a:r>
            <a:r>
              <a:rPr dirty="0" u="none" sz="4800" spc="-20" b="0">
                <a:solidFill>
                  <a:srgbClr val="FFFFFF"/>
                </a:solidFill>
                <a:latin typeface="Calibri"/>
                <a:cs typeface="Calibri"/>
              </a:rPr>
              <a:t>FY19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6894" y="218313"/>
            <a:ext cx="1046734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35960" marR="5080" indent="-3223895">
              <a:lnSpc>
                <a:spcPct val="100000"/>
              </a:lnSpc>
              <a:spcBef>
                <a:spcPts val="100"/>
              </a:spcBef>
            </a:pPr>
            <a:r>
              <a:rPr dirty="0" u="none" b="0" i="1">
                <a:latin typeface="Corbel"/>
                <a:cs typeface="Corbel"/>
              </a:rPr>
              <a:t>Enable</a:t>
            </a:r>
            <a:r>
              <a:rPr dirty="0" u="none" spc="-60" b="0" i="1">
                <a:latin typeface="Corbel"/>
                <a:cs typeface="Corbel"/>
              </a:rPr>
              <a:t> </a:t>
            </a:r>
            <a:r>
              <a:rPr dirty="0" u="none" i="1">
                <a:latin typeface="Corbel"/>
                <a:cs typeface="Corbel"/>
              </a:rPr>
              <a:t>Customers</a:t>
            </a:r>
            <a:r>
              <a:rPr dirty="0" u="none" spc="-30" i="1">
                <a:latin typeface="Corbel"/>
                <a:cs typeface="Corbel"/>
              </a:rPr>
              <a:t> </a:t>
            </a:r>
            <a:r>
              <a:rPr dirty="0" u="none" b="0" i="1">
                <a:latin typeface="Corbel"/>
                <a:cs typeface="Corbel"/>
              </a:rPr>
              <a:t>to</a:t>
            </a:r>
            <a:r>
              <a:rPr dirty="0" u="none" spc="-50" b="0" i="1">
                <a:latin typeface="Corbel"/>
                <a:cs typeface="Corbel"/>
              </a:rPr>
              <a:t> </a:t>
            </a:r>
            <a:r>
              <a:rPr dirty="0" u="none" spc="-10" b="0" i="1">
                <a:latin typeface="Corbel"/>
                <a:cs typeface="Corbel"/>
              </a:rPr>
              <a:t>reimagi</a:t>
            </a:r>
            <a:r>
              <a:rPr dirty="0" spc="-10" b="0" i="1">
                <a:latin typeface="Corbel"/>
                <a:cs typeface="Corbel"/>
              </a:rPr>
              <a:t>ne</a:t>
            </a:r>
            <a:r>
              <a:rPr dirty="0" spc="-45" b="0" i="1">
                <a:latin typeface="Corbel"/>
                <a:cs typeface="Corbel"/>
              </a:rPr>
              <a:t> </a:t>
            </a:r>
            <a:r>
              <a:rPr dirty="0" b="0" i="1">
                <a:latin typeface="Corbel"/>
                <a:cs typeface="Corbel"/>
              </a:rPr>
              <a:t>their</a:t>
            </a:r>
            <a:r>
              <a:rPr dirty="0" spc="-35" b="0" i="1">
                <a:latin typeface="Corbel"/>
                <a:cs typeface="Corbel"/>
              </a:rPr>
              <a:t> </a:t>
            </a:r>
            <a:r>
              <a:rPr dirty="0" i="1">
                <a:latin typeface="Corbel"/>
                <a:cs typeface="Corbel"/>
              </a:rPr>
              <a:t>Digital</a:t>
            </a:r>
            <a:r>
              <a:rPr dirty="0" spc="-60" i="1">
                <a:latin typeface="Corbel"/>
                <a:cs typeface="Corbel"/>
              </a:rPr>
              <a:t> </a:t>
            </a:r>
            <a:r>
              <a:rPr dirty="0" i="1">
                <a:latin typeface="Corbel"/>
                <a:cs typeface="Corbel"/>
              </a:rPr>
              <a:t>Future</a:t>
            </a:r>
            <a:r>
              <a:rPr dirty="0" spc="-30" i="1">
                <a:latin typeface="Corbel"/>
                <a:cs typeface="Corbel"/>
              </a:rPr>
              <a:t> </a:t>
            </a:r>
            <a:r>
              <a:rPr dirty="0" b="0" i="1">
                <a:latin typeface="Corbel"/>
                <a:cs typeface="Corbel"/>
              </a:rPr>
              <a:t>by</a:t>
            </a:r>
            <a:r>
              <a:rPr dirty="0" u="none" spc="-45" b="0" i="1">
                <a:latin typeface="Corbel"/>
                <a:cs typeface="Corbel"/>
              </a:rPr>
              <a:t> </a:t>
            </a:r>
            <a:r>
              <a:rPr dirty="0" u="none" b="0" i="1">
                <a:latin typeface="Corbel"/>
                <a:cs typeface="Corbel"/>
              </a:rPr>
              <a:t>shifting</a:t>
            </a:r>
            <a:r>
              <a:rPr dirty="0" u="none" spc="-75" b="0" i="1">
                <a:latin typeface="Corbel"/>
                <a:cs typeface="Corbel"/>
              </a:rPr>
              <a:t> </a:t>
            </a:r>
            <a:r>
              <a:rPr dirty="0" u="none" b="0" i="1">
                <a:latin typeface="Corbel"/>
                <a:cs typeface="Corbel"/>
              </a:rPr>
              <a:t>anything</a:t>
            </a:r>
            <a:r>
              <a:rPr dirty="0" u="none" spc="-65" b="0" i="1">
                <a:latin typeface="Corbel"/>
                <a:cs typeface="Corbel"/>
              </a:rPr>
              <a:t> </a:t>
            </a:r>
            <a:r>
              <a:rPr dirty="0" u="none" b="0" i="1">
                <a:latin typeface="Corbel"/>
                <a:cs typeface="Corbel"/>
              </a:rPr>
              <a:t>to</a:t>
            </a:r>
            <a:r>
              <a:rPr dirty="0" u="none" spc="-35" b="0" i="1">
                <a:latin typeface="Corbel"/>
                <a:cs typeface="Corbel"/>
              </a:rPr>
              <a:t> </a:t>
            </a:r>
            <a:r>
              <a:rPr dirty="0" u="none" i="1">
                <a:latin typeface="Corbel"/>
                <a:cs typeface="Corbel"/>
              </a:rPr>
              <a:t>Cloud</a:t>
            </a:r>
            <a:r>
              <a:rPr dirty="0" u="none" spc="-40" i="1">
                <a:latin typeface="Corbel"/>
                <a:cs typeface="Corbel"/>
              </a:rPr>
              <a:t> </a:t>
            </a:r>
            <a:r>
              <a:rPr dirty="0" u="none" spc="-25" b="0" i="1">
                <a:latin typeface="Corbel"/>
                <a:cs typeface="Corbel"/>
              </a:rPr>
              <a:t>and </a:t>
            </a:r>
            <a:r>
              <a:rPr dirty="0" u="none" b="0" i="1">
                <a:latin typeface="Corbel"/>
                <a:cs typeface="Corbel"/>
              </a:rPr>
              <a:t>power</a:t>
            </a:r>
            <a:r>
              <a:rPr dirty="0" u="none" spc="-80" b="0" i="1">
                <a:latin typeface="Corbel"/>
                <a:cs typeface="Corbel"/>
              </a:rPr>
              <a:t> </a:t>
            </a:r>
            <a:r>
              <a:rPr dirty="0" u="none" b="0" i="1">
                <a:latin typeface="Corbel"/>
                <a:cs typeface="Corbel"/>
              </a:rPr>
              <a:t>everything</a:t>
            </a:r>
            <a:r>
              <a:rPr dirty="0" u="none" spc="-70" b="0" i="1">
                <a:latin typeface="Corbel"/>
                <a:cs typeface="Corbel"/>
              </a:rPr>
              <a:t> </a:t>
            </a:r>
            <a:r>
              <a:rPr dirty="0" u="none" b="0" i="1">
                <a:latin typeface="Corbel"/>
                <a:cs typeface="Corbel"/>
              </a:rPr>
              <a:t>with</a:t>
            </a:r>
            <a:r>
              <a:rPr dirty="0" u="none" spc="-55" b="0" i="1">
                <a:latin typeface="Corbel"/>
                <a:cs typeface="Corbel"/>
              </a:rPr>
              <a:t> </a:t>
            </a:r>
            <a:r>
              <a:rPr dirty="0" u="none" spc="-10" i="1">
                <a:latin typeface="Corbel"/>
                <a:cs typeface="Corbel"/>
              </a:rPr>
              <a:t>Cognitive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205221" y="3082289"/>
            <a:ext cx="1728470" cy="1727200"/>
          </a:xfrm>
          <a:custGeom>
            <a:avLst/>
            <a:gdLst/>
            <a:ahLst/>
            <a:cxnLst/>
            <a:rect l="l" t="t" r="r" b="b"/>
            <a:pathLst>
              <a:path w="1728470" h="1727200">
                <a:moveTo>
                  <a:pt x="0" y="863346"/>
                </a:moveTo>
                <a:lnTo>
                  <a:pt x="1278" y="815981"/>
                </a:lnTo>
                <a:lnTo>
                  <a:pt x="5070" y="769284"/>
                </a:lnTo>
                <a:lnTo>
                  <a:pt x="11308" y="723320"/>
                </a:lnTo>
                <a:lnTo>
                  <a:pt x="19928" y="678154"/>
                </a:lnTo>
                <a:lnTo>
                  <a:pt x="30864" y="633853"/>
                </a:lnTo>
                <a:lnTo>
                  <a:pt x="44049" y="590482"/>
                </a:lnTo>
                <a:lnTo>
                  <a:pt x="59418" y="548108"/>
                </a:lnTo>
                <a:lnTo>
                  <a:pt x="76905" y="506796"/>
                </a:lnTo>
                <a:lnTo>
                  <a:pt x="96444" y="466612"/>
                </a:lnTo>
                <a:lnTo>
                  <a:pt x="117968" y="427623"/>
                </a:lnTo>
                <a:lnTo>
                  <a:pt x="141413" y="389893"/>
                </a:lnTo>
                <a:lnTo>
                  <a:pt x="166713" y="353488"/>
                </a:lnTo>
                <a:lnTo>
                  <a:pt x="193801" y="318476"/>
                </a:lnTo>
                <a:lnTo>
                  <a:pt x="222611" y="284920"/>
                </a:lnTo>
                <a:lnTo>
                  <a:pt x="253079" y="252888"/>
                </a:lnTo>
                <a:lnTo>
                  <a:pt x="285137" y="222445"/>
                </a:lnTo>
                <a:lnTo>
                  <a:pt x="318720" y="193658"/>
                </a:lnTo>
                <a:lnTo>
                  <a:pt x="353763" y="166591"/>
                </a:lnTo>
                <a:lnTo>
                  <a:pt x="390198" y="141311"/>
                </a:lnTo>
                <a:lnTo>
                  <a:pt x="427961" y="117884"/>
                </a:lnTo>
                <a:lnTo>
                  <a:pt x="466986" y="96375"/>
                </a:lnTo>
                <a:lnTo>
                  <a:pt x="507206" y="76851"/>
                </a:lnTo>
                <a:lnTo>
                  <a:pt x="548556" y="59377"/>
                </a:lnTo>
                <a:lnTo>
                  <a:pt x="590970" y="44019"/>
                </a:lnTo>
                <a:lnTo>
                  <a:pt x="634382" y="30843"/>
                </a:lnTo>
                <a:lnTo>
                  <a:pt x="678726" y="19915"/>
                </a:lnTo>
                <a:lnTo>
                  <a:pt x="723937" y="11301"/>
                </a:lnTo>
                <a:lnTo>
                  <a:pt x="769948" y="5066"/>
                </a:lnTo>
                <a:lnTo>
                  <a:pt x="816693" y="1277"/>
                </a:lnTo>
                <a:lnTo>
                  <a:pt x="864107" y="0"/>
                </a:lnTo>
                <a:lnTo>
                  <a:pt x="911522" y="1277"/>
                </a:lnTo>
                <a:lnTo>
                  <a:pt x="958267" y="5066"/>
                </a:lnTo>
                <a:lnTo>
                  <a:pt x="1004278" y="11301"/>
                </a:lnTo>
                <a:lnTo>
                  <a:pt x="1049489" y="19915"/>
                </a:lnTo>
                <a:lnTo>
                  <a:pt x="1093833" y="30843"/>
                </a:lnTo>
                <a:lnTo>
                  <a:pt x="1137245" y="44019"/>
                </a:lnTo>
                <a:lnTo>
                  <a:pt x="1179659" y="59377"/>
                </a:lnTo>
                <a:lnTo>
                  <a:pt x="1221009" y="76851"/>
                </a:lnTo>
                <a:lnTo>
                  <a:pt x="1261229" y="96375"/>
                </a:lnTo>
                <a:lnTo>
                  <a:pt x="1300254" y="117884"/>
                </a:lnTo>
                <a:lnTo>
                  <a:pt x="1338017" y="141311"/>
                </a:lnTo>
                <a:lnTo>
                  <a:pt x="1374452" y="166591"/>
                </a:lnTo>
                <a:lnTo>
                  <a:pt x="1409495" y="193658"/>
                </a:lnTo>
                <a:lnTo>
                  <a:pt x="1443078" y="222445"/>
                </a:lnTo>
                <a:lnTo>
                  <a:pt x="1475136" y="252888"/>
                </a:lnTo>
                <a:lnTo>
                  <a:pt x="1505604" y="284920"/>
                </a:lnTo>
                <a:lnTo>
                  <a:pt x="1534414" y="318476"/>
                </a:lnTo>
                <a:lnTo>
                  <a:pt x="1561502" y="353488"/>
                </a:lnTo>
                <a:lnTo>
                  <a:pt x="1586802" y="389893"/>
                </a:lnTo>
                <a:lnTo>
                  <a:pt x="1610247" y="427623"/>
                </a:lnTo>
                <a:lnTo>
                  <a:pt x="1631771" y="466612"/>
                </a:lnTo>
                <a:lnTo>
                  <a:pt x="1651310" y="506796"/>
                </a:lnTo>
                <a:lnTo>
                  <a:pt x="1668797" y="548108"/>
                </a:lnTo>
                <a:lnTo>
                  <a:pt x="1684166" y="590482"/>
                </a:lnTo>
                <a:lnTo>
                  <a:pt x="1697351" y="633853"/>
                </a:lnTo>
                <a:lnTo>
                  <a:pt x="1708287" y="678154"/>
                </a:lnTo>
                <a:lnTo>
                  <a:pt x="1716907" y="723320"/>
                </a:lnTo>
                <a:lnTo>
                  <a:pt x="1723145" y="769284"/>
                </a:lnTo>
                <a:lnTo>
                  <a:pt x="1726937" y="815981"/>
                </a:lnTo>
                <a:lnTo>
                  <a:pt x="1728216" y="863346"/>
                </a:lnTo>
                <a:lnTo>
                  <a:pt x="1726937" y="910710"/>
                </a:lnTo>
                <a:lnTo>
                  <a:pt x="1723145" y="957407"/>
                </a:lnTo>
                <a:lnTo>
                  <a:pt x="1716907" y="1003371"/>
                </a:lnTo>
                <a:lnTo>
                  <a:pt x="1708287" y="1048537"/>
                </a:lnTo>
                <a:lnTo>
                  <a:pt x="1697351" y="1092838"/>
                </a:lnTo>
                <a:lnTo>
                  <a:pt x="1684166" y="1136209"/>
                </a:lnTo>
                <a:lnTo>
                  <a:pt x="1668797" y="1178583"/>
                </a:lnTo>
                <a:lnTo>
                  <a:pt x="1651310" y="1219895"/>
                </a:lnTo>
                <a:lnTo>
                  <a:pt x="1631771" y="1260079"/>
                </a:lnTo>
                <a:lnTo>
                  <a:pt x="1610247" y="1299068"/>
                </a:lnTo>
                <a:lnTo>
                  <a:pt x="1586802" y="1336798"/>
                </a:lnTo>
                <a:lnTo>
                  <a:pt x="1561502" y="1373203"/>
                </a:lnTo>
                <a:lnTo>
                  <a:pt x="1534414" y="1408215"/>
                </a:lnTo>
                <a:lnTo>
                  <a:pt x="1505604" y="1441771"/>
                </a:lnTo>
                <a:lnTo>
                  <a:pt x="1475136" y="1473803"/>
                </a:lnTo>
                <a:lnTo>
                  <a:pt x="1443078" y="1504246"/>
                </a:lnTo>
                <a:lnTo>
                  <a:pt x="1409495" y="1533033"/>
                </a:lnTo>
                <a:lnTo>
                  <a:pt x="1374452" y="1560100"/>
                </a:lnTo>
                <a:lnTo>
                  <a:pt x="1338017" y="1585380"/>
                </a:lnTo>
                <a:lnTo>
                  <a:pt x="1300254" y="1608807"/>
                </a:lnTo>
                <a:lnTo>
                  <a:pt x="1261229" y="1630316"/>
                </a:lnTo>
                <a:lnTo>
                  <a:pt x="1221009" y="1649840"/>
                </a:lnTo>
                <a:lnTo>
                  <a:pt x="1179659" y="1667314"/>
                </a:lnTo>
                <a:lnTo>
                  <a:pt x="1137245" y="1682672"/>
                </a:lnTo>
                <a:lnTo>
                  <a:pt x="1093833" y="1695848"/>
                </a:lnTo>
                <a:lnTo>
                  <a:pt x="1049489" y="1706776"/>
                </a:lnTo>
                <a:lnTo>
                  <a:pt x="1004278" y="1715390"/>
                </a:lnTo>
                <a:lnTo>
                  <a:pt x="958267" y="1721625"/>
                </a:lnTo>
                <a:lnTo>
                  <a:pt x="911522" y="1725414"/>
                </a:lnTo>
                <a:lnTo>
                  <a:pt x="864107" y="1726692"/>
                </a:lnTo>
                <a:lnTo>
                  <a:pt x="816693" y="1725414"/>
                </a:lnTo>
                <a:lnTo>
                  <a:pt x="769948" y="1721625"/>
                </a:lnTo>
                <a:lnTo>
                  <a:pt x="723937" y="1715390"/>
                </a:lnTo>
                <a:lnTo>
                  <a:pt x="678726" y="1706776"/>
                </a:lnTo>
                <a:lnTo>
                  <a:pt x="634382" y="1695848"/>
                </a:lnTo>
                <a:lnTo>
                  <a:pt x="590970" y="1682672"/>
                </a:lnTo>
                <a:lnTo>
                  <a:pt x="548556" y="1667314"/>
                </a:lnTo>
                <a:lnTo>
                  <a:pt x="507206" y="1649840"/>
                </a:lnTo>
                <a:lnTo>
                  <a:pt x="466986" y="1630316"/>
                </a:lnTo>
                <a:lnTo>
                  <a:pt x="427961" y="1608807"/>
                </a:lnTo>
                <a:lnTo>
                  <a:pt x="390198" y="1585380"/>
                </a:lnTo>
                <a:lnTo>
                  <a:pt x="353763" y="1560100"/>
                </a:lnTo>
                <a:lnTo>
                  <a:pt x="318720" y="1533033"/>
                </a:lnTo>
                <a:lnTo>
                  <a:pt x="285137" y="1504246"/>
                </a:lnTo>
                <a:lnTo>
                  <a:pt x="253079" y="1473803"/>
                </a:lnTo>
                <a:lnTo>
                  <a:pt x="222611" y="1441771"/>
                </a:lnTo>
                <a:lnTo>
                  <a:pt x="193801" y="1408215"/>
                </a:lnTo>
                <a:lnTo>
                  <a:pt x="166713" y="1373203"/>
                </a:lnTo>
                <a:lnTo>
                  <a:pt x="141413" y="1336798"/>
                </a:lnTo>
                <a:lnTo>
                  <a:pt x="117968" y="1299068"/>
                </a:lnTo>
                <a:lnTo>
                  <a:pt x="96444" y="1260079"/>
                </a:lnTo>
                <a:lnTo>
                  <a:pt x="76905" y="1219895"/>
                </a:lnTo>
                <a:lnTo>
                  <a:pt x="59418" y="1178583"/>
                </a:lnTo>
                <a:lnTo>
                  <a:pt x="44049" y="1136209"/>
                </a:lnTo>
                <a:lnTo>
                  <a:pt x="30864" y="1092838"/>
                </a:lnTo>
                <a:lnTo>
                  <a:pt x="19928" y="1048537"/>
                </a:lnTo>
                <a:lnTo>
                  <a:pt x="11308" y="1003371"/>
                </a:lnTo>
                <a:lnTo>
                  <a:pt x="5070" y="957407"/>
                </a:lnTo>
                <a:lnTo>
                  <a:pt x="1278" y="910710"/>
                </a:lnTo>
                <a:lnTo>
                  <a:pt x="0" y="863346"/>
                </a:lnTo>
                <a:close/>
              </a:path>
            </a:pathLst>
          </a:custGeom>
          <a:ln w="25908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435853" y="3683253"/>
            <a:ext cx="1266825" cy="47815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38100" marR="30480" indent="34925">
              <a:lnSpc>
                <a:spcPts val="1700"/>
              </a:lnSpc>
              <a:spcBef>
                <a:spcPts val="285"/>
              </a:spcBef>
            </a:pPr>
            <a:r>
              <a:rPr dirty="0" sz="1550" spc="-10">
                <a:latin typeface="Corbel"/>
                <a:cs typeface="Corbel"/>
              </a:rPr>
              <a:t>Front2Back</a:t>
            </a:r>
            <a:r>
              <a:rPr dirty="0" baseline="25000" sz="1500" spc="-15">
                <a:latin typeface="Corbel"/>
                <a:cs typeface="Corbel"/>
              </a:rPr>
              <a:t>TM</a:t>
            </a:r>
            <a:r>
              <a:rPr dirty="0" baseline="25000" sz="1500" spc="750">
                <a:latin typeface="Corbel"/>
                <a:cs typeface="Corbel"/>
              </a:rPr>
              <a:t> </a:t>
            </a:r>
            <a:r>
              <a:rPr dirty="0" sz="1550" spc="-10">
                <a:latin typeface="Corbel"/>
                <a:cs typeface="Corbel"/>
              </a:rPr>
              <a:t>Modernization</a:t>
            </a:r>
            <a:endParaRPr sz="1550">
              <a:latin typeface="Corbel"/>
              <a:cs typeface="Corbe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356097" y="1372361"/>
            <a:ext cx="1428115" cy="1710055"/>
          </a:xfrm>
          <a:custGeom>
            <a:avLst/>
            <a:gdLst/>
            <a:ahLst/>
            <a:cxnLst/>
            <a:rect l="l" t="t" r="r" b="b"/>
            <a:pathLst>
              <a:path w="1428115" h="1710055">
                <a:moveTo>
                  <a:pt x="713104" y="1709927"/>
                </a:moveTo>
                <a:lnTo>
                  <a:pt x="713104" y="1428877"/>
                </a:lnTo>
              </a:path>
              <a:path w="1428115" h="1710055">
                <a:moveTo>
                  <a:pt x="0" y="713993"/>
                </a:moveTo>
                <a:lnTo>
                  <a:pt x="1647" y="665108"/>
                </a:lnTo>
                <a:lnTo>
                  <a:pt x="6517" y="617107"/>
                </a:lnTo>
                <a:lnTo>
                  <a:pt x="14505" y="570097"/>
                </a:lnTo>
                <a:lnTo>
                  <a:pt x="25504" y="524183"/>
                </a:lnTo>
                <a:lnTo>
                  <a:pt x="39407" y="479473"/>
                </a:lnTo>
                <a:lnTo>
                  <a:pt x="56108" y="436072"/>
                </a:lnTo>
                <a:lnTo>
                  <a:pt x="75501" y="394087"/>
                </a:lnTo>
                <a:lnTo>
                  <a:pt x="97479" y="353624"/>
                </a:lnTo>
                <a:lnTo>
                  <a:pt x="121937" y="314790"/>
                </a:lnTo>
                <a:lnTo>
                  <a:pt x="148767" y="277690"/>
                </a:lnTo>
                <a:lnTo>
                  <a:pt x="177864" y="242432"/>
                </a:lnTo>
                <a:lnTo>
                  <a:pt x="209121" y="209121"/>
                </a:lnTo>
                <a:lnTo>
                  <a:pt x="242432" y="177864"/>
                </a:lnTo>
                <a:lnTo>
                  <a:pt x="277690" y="148767"/>
                </a:lnTo>
                <a:lnTo>
                  <a:pt x="314790" y="121937"/>
                </a:lnTo>
                <a:lnTo>
                  <a:pt x="353624" y="97479"/>
                </a:lnTo>
                <a:lnTo>
                  <a:pt x="394087" y="75501"/>
                </a:lnTo>
                <a:lnTo>
                  <a:pt x="436072" y="56108"/>
                </a:lnTo>
                <a:lnTo>
                  <a:pt x="479473" y="39407"/>
                </a:lnTo>
                <a:lnTo>
                  <a:pt x="524183" y="25504"/>
                </a:lnTo>
                <a:lnTo>
                  <a:pt x="570097" y="14505"/>
                </a:lnTo>
                <a:lnTo>
                  <a:pt x="617107" y="6517"/>
                </a:lnTo>
                <a:lnTo>
                  <a:pt x="665108" y="1647"/>
                </a:lnTo>
                <a:lnTo>
                  <a:pt x="713993" y="0"/>
                </a:lnTo>
                <a:lnTo>
                  <a:pt x="762879" y="1647"/>
                </a:lnTo>
                <a:lnTo>
                  <a:pt x="810880" y="6517"/>
                </a:lnTo>
                <a:lnTo>
                  <a:pt x="857890" y="14505"/>
                </a:lnTo>
                <a:lnTo>
                  <a:pt x="903804" y="25504"/>
                </a:lnTo>
                <a:lnTo>
                  <a:pt x="948514" y="39407"/>
                </a:lnTo>
                <a:lnTo>
                  <a:pt x="991915" y="56108"/>
                </a:lnTo>
                <a:lnTo>
                  <a:pt x="1033900" y="75501"/>
                </a:lnTo>
                <a:lnTo>
                  <a:pt x="1074363" y="97479"/>
                </a:lnTo>
                <a:lnTo>
                  <a:pt x="1113197" y="121937"/>
                </a:lnTo>
                <a:lnTo>
                  <a:pt x="1150297" y="148767"/>
                </a:lnTo>
                <a:lnTo>
                  <a:pt x="1185555" y="177864"/>
                </a:lnTo>
                <a:lnTo>
                  <a:pt x="1218866" y="209121"/>
                </a:lnTo>
                <a:lnTo>
                  <a:pt x="1250123" y="242432"/>
                </a:lnTo>
                <a:lnTo>
                  <a:pt x="1279220" y="277690"/>
                </a:lnTo>
                <a:lnTo>
                  <a:pt x="1306050" y="314790"/>
                </a:lnTo>
                <a:lnTo>
                  <a:pt x="1330508" y="353624"/>
                </a:lnTo>
                <a:lnTo>
                  <a:pt x="1352486" y="394087"/>
                </a:lnTo>
                <a:lnTo>
                  <a:pt x="1371879" y="436072"/>
                </a:lnTo>
                <a:lnTo>
                  <a:pt x="1388580" y="479473"/>
                </a:lnTo>
                <a:lnTo>
                  <a:pt x="1402483" y="524183"/>
                </a:lnTo>
                <a:lnTo>
                  <a:pt x="1413482" y="570097"/>
                </a:lnTo>
                <a:lnTo>
                  <a:pt x="1421470" y="617107"/>
                </a:lnTo>
                <a:lnTo>
                  <a:pt x="1426340" y="665108"/>
                </a:lnTo>
                <a:lnTo>
                  <a:pt x="1427987" y="713993"/>
                </a:lnTo>
                <a:lnTo>
                  <a:pt x="1426340" y="762879"/>
                </a:lnTo>
                <a:lnTo>
                  <a:pt x="1421470" y="810880"/>
                </a:lnTo>
                <a:lnTo>
                  <a:pt x="1413482" y="857890"/>
                </a:lnTo>
                <a:lnTo>
                  <a:pt x="1402483" y="903804"/>
                </a:lnTo>
                <a:lnTo>
                  <a:pt x="1388580" y="948514"/>
                </a:lnTo>
                <a:lnTo>
                  <a:pt x="1371879" y="991915"/>
                </a:lnTo>
                <a:lnTo>
                  <a:pt x="1352486" y="1033900"/>
                </a:lnTo>
                <a:lnTo>
                  <a:pt x="1330508" y="1074363"/>
                </a:lnTo>
                <a:lnTo>
                  <a:pt x="1306050" y="1113197"/>
                </a:lnTo>
                <a:lnTo>
                  <a:pt x="1279220" y="1150297"/>
                </a:lnTo>
                <a:lnTo>
                  <a:pt x="1250123" y="1185555"/>
                </a:lnTo>
                <a:lnTo>
                  <a:pt x="1218866" y="1218866"/>
                </a:lnTo>
                <a:lnTo>
                  <a:pt x="1185555" y="1250123"/>
                </a:lnTo>
                <a:lnTo>
                  <a:pt x="1150297" y="1279220"/>
                </a:lnTo>
                <a:lnTo>
                  <a:pt x="1113197" y="1306050"/>
                </a:lnTo>
                <a:lnTo>
                  <a:pt x="1074363" y="1330508"/>
                </a:lnTo>
                <a:lnTo>
                  <a:pt x="1033900" y="1352486"/>
                </a:lnTo>
                <a:lnTo>
                  <a:pt x="991915" y="1371879"/>
                </a:lnTo>
                <a:lnTo>
                  <a:pt x="948514" y="1388580"/>
                </a:lnTo>
                <a:lnTo>
                  <a:pt x="903804" y="1402483"/>
                </a:lnTo>
                <a:lnTo>
                  <a:pt x="857890" y="1413482"/>
                </a:lnTo>
                <a:lnTo>
                  <a:pt x="810880" y="1421470"/>
                </a:lnTo>
                <a:lnTo>
                  <a:pt x="762879" y="1426340"/>
                </a:lnTo>
                <a:lnTo>
                  <a:pt x="713993" y="1427988"/>
                </a:lnTo>
                <a:lnTo>
                  <a:pt x="665108" y="1426340"/>
                </a:lnTo>
                <a:lnTo>
                  <a:pt x="617107" y="1421470"/>
                </a:lnTo>
                <a:lnTo>
                  <a:pt x="570097" y="1413482"/>
                </a:lnTo>
                <a:lnTo>
                  <a:pt x="524183" y="1402483"/>
                </a:lnTo>
                <a:lnTo>
                  <a:pt x="479473" y="1388580"/>
                </a:lnTo>
                <a:lnTo>
                  <a:pt x="436072" y="1371879"/>
                </a:lnTo>
                <a:lnTo>
                  <a:pt x="394087" y="1352486"/>
                </a:lnTo>
                <a:lnTo>
                  <a:pt x="353624" y="1330508"/>
                </a:lnTo>
                <a:lnTo>
                  <a:pt x="314790" y="1306050"/>
                </a:lnTo>
                <a:lnTo>
                  <a:pt x="277690" y="1279220"/>
                </a:lnTo>
                <a:lnTo>
                  <a:pt x="242432" y="1250123"/>
                </a:lnTo>
                <a:lnTo>
                  <a:pt x="209121" y="1218866"/>
                </a:lnTo>
                <a:lnTo>
                  <a:pt x="177864" y="1185555"/>
                </a:lnTo>
                <a:lnTo>
                  <a:pt x="148767" y="1150297"/>
                </a:lnTo>
                <a:lnTo>
                  <a:pt x="121937" y="1113197"/>
                </a:lnTo>
                <a:lnTo>
                  <a:pt x="97479" y="1074363"/>
                </a:lnTo>
                <a:lnTo>
                  <a:pt x="75501" y="1033900"/>
                </a:lnTo>
                <a:lnTo>
                  <a:pt x="56108" y="991915"/>
                </a:lnTo>
                <a:lnTo>
                  <a:pt x="39407" y="948514"/>
                </a:lnTo>
                <a:lnTo>
                  <a:pt x="25504" y="903804"/>
                </a:lnTo>
                <a:lnTo>
                  <a:pt x="14505" y="857890"/>
                </a:lnTo>
                <a:lnTo>
                  <a:pt x="6517" y="810880"/>
                </a:lnTo>
                <a:lnTo>
                  <a:pt x="1647" y="762879"/>
                </a:lnTo>
                <a:lnTo>
                  <a:pt x="0" y="713993"/>
                </a:lnTo>
                <a:close/>
              </a:path>
            </a:pathLst>
          </a:custGeom>
          <a:ln w="25908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658358" y="1545463"/>
            <a:ext cx="822960" cy="47815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231775" marR="5080" indent="-219710">
              <a:lnSpc>
                <a:spcPts val="1700"/>
              </a:lnSpc>
              <a:spcBef>
                <a:spcPts val="285"/>
              </a:spcBef>
            </a:pPr>
            <a:r>
              <a:rPr dirty="0" sz="1550" spc="-10">
                <a:latin typeface="Corbel"/>
                <a:cs typeface="Corbel"/>
              </a:rPr>
              <a:t>Customer First</a:t>
            </a:r>
            <a:endParaRPr sz="1550">
              <a:latin typeface="Corbel"/>
              <a:cs typeface="Corbe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804532" y="4148264"/>
            <a:ext cx="1602105" cy="1454150"/>
            <a:chOff x="6804532" y="4148264"/>
            <a:chExt cx="1602105" cy="1454150"/>
          </a:xfrm>
        </p:grpSpPr>
        <p:sp>
          <p:nvSpPr>
            <p:cNvPr id="8" name="object 8" descr=""/>
            <p:cNvSpPr/>
            <p:nvPr/>
          </p:nvSpPr>
          <p:spPr>
            <a:xfrm>
              <a:off x="6817232" y="4376801"/>
              <a:ext cx="243840" cy="140970"/>
            </a:xfrm>
            <a:custGeom>
              <a:avLst/>
              <a:gdLst/>
              <a:ahLst/>
              <a:cxnLst/>
              <a:rect l="l" t="t" r="r" b="b"/>
              <a:pathLst>
                <a:path w="243840" h="140970">
                  <a:moveTo>
                    <a:pt x="0" y="0"/>
                  </a:moveTo>
                  <a:lnTo>
                    <a:pt x="243332" y="140588"/>
                  </a:lnTo>
                </a:path>
              </a:pathLst>
            </a:custGeom>
            <a:ln w="25400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965441" y="4161282"/>
              <a:ext cx="1428115" cy="1428115"/>
            </a:xfrm>
            <a:custGeom>
              <a:avLst/>
              <a:gdLst/>
              <a:ahLst/>
              <a:cxnLst/>
              <a:rect l="l" t="t" r="r" b="b"/>
              <a:pathLst>
                <a:path w="1428115" h="1428114">
                  <a:moveTo>
                    <a:pt x="713993" y="0"/>
                  </a:moveTo>
                  <a:lnTo>
                    <a:pt x="665108" y="1647"/>
                  </a:lnTo>
                  <a:lnTo>
                    <a:pt x="617107" y="6517"/>
                  </a:lnTo>
                  <a:lnTo>
                    <a:pt x="570097" y="14505"/>
                  </a:lnTo>
                  <a:lnTo>
                    <a:pt x="524183" y="25504"/>
                  </a:lnTo>
                  <a:lnTo>
                    <a:pt x="479473" y="39407"/>
                  </a:lnTo>
                  <a:lnTo>
                    <a:pt x="436072" y="56108"/>
                  </a:lnTo>
                  <a:lnTo>
                    <a:pt x="394087" y="75501"/>
                  </a:lnTo>
                  <a:lnTo>
                    <a:pt x="353624" y="97479"/>
                  </a:lnTo>
                  <a:lnTo>
                    <a:pt x="314790" y="121937"/>
                  </a:lnTo>
                  <a:lnTo>
                    <a:pt x="277690" y="148767"/>
                  </a:lnTo>
                  <a:lnTo>
                    <a:pt x="242432" y="177864"/>
                  </a:lnTo>
                  <a:lnTo>
                    <a:pt x="209121" y="209121"/>
                  </a:lnTo>
                  <a:lnTo>
                    <a:pt x="177864" y="242432"/>
                  </a:lnTo>
                  <a:lnTo>
                    <a:pt x="148767" y="277690"/>
                  </a:lnTo>
                  <a:lnTo>
                    <a:pt x="121937" y="314790"/>
                  </a:lnTo>
                  <a:lnTo>
                    <a:pt x="97479" y="353624"/>
                  </a:lnTo>
                  <a:lnTo>
                    <a:pt x="75501" y="394087"/>
                  </a:lnTo>
                  <a:lnTo>
                    <a:pt x="56108" y="436072"/>
                  </a:lnTo>
                  <a:lnTo>
                    <a:pt x="39407" y="479473"/>
                  </a:lnTo>
                  <a:lnTo>
                    <a:pt x="25504" y="524183"/>
                  </a:lnTo>
                  <a:lnTo>
                    <a:pt x="14505" y="570097"/>
                  </a:lnTo>
                  <a:lnTo>
                    <a:pt x="6517" y="617107"/>
                  </a:lnTo>
                  <a:lnTo>
                    <a:pt x="1647" y="665108"/>
                  </a:lnTo>
                  <a:lnTo>
                    <a:pt x="0" y="713994"/>
                  </a:lnTo>
                  <a:lnTo>
                    <a:pt x="1647" y="762879"/>
                  </a:lnTo>
                  <a:lnTo>
                    <a:pt x="6517" y="810880"/>
                  </a:lnTo>
                  <a:lnTo>
                    <a:pt x="14505" y="857890"/>
                  </a:lnTo>
                  <a:lnTo>
                    <a:pt x="25504" y="903804"/>
                  </a:lnTo>
                  <a:lnTo>
                    <a:pt x="39407" y="948514"/>
                  </a:lnTo>
                  <a:lnTo>
                    <a:pt x="56108" y="991915"/>
                  </a:lnTo>
                  <a:lnTo>
                    <a:pt x="75501" y="1033900"/>
                  </a:lnTo>
                  <a:lnTo>
                    <a:pt x="97479" y="1074363"/>
                  </a:lnTo>
                  <a:lnTo>
                    <a:pt x="121937" y="1113197"/>
                  </a:lnTo>
                  <a:lnTo>
                    <a:pt x="148767" y="1150297"/>
                  </a:lnTo>
                  <a:lnTo>
                    <a:pt x="177864" y="1185555"/>
                  </a:lnTo>
                  <a:lnTo>
                    <a:pt x="209121" y="1218866"/>
                  </a:lnTo>
                  <a:lnTo>
                    <a:pt x="242432" y="1250123"/>
                  </a:lnTo>
                  <a:lnTo>
                    <a:pt x="277690" y="1279220"/>
                  </a:lnTo>
                  <a:lnTo>
                    <a:pt x="314790" y="1306050"/>
                  </a:lnTo>
                  <a:lnTo>
                    <a:pt x="353624" y="1330508"/>
                  </a:lnTo>
                  <a:lnTo>
                    <a:pt x="394087" y="1352486"/>
                  </a:lnTo>
                  <a:lnTo>
                    <a:pt x="436072" y="1371879"/>
                  </a:lnTo>
                  <a:lnTo>
                    <a:pt x="479473" y="1388580"/>
                  </a:lnTo>
                  <a:lnTo>
                    <a:pt x="524183" y="1402483"/>
                  </a:lnTo>
                  <a:lnTo>
                    <a:pt x="570097" y="1413482"/>
                  </a:lnTo>
                  <a:lnTo>
                    <a:pt x="617107" y="1421470"/>
                  </a:lnTo>
                  <a:lnTo>
                    <a:pt x="665108" y="1426340"/>
                  </a:lnTo>
                  <a:lnTo>
                    <a:pt x="713993" y="1427988"/>
                  </a:lnTo>
                  <a:lnTo>
                    <a:pt x="762879" y="1426340"/>
                  </a:lnTo>
                  <a:lnTo>
                    <a:pt x="810880" y="1421470"/>
                  </a:lnTo>
                  <a:lnTo>
                    <a:pt x="857890" y="1413482"/>
                  </a:lnTo>
                  <a:lnTo>
                    <a:pt x="903804" y="1402483"/>
                  </a:lnTo>
                  <a:lnTo>
                    <a:pt x="948514" y="1388580"/>
                  </a:lnTo>
                  <a:lnTo>
                    <a:pt x="991915" y="1371879"/>
                  </a:lnTo>
                  <a:lnTo>
                    <a:pt x="1033900" y="1352486"/>
                  </a:lnTo>
                  <a:lnTo>
                    <a:pt x="1074363" y="1330508"/>
                  </a:lnTo>
                  <a:lnTo>
                    <a:pt x="1113197" y="1306050"/>
                  </a:lnTo>
                  <a:lnTo>
                    <a:pt x="1150297" y="1279220"/>
                  </a:lnTo>
                  <a:lnTo>
                    <a:pt x="1185555" y="1250123"/>
                  </a:lnTo>
                  <a:lnTo>
                    <a:pt x="1218866" y="1218866"/>
                  </a:lnTo>
                  <a:lnTo>
                    <a:pt x="1250123" y="1185555"/>
                  </a:lnTo>
                  <a:lnTo>
                    <a:pt x="1279220" y="1150297"/>
                  </a:lnTo>
                  <a:lnTo>
                    <a:pt x="1306050" y="1113197"/>
                  </a:lnTo>
                  <a:lnTo>
                    <a:pt x="1330508" y="1074363"/>
                  </a:lnTo>
                  <a:lnTo>
                    <a:pt x="1352486" y="1033900"/>
                  </a:lnTo>
                  <a:lnTo>
                    <a:pt x="1371879" y="991915"/>
                  </a:lnTo>
                  <a:lnTo>
                    <a:pt x="1388580" y="948514"/>
                  </a:lnTo>
                  <a:lnTo>
                    <a:pt x="1402483" y="903804"/>
                  </a:lnTo>
                  <a:lnTo>
                    <a:pt x="1413482" y="857890"/>
                  </a:lnTo>
                  <a:lnTo>
                    <a:pt x="1421470" y="810880"/>
                  </a:lnTo>
                  <a:lnTo>
                    <a:pt x="1426340" y="762879"/>
                  </a:lnTo>
                  <a:lnTo>
                    <a:pt x="1427987" y="713994"/>
                  </a:lnTo>
                  <a:lnTo>
                    <a:pt x="1426340" y="665108"/>
                  </a:lnTo>
                  <a:lnTo>
                    <a:pt x="1421470" y="617107"/>
                  </a:lnTo>
                  <a:lnTo>
                    <a:pt x="1413482" y="570097"/>
                  </a:lnTo>
                  <a:lnTo>
                    <a:pt x="1402483" y="524183"/>
                  </a:lnTo>
                  <a:lnTo>
                    <a:pt x="1388580" y="479473"/>
                  </a:lnTo>
                  <a:lnTo>
                    <a:pt x="1371879" y="436072"/>
                  </a:lnTo>
                  <a:lnTo>
                    <a:pt x="1352486" y="394087"/>
                  </a:lnTo>
                  <a:lnTo>
                    <a:pt x="1330508" y="353624"/>
                  </a:lnTo>
                  <a:lnTo>
                    <a:pt x="1306050" y="314790"/>
                  </a:lnTo>
                  <a:lnTo>
                    <a:pt x="1279220" y="277690"/>
                  </a:lnTo>
                  <a:lnTo>
                    <a:pt x="1250123" y="242432"/>
                  </a:lnTo>
                  <a:lnTo>
                    <a:pt x="1218866" y="209121"/>
                  </a:lnTo>
                  <a:lnTo>
                    <a:pt x="1185555" y="177864"/>
                  </a:lnTo>
                  <a:lnTo>
                    <a:pt x="1150297" y="148767"/>
                  </a:lnTo>
                  <a:lnTo>
                    <a:pt x="1113197" y="121937"/>
                  </a:lnTo>
                  <a:lnTo>
                    <a:pt x="1074363" y="97479"/>
                  </a:lnTo>
                  <a:lnTo>
                    <a:pt x="1033900" y="75501"/>
                  </a:lnTo>
                  <a:lnTo>
                    <a:pt x="991915" y="56108"/>
                  </a:lnTo>
                  <a:lnTo>
                    <a:pt x="948514" y="39407"/>
                  </a:lnTo>
                  <a:lnTo>
                    <a:pt x="903804" y="25504"/>
                  </a:lnTo>
                  <a:lnTo>
                    <a:pt x="857890" y="14505"/>
                  </a:lnTo>
                  <a:lnTo>
                    <a:pt x="810880" y="6517"/>
                  </a:lnTo>
                  <a:lnTo>
                    <a:pt x="762879" y="1647"/>
                  </a:lnTo>
                  <a:lnTo>
                    <a:pt x="7139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965441" y="4161282"/>
              <a:ext cx="1428115" cy="1428115"/>
            </a:xfrm>
            <a:custGeom>
              <a:avLst/>
              <a:gdLst/>
              <a:ahLst/>
              <a:cxnLst/>
              <a:rect l="l" t="t" r="r" b="b"/>
              <a:pathLst>
                <a:path w="1428115" h="1428114">
                  <a:moveTo>
                    <a:pt x="0" y="713994"/>
                  </a:moveTo>
                  <a:lnTo>
                    <a:pt x="1647" y="665108"/>
                  </a:lnTo>
                  <a:lnTo>
                    <a:pt x="6517" y="617107"/>
                  </a:lnTo>
                  <a:lnTo>
                    <a:pt x="14505" y="570097"/>
                  </a:lnTo>
                  <a:lnTo>
                    <a:pt x="25504" y="524183"/>
                  </a:lnTo>
                  <a:lnTo>
                    <a:pt x="39407" y="479473"/>
                  </a:lnTo>
                  <a:lnTo>
                    <a:pt x="56108" y="436072"/>
                  </a:lnTo>
                  <a:lnTo>
                    <a:pt x="75501" y="394087"/>
                  </a:lnTo>
                  <a:lnTo>
                    <a:pt x="97479" y="353624"/>
                  </a:lnTo>
                  <a:lnTo>
                    <a:pt x="121937" y="314790"/>
                  </a:lnTo>
                  <a:lnTo>
                    <a:pt x="148767" y="277690"/>
                  </a:lnTo>
                  <a:lnTo>
                    <a:pt x="177864" y="242432"/>
                  </a:lnTo>
                  <a:lnTo>
                    <a:pt x="209121" y="209121"/>
                  </a:lnTo>
                  <a:lnTo>
                    <a:pt x="242432" y="177864"/>
                  </a:lnTo>
                  <a:lnTo>
                    <a:pt x="277690" y="148767"/>
                  </a:lnTo>
                  <a:lnTo>
                    <a:pt x="314790" y="121937"/>
                  </a:lnTo>
                  <a:lnTo>
                    <a:pt x="353624" y="97479"/>
                  </a:lnTo>
                  <a:lnTo>
                    <a:pt x="394087" y="75501"/>
                  </a:lnTo>
                  <a:lnTo>
                    <a:pt x="436072" y="56108"/>
                  </a:lnTo>
                  <a:lnTo>
                    <a:pt x="479473" y="39407"/>
                  </a:lnTo>
                  <a:lnTo>
                    <a:pt x="524183" y="25504"/>
                  </a:lnTo>
                  <a:lnTo>
                    <a:pt x="570097" y="14505"/>
                  </a:lnTo>
                  <a:lnTo>
                    <a:pt x="617107" y="6517"/>
                  </a:lnTo>
                  <a:lnTo>
                    <a:pt x="665108" y="1647"/>
                  </a:lnTo>
                  <a:lnTo>
                    <a:pt x="713993" y="0"/>
                  </a:lnTo>
                  <a:lnTo>
                    <a:pt x="762879" y="1647"/>
                  </a:lnTo>
                  <a:lnTo>
                    <a:pt x="810880" y="6517"/>
                  </a:lnTo>
                  <a:lnTo>
                    <a:pt x="857890" y="14505"/>
                  </a:lnTo>
                  <a:lnTo>
                    <a:pt x="903804" y="25504"/>
                  </a:lnTo>
                  <a:lnTo>
                    <a:pt x="948514" y="39407"/>
                  </a:lnTo>
                  <a:lnTo>
                    <a:pt x="991915" y="56108"/>
                  </a:lnTo>
                  <a:lnTo>
                    <a:pt x="1033900" y="75501"/>
                  </a:lnTo>
                  <a:lnTo>
                    <a:pt x="1074363" y="97479"/>
                  </a:lnTo>
                  <a:lnTo>
                    <a:pt x="1113197" y="121937"/>
                  </a:lnTo>
                  <a:lnTo>
                    <a:pt x="1150297" y="148767"/>
                  </a:lnTo>
                  <a:lnTo>
                    <a:pt x="1185555" y="177864"/>
                  </a:lnTo>
                  <a:lnTo>
                    <a:pt x="1218866" y="209121"/>
                  </a:lnTo>
                  <a:lnTo>
                    <a:pt x="1250123" y="242432"/>
                  </a:lnTo>
                  <a:lnTo>
                    <a:pt x="1279220" y="277690"/>
                  </a:lnTo>
                  <a:lnTo>
                    <a:pt x="1306050" y="314790"/>
                  </a:lnTo>
                  <a:lnTo>
                    <a:pt x="1330508" y="353624"/>
                  </a:lnTo>
                  <a:lnTo>
                    <a:pt x="1352486" y="394087"/>
                  </a:lnTo>
                  <a:lnTo>
                    <a:pt x="1371879" y="436072"/>
                  </a:lnTo>
                  <a:lnTo>
                    <a:pt x="1388580" y="479473"/>
                  </a:lnTo>
                  <a:lnTo>
                    <a:pt x="1402483" y="524183"/>
                  </a:lnTo>
                  <a:lnTo>
                    <a:pt x="1413482" y="570097"/>
                  </a:lnTo>
                  <a:lnTo>
                    <a:pt x="1421470" y="617107"/>
                  </a:lnTo>
                  <a:lnTo>
                    <a:pt x="1426340" y="665108"/>
                  </a:lnTo>
                  <a:lnTo>
                    <a:pt x="1427987" y="713994"/>
                  </a:lnTo>
                  <a:lnTo>
                    <a:pt x="1426340" y="762879"/>
                  </a:lnTo>
                  <a:lnTo>
                    <a:pt x="1421470" y="810880"/>
                  </a:lnTo>
                  <a:lnTo>
                    <a:pt x="1413482" y="857890"/>
                  </a:lnTo>
                  <a:lnTo>
                    <a:pt x="1402483" y="903804"/>
                  </a:lnTo>
                  <a:lnTo>
                    <a:pt x="1388580" y="948514"/>
                  </a:lnTo>
                  <a:lnTo>
                    <a:pt x="1371879" y="991915"/>
                  </a:lnTo>
                  <a:lnTo>
                    <a:pt x="1352486" y="1033900"/>
                  </a:lnTo>
                  <a:lnTo>
                    <a:pt x="1330508" y="1074363"/>
                  </a:lnTo>
                  <a:lnTo>
                    <a:pt x="1306050" y="1113197"/>
                  </a:lnTo>
                  <a:lnTo>
                    <a:pt x="1279220" y="1150297"/>
                  </a:lnTo>
                  <a:lnTo>
                    <a:pt x="1250123" y="1185555"/>
                  </a:lnTo>
                  <a:lnTo>
                    <a:pt x="1218866" y="1218866"/>
                  </a:lnTo>
                  <a:lnTo>
                    <a:pt x="1185555" y="1250123"/>
                  </a:lnTo>
                  <a:lnTo>
                    <a:pt x="1150297" y="1279220"/>
                  </a:lnTo>
                  <a:lnTo>
                    <a:pt x="1113197" y="1306050"/>
                  </a:lnTo>
                  <a:lnTo>
                    <a:pt x="1074363" y="1330508"/>
                  </a:lnTo>
                  <a:lnTo>
                    <a:pt x="1033900" y="1352486"/>
                  </a:lnTo>
                  <a:lnTo>
                    <a:pt x="991915" y="1371879"/>
                  </a:lnTo>
                  <a:lnTo>
                    <a:pt x="948514" y="1388580"/>
                  </a:lnTo>
                  <a:lnTo>
                    <a:pt x="903804" y="1402483"/>
                  </a:lnTo>
                  <a:lnTo>
                    <a:pt x="857890" y="1413482"/>
                  </a:lnTo>
                  <a:lnTo>
                    <a:pt x="810880" y="1421470"/>
                  </a:lnTo>
                  <a:lnTo>
                    <a:pt x="762879" y="1426340"/>
                  </a:lnTo>
                  <a:lnTo>
                    <a:pt x="713993" y="1427988"/>
                  </a:lnTo>
                  <a:lnTo>
                    <a:pt x="665108" y="1426340"/>
                  </a:lnTo>
                  <a:lnTo>
                    <a:pt x="617107" y="1421470"/>
                  </a:lnTo>
                  <a:lnTo>
                    <a:pt x="570097" y="1413482"/>
                  </a:lnTo>
                  <a:lnTo>
                    <a:pt x="524183" y="1402483"/>
                  </a:lnTo>
                  <a:lnTo>
                    <a:pt x="479473" y="1388580"/>
                  </a:lnTo>
                  <a:lnTo>
                    <a:pt x="436072" y="1371879"/>
                  </a:lnTo>
                  <a:lnTo>
                    <a:pt x="394087" y="1352486"/>
                  </a:lnTo>
                  <a:lnTo>
                    <a:pt x="353624" y="1330508"/>
                  </a:lnTo>
                  <a:lnTo>
                    <a:pt x="314790" y="1306050"/>
                  </a:lnTo>
                  <a:lnTo>
                    <a:pt x="277690" y="1279220"/>
                  </a:lnTo>
                  <a:lnTo>
                    <a:pt x="242432" y="1250123"/>
                  </a:lnTo>
                  <a:lnTo>
                    <a:pt x="209121" y="1218866"/>
                  </a:lnTo>
                  <a:lnTo>
                    <a:pt x="177864" y="1185555"/>
                  </a:lnTo>
                  <a:lnTo>
                    <a:pt x="148767" y="1150297"/>
                  </a:lnTo>
                  <a:lnTo>
                    <a:pt x="121937" y="1113197"/>
                  </a:lnTo>
                  <a:lnTo>
                    <a:pt x="97479" y="1074363"/>
                  </a:lnTo>
                  <a:lnTo>
                    <a:pt x="75501" y="1033900"/>
                  </a:lnTo>
                  <a:lnTo>
                    <a:pt x="56108" y="991915"/>
                  </a:lnTo>
                  <a:lnTo>
                    <a:pt x="39407" y="948514"/>
                  </a:lnTo>
                  <a:lnTo>
                    <a:pt x="25504" y="903804"/>
                  </a:lnTo>
                  <a:lnTo>
                    <a:pt x="14505" y="857890"/>
                  </a:lnTo>
                  <a:lnTo>
                    <a:pt x="6517" y="810880"/>
                  </a:lnTo>
                  <a:lnTo>
                    <a:pt x="1647" y="762879"/>
                  </a:lnTo>
                  <a:lnTo>
                    <a:pt x="0" y="713994"/>
                  </a:lnTo>
                  <a:close/>
                </a:path>
              </a:pathLst>
            </a:custGeom>
            <a:ln w="25908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224141" y="4334636"/>
            <a:ext cx="909955" cy="47815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 marR="5080" indent="53340">
              <a:lnSpc>
                <a:spcPts val="1700"/>
              </a:lnSpc>
              <a:spcBef>
                <a:spcPts val="285"/>
              </a:spcBef>
            </a:pPr>
            <a:r>
              <a:rPr dirty="0" sz="1550" spc="-10">
                <a:latin typeface="Corbel"/>
                <a:cs typeface="Corbel"/>
              </a:rPr>
              <a:t>Cognitive Everything</a:t>
            </a:r>
            <a:endParaRPr sz="1550">
              <a:latin typeface="Corbel"/>
              <a:cs typeface="Corbe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732212" y="4148264"/>
            <a:ext cx="1601470" cy="1454150"/>
            <a:chOff x="3732212" y="4148264"/>
            <a:chExt cx="1601470" cy="1454150"/>
          </a:xfrm>
        </p:grpSpPr>
        <p:sp>
          <p:nvSpPr>
            <p:cNvPr id="13" name="object 13" descr=""/>
            <p:cNvSpPr/>
            <p:nvPr/>
          </p:nvSpPr>
          <p:spPr>
            <a:xfrm>
              <a:off x="5077333" y="4376801"/>
              <a:ext cx="243840" cy="140970"/>
            </a:xfrm>
            <a:custGeom>
              <a:avLst/>
              <a:gdLst/>
              <a:ahLst/>
              <a:cxnLst/>
              <a:rect l="l" t="t" r="r" b="b"/>
              <a:pathLst>
                <a:path w="243839" h="140970">
                  <a:moveTo>
                    <a:pt x="243458" y="0"/>
                  </a:moveTo>
                  <a:lnTo>
                    <a:pt x="0" y="140588"/>
                  </a:lnTo>
                </a:path>
              </a:pathLst>
            </a:custGeom>
            <a:ln w="25400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745229" y="4161282"/>
              <a:ext cx="1428115" cy="1428115"/>
            </a:xfrm>
            <a:custGeom>
              <a:avLst/>
              <a:gdLst/>
              <a:ahLst/>
              <a:cxnLst/>
              <a:rect l="l" t="t" r="r" b="b"/>
              <a:pathLst>
                <a:path w="1428114" h="1428114">
                  <a:moveTo>
                    <a:pt x="713994" y="0"/>
                  </a:moveTo>
                  <a:lnTo>
                    <a:pt x="665108" y="1647"/>
                  </a:lnTo>
                  <a:lnTo>
                    <a:pt x="617107" y="6517"/>
                  </a:lnTo>
                  <a:lnTo>
                    <a:pt x="570097" y="14505"/>
                  </a:lnTo>
                  <a:lnTo>
                    <a:pt x="524183" y="25504"/>
                  </a:lnTo>
                  <a:lnTo>
                    <a:pt x="479473" y="39407"/>
                  </a:lnTo>
                  <a:lnTo>
                    <a:pt x="436072" y="56108"/>
                  </a:lnTo>
                  <a:lnTo>
                    <a:pt x="394087" y="75501"/>
                  </a:lnTo>
                  <a:lnTo>
                    <a:pt x="353624" y="97479"/>
                  </a:lnTo>
                  <a:lnTo>
                    <a:pt x="314790" y="121937"/>
                  </a:lnTo>
                  <a:lnTo>
                    <a:pt x="277690" y="148767"/>
                  </a:lnTo>
                  <a:lnTo>
                    <a:pt x="242432" y="177864"/>
                  </a:lnTo>
                  <a:lnTo>
                    <a:pt x="209121" y="209121"/>
                  </a:lnTo>
                  <a:lnTo>
                    <a:pt x="177864" y="242432"/>
                  </a:lnTo>
                  <a:lnTo>
                    <a:pt x="148767" y="277690"/>
                  </a:lnTo>
                  <a:lnTo>
                    <a:pt x="121937" y="314790"/>
                  </a:lnTo>
                  <a:lnTo>
                    <a:pt x="97479" y="353624"/>
                  </a:lnTo>
                  <a:lnTo>
                    <a:pt x="75501" y="394087"/>
                  </a:lnTo>
                  <a:lnTo>
                    <a:pt x="56108" y="436072"/>
                  </a:lnTo>
                  <a:lnTo>
                    <a:pt x="39407" y="479473"/>
                  </a:lnTo>
                  <a:lnTo>
                    <a:pt x="25504" y="524183"/>
                  </a:lnTo>
                  <a:lnTo>
                    <a:pt x="14505" y="570097"/>
                  </a:lnTo>
                  <a:lnTo>
                    <a:pt x="6517" y="617107"/>
                  </a:lnTo>
                  <a:lnTo>
                    <a:pt x="1647" y="665108"/>
                  </a:lnTo>
                  <a:lnTo>
                    <a:pt x="0" y="713994"/>
                  </a:lnTo>
                  <a:lnTo>
                    <a:pt x="1647" y="762879"/>
                  </a:lnTo>
                  <a:lnTo>
                    <a:pt x="6517" y="810880"/>
                  </a:lnTo>
                  <a:lnTo>
                    <a:pt x="14505" y="857890"/>
                  </a:lnTo>
                  <a:lnTo>
                    <a:pt x="25504" y="903804"/>
                  </a:lnTo>
                  <a:lnTo>
                    <a:pt x="39407" y="948514"/>
                  </a:lnTo>
                  <a:lnTo>
                    <a:pt x="56108" y="991915"/>
                  </a:lnTo>
                  <a:lnTo>
                    <a:pt x="75501" y="1033900"/>
                  </a:lnTo>
                  <a:lnTo>
                    <a:pt x="97479" y="1074363"/>
                  </a:lnTo>
                  <a:lnTo>
                    <a:pt x="121937" y="1113197"/>
                  </a:lnTo>
                  <a:lnTo>
                    <a:pt x="148767" y="1150297"/>
                  </a:lnTo>
                  <a:lnTo>
                    <a:pt x="177864" y="1185555"/>
                  </a:lnTo>
                  <a:lnTo>
                    <a:pt x="209121" y="1218866"/>
                  </a:lnTo>
                  <a:lnTo>
                    <a:pt x="242432" y="1250123"/>
                  </a:lnTo>
                  <a:lnTo>
                    <a:pt x="277690" y="1279220"/>
                  </a:lnTo>
                  <a:lnTo>
                    <a:pt x="314790" y="1306050"/>
                  </a:lnTo>
                  <a:lnTo>
                    <a:pt x="353624" y="1330508"/>
                  </a:lnTo>
                  <a:lnTo>
                    <a:pt x="394087" y="1352486"/>
                  </a:lnTo>
                  <a:lnTo>
                    <a:pt x="436072" y="1371879"/>
                  </a:lnTo>
                  <a:lnTo>
                    <a:pt x="479473" y="1388580"/>
                  </a:lnTo>
                  <a:lnTo>
                    <a:pt x="524183" y="1402483"/>
                  </a:lnTo>
                  <a:lnTo>
                    <a:pt x="570097" y="1413482"/>
                  </a:lnTo>
                  <a:lnTo>
                    <a:pt x="617107" y="1421470"/>
                  </a:lnTo>
                  <a:lnTo>
                    <a:pt x="665108" y="1426340"/>
                  </a:lnTo>
                  <a:lnTo>
                    <a:pt x="713994" y="1427988"/>
                  </a:lnTo>
                  <a:lnTo>
                    <a:pt x="762879" y="1426340"/>
                  </a:lnTo>
                  <a:lnTo>
                    <a:pt x="810880" y="1421470"/>
                  </a:lnTo>
                  <a:lnTo>
                    <a:pt x="857890" y="1413482"/>
                  </a:lnTo>
                  <a:lnTo>
                    <a:pt x="903804" y="1402483"/>
                  </a:lnTo>
                  <a:lnTo>
                    <a:pt x="948514" y="1388580"/>
                  </a:lnTo>
                  <a:lnTo>
                    <a:pt x="991915" y="1371879"/>
                  </a:lnTo>
                  <a:lnTo>
                    <a:pt x="1033900" y="1352486"/>
                  </a:lnTo>
                  <a:lnTo>
                    <a:pt x="1074363" y="1330508"/>
                  </a:lnTo>
                  <a:lnTo>
                    <a:pt x="1113197" y="1306050"/>
                  </a:lnTo>
                  <a:lnTo>
                    <a:pt x="1150297" y="1279220"/>
                  </a:lnTo>
                  <a:lnTo>
                    <a:pt x="1185555" y="1250123"/>
                  </a:lnTo>
                  <a:lnTo>
                    <a:pt x="1218866" y="1218866"/>
                  </a:lnTo>
                  <a:lnTo>
                    <a:pt x="1250123" y="1185555"/>
                  </a:lnTo>
                  <a:lnTo>
                    <a:pt x="1279220" y="1150297"/>
                  </a:lnTo>
                  <a:lnTo>
                    <a:pt x="1306050" y="1113197"/>
                  </a:lnTo>
                  <a:lnTo>
                    <a:pt x="1330508" y="1074363"/>
                  </a:lnTo>
                  <a:lnTo>
                    <a:pt x="1352486" y="1033900"/>
                  </a:lnTo>
                  <a:lnTo>
                    <a:pt x="1371879" y="991915"/>
                  </a:lnTo>
                  <a:lnTo>
                    <a:pt x="1388580" y="948514"/>
                  </a:lnTo>
                  <a:lnTo>
                    <a:pt x="1402483" y="903804"/>
                  </a:lnTo>
                  <a:lnTo>
                    <a:pt x="1413482" y="857890"/>
                  </a:lnTo>
                  <a:lnTo>
                    <a:pt x="1421470" y="810880"/>
                  </a:lnTo>
                  <a:lnTo>
                    <a:pt x="1426340" y="762879"/>
                  </a:lnTo>
                  <a:lnTo>
                    <a:pt x="1427988" y="713994"/>
                  </a:lnTo>
                  <a:lnTo>
                    <a:pt x="1426340" y="665108"/>
                  </a:lnTo>
                  <a:lnTo>
                    <a:pt x="1421470" y="617107"/>
                  </a:lnTo>
                  <a:lnTo>
                    <a:pt x="1413482" y="570097"/>
                  </a:lnTo>
                  <a:lnTo>
                    <a:pt x="1402483" y="524183"/>
                  </a:lnTo>
                  <a:lnTo>
                    <a:pt x="1388580" y="479473"/>
                  </a:lnTo>
                  <a:lnTo>
                    <a:pt x="1371879" y="436072"/>
                  </a:lnTo>
                  <a:lnTo>
                    <a:pt x="1352486" y="394087"/>
                  </a:lnTo>
                  <a:lnTo>
                    <a:pt x="1330508" y="353624"/>
                  </a:lnTo>
                  <a:lnTo>
                    <a:pt x="1306050" y="314790"/>
                  </a:lnTo>
                  <a:lnTo>
                    <a:pt x="1279220" y="277690"/>
                  </a:lnTo>
                  <a:lnTo>
                    <a:pt x="1250123" y="242432"/>
                  </a:lnTo>
                  <a:lnTo>
                    <a:pt x="1218866" y="209121"/>
                  </a:lnTo>
                  <a:lnTo>
                    <a:pt x="1185555" y="177864"/>
                  </a:lnTo>
                  <a:lnTo>
                    <a:pt x="1150297" y="148767"/>
                  </a:lnTo>
                  <a:lnTo>
                    <a:pt x="1113197" y="121937"/>
                  </a:lnTo>
                  <a:lnTo>
                    <a:pt x="1074363" y="97479"/>
                  </a:lnTo>
                  <a:lnTo>
                    <a:pt x="1033900" y="75501"/>
                  </a:lnTo>
                  <a:lnTo>
                    <a:pt x="991915" y="56108"/>
                  </a:lnTo>
                  <a:lnTo>
                    <a:pt x="948514" y="39407"/>
                  </a:lnTo>
                  <a:lnTo>
                    <a:pt x="903804" y="25504"/>
                  </a:lnTo>
                  <a:lnTo>
                    <a:pt x="857890" y="14505"/>
                  </a:lnTo>
                  <a:lnTo>
                    <a:pt x="810880" y="6517"/>
                  </a:lnTo>
                  <a:lnTo>
                    <a:pt x="762879" y="1647"/>
                  </a:lnTo>
                  <a:lnTo>
                    <a:pt x="7139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745229" y="4161282"/>
              <a:ext cx="1428115" cy="1428115"/>
            </a:xfrm>
            <a:custGeom>
              <a:avLst/>
              <a:gdLst/>
              <a:ahLst/>
              <a:cxnLst/>
              <a:rect l="l" t="t" r="r" b="b"/>
              <a:pathLst>
                <a:path w="1428114" h="1428114">
                  <a:moveTo>
                    <a:pt x="0" y="713994"/>
                  </a:moveTo>
                  <a:lnTo>
                    <a:pt x="1647" y="665108"/>
                  </a:lnTo>
                  <a:lnTo>
                    <a:pt x="6517" y="617107"/>
                  </a:lnTo>
                  <a:lnTo>
                    <a:pt x="14505" y="570097"/>
                  </a:lnTo>
                  <a:lnTo>
                    <a:pt x="25504" y="524183"/>
                  </a:lnTo>
                  <a:lnTo>
                    <a:pt x="39407" y="479473"/>
                  </a:lnTo>
                  <a:lnTo>
                    <a:pt x="56108" y="436072"/>
                  </a:lnTo>
                  <a:lnTo>
                    <a:pt x="75501" y="394087"/>
                  </a:lnTo>
                  <a:lnTo>
                    <a:pt x="97479" y="353624"/>
                  </a:lnTo>
                  <a:lnTo>
                    <a:pt x="121937" y="314790"/>
                  </a:lnTo>
                  <a:lnTo>
                    <a:pt x="148767" y="277690"/>
                  </a:lnTo>
                  <a:lnTo>
                    <a:pt x="177864" y="242432"/>
                  </a:lnTo>
                  <a:lnTo>
                    <a:pt x="209121" y="209121"/>
                  </a:lnTo>
                  <a:lnTo>
                    <a:pt x="242432" y="177864"/>
                  </a:lnTo>
                  <a:lnTo>
                    <a:pt x="277690" y="148767"/>
                  </a:lnTo>
                  <a:lnTo>
                    <a:pt x="314790" y="121937"/>
                  </a:lnTo>
                  <a:lnTo>
                    <a:pt x="353624" y="97479"/>
                  </a:lnTo>
                  <a:lnTo>
                    <a:pt x="394087" y="75501"/>
                  </a:lnTo>
                  <a:lnTo>
                    <a:pt x="436072" y="56108"/>
                  </a:lnTo>
                  <a:lnTo>
                    <a:pt x="479473" y="39407"/>
                  </a:lnTo>
                  <a:lnTo>
                    <a:pt x="524183" y="25504"/>
                  </a:lnTo>
                  <a:lnTo>
                    <a:pt x="570097" y="14505"/>
                  </a:lnTo>
                  <a:lnTo>
                    <a:pt x="617107" y="6517"/>
                  </a:lnTo>
                  <a:lnTo>
                    <a:pt x="665108" y="1647"/>
                  </a:lnTo>
                  <a:lnTo>
                    <a:pt x="713994" y="0"/>
                  </a:lnTo>
                  <a:lnTo>
                    <a:pt x="762879" y="1647"/>
                  </a:lnTo>
                  <a:lnTo>
                    <a:pt x="810880" y="6517"/>
                  </a:lnTo>
                  <a:lnTo>
                    <a:pt x="857890" y="14505"/>
                  </a:lnTo>
                  <a:lnTo>
                    <a:pt x="903804" y="25504"/>
                  </a:lnTo>
                  <a:lnTo>
                    <a:pt x="948514" y="39407"/>
                  </a:lnTo>
                  <a:lnTo>
                    <a:pt x="991915" y="56108"/>
                  </a:lnTo>
                  <a:lnTo>
                    <a:pt x="1033900" y="75501"/>
                  </a:lnTo>
                  <a:lnTo>
                    <a:pt x="1074363" y="97479"/>
                  </a:lnTo>
                  <a:lnTo>
                    <a:pt x="1113197" y="121937"/>
                  </a:lnTo>
                  <a:lnTo>
                    <a:pt x="1150297" y="148767"/>
                  </a:lnTo>
                  <a:lnTo>
                    <a:pt x="1185555" y="177864"/>
                  </a:lnTo>
                  <a:lnTo>
                    <a:pt x="1218866" y="209121"/>
                  </a:lnTo>
                  <a:lnTo>
                    <a:pt x="1250123" y="242432"/>
                  </a:lnTo>
                  <a:lnTo>
                    <a:pt x="1279220" y="277690"/>
                  </a:lnTo>
                  <a:lnTo>
                    <a:pt x="1306050" y="314790"/>
                  </a:lnTo>
                  <a:lnTo>
                    <a:pt x="1330508" y="353624"/>
                  </a:lnTo>
                  <a:lnTo>
                    <a:pt x="1352486" y="394087"/>
                  </a:lnTo>
                  <a:lnTo>
                    <a:pt x="1371879" y="436072"/>
                  </a:lnTo>
                  <a:lnTo>
                    <a:pt x="1388580" y="479473"/>
                  </a:lnTo>
                  <a:lnTo>
                    <a:pt x="1402483" y="524183"/>
                  </a:lnTo>
                  <a:lnTo>
                    <a:pt x="1413482" y="570097"/>
                  </a:lnTo>
                  <a:lnTo>
                    <a:pt x="1421470" y="617107"/>
                  </a:lnTo>
                  <a:lnTo>
                    <a:pt x="1426340" y="665108"/>
                  </a:lnTo>
                  <a:lnTo>
                    <a:pt x="1427988" y="713994"/>
                  </a:lnTo>
                  <a:lnTo>
                    <a:pt x="1426340" y="762879"/>
                  </a:lnTo>
                  <a:lnTo>
                    <a:pt x="1421470" y="810880"/>
                  </a:lnTo>
                  <a:lnTo>
                    <a:pt x="1413482" y="857890"/>
                  </a:lnTo>
                  <a:lnTo>
                    <a:pt x="1402483" y="903804"/>
                  </a:lnTo>
                  <a:lnTo>
                    <a:pt x="1388580" y="948514"/>
                  </a:lnTo>
                  <a:lnTo>
                    <a:pt x="1371879" y="991915"/>
                  </a:lnTo>
                  <a:lnTo>
                    <a:pt x="1352486" y="1033900"/>
                  </a:lnTo>
                  <a:lnTo>
                    <a:pt x="1330508" y="1074363"/>
                  </a:lnTo>
                  <a:lnTo>
                    <a:pt x="1306050" y="1113197"/>
                  </a:lnTo>
                  <a:lnTo>
                    <a:pt x="1279220" y="1150297"/>
                  </a:lnTo>
                  <a:lnTo>
                    <a:pt x="1250123" y="1185555"/>
                  </a:lnTo>
                  <a:lnTo>
                    <a:pt x="1218866" y="1218866"/>
                  </a:lnTo>
                  <a:lnTo>
                    <a:pt x="1185555" y="1250123"/>
                  </a:lnTo>
                  <a:lnTo>
                    <a:pt x="1150297" y="1279220"/>
                  </a:lnTo>
                  <a:lnTo>
                    <a:pt x="1113197" y="1306050"/>
                  </a:lnTo>
                  <a:lnTo>
                    <a:pt x="1074363" y="1330508"/>
                  </a:lnTo>
                  <a:lnTo>
                    <a:pt x="1033900" y="1352486"/>
                  </a:lnTo>
                  <a:lnTo>
                    <a:pt x="991915" y="1371879"/>
                  </a:lnTo>
                  <a:lnTo>
                    <a:pt x="948514" y="1388580"/>
                  </a:lnTo>
                  <a:lnTo>
                    <a:pt x="903804" y="1402483"/>
                  </a:lnTo>
                  <a:lnTo>
                    <a:pt x="857890" y="1413482"/>
                  </a:lnTo>
                  <a:lnTo>
                    <a:pt x="810880" y="1421470"/>
                  </a:lnTo>
                  <a:lnTo>
                    <a:pt x="762879" y="1426340"/>
                  </a:lnTo>
                  <a:lnTo>
                    <a:pt x="713994" y="1427988"/>
                  </a:lnTo>
                  <a:lnTo>
                    <a:pt x="665108" y="1426340"/>
                  </a:lnTo>
                  <a:lnTo>
                    <a:pt x="617107" y="1421470"/>
                  </a:lnTo>
                  <a:lnTo>
                    <a:pt x="570097" y="1413482"/>
                  </a:lnTo>
                  <a:lnTo>
                    <a:pt x="524183" y="1402483"/>
                  </a:lnTo>
                  <a:lnTo>
                    <a:pt x="479473" y="1388580"/>
                  </a:lnTo>
                  <a:lnTo>
                    <a:pt x="436072" y="1371879"/>
                  </a:lnTo>
                  <a:lnTo>
                    <a:pt x="394087" y="1352486"/>
                  </a:lnTo>
                  <a:lnTo>
                    <a:pt x="353624" y="1330508"/>
                  </a:lnTo>
                  <a:lnTo>
                    <a:pt x="314790" y="1306050"/>
                  </a:lnTo>
                  <a:lnTo>
                    <a:pt x="277690" y="1279220"/>
                  </a:lnTo>
                  <a:lnTo>
                    <a:pt x="242432" y="1250123"/>
                  </a:lnTo>
                  <a:lnTo>
                    <a:pt x="209121" y="1218866"/>
                  </a:lnTo>
                  <a:lnTo>
                    <a:pt x="177864" y="1185555"/>
                  </a:lnTo>
                  <a:lnTo>
                    <a:pt x="148767" y="1150297"/>
                  </a:lnTo>
                  <a:lnTo>
                    <a:pt x="121937" y="1113197"/>
                  </a:lnTo>
                  <a:lnTo>
                    <a:pt x="97479" y="1074363"/>
                  </a:lnTo>
                  <a:lnTo>
                    <a:pt x="75501" y="1033900"/>
                  </a:lnTo>
                  <a:lnTo>
                    <a:pt x="56108" y="991915"/>
                  </a:lnTo>
                  <a:lnTo>
                    <a:pt x="39407" y="948514"/>
                  </a:lnTo>
                  <a:lnTo>
                    <a:pt x="25504" y="903804"/>
                  </a:lnTo>
                  <a:lnTo>
                    <a:pt x="14505" y="857890"/>
                  </a:lnTo>
                  <a:lnTo>
                    <a:pt x="6517" y="810880"/>
                  </a:lnTo>
                  <a:lnTo>
                    <a:pt x="1647" y="762879"/>
                  </a:lnTo>
                  <a:lnTo>
                    <a:pt x="0" y="713994"/>
                  </a:lnTo>
                  <a:close/>
                </a:path>
              </a:pathLst>
            </a:custGeom>
            <a:ln w="25908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964304" y="4334636"/>
            <a:ext cx="988060" cy="47815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257810" marR="5080" indent="-245745">
              <a:lnSpc>
                <a:spcPts val="1700"/>
              </a:lnSpc>
              <a:spcBef>
                <a:spcPts val="285"/>
              </a:spcBef>
            </a:pPr>
            <a:r>
              <a:rPr dirty="0" sz="1550">
                <a:latin typeface="Corbel"/>
                <a:cs typeface="Corbel"/>
              </a:rPr>
              <a:t>Anything</a:t>
            </a:r>
            <a:r>
              <a:rPr dirty="0" sz="1550" spc="-40">
                <a:latin typeface="Corbel"/>
                <a:cs typeface="Corbel"/>
              </a:rPr>
              <a:t> </a:t>
            </a:r>
            <a:r>
              <a:rPr dirty="0" sz="1550" spc="-25">
                <a:latin typeface="Corbel"/>
                <a:cs typeface="Corbel"/>
              </a:rPr>
              <a:t>to </a:t>
            </a:r>
            <a:r>
              <a:rPr dirty="0" sz="1550" spc="-10">
                <a:latin typeface="Corbel"/>
                <a:cs typeface="Corbel"/>
              </a:rPr>
              <a:t>Cloud</a:t>
            </a:r>
            <a:endParaRPr sz="1550">
              <a:latin typeface="Corbel"/>
              <a:cs typeface="Corbe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130040" y="2106167"/>
            <a:ext cx="3743325" cy="3278504"/>
            <a:chOff x="4130040" y="2106167"/>
            <a:chExt cx="3743325" cy="3278504"/>
          </a:xfrm>
        </p:grpSpPr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0040" y="4873751"/>
              <a:ext cx="662939" cy="478536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8936" y="4920995"/>
              <a:ext cx="384048" cy="463296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8340" y="2106167"/>
              <a:ext cx="646176" cy="643127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3120" y="2260091"/>
              <a:ext cx="338327" cy="312420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671576" y="4347400"/>
            <a:ext cx="1397000" cy="1396365"/>
            <a:chOff x="5671576" y="4347400"/>
            <a:chExt cx="1397000" cy="13963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9938" y="4352163"/>
              <a:ext cx="693419" cy="133833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369938" y="4352163"/>
              <a:ext cx="693420" cy="1338580"/>
            </a:xfrm>
            <a:custGeom>
              <a:avLst/>
              <a:gdLst/>
              <a:ahLst/>
              <a:cxnLst/>
              <a:rect l="l" t="t" r="r" b="b"/>
              <a:pathLst>
                <a:path w="693420" h="1338579">
                  <a:moveTo>
                    <a:pt x="0" y="0"/>
                  </a:moveTo>
                  <a:lnTo>
                    <a:pt x="47468" y="1600"/>
                  </a:lnTo>
                  <a:lnTo>
                    <a:pt x="94080" y="6331"/>
                  </a:lnTo>
                  <a:lnTo>
                    <a:pt x="139731" y="14090"/>
                  </a:lnTo>
                  <a:lnTo>
                    <a:pt x="184317" y="24774"/>
                  </a:lnTo>
                  <a:lnTo>
                    <a:pt x="227736" y="38279"/>
                  </a:lnTo>
                  <a:lnTo>
                    <a:pt x="269884" y="54502"/>
                  </a:lnTo>
                  <a:lnTo>
                    <a:pt x="310659" y="73340"/>
                  </a:lnTo>
                  <a:lnTo>
                    <a:pt x="349955" y="94690"/>
                  </a:lnTo>
                  <a:lnTo>
                    <a:pt x="387671" y="118447"/>
                  </a:lnTo>
                  <a:lnTo>
                    <a:pt x="423702" y="144510"/>
                  </a:lnTo>
                  <a:lnTo>
                    <a:pt x="457946" y="172774"/>
                  </a:lnTo>
                  <a:lnTo>
                    <a:pt x="490299" y="203136"/>
                  </a:lnTo>
                  <a:lnTo>
                    <a:pt x="520657" y="235493"/>
                  </a:lnTo>
                  <a:lnTo>
                    <a:pt x="548918" y="269742"/>
                  </a:lnTo>
                  <a:lnTo>
                    <a:pt x="574978" y="305779"/>
                  </a:lnTo>
                  <a:lnTo>
                    <a:pt x="598734" y="343502"/>
                  </a:lnTo>
                  <a:lnTo>
                    <a:pt x="620082" y="382806"/>
                  </a:lnTo>
                  <a:lnTo>
                    <a:pt x="638919" y="423588"/>
                  </a:lnTo>
                  <a:lnTo>
                    <a:pt x="655141" y="465746"/>
                  </a:lnTo>
                  <a:lnTo>
                    <a:pt x="668646" y="509175"/>
                  </a:lnTo>
                  <a:lnTo>
                    <a:pt x="679329" y="553774"/>
                  </a:lnTo>
                  <a:lnTo>
                    <a:pt x="687088" y="599437"/>
                  </a:lnTo>
                  <a:lnTo>
                    <a:pt x="691819" y="646062"/>
                  </a:lnTo>
                  <a:lnTo>
                    <a:pt x="693419" y="693547"/>
                  </a:lnTo>
                  <a:lnTo>
                    <a:pt x="691633" y="743425"/>
                  </a:lnTo>
                  <a:lnTo>
                    <a:pt x="686341" y="792555"/>
                  </a:lnTo>
                  <a:lnTo>
                    <a:pt x="677645" y="840789"/>
                  </a:lnTo>
                  <a:lnTo>
                    <a:pt x="665646" y="887976"/>
                  </a:lnTo>
                  <a:lnTo>
                    <a:pt x="650446" y="933969"/>
                  </a:lnTo>
                  <a:lnTo>
                    <a:pt x="632146" y="978616"/>
                  </a:lnTo>
                  <a:lnTo>
                    <a:pt x="610847" y="1021770"/>
                  </a:lnTo>
                  <a:lnTo>
                    <a:pt x="586652" y="1063282"/>
                  </a:lnTo>
                  <a:lnTo>
                    <a:pt x="559661" y="1103001"/>
                  </a:lnTo>
                  <a:lnTo>
                    <a:pt x="529976" y="1140779"/>
                  </a:lnTo>
                  <a:lnTo>
                    <a:pt x="497699" y="1176466"/>
                  </a:lnTo>
                  <a:lnTo>
                    <a:pt x="462930" y="1209914"/>
                  </a:lnTo>
                  <a:lnTo>
                    <a:pt x="425772" y="1240973"/>
                  </a:lnTo>
                  <a:lnTo>
                    <a:pt x="386325" y="1269495"/>
                  </a:lnTo>
                  <a:lnTo>
                    <a:pt x="344692" y="1295329"/>
                  </a:lnTo>
                  <a:lnTo>
                    <a:pt x="300973" y="1318326"/>
                  </a:lnTo>
                  <a:lnTo>
                    <a:pt x="255269" y="1338338"/>
                  </a:lnTo>
                  <a:lnTo>
                    <a:pt x="0" y="693547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426E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4541" y="5045710"/>
              <a:ext cx="510666" cy="69308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114541" y="5045710"/>
              <a:ext cx="511175" cy="693420"/>
            </a:xfrm>
            <a:custGeom>
              <a:avLst/>
              <a:gdLst/>
              <a:ahLst/>
              <a:cxnLst/>
              <a:rect l="l" t="t" r="r" b="b"/>
              <a:pathLst>
                <a:path w="511175" h="693420">
                  <a:moveTo>
                    <a:pt x="510666" y="644791"/>
                  </a:moveTo>
                  <a:lnTo>
                    <a:pt x="465487" y="660888"/>
                  </a:lnTo>
                  <a:lnTo>
                    <a:pt x="419561" y="673765"/>
                  </a:lnTo>
                  <a:lnTo>
                    <a:pt x="373054" y="683423"/>
                  </a:lnTo>
                  <a:lnTo>
                    <a:pt x="326132" y="689861"/>
                  </a:lnTo>
                  <a:lnTo>
                    <a:pt x="278960" y="693081"/>
                  </a:lnTo>
                  <a:lnTo>
                    <a:pt x="231706" y="693081"/>
                  </a:lnTo>
                  <a:lnTo>
                    <a:pt x="184534" y="689861"/>
                  </a:lnTo>
                  <a:lnTo>
                    <a:pt x="137612" y="683423"/>
                  </a:lnTo>
                  <a:lnTo>
                    <a:pt x="91105" y="673765"/>
                  </a:lnTo>
                  <a:lnTo>
                    <a:pt x="45179" y="660888"/>
                  </a:lnTo>
                  <a:lnTo>
                    <a:pt x="0" y="644791"/>
                  </a:lnTo>
                  <a:lnTo>
                    <a:pt x="255397" y="0"/>
                  </a:lnTo>
                  <a:lnTo>
                    <a:pt x="510666" y="644791"/>
                  </a:lnTo>
                  <a:close/>
                </a:path>
              </a:pathLst>
            </a:custGeom>
            <a:ln w="9143">
              <a:solidFill>
                <a:srgbClr val="A0A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1853" y="5045710"/>
              <a:ext cx="688086" cy="64479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681853" y="5045710"/>
              <a:ext cx="688340" cy="645160"/>
            </a:xfrm>
            <a:custGeom>
              <a:avLst/>
              <a:gdLst/>
              <a:ahLst/>
              <a:cxnLst/>
              <a:rect l="l" t="t" r="r" b="b"/>
              <a:pathLst>
                <a:path w="688339" h="645160">
                  <a:moveTo>
                    <a:pt x="432688" y="644791"/>
                  </a:moveTo>
                  <a:lnTo>
                    <a:pt x="386593" y="624581"/>
                  </a:lnTo>
                  <a:lnTo>
                    <a:pt x="342465" y="601300"/>
                  </a:lnTo>
                  <a:lnTo>
                    <a:pt x="300419" y="575097"/>
                  </a:lnTo>
                  <a:lnTo>
                    <a:pt x="260569" y="546121"/>
                  </a:lnTo>
                  <a:lnTo>
                    <a:pt x="223030" y="514521"/>
                  </a:lnTo>
                  <a:lnTo>
                    <a:pt x="187918" y="480444"/>
                  </a:lnTo>
                  <a:lnTo>
                    <a:pt x="155346" y="444041"/>
                  </a:lnTo>
                  <a:lnTo>
                    <a:pt x="125430" y="405459"/>
                  </a:lnTo>
                  <a:lnTo>
                    <a:pt x="98283" y="364847"/>
                  </a:lnTo>
                  <a:lnTo>
                    <a:pt x="74022" y="322353"/>
                  </a:lnTo>
                  <a:lnTo>
                    <a:pt x="52760" y="278127"/>
                  </a:lnTo>
                  <a:lnTo>
                    <a:pt x="34612" y="232317"/>
                  </a:lnTo>
                  <a:lnTo>
                    <a:pt x="19692" y="185071"/>
                  </a:lnTo>
                  <a:lnTo>
                    <a:pt x="8117" y="136538"/>
                  </a:lnTo>
                  <a:lnTo>
                    <a:pt x="0" y="86867"/>
                  </a:lnTo>
                  <a:lnTo>
                    <a:pt x="688086" y="0"/>
                  </a:lnTo>
                  <a:lnTo>
                    <a:pt x="432688" y="644791"/>
                  </a:lnTo>
                  <a:close/>
                </a:path>
              </a:pathLst>
            </a:custGeom>
            <a:ln w="9144">
              <a:solidFill>
                <a:srgbClr val="5896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6338" y="4352163"/>
              <a:ext cx="693600" cy="78041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676338" y="4352163"/>
              <a:ext cx="694055" cy="780415"/>
            </a:xfrm>
            <a:custGeom>
              <a:avLst/>
              <a:gdLst/>
              <a:ahLst/>
              <a:cxnLst/>
              <a:rect l="l" t="t" r="r" b="b"/>
              <a:pathLst>
                <a:path w="694054" h="780414">
                  <a:moveTo>
                    <a:pt x="5514" y="780414"/>
                  </a:moveTo>
                  <a:lnTo>
                    <a:pt x="1150" y="733108"/>
                  </a:lnTo>
                  <a:lnTo>
                    <a:pt x="0" y="686260"/>
                  </a:lnTo>
                  <a:lnTo>
                    <a:pt x="1974" y="639988"/>
                  </a:lnTo>
                  <a:lnTo>
                    <a:pt x="6982" y="594405"/>
                  </a:lnTo>
                  <a:lnTo>
                    <a:pt x="14937" y="549629"/>
                  </a:lnTo>
                  <a:lnTo>
                    <a:pt x="25746" y="505773"/>
                  </a:lnTo>
                  <a:lnTo>
                    <a:pt x="39322" y="462954"/>
                  </a:lnTo>
                  <a:lnTo>
                    <a:pt x="55575" y="421287"/>
                  </a:lnTo>
                  <a:lnTo>
                    <a:pt x="74415" y="380887"/>
                  </a:lnTo>
                  <a:lnTo>
                    <a:pt x="95753" y="341870"/>
                  </a:lnTo>
                  <a:lnTo>
                    <a:pt x="119499" y="304351"/>
                  </a:lnTo>
                  <a:lnTo>
                    <a:pt x="145563" y="268446"/>
                  </a:lnTo>
                  <a:lnTo>
                    <a:pt x="173856" y="234270"/>
                  </a:lnTo>
                  <a:lnTo>
                    <a:pt x="204290" y="201938"/>
                  </a:lnTo>
                  <a:lnTo>
                    <a:pt x="236773" y="171566"/>
                  </a:lnTo>
                  <a:lnTo>
                    <a:pt x="271217" y="143270"/>
                  </a:lnTo>
                  <a:lnTo>
                    <a:pt x="307531" y="117164"/>
                  </a:lnTo>
                  <a:lnTo>
                    <a:pt x="345628" y="93364"/>
                  </a:lnTo>
                  <a:lnTo>
                    <a:pt x="385416" y="71986"/>
                  </a:lnTo>
                  <a:lnTo>
                    <a:pt x="426807" y="53145"/>
                  </a:lnTo>
                  <a:lnTo>
                    <a:pt x="469711" y="36957"/>
                  </a:lnTo>
                  <a:lnTo>
                    <a:pt x="514038" y="23536"/>
                  </a:lnTo>
                  <a:lnTo>
                    <a:pt x="559699" y="12999"/>
                  </a:lnTo>
                  <a:lnTo>
                    <a:pt x="606605" y="5461"/>
                  </a:lnTo>
                  <a:lnTo>
                    <a:pt x="650007" y="1396"/>
                  </a:lnTo>
                  <a:lnTo>
                    <a:pt x="693600" y="0"/>
                  </a:lnTo>
                  <a:lnTo>
                    <a:pt x="693600" y="693547"/>
                  </a:lnTo>
                  <a:lnTo>
                    <a:pt x="5514" y="780414"/>
                  </a:lnTo>
                  <a:close/>
                </a:path>
              </a:pathLst>
            </a:custGeom>
            <a:ln w="9143">
              <a:solidFill>
                <a:srgbClr val="2442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115302" y="4776927"/>
            <a:ext cx="3073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orbel"/>
                <a:cs typeface="Corbel"/>
              </a:rPr>
              <a:t>44%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224142" y="5767222"/>
            <a:ext cx="2946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orbel"/>
                <a:cs typeface="Corbel"/>
              </a:rPr>
              <a:t>12%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485003" y="5462727"/>
            <a:ext cx="2832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orbel"/>
                <a:cs typeface="Corbel"/>
              </a:rPr>
              <a:t>17%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04815" y="4358132"/>
            <a:ext cx="2914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orbel"/>
                <a:cs typeface="Corbel"/>
              </a:rPr>
              <a:t>27%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824984" y="5992367"/>
            <a:ext cx="93345" cy="93345"/>
            <a:chOff x="4824984" y="5992367"/>
            <a:chExt cx="93345" cy="93345"/>
          </a:xfrm>
        </p:grpSpPr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29556" y="5996939"/>
              <a:ext cx="83820" cy="8381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829556" y="5996939"/>
              <a:ext cx="83820" cy="83820"/>
            </a:xfrm>
            <a:custGeom>
              <a:avLst/>
              <a:gdLst/>
              <a:ahLst/>
              <a:cxnLst/>
              <a:rect l="l" t="t" r="r" b="b"/>
              <a:pathLst>
                <a:path w="83820" h="83820">
                  <a:moveTo>
                    <a:pt x="0" y="83820"/>
                  </a:moveTo>
                  <a:lnTo>
                    <a:pt x="83820" y="83820"/>
                  </a:lnTo>
                  <a:lnTo>
                    <a:pt x="83820" y="0"/>
                  </a:lnTo>
                  <a:lnTo>
                    <a:pt x="0" y="0"/>
                  </a:lnTo>
                  <a:lnTo>
                    <a:pt x="0" y="83820"/>
                  </a:lnTo>
                  <a:close/>
                </a:path>
              </a:pathLst>
            </a:custGeom>
            <a:ln w="9143">
              <a:solidFill>
                <a:srgbClr val="426E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938140" y="5919012"/>
            <a:ext cx="331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orbel"/>
                <a:cs typeface="Corbel"/>
              </a:rPr>
              <a:t>BCM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478779" y="5992367"/>
            <a:ext cx="93345" cy="93345"/>
            <a:chOff x="5478779" y="5992367"/>
            <a:chExt cx="93345" cy="93345"/>
          </a:xfrm>
        </p:grpSpPr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83351" y="5996939"/>
              <a:ext cx="83820" cy="83819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5483351" y="5996939"/>
              <a:ext cx="83820" cy="83820"/>
            </a:xfrm>
            <a:custGeom>
              <a:avLst/>
              <a:gdLst/>
              <a:ahLst/>
              <a:cxnLst/>
              <a:rect l="l" t="t" r="r" b="b"/>
              <a:pathLst>
                <a:path w="83820" h="83820">
                  <a:moveTo>
                    <a:pt x="0" y="83820"/>
                  </a:moveTo>
                  <a:lnTo>
                    <a:pt x="83820" y="83820"/>
                  </a:lnTo>
                  <a:lnTo>
                    <a:pt x="83820" y="0"/>
                  </a:lnTo>
                  <a:lnTo>
                    <a:pt x="0" y="0"/>
                  </a:lnTo>
                  <a:lnTo>
                    <a:pt x="0" y="83820"/>
                  </a:lnTo>
                  <a:close/>
                </a:path>
              </a:pathLst>
            </a:custGeom>
            <a:ln w="9143">
              <a:solidFill>
                <a:srgbClr val="A0A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5592571" y="5919012"/>
            <a:ext cx="632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rbel"/>
                <a:cs typeface="Corbel"/>
              </a:rPr>
              <a:t>Insurance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435852" y="5992367"/>
            <a:ext cx="91440" cy="93345"/>
            <a:chOff x="6435852" y="5992367"/>
            <a:chExt cx="91440" cy="93345"/>
          </a:xfrm>
        </p:grpSpPr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40424" y="5996939"/>
              <a:ext cx="82296" cy="83819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6440424" y="5996939"/>
              <a:ext cx="82550" cy="83820"/>
            </a:xfrm>
            <a:custGeom>
              <a:avLst/>
              <a:gdLst/>
              <a:ahLst/>
              <a:cxnLst/>
              <a:rect l="l" t="t" r="r" b="b"/>
              <a:pathLst>
                <a:path w="82550" h="83820">
                  <a:moveTo>
                    <a:pt x="0" y="83820"/>
                  </a:moveTo>
                  <a:lnTo>
                    <a:pt x="82296" y="83820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83820"/>
                  </a:lnTo>
                  <a:close/>
                </a:path>
              </a:pathLst>
            </a:custGeom>
            <a:ln w="9143">
              <a:solidFill>
                <a:srgbClr val="589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6548755" y="5919012"/>
            <a:ext cx="321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orbel"/>
                <a:cs typeface="Corbel"/>
              </a:rPr>
              <a:t>ITCE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080504" y="5992367"/>
            <a:ext cx="93345" cy="93345"/>
            <a:chOff x="7080504" y="5992367"/>
            <a:chExt cx="93345" cy="93345"/>
          </a:xfrm>
        </p:grpSpPr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85076" y="5996939"/>
              <a:ext cx="83820" cy="83819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7085076" y="5996939"/>
              <a:ext cx="83820" cy="83820"/>
            </a:xfrm>
            <a:custGeom>
              <a:avLst/>
              <a:gdLst/>
              <a:ahLst/>
              <a:cxnLst/>
              <a:rect l="l" t="t" r="r" b="b"/>
              <a:pathLst>
                <a:path w="83820" h="83820">
                  <a:moveTo>
                    <a:pt x="0" y="83820"/>
                  </a:moveTo>
                  <a:lnTo>
                    <a:pt x="83820" y="83820"/>
                  </a:lnTo>
                  <a:lnTo>
                    <a:pt x="83820" y="0"/>
                  </a:lnTo>
                  <a:lnTo>
                    <a:pt x="0" y="0"/>
                  </a:lnTo>
                  <a:lnTo>
                    <a:pt x="0" y="83820"/>
                  </a:lnTo>
                  <a:close/>
                </a:path>
              </a:pathLst>
            </a:custGeom>
            <a:ln w="9143">
              <a:solidFill>
                <a:srgbClr val="2442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7193406" y="5919012"/>
            <a:ext cx="6394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rbel"/>
                <a:cs typeface="Corbel"/>
              </a:rPr>
              <a:t>Emerging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9147423" y="4475670"/>
            <a:ext cx="1694180" cy="1694180"/>
            <a:chOff x="9147423" y="4475670"/>
            <a:chExt cx="1694180" cy="1694180"/>
          </a:xfrm>
        </p:grpSpPr>
        <p:pic>
          <p:nvPicPr>
            <p:cNvPr id="32" name="object 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90099" y="4480433"/>
              <a:ext cx="1146302" cy="1684147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9690099" y="4480433"/>
              <a:ext cx="1146810" cy="1684655"/>
            </a:xfrm>
            <a:custGeom>
              <a:avLst/>
              <a:gdLst/>
              <a:ahLst/>
              <a:cxnLst/>
              <a:rect l="l" t="t" r="r" b="b"/>
              <a:pathLst>
                <a:path w="1146809" h="1684654">
                  <a:moveTo>
                    <a:pt x="304165" y="0"/>
                  </a:moveTo>
                  <a:lnTo>
                    <a:pt x="351950" y="1332"/>
                  </a:lnTo>
                  <a:lnTo>
                    <a:pt x="399036" y="5283"/>
                  </a:lnTo>
                  <a:lnTo>
                    <a:pt x="445352" y="11781"/>
                  </a:lnTo>
                  <a:lnTo>
                    <a:pt x="490827" y="20755"/>
                  </a:lnTo>
                  <a:lnTo>
                    <a:pt x="535390" y="32134"/>
                  </a:lnTo>
                  <a:lnTo>
                    <a:pt x="578969" y="45847"/>
                  </a:lnTo>
                  <a:lnTo>
                    <a:pt x="621493" y="61823"/>
                  </a:lnTo>
                  <a:lnTo>
                    <a:pt x="662892" y="79991"/>
                  </a:lnTo>
                  <a:lnTo>
                    <a:pt x="703094" y="100280"/>
                  </a:lnTo>
                  <a:lnTo>
                    <a:pt x="742029" y="122618"/>
                  </a:lnTo>
                  <a:lnTo>
                    <a:pt x="779624" y="146935"/>
                  </a:lnTo>
                  <a:lnTo>
                    <a:pt x="815809" y="173160"/>
                  </a:lnTo>
                  <a:lnTo>
                    <a:pt x="850513" y="201221"/>
                  </a:lnTo>
                  <a:lnTo>
                    <a:pt x="883664" y="231048"/>
                  </a:lnTo>
                  <a:lnTo>
                    <a:pt x="915192" y="262570"/>
                  </a:lnTo>
                  <a:lnTo>
                    <a:pt x="945026" y="295715"/>
                  </a:lnTo>
                  <a:lnTo>
                    <a:pt x="973094" y="330412"/>
                  </a:lnTo>
                  <a:lnTo>
                    <a:pt x="999325" y="366591"/>
                  </a:lnTo>
                  <a:lnTo>
                    <a:pt x="1023648" y="404180"/>
                  </a:lnTo>
                  <a:lnTo>
                    <a:pt x="1045992" y="443109"/>
                  </a:lnTo>
                  <a:lnTo>
                    <a:pt x="1066286" y="483305"/>
                  </a:lnTo>
                  <a:lnTo>
                    <a:pt x="1084459" y="524699"/>
                  </a:lnTo>
                  <a:lnTo>
                    <a:pt x="1100440" y="567219"/>
                  </a:lnTo>
                  <a:lnTo>
                    <a:pt x="1114157" y="610794"/>
                  </a:lnTo>
                  <a:lnTo>
                    <a:pt x="1125539" y="655353"/>
                  </a:lnTo>
                  <a:lnTo>
                    <a:pt x="1134516" y="700826"/>
                  </a:lnTo>
                  <a:lnTo>
                    <a:pt x="1141016" y="747140"/>
                  </a:lnTo>
                  <a:lnTo>
                    <a:pt x="1144968" y="794225"/>
                  </a:lnTo>
                  <a:lnTo>
                    <a:pt x="1146302" y="842010"/>
                  </a:lnTo>
                  <a:lnTo>
                    <a:pt x="1144968" y="889800"/>
                  </a:lnTo>
                  <a:lnTo>
                    <a:pt x="1141016" y="936890"/>
                  </a:lnTo>
                  <a:lnTo>
                    <a:pt x="1134516" y="983210"/>
                  </a:lnTo>
                  <a:lnTo>
                    <a:pt x="1125539" y="1028688"/>
                  </a:lnTo>
                  <a:lnTo>
                    <a:pt x="1114157" y="1073253"/>
                  </a:lnTo>
                  <a:lnTo>
                    <a:pt x="1100440" y="1116834"/>
                  </a:lnTo>
                  <a:lnTo>
                    <a:pt x="1084459" y="1159360"/>
                  </a:lnTo>
                  <a:lnTo>
                    <a:pt x="1066286" y="1200759"/>
                  </a:lnTo>
                  <a:lnTo>
                    <a:pt x="1045992" y="1240962"/>
                  </a:lnTo>
                  <a:lnTo>
                    <a:pt x="1023648" y="1279896"/>
                  </a:lnTo>
                  <a:lnTo>
                    <a:pt x="999325" y="1317491"/>
                  </a:lnTo>
                  <a:lnTo>
                    <a:pt x="973094" y="1353676"/>
                  </a:lnTo>
                  <a:lnTo>
                    <a:pt x="945026" y="1388379"/>
                  </a:lnTo>
                  <a:lnTo>
                    <a:pt x="915192" y="1421529"/>
                  </a:lnTo>
                  <a:lnTo>
                    <a:pt x="883664" y="1453056"/>
                  </a:lnTo>
                  <a:lnTo>
                    <a:pt x="850513" y="1482888"/>
                  </a:lnTo>
                  <a:lnTo>
                    <a:pt x="815809" y="1510954"/>
                  </a:lnTo>
                  <a:lnTo>
                    <a:pt x="779624" y="1537183"/>
                  </a:lnTo>
                  <a:lnTo>
                    <a:pt x="742029" y="1561505"/>
                  </a:lnTo>
                  <a:lnTo>
                    <a:pt x="703094" y="1583847"/>
                  </a:lnTo>
                  <a:lnTo>
                    <a:pt x="662892" y="1604140"/>
                  </a:lnTo>
                  <a:lnTo>
                    <a:pt x="621493" y="1622311"/>
                  </a:lnTo>
                  <a:lnTo>
                    <a:pt x="578969" y="1638290"/>
                  </a:lnTo>
                  <a:lnTo>
                    <a:pt x="535390" y="1652005"/>
                  </a:lnTo>
                  <a:lnTo>
                    <a:pt x="490827" y="1663387"/>
                  </a:lnTo>
                  <a:lnTo>
                    <a:pt x="445352" y="1672362"/>
                  </a:lnTo>
                  <a:lnTo>
                    <a:pt x="399036" y="1678862"/>
                  </a:lnTo>
                  <a:lnTo>
                    <a:pt x="351950" y="1682813"/>
                  </a:lnTo>
                  <a:lnTo>
                    <a:pt x="304165" y="1684147"/>
                  </a:lnTo>
                  <a:lnTo>
                    <a:pt x="252256" y="1682544"/>
                  </a:lnTo>
                  <a:lnTo>
                    <a:pt x="200641" y="1677756"/>
                  </a:lnTo>
                  <a:lnTo>
                    <a:pt x="149463" y="1669808"/>
                  </a:lnTo>
                  <a:lnTo>
                    <a:pt x="98867" y="1658728"/>
                  </a:lnTo>
                  <a:lnTo>
                    <a:pt x="48997" y="1644541"/>
                  </a:lnTo>
                  <a:lnTo>
                    <a:pt x="0" y="1627276"/>
                  </a:lnTo>
                  <a:lnTo>
                    <a:pt x="304165" y="842010"/>
                  </a:lnTo>
                  <a:lnTo>
                    <a:pt x="304165" y="0"/>
                  </a:lnTo>
                  <a:close/>
                </a:path>
              </a:pathLst>
            </a:custGeom>
            <a:ln w="9144">
              <a:solidFill>
                <a:srgbClr val="426E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54819" y="5322443"/>
              <a:ext cx="639445" cy="785266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9354819" y="5322443"/>
              <a:ext cx="639445" cy="785495"/>
            </a:xfrm>
            <a:custGeom>
              <a:avLst/>
              <a:gdLst/>
              <a:ahLst/>
              <a:cxnLst/>
              <a:rect l="l" t="t" r="r" b="b"/>
              <a:pathLst>
                <a:path w="639445" h="785495">
                  <a:moveTo>
                    <a:pt x="335279" y="785266"/>
                  </a:moveTo>
                  <a:lnTo>
                    <a:pt x="287353" y="764981"/>
                  </a:lnTo>
                  <a:lnTo>
                    <a:pt x="240905" y="741844"/>
                  </a:lnTo>
                  <a:lnTo>
                    <a:pt x="196055" y="715940"/>
                  </a:lnTo>
                  <a:lnTo>
                    <a:pt x="152923" y="687357"/>
                  </a:lnTo>
                  <a:lnTo>
                    <a:pt x="111632" y="656178"/>
                  </a:lnTo>
                  <a:lnTo>
                    <a:pt x="72300" y="622490"/>
                  </a:lnTo>
                  <a:lnTo>
                    <a:pt x="35049" y="586378"/>
                  </a:lnTo>
                  <a:lnTo>
                    <a:pt x="0" y="547928"/>
                  </a:lnTo>
                  <a:lnTo>
                    <a:pt x="639445" y="0"/>
                  </a:lnTo>
                  <a:lnTo>
                    <a:pt x="335279" y="785266"/>
                  </a:lnTo>
                  <a:close/>
                </a:path>
              </a:pathLst>
            </a:custGeom>
            <a:ln w="9144">
              <a:solidFill>
                <a:srgbClr val="A0A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40519" y="5322443"/>
              <a:ext cx="753745" cy="547928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9240519" y="5322443"/>
              <a:ext cx="753745" cy="548005"/>
            </a:xfrm>
            <a:custGeom>
              <a:avLst/>
              <a:gdLst/>
              <a:ahLst/>
              <a:cxnLst/>
              <a:rect l="l" t="t" r="r" b="b"/>
              <a:pathLst>
                <a:path w="753745" h="548004">
                  <a:moveTo>
                    <a:pt x="114300" y="547928"/>
                  </a:moveTo>
                  <a:lnTo>
                    <a:pt x="81760" y="507501"/>
                  </a:lnTo>
                  <a:lnTo>
                    <a:pt x="51815" y="465188"/>
                  </a:lnTo>
                  <a:lnTo>
                    <a:pt x="24538" y="421112"/>
                  </a:lnTo>
                  <a:lnTo>
                    <a:pt x="0" y="375399"/>
                  </a:lnTo>
                  <a:lnTo>
                    <a:pt x="753745" y="0"/>
                  </a:lnTo>
                  <a:lnTo>
                    <a:pt x="114300" y="547928"/>
                  </a:lnTo>
                  <a:close/>
                </a:path>
              </a:pathLst>
            </a:custGeom>
            <a:ln w="9144">
              <a:solidFill>
                <a:srgbClr val="5896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52186" y="4505833"/>
              <a:ext cx="842078" cy="1192009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9152186" y="4505833"/>
              <a:ext cx="842644" cy="1192530"/>
            </a:xfrm>
            <a:custGeom>
              <a:avLst/>
              <a:gdLst/>
              <a:ahLst/>
              <a:cxnLst/>
              <a:rect l="l" t="t" r="r" b="b"/>
              <a:pathLst>
                <a:path w="842645" h="1192529">
                  <a:moveTo>
                    <a:pt x="88333" y="1192009"/>
                  </a:moveTo>
                  <a:lnTo>
                    <a:pt x="68217" y="1148641"/>
                  </a:lnTo>
                  <a:lnTo>
                    <a:pt x="50758" y="1104732"/>
                  </a:lnTo>
                  <a:lnTo>
                    <a:pt x="35924" y="1060377"/>
                  </a:lnTo>
                  <a:lnTo>
                    <a:pt x="23682" y="1015670"/>
                  </a:lnTo>
                  <a:lnTo>
                    <a:pt x="14000" y="970708"/>
                  </a:lnTo>
                  <a:lnTo>
                    <a:pt x="6847" y="925586"/>
                  </a:lnTo>
                  <a:lnTo>
                    <a:pt x="2191" y="880399"/>
                  </a:lnTo>
                  <a:lnTo>
                    <a:pt x="0" y="835242"/>
                  </a:lnTo>
                  <a:lnTo>
                    <a:pt x="241" y="790211"/>
                  </a:lnTo>
                  <a:lnTo>
                    <a:pt x="2883" y="745401"/>
                  </a:lnTo>
                  <a:lnTo>
                    <a:pt x="7895" y="700908"/>
                  </a:lnTo>
                  <a:lnTo>
                    <a:pt x="15243" y="656826"/>
                  </a:lnTo>
                  <a:lnTo>
                    <a:pt x="24896" y="613252"/>
                  </a:lnTo>
                  <a:lnTo>
                    <a:pt x="36823" y="570281"/>
                  </a:lnTo>
                  <a:lnTo>
                    <a:pt x="50991" y="528007"/>
                  </a:lnTo>
                  <a:lnTo>
                    <a:pt x="67368" y="486527"/>
                  </a:lnTo>
                  <a:lnTo>
                    <a:pt x="85923" y="445935"/>
                  </a:lnTo>
                  <a:lnTo>
                    <a:pt x="106623" y="406328"/>
                  </a:lnTo>
                  <a:lnTo>
                    <a:pt x="129437" y="367800"/>
                  </a:lnTo>
                  <a:lnTo>
                    <a:pt x="154332" y="330446"/>
                  </a:lnTo>
                  <a:lnTo>
                    <a:pt x="181277" y="294363"/>
                  </a:lnTo>
                  <a:lnTo>
                    <a:pt x="210240" y="259645"/>
                  </a:lnTo>
                  <a:lnTo>
                    <a:pt x="241188" y="226388"/>
                  </a:lnTo>
                  <a:lnTo>
                    <a:pt x="274090" y="194688"/>
                  </a:lnTo>
                  <a:lnTo>
                    <a:pt x="308915" y="164639"/>
                  </a:lnTo>
                  <a:lnTo>
                    <a:pt x="345629" y="136336"/>
                  </a:lnTo>
                  <a:lnTo>
                    <a:pt x="384201" y="109876"/>
                  </a:lnTo>
                  <a:lnTo>
                    <a:pt x="424600" y="85354"/>
                  </a:lnTo>
                  <a:lnTo>
                    <a:pt x="466793" y="62865"/>
                  </a:lnTo>
                  <a:lnTo>
                    <a:pt x="507899" y="43701"/>
                  </a:lnTo>
                  <a:lnTo>
                    <a:pt x="549994" y="26812"/>
                  </a:lnTo>
                  <a:lnTo>
                    <a:pt x="592969" y="12233"/>
                  </a:lnTo>
                  <a:lnTo>
                    <a:pt x="636719" y="0"/>
                  </a:lnTo>
                  <a:lnTo>
                    <a:pt x="842078" y="816610"/>
                  </a:lnTo>
                  <a:lnTo>
                    <a:pt x="88333" y="1192009"/>
                  </a:lnTo>
                  <a:close/>
                </a:path>
              </a:pathLst>
            </a:custGeom>
            <a:ln w="9144">
              <a:solidFill>
                <a:srgbClr val="24427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788905" y="4480433"/>
              <a:ext cx="205359" cy="842010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9788905" y="4480433"/>
              <a:ext cx="205740" cy="842010"/>
            </a:xfrm>
            <a:custGeom>
              <a:avLst/>
              <a:gdLst/>
              <a:ahLst/>
              <a:cxnLst/>
              <a:rect l="l" t="t" r="r" b="b"/>
              <a:pathLst>
                <a:path w="205740" h="842010">
                  <a:moveTo>
                    <a:pt x="0" y="25400"/>
                  </a:moveTo>
                  <a:lnTo>
                    <a:pt x="50696" y="14305"/>
                  </a:lnTo>
                  <a:lnTo>
                    <a:pt x="101917" y="6365"/>
                  </a:lnTo>
                  <a:lnTo>
                    <a:pt x="153519" y="1593"/>
                  </a:lnTo>
                  <a:lnTo>
                    <a:pt x="205359" y="0"/>
                  </a:lnTo>
                  <a:lnTo>
                    <a:pt x="205359" y="842010"/>
                  </a:lnTo>
                  <a:lnTo>
                    <a:pt x="0" y="25400"/>
                  </a:lnTo>
                  <a:close/>
                </a:path>
              </a:pathLst>
            </a:custGeom>
            <a:ln w="9143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9244076" y="6037579"/>
            <a:ext cx="212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8%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9017634" y="5768746"/>
            <a:ext cx="212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4%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9730485" y="4229480"/>
            <a:ext cx="212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4%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8352281" y="6063792"/>
            <a:ext cx="7308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orbel"/>
                <a:cs typeface="Corbel"/>
              </a:rPr>
              <a:t>Digital</a:t>
            </a:r>
            <a:r>
              <a:rPr dirty="0" sz="1200" spc="-45">
                <a:latin typeface="Corbel"/>
                <a:cs typeface="Corbel"/>
              </a:rPr>
              <a:t> </a:t>
            </a:r>
            <a:r>
              <a:rPr dirty="0" sz="1200" spc="-20">
                <a:latin typeface="Corbel"/>
                <a:cs typeface="Corbel"/>
              </a:rPr>
              <a:t>Risk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0048747" y="4179189"/>
            <a:ext cx="9385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Corbel"/>
                <a:cs typeface="Corbel"/>
              </a:rPr>
              <a:t>Direct</a:t>
            </a:r>
            <a:r>
              <a:rPr dirty="0" sz="1300" spc="-25">
                <a:latin typeface="Corbel"/>
                <a:cs typeface="Corbel"/>
              </a:rPr>
              <a:t> </a:t>
            </a:r>
            <a:r>
              <a:rPr dirty="0" sz="1300" spc="-10">
                <a:latin typeface="Corbel"/>
                <a:cs typeface="Corbel"/>
              </a:rPr>
              <a:t>Others</a:t>
            </a:r>
            <a:endParaRPr sz="1300">
              <a:latin typeface="Corbel"/>
              <a:cs typeface="Corbe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8349488" y="5486196"/>
            <a:ext cx="5740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286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rbel"/>
                <a:cs typeface="Corbel"/>
              </a:rPr>
              <a:t>Product Portfolio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032872" y="5192648"/>
            <a:ext cx="730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775" marR="5080" indent="-21971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rbel"/>
                <a:cs typeface="Corbel"/>
              </a:rPr>
              <a:t>Direct</a:t>
            </a:r>
            <a:r>
              <a:rPr dirty="0" sz="1200" spc="-25">
                <a:latin typeface="Corbel"/>
                <a:cs typeface="Corbel"/>
              </a:rPr>
              <a:t> </a:t>
            </a:r>
            <a:r>
              <a:rPr dirty="0" sz="1200" spc="-20">
                <a:latin typeface="Corbel"/>
                <a:cs typeface="Corbel"/>
              </a:rPr>
              <a:t>Core </a:t>
            </a:r>
            <a:r>
              <a:rPr dirty="0" sz="1200" spc="-25">
                <a:latin typeface="Corbel"/>
                <a:cs typeface="Corbel"/>
              </a:rPr>
              <a:t>55%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8274557" y="4574664"/>
            <a:ext cx="1161415" cy="60515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300" spc="-20">
                <a:latin typeface="Corbel"/>
                <a:cs typeface="Corbel"/>
              </a:rPr>
              <a:t>DXC/HP</a:t>
            </a:r>
            <a:r>
              <a:rPr dirty="0" sz="1300" spc="-10">
                <a:latin typeface="Corbel"/>
                <a:cs typeface="Corbel"/>
              </a:rPr>
              <a:t> Channel</a:t>
            </a:r>
            <a:endParaRPr sz="1300">
              <a:latin typeface="Corbel"/>
              <a:cs typeface="Corbel"/>
            </a:endParaRPr>
          </a:p>
          <a:p>
            <a:pPr marL="548640">
              <a:lnSpc>
                <a:spcPct val="100000"/>
              </a:lnSpc>
              <a:spcBef>
                <a:spcPts val="750"/>
              </a:spcBef>
            </a:pPr>
            <a:r>
              <a:rPr dirty="0" sz="1200" spc="-25">
                <a:latin typeface="Calibri"/>
                <a:cs typeface="Calibri"/>
              </a:rPr>
              <a:t>29%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8975470" y="4442586"/>
            <a:ext cx="2143760" cy="1738630"/>
            <a:chOff x="8975470" y="4442586"/>
            <a:chExt cx="2143760" cy="1738630"/>
          </a:xfrm>
        </p:grpSpPr>
        <p:pic>
          <p:nvPicPr>
            <p:cNvPr id="51" name="object 5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876787" y="5574791"/>
              <a:ext cx="242188" cy="145935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8975471" y="5679960"/>
              <a:ext cx="442595" cy="407670"/>
            </a:xfrm>
            <a:custGeom>
              <a:avLst/>
              <a:gdLst/>
              <a:ahLst/>
              <a:cxnLst/>
              <a:rect l="l" t="t" r="r" b="b"/>
              <a:pathLst>
                <a:path w="442595" h="407670">
                  <a:moveTo>
                    <a:pt x="270764" y="63411"/>
                  </a:moveTo>
                  <a:lnTo>
                    <a:pt x="192913" y="2159"/>
                  </a:lnTo>
                  <a:lnTo>
                    <a:pt x="190119" y="0"/>
                  </a:lnTo>
                  <a:lnTo>
                    <a:pt x="186182" y="469"/>
                  </a:lnTo>
                  <a:lnTo>
                    <a:pt x="181864" y="5981"/>
                  </a:lnTo>
                  <a:lnTo>
                    <a:pt x="182245" y="9982"/>
                  </a:lnTo>
                  <a:lnTo>
                    <a:pt x="185039" y="12141"/>
                  </a:lnTo>
                  <a:lnTo>
                    <a:pt x="235915" y="52158"/>
                  </a:lnTo>
                  <a:lnTo>
                    <a:pt x="1778" y="19608"/>
                  </a:lnTo>
                  <a:lnTo>
                    <a:pt x="0" y="32181"/>
                  </a:lnTo>
                  <a:lnTo>
                    <a:pt x="234175" y="64731"/>
                  </a:lnTo>
                  <a:lnTo>
                    <a:pt x="171069" y="90665"/>
                  </a:lnTo>
                  <a:lnTo>
                    <a:pt x="169545" y="94373"/>
                  </a:lnTo>
                  <a:lnTo>
                    <a:pt x="170815" y="97624"/>
                  </a:lnTo>
                  <a:lnTo>
                    <a:pt x="172212" y="100863"/>
                  </a:lnTo>
                  <a:lnTo>
                    <a:pt x="175895" y="102412"/>
                  </a:lnTo>
                  <a:lnTo>
                    <a:pt x="259702" y="67957"/>
                  </a:lnTo>
                  <a:lnTo>
                    <a:pt x="270764" y="63411"/>
                  </a:lnTo>
                  <a:close/>
                </a:path>
                <a:path w="442595" h="407670">
                  <a:moveTo>
                    <a:pt x="442341" y="263626"/>
                  </a:moveTo>
                  <a:lnTo>
                    <a:pt x="435851" y="262877"/>
                  </a:lnTo>
                  <a:lnTo>
                    <a:pt x="340487" y="251866"/>
                  </a:lnTo>
                  <a:lnTo>
                    <a:pt x="337312" y="254368"/>
                  </a:lnTo>
                  <a:lnTo>
                    <a:pt x="336550" y="261327"/>
                  </a:lnTo>
                  <a:lnTo>
                    <a:pt x="338963" y="264477"/>
                  </a:lnTo>
                  <a:lnTo>
                    <a:pt x="406755" y="272300"/>
                  </a:lnTo>
                  <a:lnTo>
                    <a:pt x="124841" y="395922"/>
                  </a:lnTo>
                  <a:lnTo>
                    <a:pt x="129921" y="407555"/>
                  </a:lnTo>
                  <a:lnTo>
                    <a:pt x="411848" y="283972"/>
                  </a:lnTo>
                  <a:lnTo>
                    <a:pt x="373761" y="336257"/>
                  </a:lnTo>
                  <a:lnTo>
                    <a:pt x="371729" y="339090"/>
                  </a:lnTo>
                  <a:lnTo>
                    <a:pt x="372364" y="343065"/>
                  </a:lnTo>
                  <a:lnTo>
                    <a:pt x="377952" y="347192"/>
                  </a:lnTo>
                  <a:lnTo>
                    <a:pt x="382016" y="346570"/>
                  </a:lnTo>
                  <a:lnTo>
                    <a:pt x="384048" y="343738"/>
                  </a:lnTo>
                  <a:lnTo>
                    <a:pt x="442341" y="263626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220199" y="4447158"/>
              <a:ext cx="1621790" cy="1729739"/>
            </a:xfrm>
            <a:custGeom>
              <a:avLst/>
              <a:gdLst/>
              <a:ahLst/>
              <a:cxnLst/>
              <a:rect l="l" t="t" r="r" b="b"/>
              <a:pathLst>
                <a:path w="1621790" h="1729739">
                  <a:moveTo>
                    <a:pt x="749807" y="0"/>
                  </a:moveTo>
                  <a:lnTo>
                    <a:pt x="798426" y="494"/>
                  </a:lnTo>
                  <a:lnTo>
                    <a:pt x="846381" y="3692"/>
                  </a:lnTo>
                  <a:lnTo>
                    <a:pt x="893599" y="9520"/>
                  </a:lnTo>
                  <a:lnTo>
                    <a:pt x="940006" y="17908"/>
                  </a:lnTo>
                  <a:lnTo>
                    <a:pt x="985529" y="28783"/>
                  </a:lnTo>
                  <a:lnTo>
                    <a:pt x="1030094" y="42073"/>
                  </a:lnTo>
                  <a:lnTo>
                    <a:pt x="1073628" y="57707"/>
                  </a:lnTo>
                  <a:lnTo>
                    <a:pt x="1116056" y="75613"/>
                  </a:lnTo>
                  <a:lnTo>
                    <a:pt x="1157306" y="95720"/>
                  </a:lnTo>
                  <a:lnTo>
                    <a:pt x="1197303" y="117954"/>
                  </a:lnTo>
                  <a:lnTo>
                    <a:pt x="1235975" y="142246"/>
                  </a:lnTo>
                  <a:lnTo>
                    <a:pt x="1273247" y="168522"/>
                  </a:lnTo>
                  <a:lnTo>
                    <a:pt x="1309045" y="196712"/>
                  </a:lnTo>
                  <a:lnTo>
                    <a:pt x="1343297" y="226743"/>
                  </a:lnTo>
                  <a:lnTo>
                    <a:pt x="1375929" y="258544"/>
                  </a:lnTo>
                  <a:lnTo>
                    <a:pt x="1406866" y="292042"/>
                  </a:lnTo>
                  <a:lnTo>
                    <a:pt x="1436036" y="327167"/>
                  </a:lnTo>
                  <a:lnTo>
                    <a:pt x="1463365" y="363846"/>
                  </a:lnTo>
                  <a:lnTo>
                    <a:pt x="1488779" y="402007"/>
                  </a:lnTo>
                  <a:lnTo>
                    <a:pt x="1512205" y="441580"/>
                  </a:lnTo>
                  <a:lnTo>
                    <a:pt x="1533568" y="482491"/>
                  </a:lnTo>
                  <a:lnTo>
                    <a:pt x="1552796" y="524670"/>
                  </a:lnTo>
                  <a:lnTo>
                    <a:pt x="1569814" y="568044"/>
                  </a:lnTo>
                  <a:lnTo>
                    <a:pt x="1584550" y="612542"/>
                  </a:lnTo>
                  <a:lnTo>
                    <a:pt x="1596929" y="658092"/>
                  </a:lnTo>
                  <a:lnTo>
                    <a:pt x="1606878" y="704622"/>
                  </a:lnTo>
                  <a:lnTo>
                    <a:pt x="1614323" y="752060"/>
                  </a:lnTo>
                  <a:lnTo>
                    <a:pt x="1619191" y="800335"/>
                  </a:lnTo>
                  <a:lnTo>
                    <a:pt x="1621408" y="849376"/>
                  </a:lnTo>
                  <a:lnTo>
                    <a:pt x="1620914" y="898474"/>
                  </a:lnTo>
                  <a:lnTo>
                    <a:pt x="1617745" y="946902"/>
                  </a:lnTo>
                  <a:lnTo>
                    <a:pt x="1611971" y="994585"/>
                  </a:lnTo>
                  <a:lnTo>
                    <a:pt x="1603664" y="1041448"/>
                  </a:lnTo>
                  <a:lnTo>
                    <a:pt x="1592894" y="1087418"/>
                  </a:lnTo>
                  <a:lnTo>
                    <a:pt x="1579734" y="1132420"/>
                  </a:lnTo>
                  <a:lnTo>
                    <a:pt x="1564252" y="1176379"/>
                  </a:lnTo>
                  <a:lnTo>
                    <a:pt x="1546522" y="1219223"/>
                  </a:lnTo>
                  <a:lnTo>
                    <a:pt x="1526613" y="1260875"/>
                  </a:lnTo>
                  <a:lnTo>
                    <a:pt x="1504596" y="1301263"/>
                  </a:lnTo>
                  <a:lnTo>
                    <a:pt x="1480544" y="1340311"/>
                  </a:lnTo>
                  <a:lnTo>
                    <a:pt x="1454525" y="1377946"/>
                  </a:lnTo>
                  <a:lnTo>
                    <a:pt x="1426613" y="1414093"/>
                  </a:lnTo>
                  <a:lnTo>
                    <a:pt x="1396876" y="1448677"/>
                  </a:lnTo>
                  <a:lnTo>
                    <a:pt x="1365388" y="1481625"/>
                  </a:lnTo>
                  <a:lnTo>
                    <a:pt x="1332218" y="1512863"/>
                  </a:lnTo>
                  <a:lnTo>
                    <a:pt x="1297437" y="1542315"/>
                  </a:lnTo>
                  <a:lnTo>
                    <a:pt x="1261117" y="1569908"/>
                  </a:lnTo>
                  <a:lnTo>
                    <a:pt x="1223328" y="1595568"/>
                  </a:lnTo>
                  <a:lnTo>
                    <a:pt x="1184142" y="1619219"/>
                  </a:lnTo>
                  <a:lnTo>
                    <a:pt x="1143629" y="1640789"/>
                  </a:lnTo>
                  <a:lnTo>
                    <a:pt x="1101860" y="1660202"/>
                  </a:lnTo>
                  <a:lnTo>
                    <a:pt x="1058907" y="1677384"/>
                  </a:lnTo>
                  <a:lnTo>
                    <a:pt x="1014841" y="1692261"/>
                  </a:lnTo>
                  <a:lnTo>
                    <a:pt x="969731" y="1704759"/>
                  </a:lnTo>
                  <a:lnTo>
                    <a:pt x="923650" y="1714804"/>
                  </a:lnTo>
                  <a:lnTo>
                    <a:pt x="876669" y="1722320"/>
                  </a:lnTo>
                  <a:lnTo>
                    <a:pt x="828857" y="1727235"/>
                  </a:lnTo>
                  <a:lnTo>
                    <a:pt x="780288" y="1729473"/>
                  </a:lnTo>
                  <a:lnTo>
                    <a:pt x="731138" y="1728935"/>
                  </a:lnTo>
                  <a:lnTo>
                    <a:pt x="682470" y="1725592"/>
                  </a:lnTo>
                  <a:lnTo>
                    <a:pt x="634382" y="1719504"/>
                  </a:lnTo>
                  <a:lnTo>
                    <a:pt x="586971" y="1710731"/>
                  </a:lnTo>
                  <a:lnTo>
                    <a:pt x="540335" y="1699331"/>
                  </a:lnTo>
                  <a:lnTo>
                    <a:pt x="494571" y="1685363"/>
                  </a:lnTo>
                  <a:lnTo>
                    <a:pt x="449776" y="1668888"/>
                  </a:lnTo>
                  <a:lnTo>
                    <a:pt x="406048" y="1649964"/>
                  </a:lnTo>
                  <a:lnTo>
                    <a:pt x="363484" y="1628651"/>
                  </a:lnTo>
                  <a:lnTo>
                    <a:pt x="322183" y="1605008"/>
                  </a:lnTo>
                  <a:lnTo>
                    <a:pt x="282240" y="1579094"/>
                  </a:lnTo>
                  <a:lnTo>
                    <a:pt x="243754" y="1550969"/>
                  </a:lnTo>
                  <a:lnTo>
                    <a:pt x="206822" y="1520692"/>
                  </a:lnTo>
                  <a:lnTo>
                    <a:pt x="171542" y="1488322"/>
                  </a:lnTo>
                  <a:lnTo>
                    <a:pt x="138011" y="1453919"/>
                  </a:lnTo>
                  <a:lnTo>
                    <a:pt x="106326" y="1417541"/>
                  </a:lnTo>
                  <a:lnTo>
                    <a:pt x="76585" y="1379249"/>
                  </a:lnTo>
                  <a:lnTo>
                    <a:pt x="48885" y="1339101"/>
                  </a:lnTo>
                  <a:lnTo>
                    <a:pt x="23324" y="1297158"/>
                  </a:lnTo>
                  <a:lnTo>
                    <a:pt x="0" y="1253477"/>
                  </a:lnTo>
                  <a:lnTo>
                    <a:pt x="765048" y="864743"/>
                  </a:lnTo>
                  <a:lnTo>
                    <a:pt x="749807" y="0"/>
                  </a:lnTo>
                  <a:close/>
                </a:path>
              </a:pathLst>
            </a:custGeom>
            <a:ln w="9144">
              <a:solidFill>
                <a:srgbClr val="B51E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10728452" y="5709737"/>
            <a:ext cx="1356360" cy="45021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dirty="0" sz="1300">
                <a:latin typeface="Corbel"/>
                <a:cs typeface="Corbel"/>
              </a:rPr>
              <a:t>Direct</a:t>
            </a:r>
            <a:r>
              <a:rPr dirty="0" sz="1300" spc="-35">
                <a:latin typeface="Corbel"/>
                <a:cs typeface="Corbel"/>
              </a:rPr>
              <a:t> </a:t>
            </a:r>
            <a:r>
              <a:rPr dirty="0" sz="1300" spc="-10">
                <a:latin typeface="Corbel"/>
                <a:cs typeface="Corbel"/>
              </a:rPr>
              <a:t>International</a:t>
            </a:r>
            <a:endParaRPr sz="1300">
              <a:latin typeface="Corbel"/>
              <a:cs typeface="Corbel"/>
            </a:endParaRPr>
          </a:p>
          <a:p>
            <a:pPr algn="ctr" marR="41275">
              <a:lnSpc>
                <a:spcPct val="100000"/>
              </a:lnSpc>
              <a:spcBef>
                <a:spcPts val="170"/>
              </a:spcBef>
            </a:pPr>
            <a:r>
              <a:rPr dirty="0" sz="1200" spc="-25">
                <a:latin typeface="Calibri"/>
                <a:cs typeface="Calibri"/>
              </a:rPr>
              <a:t>67%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224027" y="670559"/>
            <a:ext cx="5594985" cy="381000"/>
            <a:chOff x="224027" y="670559"/>
            <a:chExt cx="5594985" cy="381000"/>
          </a:xfrm>
        </p:grpSpPr>
        <p:pic>
          <p:nvPicPr>
            <p:cNvPr id="56" name="object 5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9935" y="696467"/>
              <a:ext cx="5542788" cy="355091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224027" y="670559"/>
              <a:ext cx="5594985" cy="355600"/>
            </a:xfrm>
            <a:custGeom>
              <a:avLst/>
              <a:gdLst/>
              <a:ahLst/>
              <a:cxnLst/>
              <a:rect l="l" t="t" r="r" b="b"/>
              <a:pathLst>
                <a:path w="5594985" h="355600">
                  <a:moveTo>
                    <a:pt x="5594604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594604" y="355091"/>
                  </a:lnTo>
                  <a:lnTo>
                    <a:pt x="5594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2590545" y="721867"/>
            <a:ext cx="86169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Key</a:t>
            </a:r>
            <a:r>
              <a:rPr dirty="0" sz="1600" spc="-6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Facts</a:t>
            </a:r>
            <a:endParaRPr sz="1600">
              <a:latin typeface="Corbel"/>
              <a:cs typeface="Corbe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4520184" y="3838955"/>
            <a:ext cx="3598545" cy="381000"/>
            <a:chOff x="4520184" y="3838955"/>
            <a:chExt cx="3598545" cy="381000"/>
          </a:xfrm>
        </p:grpSpPr>
        <p:pic>
          <p:nvPicPr>
            <p:cNvPr id="60" name="object 6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36948" y="3864863"/>
              <a:ext cx="3564636" cy="355092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4520184" y="3838955"/>
              <a:ext cx="3598545" cy="355600"/>
            </a:xfrm>
            <a:custGeom>
              <a:avLst/>
              <a:gdLst/>
              <a:ahLst/>
              <a:cxnLst/>
              <a:rect l="l" t="t" r="r" b="b"/>
              <a:pathLst>
                <a:path w="3598545" h="355600">
                  <a:moveTo>
                    <a:pt x="3598164" y="0"/>
                  </a:moveTo>
                  <a:lnTo>
                    <a:pt x="0" y="0"/>
                  </a:lnTo>
                  <a:lnTo>
                    <a:pt x="0" y="355092"/>
                  </a:lnTo>
                  <a:lnTo>
                    <a:pt x="3598164" y="355092"/>
                  </a:lnTo>
                  <a:lnTo>
                    <a:pt x="3598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4893564" y="3890898"/>
            <a:ext cx="28536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Deep</a:t>
            </a:r>
            <a:r>
              <a:rPr dirty="0" sz="16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domain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expertise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in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BFSI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25641" sz="975" spc="-75" b="1">
                <a:solidFill>
                  <a:srgbClr val="2A2F3B"/>
                </a:solidFill>
                <a:latin typeface="Corbel"/>
                <a:cs typeface="Corbel"/>
              </a:rPr>
              <a:t>#</a:t>
            </a:r>
            <a:endParaRPr baseline="25641" sz="975">
              <a:latin typeface="Corbel"/>
              <a:cs typeface="Corbel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140207" y="3838955"/>
            <a:ext cx="4276725" cy="381000"/>
            <a:chOff x="140207" y="3838955"/>
            <a:chExt cx="4276725" cy="381000"/>
          </a:xfrm>
        </p:grpSpPr>
        <p:pic>
          <p:nvPicPr>
            <p:cNvPr id="64" name="object 6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0019" y="3864863"/>
              <a:ext cx="4236720" cy="355092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140207" y="3838955"/>
              <a:ext cx="4276725" cy="355600"/>
            </a:xfrm>
            <a:custGeom>
              <a:avLst/>
              <a:gdLst/>
              <a:ahLst/>
              <a:cxnLst/>
              <a:rect l="l" t="t" r="r" b="b"/>
              <a:pathLst>
                <a:path w="4276725" h="355600">
                  <a:moveTo>
                    <a:pt x="4276344" y="0"/>
                  </a:moveTo>
                  <a:lnTo>
                    <a:pt x="0" y="0"/>
                  </a:lnTo>
                  <a:lnTo>
                    <a:pt x="0" y="355092"/>
                  </a:lnTo>
                  <a:lnTo>
                    <a:pt x="4276344" y="355092"/>
                  </a:lnTo>
                  <a:lnTo>
                    <a:pt x="4276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876604" y="3890898"/>
            <a:ext cx="28035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Geographical</a:t>
            </a:r>
            <a:r>
              <a:rPr dirty="0" sz="16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Split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Revenue </a:t>
            </a:r>
            <a:r>
              <a:rPr dirty="0" baseline="25641" sz="975" spc="-75" b="1">
                <a:solidFill>
                  <a:srgbClr val="2A2F3B"/>
                </a:solidFill>
                <a:latin typeface="Corbel"/>
                <a:cs typeface="Corbel"/>
              </a:rPr>
              <a:t>#</a:t>
            </a:r>
            <a:endParaRPr baseline="25641" sz="975">
              <a:latin typeface="Corbel"/>
              <a:cs typeface="Corbel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2874391" y="4449826"/>
            <a:ext cx="1250950" cy="987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A2F3B"/>
                </a:solidFill>
                <a:latin typeface="Corbel"/>
                <a:cs typeface="Corbel"/>
              </a:rPr>
              <a:t>India</a:t>
            </a:r>
            <a:r>
              <a:rPr dirty="0" sz="105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50">
                <a:solidFill>
                  <a:srgbClr val="2A2F3B"/>
                </a:solidFill>
                <a:latin typeface="Corbel"/>
                <a:cs typeface="Corbel"/>
              </a:rPr>
              <a:t>&amp;</a:t>
            </a:r>
            <a:r>
              <a:rPr dirty="0" sz="105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50">
                <a:solidFill>
                  <a:srgbClr val="2A2F3B"/>
                </a:solidFill>
                <a:latin typeface="Corbel"/>
                <a:cs typeface="Corbel"/>
              </a:rPr>
              <a:t>RoW</a:t>
            </a:r>
            <a:r>
              <a:rPr dirty="0" sz="1050" spc="-10">
                <a:solidFill>
                  <a:srgbClr val="2A2F3B"/>
                </a:solidFill>
                <a:latin typeface="Corbel"/>
                <a:cs typeface="Corbel"/>
              </a:rPr>
              <a:t> revenue </a:t>
            </a:r>
            <a:r>
              <a:rPr dirty="0" sz="1050">
                <a:solidFill>
                  <a:srgbClr val="2A2F3B"/>
                </a:solidFill>
                <a:latin typeface="Corbel"/>
                <a:cs typeface="Corbel"/>
              </a:rPr>
              <a:t>primarily</a:t>
            </a:r>
            <a:r>
              <a:rPr dirty="0" sz="1050" spc="-3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50" spc="-20">
                <a:solidFill>
                  <a:srgbClr val="2A2F3B"/>
                </a:solidFill>
                <a:latin typeface="Corbel"/>
                <a:cs typeface="Corbel"/>
              </a:rPr>
              <a:t>from</a:t>
            </a:r>
            <a:r>
              <a:rPr dirty="0" sz="1050">
                <a:solidFill>
                  <a:srgbClr val="2A2F3B"/>
                </a:solidFill>
                <a:latin typeface="Corbel"/>
                <a:cs typeface="Corbel"/>
              </a:rPr>
              <a:t> European</a:t>
            </a:r>
            <a:r>
              <a:rPr dirty="0" sz="1050" spc="-5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50" spc="-25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050">
                <a:solidFill>
                  <a:srgbClr val="2A2F3B"/>
                </a:solidFill>
                <a:latin typeface="Corbel"/>
                <a:cs typeface="Corbel"/>
              </a:rPr>
              <a:t> American</a:t>
            </a:r>
            <a:r>
              <a:rPr dirty="0" sz="105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50" spc="-10">
                <a:solidFill>
                  <a:srgbClr val="2A2F3B"/>
                </a:solidFill>
                <a:latin typeface="Corbel"/>
                <a:cs typeface="Corbel"/>
              </a:rPr>
              <a:t>Strategic </a:t>
            </a:r>
            <a:r>
              <a:rPr dirty="0" sz="1050">
                <a:solidFill>
                  <a:srgbClr val="2A2F3B"/>
                </a:solidFill>
                <a:latin typeface="Corbel"/>
                <a:cs typeface="Corbel"/>
              </a:rPr>
              <a:t>Customers</a:t>
            </a:r>
            <a:r>
              <a:rPr dirty="0" sz="1050" spc="-4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50">
                <a:solidFill>
                  <a:srgbClr val="2A2F3B"/>
                </a:solidFill>
                <a:latin typeface="Corbel"/>
                <a:cs typeface="Corbel"/>
              </a:rPr>
              <a:t>with</a:t>
            </a:r>
            <a:r>
              <a:rPr dirty="0" sz="105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50" spc="-10">
                <a:solidFill>
                  <a:srgbClr val="2A2F3B"/>
                </a:solidFill>
                <a:latin typeface="Corbel"/>
                <a:cs typeface="Corbel"/>
              </a:rPr>
              <a:t>billing entities</a:t>
            </a:r>
            <a:r>
              <a:rPr dirty="0" sz="1050" spc="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50" spc="-10">
                <a:solidFill>
                  <a:srgbClr val="2A2F3B"/>
                </a:solidFill>
                <a:latin typeface="Corbel"/>
                <a:cs typeface="Corbel"/>
              </a:rPr>
              <a:t>abroad.</a:t>
            </a:r>
            <a:endParaRPr sz="1050">
              <a:latin typeface="Corbel"/>
              <a:cs typeface="Corbel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6303264" y="684276"/>
            <a:ext cx="5633085" cy="381000"/>
            <a:chOff x="6303264" y="684276"/>
            <a:chExt cx="5633085" cy="381000"/>
          </a:xfrm>
        </p:grpSpPr>
        <p:pic>
          <p:nvPicPr>
            <p:cNvPr id="69" name="object 6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29172" y="710184"/>
              <a:ext cx="5580887" cy="355091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6303264" y="684276"/>
              <a:ext cx="5633085" cy="355600"/>
            </a:xfrm>
            <a:custGeom>
              <a:avLst/>
              <a:gdLst/>
              <a:ahLst/>
              <a:cxnLst/>
              <a:rect l="l" t="t" r="r" b="b"/>
              <a:pathLst>
                <a:path w="5633084" h="355600">
                  <a:moveTo>
                    <a:pt x="5632703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632703" y="355091"/>
                  </a:lnTo>
                  <a:lnTo>
                    <a:pt x="5632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7137018" y="735584"/>
            <a:ext cx="39662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Global</a:t>
            </a:r>
            <a:r>
              <a:rPr dirty="0" sz="1600" spc="-7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Delivery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Footprint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600" spc="-7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Sales</a:t>
            </a:r>
            <a:r>
              <a:rPr dirty="0" sz="1600" spc="-7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Coverage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404266" y="1048412"/>
            <a:ext cx="5340350" cy="132080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just" marL="217804" indent="-16700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17804" algn="l"/>
              </a:tabLst>
            </a:pPr>
            <a:r>
              <a:rPr dirty="0" sz="1400">
                <a:latin typeface="Corbel"/>
                <a:cs typeface="Corbel"/>
              </a:rPr>
              <a:t>Incorporated</a:t>
            </a:r>
            <a:r>
              <a:rPr dirty="0" sz="1400" spc="-3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in</a:t>
            </a:r>
            <a:r>
              <a:rPr dirty="0" sz="1400" spc="-50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1992</a:t>
            </a:r>
            <a:endParaRPr sz="1400">
              <a:latin typeface="Corbel"/>
              <a:cs typeface="Corbel"/>
            </a:endParaRPr>
          </a:p>
          <a:p>
            <a:pPr algn="just" marL="216535" marR="55880" indent="-16637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17804" algn="l"/>
              </a:tabLst>
            </a:pPr>
            <a:r>
              <a:rPr dirty="0" sz="1400">
                <a:latin typeface="Corbel"/>
                <a:cs typeface="Corbel"/>
              </a:rPr>
              <a:t>Marquee</a:t>
            </a:r>
            <a:r>
              <a:rPr dirty="0" sz="1400" spc="15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clients</a:t>
            </a:r>
            <a:r>
              <a:rPr dirty="0" sz="1400" spc="14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including</a:t>
            </a:r>
            <a:r>
              <a:rPr dirty="0" sz="1400" spc="14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largest</a:t>
            </a:r>
            <a:r>
              <a:rPr dirty="0" sz="1400" spc="15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bank</a:t>
            </a:r>
            <a:r>
              <a:rPr dirty="0" sz="1400" spc="14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and</a:t>
            </a:r>
            <a:r>
              <a:rPr dirty="0" sz="1400" spc="15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insurance</a:t>
            </a:r>
            <a:r>
              <a:rPr dirty="0" sz="1400" spc="14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companies</a:t>
            </a:r>
            <a:r>
              <a:rPr dirty="0" sz="1400" spc="150">
                <a:latin typeface="Corbel"/>
                <a:cs typeface="Corbel"/>
              </a:rPr>
              <a:t> </a:t>
            </a:r>
            <a:r>
              <a:rPr dirty="0" sz="1400" spc="-25">
                <a:latin typeface="Corbel"/>
                <a:cs typeface="Corbel"/>
              </a:rPr>
              <a:t>in </a:t>
            </a:r>
            <a:r>
              <a:rPr dirty="0" sz="1400" spc="-25">
                <a:latin typeface="Corbel"/>
                <a:cs typeface="Corbel"/>
              </a:rPr>
              <a:t>	</a:t>
            </a:r>
            <a:r>
              <a:rPr dirty="0" sz="1400">
                <a:latin typeface="Corbel"/>
                <a:cs typeface="Corbel"/>
              </a:rPr>
              <a:t>North</a:t>
            </a:r>
            <a:r>
              <a:rPr dirty="0" sz="1400" spc="10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America,</a:t>
            </a:r>
            <a:r>
              <a:rPr dirty="0" sz="1400" spc="114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largest</a:t>
            </a:r>
            <a:r>
              <a:rPr dirty="0" sz="1400" spc="11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publicly</a:t>
            </a:r>
            <a:r>
              <a:rPr dirty="0" sz="1400" spc="11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traded</a:t>
            </a:r>
            <a:r>
              <a:rPr dirty="0" sz="1400" spc="114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Invest.</a:t>
            </a:r>
            <a:r>
              <a:rPr dirty="0" sz="1400" spc="10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Services</a:t>
            </a:r>
            <a:r>
              <a:rPr dirty="0" sz="1400" spc="10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firm,</a:t>
            </a:r>
            <a:r>
              <a:rPr dirty="0" sz="1400" spc="12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largest </a:t>
            </a:r>
            <a:r>
              <a:rPr dirty="0" sz="1400" spc="-10">
                <a:latin typeface="Corbel"/>
                <a:cs typeface="Corbel"/>
              </a:rPr>
              <a:t>	</a:t>
            </a:r>
            <a:r>
              <a:rPr dirty="0" sz="1400">
                <a:latin typeface="Corbel"/>
                <a:cs typeface="Corbel"/>
              </a:rPr>
              <a:t>logistics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provider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and</a:t>
            </a:r>
            <a:r>
              <a:rPr dirty="0" sz="1400" spc="-5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largest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commercial</a:t>
            </a:r>
            <a:r>
              <a:rPr dirty="0" sz="1400" spc="-3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RE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player</a:t>
            </a:r>
            <a:endParaRPr sz="1400">
              <a:latin typeface="Corbel"/>
              <a:cs typeface="Corbel"/>
            </a:endParaRPr>
          </a:p>
          <a:p>
            <a:pPr algn="just" marL="217804" indent="-16700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17804" algn="l"/>
              </a:tabLst>
            </a:pPr>
            <a:r>
              <a:rPr dirty="0" sz="1400">
                <a:latin typeface="Corbel"/>
                <a:cs typeface="Corbel"/>
              </a:rPr>
              <a:t>52.3%</a:t>
            </a:r>
            <a:r>
              <a:rPr dirty="0" sz="1400" spc="-5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owned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by</a:t>
            </a:r>
            <a:r>
              <a:rPr dirty="0" sz="1400" spc="-4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Blackstone</a:t>
            </a:r>
            <a:r>
              <a:rPr dirty="0" baseline="24691" sz="1350">
                <a:latin typeface="Corbel"/>
                <a:cs typeface="Corbel"/>
              </a:rPr>
              <a:t>*</a:t>
            </a:r>
            <a:r>
              <a:rPr dirty="0" sz="1400">
                <a:latin typeface="Corbel"/>
                <a:cs typeface="Corbel"/>
              </a:rPr>
              <a:t>,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a</a:t>
            </a:r>
            <a:r>
              <a:rPr dirty="0" sz="1400" spc="-6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Global</a:t>
            </a:r>
            <a:r>
              <a:rPr dirty="0" sz="1400" spc="-2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Private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Equity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firm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730605" y="2978353"/>
            <a:ext cx="103759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Market</a:t>
            </a:r>
            <a:r>
              <a:rPr dirty="0" sz="1400" spc="-7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Cap</a:t>
            </a:r>
            <a:r>
              <a:rPr dirty="0" sz="1400" spc="-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24305" sz="1200" spc="-75" b="1">
                <a:solidFill>
                  <a:srgbClr val="2A2F3B"/>
                </a:solidFill>
                <a:latin typeface="Corbel"/>
                <a:cs typeface="Corbel"/>
              </a:rPr>
              <a:t>*</a:t>
            </a:r>
            <a:endParaRPr baseline="24305" sz="1200">
              <a:latin typeface="Corbel"/>
              <a:cs typeface="Corbel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2635885" y="2978353"/>
            <a:ext cx="823594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Revenue</a:t>
            </a:r>
            <a:r>
              <a:rPr dirty="0" sz="1400" spc="-1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27777" sz="1050" spc="-75" b="1">
                <a:solidFill>
                  <a:srgbClr val="2A2F3B"/>
                </a:solidFill>
                <a:latin typeface="Corbel"/>
                <a:cs typeface="Corbel"/>
              </a:rPr>
              <a:t>^</a:t>
            </a:r>
            <a:endParaRPr baseline="27777" sz="1050">
              <a:latin typeface="Corbel"/>
              <a:cs typeface="Corbel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4577460" y="2978353"/>
            <a:ext cx="53721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Cash</a:t>
            </a:r>
            <a:r>
              <a:rPr dirty="0" sz="14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24305" sz="1200" spc="-75" b="1">
                <a:solidFill>
                  <a:srgbClr val="2A2F3B"/>
                </a:solidFill>
                <a:latin typeface="Corbel"/>
                <a:cs typeface="Corbel"/>
              </a:rPr>
              <a:t>*</a:t>
            </a:r>
            <a:endParaRPr baseline="24305" sz="1200">
              <a:latin typeface="Corbel"/>
              <a:cs typeface="Corbel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745032" y="3289172"/>
            <a:ext cx="9518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$2.82</a:t>
            </a:r>
            <a:r>
              <a:rPr dirty="0" sz="14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billion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2516504" y="3289172"/>
            <a:ext cx="11055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$1,091</a:t>
            </a:r>
            <a:r>
              <a:rPr dirty="0" sz="14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million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4403852" y="3289172"/>
            <a:ext cx="9544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$262</a:t>
            </a:r>
            <a:r>
              <a:rPr dirty="0" sz="14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million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9" name="object 79" descr=""/>
          <p:cNvSpPr/>
          <p:nvPr/>
        </p:nvSpPr>
        <p:spPr>
          <a:xfrm>
            <a:off x="484631" y="3258311"/>
            <a:ext cx="1454150" cy="0"/>
          </a:xfrm>
          <a:custGeom>
            <a:avLst/>
            <a:gdLst/>
            <a:ahLst/>
            <a:cxnLst/>
            <a:rect l="l" t="t" r="r" b="b"/>
            <a:pathLst>
              <a:path w="1454150" h="0">
                <a:moveTo>
                  <a:pt x="0" y="0"/>
                </a:moveTo>
                <a:lnTo>
                  <a:pt x="1454150" y="0"/>
                </a:lnTo>
              </a:path>
            </a:pathLst>
          </a:custGeom>
          <a:ln w="9144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2319527" y="3253740"/>
            <a:ext cx="1454150" cy="0"/>
          </a:xfrm>
          <a:custGeom>
            <a:avLst/>
            <a:gdLst/>
            <a:ahLst/>
            <a:cxnLst/>
            <a:rect l="l" t="t" r="r" b="b"/>
            <a:pathLst>
              <a:path w="1454150" h="0">
                <a:moveTo>
                  <a:pt x="0" y="0"/>
                </a:moveTo>
                <a:lnTo>
                  <a:pt x="1454150" y="0"/>
                </a:lnTo>
              </a:path>
            </a:pathLst>
          </a:custGeom>
          <a:ln w="9144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4107179" y="3261359"/>
            <a:ext cx="1454150" cy="0"/>
          </a:xfrm>
          <a:custGeom>
            <a:avLst/>
            <a:gdLst/>
            <a:ahLst/>
            <a:cxnLst/>
            <a:rect l="l" t="t" r="r" b="b"/>
            <a:pathLst>
              <a:path w="1454150" h="0">
                <a:moveTo>
                  <a:pt x="0" y="0"/>
                </a:moveTo>
                <a:lnTo>
                  <a:pt x="1454150" y="0"/>
                </a:lnTo>
              </a:path>
            </a:pathLst>
          </a:custGeom>
          <a:ln w="9144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2" name="object 82" descr=""/>
          <p:cNvGrpSpPr/>
          <p:nvPr/>
        </p:nvGrpSpPr>
        <p:grpSpPr>
          <a:xfrm>
            <a:off x="210311" y="2502407"/>
            <a:ext cx="5596255" cy="381000"/>
            <a:chOff x="210311" y="2502407"/>
            <a:chExt cx="5596255" cy="381000"/>
          </a:xfrm>
        </p:grpSpPr>
        <p:pic>
          <p:nvPicPr>
            <p:cNvPr id="83" name="object 8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6219" y="2528315"/>
              <a:ext cx="5544312" cy="355091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210311" y="2502407"/>
              <a:ext cx="5596255" cy="355600"/>
            </a:xfrm>
            <a:custGeom>
              <a:avLst/>
              <a:gdLst/>
              <a:ahLst/>
              <a:cxnLst/>
              <a:rect l="l" t="t" r="r" b="b"/>
              <a:pathLst>
                <a:path w="5596255" h="355600">
                  <a:moveTo>
                    <a:pt x="5596128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596128" y="355091"/>
                  </a:lnTo>
                  <a:lnTo>
                    <a:pt x="55961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 txBox="1"/>
          <p:nvPr/>
        </p:nvSpPr>
        <p:spPr>
          <a:xfrm>
            <a:off x="2194941" y="2553080"/>
            <a:ext cx="16268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Financial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Strength</a:t>
            </a:r>
            <a:endParaRPr sz="1600">
              <a:latin typeface="Corbel"/>
              <a:cs typeface="Corbel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8237219" y="3838955"/>
            <a:ext cx="3954779" cy="381000"/>
            <a:chOff x="8237219" y="3838955"/>
            <a:chExt cx="3954779" cy="381000"/>
          </a:xfrm>
        </p:grpSpPr>
        <p:pic>
          <p:nvPicPr>
            <p:cNvPr id="87" name="object 8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55507" y="3864863"/>
              <a:ext cx="3918204" cy="355092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8237219" y="3838955"/>
              <a:ext cx="3954779" cy="355600"/>
            </a:xfrm>
            <a:custGeom>
              <a:avLst/>
              <a:gdLst/>
              <a:ahLst/>
              <a:cxnLst/>
              <a:rect l="l" t="t" r="r" b="b"/>
              <a:pathLst>
                <a:path w="3954779" h="355600">
                  <a:moveTo>
                    <a:pt x="3954779" y="0"/>
                  </a:moveTo>
                  <a:lnTo>
                    <a:pt x="0" y="0"/>
                  </a:lnTo>
                  <a:lnTo>
                    <a:pt x="0" y="355092"/>
                  </a:lnTo>
                  <a:lnTo>
                    <a:pt x="3954779" y="355092"/>
                  </a:lnTo>
                  <a:lnTo>
                    <a:pt x="39547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8315832" y="3890898"/>
            <a:ext cx="38004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67%</a:t>
            </a:r>
            <a:r>
              <a:rPr dirty="0" sz="16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6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Revenue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from</a:t>
            </a:r>
            <a:r>
              <a:rPr dirty="0" sz="16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Direct</a:t>
            </a:r>
            <a:r>
              <a:rPr dirty="0" sz="16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International</a:t>
            </a:r>
            <a:r>
              <a:rPr dirty="0" sz="1600" spc="-1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25641" sz="975" spc="-75" b="1">
                <a:solidFill>
                  <a:srgbClr val="2A2F3B"/>
                </a:solidFill>
                <a:latin typeface="Corbel"/>
                <a:cs typeface="Corbel"/>
              </a:rPr>
              <a:t>#</a:t>
            </a:r>
            <a:endParaRPr baseline="25641" sz="975">
              <a:latin typeface="Corbel"/>
              <a:cs typeface="Corbel"/>
            </a:endParaRPr>
          </a:p>
        </p:txBody>
      </p:sp>
      <p:sp>
        <p:nvSpPr>
          <p:cNvPr id="90" name="object 90" descr=""/>
          <p:cNvSpPr/>
          <p:nvPr/>
        </p:nvSpPr>
        <p:spPr>
          <a:xfrm>
            <a:off x="3959352" y="3044951"/>
            <a:ext cx="0" cy="447040"/>
          </a:xfrm>
          <a:custGeom>
            <a:avLst/>
            <a:gdLst/>
            <a:ahLst/>
            <a:cxnLst/>
            <a:rect l="l" t="t" r="r" b="b"/>
            <a:pathLst>
              <a:path w="0" h="447039">
                <a:moveTo>
                  <a:pt x="0" y="0"/>
                </a:moveTo>
                <a:lnTo>
                  <a:pt x="0" y="446786"/>
                </a:lnTo>
              </a:path>
            </a:pathLst>
          </a:custGeom>
          <a:ln w="9144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2157983" y="3044951"/>
            <a:ext cx="0" cy="447040"/>
          </a:xfrm>
          <a:custGeom>
            <a:avLst/>
            <a:gdLst/>
            <a:ahLst/>
            <a:cxnLst/>
            <a:rect l="l" t="t" r="r" b="b"/>
            <a:pathLst>
              <a:path w="0" h="447039">
                <a:moveTo>
                  <a:pt x="0" y="0"/>
                </a:moveTo>
                <a:lnTo>
                  <a:pt x="0" y="446786"/>
                </a:lnTo>
              </a:path>
            </a:pathLst>
          </a:custGeom>
          <a:ln w="9144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 txBox="1"/>
          <p:nvPr/>
        </p:nvSpPr>
        <p:spPr>
          <a:xfrm>
            <a:off x="8232647" y="1054353"/>
            <a:ext cx="17062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Headcount</a:t>
            </a:r>
            <a:r>
              <a:rPr dirty="0" sz="14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400" spc="-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24,215</a:t>
            </a:r>
            <a:r>
              <a:rPr dirty="0" baseline="24305" sz="1200" spc="-15" b="1">
                <a:solidFill>
                  <a:srgbClr val="2A2F3B"/>
                </a:solidFill>
                <a:latin typeface="Corbel"/>
                <a:cs typeface="Corbel"/>
              </a:rPr>
              <a:t>*</a:t>
            </a:r>
            <a:endParaRPr baseline="24305" sz="1200">
              <a:latin typeface="Corbel"/>
              <a:cs typeface="Corbel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title"/>
          </p:nvPr>
        </p:nvSpPr>
        <p:spPr>
          <a:xfrm>
            <a:off x="4536440" y="218313"/>
            <a:ext cx="29756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  <a:tab pos="2962275" algn="l"/>
              </a:tabLst>
            </a:pPr>
            <a:r>
              <a:rPr dirty="0"/>
              <a:t>	Mphasis</a:t>
            </a:r>
            <a:r>
              <a:rPr dirty="0" spc="-35"/>
              <a:t> </a:t>
            </a:r>
            <a:r>
              <a:rPr dirty="0"/>
              <a:t>at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Glance</a:t>
            </a:r>
            <a:r>
              <a:rPr dirty="0"/>
              <a:t>	</a:t>
            </a:r>
          </a:p>
        </p:txBody>
      </p:sp>
      <p:grpSp>
        <p:nvGrpSpPr>
          <p:cNvPr id="94" name="object 94" descr=""/>
          <p:cNvGrpSpPr/>
          <p:nvPr/>
        </p:nvGrpSpPr>
        <p:grpSpPr>
          <a:xfrm>
            <a:off x="6533388" y="1342389"/>
            <a:ext cx="4770120" cy="2559050"/>
            <a:chOff x="6533388" y="1342389"/>
            <a:chExt cx="4770120" cy="2559050"/>
          </a:xfrm>
        </p:grpSpPr>
        <p:sp>
          <p:nvSpPr>
            <p:cNvPr id="95" name="object 95" descr=""/>
            <p:cNvSpPr/>
            <p:nvPr/>
          </p:nvSpPr>
          <p:spPr>
            <a:xfrm>
              <a:off x="8302752" y="2993135"/>
              <a:ext cx="2845435" cy="890269"/>
            </a:xfrm>
            <a:custGeom>
              <a:avLst/>
              <a:gdLst/>
              <a:ahLst/>
              <a:cxnLst/>
              <a:rect l="l" t="t" r="r" b="b"/>
              <a:pathLst>
                <a:path w="2845434" h="890270">
                  <a:moveTo>
                    <a:pt x="9144" y="882650"/>
                  </a:moveTo>
                  <a:lnTo>
                    <a:pt x="7493" y="880872"/>
                  </a:lnTo>
                  <a:lnTo>
                    <a:pt x="0" y="880872"/>
                  </a:lnTo>
                  <a:lnTo>
                    <a:pt x="3302" y="885444"/>
                  </a:lnTo>
                  <a:lnTo>
                    <a:pt x="5842" y="890016"/>
                  </a:lnTo>
                  <a:lnTo>
                    <a:pt x="7493" y="890016"/>
                  </a:lnTo>
                  <a:lnTo>
                    <a:pt x="9144" y="887222"/>
                  </a:lnTo>
                  <a:lnTo>
                    <a:pt x="9144" y="882650"/>
                  </a:lnTo>
                  <a:close/>
                </a:path>
                <a:path w="2845434" h="890270">
                  <a:moveTo>
                    <a:pt x="2413889" y="2794"/>
                  </a:moveTo>
                  <a:lnTo>
                    <a:pt x="2409571" y="0"/>
                  </a:lnTo>
                  <a:lnTo>
                    <a:pt x="2407920" y="0"/>
                  </a:lnTo>
                  <a:lnTo>
                    <a:pt x="2407920" y="4572"/>
                  </a:lnTo>
                  <a:lnTo>
                    <a:pt x="2413889" y="4572"/>
                  </a:lnTo>
                  <a:lnTo>
                    <a:pt x="2413889" y="2794"/>
                  </a:lnTo>
                  <a:close/>
                </a:path>
                <a:path w="2845434" h="890270">
                  <a:moveTo>
                    <a:pt x="2830068" y="254635"/>
                  </a:moveTo>
                  <a:lnTo>
                    <a:pt x="2826893" y="252984"/>
                  </a:lnTo>
                  <a:lnTo>
                    <a:pt x="2824480" y="252984"/>
                  </a:lnTo>
                  <a:lnTo>
                    <a:pt x="2821305" y="254635"/>
                  </a:lnTo>
                  <a:lnTo>
                    <a:pt x="2817241" y="256286"/>
                  </a:lnTo>
                  <a:lnTo>
                    <a:pt x="2814955" y="256286"/>
                  </a:lnTo>
                  <a:lnTo>
                    <a:pt x="2813304" y="258826"/>
                  </a:lnTo>
                  <a:lnTo>
                    <a:pt x="2813304" y="260477"/>
                  </a:lnTo>
                  <a:lnTo>
                    <a:pt x="2818892" y="260477"/>
                  </a:lnTo>
                  <a:lnTo>
                    <a:pt x="2824480" y="262128"/>
                  </a:lnTo>
                  <a:lnTo>
                    <a:pt x="2830068" y="262128"/>
                  </a:lnTo>
                  <a:lnTo>
                    <a:pt x="2830068" y="254635"/>
                  </a:lnTo>
                  <a:close/>
                </a:path>
                <a:path w="2845434" h="890270">
                  <a:moveTo>
                    <a:pt x="2845308" y="230124"/>
                  </a:moveTo>
                  <a:lnTo>
                    <a:pt x="2842133" y="230124"/>
                  </a:lnTo>
                  <a:lnTo>
                    <a:pt x="2839720" y="232283"/>
                  </a:lnTo>
                  <a:lnTo>
                    <a:pt x="2835783" y="233680"/>
                  </a:lnTo>
                  <a:lnTo>
                    <a:pt x="2830195" y="237236"/>
                  </a:lnTo>
                  <a:lnTo>
                    <a:pt x="2828671" y="238760"/>
                  </a:lnTo>
                  <a:lnTo>
                    <a:pt x="2827020" y="240157"/>
                  </a:lnTo>
                  <a:lnTo>
                    <a:pt x="2828671" y="242316"/>
                  </a:lnTo>
                  <a:lnTo>
                    <a:pt x="2830195" y="242316"/>
                  </a:lnTo>
                  <a:lnTo>
                    <a:pt x="2832608" y="240157"/>
                  </a:lnTo>
                  <a:lnTo>
                    <a:pt x="2834132" y="240157"/>
                  </a:lnTo>
                  <a:lnTo>
                    <a:pt x="2835783" y="238760"/>
                  </a:lnTo>
                  <a:lnTo>
                    <a:pt x="2839720" y="237236"/>
                  </a:lnTo>
                  <a:lnTo>
                    <a:pt x="2843657" y="235204"/>
                  </a:lnTo>
                  <a:lnTo>
                    <a:pt x="2843657" y="233680"/>
                  </a:lnTo>
                  <a:lnTo>
                    <a:pt x="2845308" y="232283"/>
                  </a:lnTo>
                  <a:lnTo>
                    <a:pt x="2845308" y="230124"/>
                  </a:lnTo>
                  <a:close/>
                </a:path>
              </a:pathLst>
            </a:custGeom>
            <a:solidFill>
              <a:srgbClr val="EAEB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33388" y="1342389"/>
              <a:ext cx="4770119" cy="2559050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6685788" y="2606039"/>
              <a:ext cx="30480" cy="13970"/>
            </a:xfrm>
            <a:custGeom>
              <a:avLst/>
              <a:gdLst/>
              <a:ahLst/>
              <a:cxnLst/>
              <a:rect l="l" t="t" r="r" b="b"/>
              <a:pathLst>
                <a:path w="30479" h="13969">
                  <a:moveTo>
                    <a:pt x="6096" y="0"/>
                  </a:moveTo>
                  <a:lnTo>
                    <a:pt x="1778" y="0"/>
                  </a:lnTo>
                  <a:lnTo>
                    <a:pt x="0" y="2667"/>
                  </a:lnTo>
                  <a:lnTo>
                    <a:pt x="0" y="4318"/>
                  </a:lnTo>
                  <a:lnTo>
                    <a:pt x="1778" y="6096"/>
                  </a:lnTo>
                  <a:lnTo>
                    <a:pt x="4318" y="6096"/>
                  </a:lnTo>
                  <a:lnTo>
                    <a:pt x="4318" y="4318"/>
                  </a:lnTo>
                  <a:lnTo>
                    <a:pt x="6096" y="2667"/>
                  </a:lnTo>
                  <a:lnTo>
                    <a:pt x="6096" y="0"/>
                  </a:lnTo>
                  <a:close/>
                </a:path>
                <a:path w="30479" h="13969">
                  <a:moveTo>
                    <a:pt x="28829" y="8382"/>
                  </a:moveTo>
                  <a:lnTo>
                    <a:pt x="27051" y="6096"/>
                  </a:lnTo>
                  <a:lnTo>
                    <a:pt x="27051" y="8382"/>
                  </a:lnTo>
                  <a:lnTo>
                    <a:pt x="22860" y="8382"/>
                  </a:lnTo>
                  <a:lnTo>
                    <a:pt x="22860" y="9906"/>
                  </a:lnTo>
                  <a:lnTo>
                    <a:pt x="24511" y="9906"/>
                  </a:lnTo>
                  <a:lnTo>
                    <a:pt x="27051" y="11430"/>
                  </a:lnTo>
                  <a:lnTo>
                    <a:pt x="28829" y="11430"/>
                  </a:lnTo>
                  <a:lnTo>
                    <a:pt x="28829" y="8382"/>
                  </a:lnTo>
                  <a:close/>
                </a:path>
                <a:path w="30479" h="13969">
                  <a:moveTo>
                    <a:pt x="30480" y="11430"/>
                  </a:moveTo>
                  <a:lnTo>
                    <a:pt x="28829" y="11430"/>
                  </a:lnTo>
                  <a:lnTo>
                    <a:pt x="28829" y="13716"/>
                  </a:lnTo>
                  <a:lnTo>
                    <a:pt x="30480" y="13716"/>
                  </a:lnTo>
                  <a:lnTo>
                    <a:pt x="30480" y="11430"/>
                  </a:lnTo>
                  <a:close/>
                </a:path>
              </a:pathLst>
            </a:custGeom>
            <a:solidFill>
              <a:srgbClr val="86C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6731508" y="2625851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80">
                  <a:moveTo>
                    <a:pt x="0" y="0"/>
                  </a:moveTo>
                  <a:lnTo>
                    <a:pt x="2667" y="3301"/>
                  </a:lnTo>
                  <a:lnTo>
                    <a:pt x="2667" y="4572"/>
                  </a:lnTo>
                  <a:lnTo>
                    <a:pt x="6096" y="4572"/>
                  </a:lnTo>
                  <a:lnTo>
                    <a:pt x="6096" y="3301"/>
                  </a:lnTo>
                  <a:lnTo>
                    <a:pt x="4318" y="1270"/>
                  </a:lnTo>
                  <a:lnTo>
                    <a:pt x="2667" y="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6737604" y="2644139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39">
                  <a:moveTo>
                    <a:pt x="9651" y="0"/>
                  </a:moveTo>
                  <a:lnTo>
                    <a:pt x="4064" y="0"/>
                  </a:lnTo>
                  <a:lnTo>
                    <a:pt x="4064" y="2412"/>
                  </a:lnTo>
                  <a:lnTo>
                    <a:pt x="2413" y="2412"/>
                  </a:lnTo>
                  <a:lnTo>
                    <a:pt x="0" y="4063"/>
                  </a:lnTo>
                  <a:lnTo>
                    <a:pt x="0" y="12064"/>
                  </a:lnTo>
                  <a:lnTo>
                    <a:pt x="2413" y="13588"/>
                  </a:lnTo>
                  <a:lnTo>
                    <a:pt x="4064" y="15239"/>
                  </a:lnTo>
                  <a:lnTo>
                    <a:pt x="8127" y="15239"/>
                  </a:lnTo>
                  <a:lnTo>
                    <a:pt x="8127" y="13588"/>
                  </a:lnTo>
                  <a:lnTo>
                    <a:pt x="6476" y="13588"/>
                  </a:lnTo>
                  <a:lnTo>
                    <a:pt x="12065" y="9651"/>
                  </a:lnTo>
                  <a:lnTo>
                    <a:pt x="13716" y="8000"/>
                  </a:lnTo>
                  <a:lnTo>
                    <a:pt x="13716" y="6476"/>
                  </a:lnTo>
                  <a:lnTo>
                    <a:pt x="12065" y="4063"/>
                  </a:lnTo>
                  <a:lnTo>
                    <a:pt x="12065" y="2412"/>
                  </a:lnTo>
                  <a:lnTo>
                    <a:pt x="9651" y="0"/>
                  </a:lnTo>
                  <a:close/>
                </a:path>
              </a:pathLst>
            </a:custGeom>
            <a:solidFill>
              <a:srgbClr val="86C6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 descr=""/>
          <p:cNvSpPr txBox="1"/>
          <p:nvPr/>
        </p:nvSpPr>
        <p:spPr>
          <a:xfrm>
            <a:off x="7085456" y="1839848"/>
            <a:ext cx="43624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Canada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7240651" y="2172716"/>
            <a:ext cx="25400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USA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8596376" y="1739646"/>
            <a:ext cx="18288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25">
                <a:solidFill>
                  <a:srgbClr val="52555A"/>
                </a:solidFill>
                <a:latin typeface="Calibri"/>
                <a:cs typeface="Calibri"/>
              </a:rPr>
              <a:t>UK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8216900" y="2080077"/>
            <a:ext cx="471170" cy="6242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algn="ctr" marL="12700" marR="5080" indent="-41275">
              <a:lnSpc>
                <a:spcPct val="126299"/>
              </a:lnSpc>
              <a:spcBef>
                <a:spcPts val="35"/>
              </a:spcBef>
            </a:pPr>
            <a:r>
              <a:rPr dirty="0" sz="1050" spc="-10">
                <a:solidFill>
                  <a:srgbClr val="52555A"/>
                </a:solidFill>
                <a:latin typeface="Calibri"/>
                <a:cs typeface="Calibri"/>
              </a:rPr>
              <a:t>Ireland Belgium France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10283443" y="3286760"/>
            <a:ext cx="51371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Australia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8921877" y="1683715"/>
            <a:ext cx="888365" cy="871219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405"/>
              </a:spcBef>
            </a:pPr>
            <a:r>
              <a:rPr dirty="0" sz="1050" spc="-10">
                <a:solidFill>
                  <a:srgbClr val="52555A"/>
                </a:solidFill>
                <a:latin typeface="Calibri"/>
                <a:cs typeface="Calibri"/>
              </a:rPr>
              <a:t>Netherlands</a:t>
            </a:r>
            <a:endParaRPr sz="1050">
              <a:latin typeface="Calibri"/>
              <a:cs typeface="Calibri"/>
            </a:endParaRPr>
          </a:p>
          <a:p>
            <a:pPr algn="r" marR="59690">
              <a:lnSpc>
                <a:spcPct val="100000"/>
              </a:lnSpc>
              <a:spcBef>
                <a:spcPts val="310"/>
              </a:spcBef>
            </a:pPr>
            <a:r>
              <a:rPr dirty="0" sz="1050" spc="-10">
                <a:solidFill>
                  <a:srgbClr val="52555A"/>
                </a:solidFill>
                <a:latin typeface="Calibri"/>
                <a:cs typeface="Calibri"/>
              </a:rPr>
              <a:t>Poland</a:t>
            </a:r>
            <a:endParaRPr sz="1050">
              <a:latin typeface="Calibri"/>
              <a:cs typeface="Calibri"/>
            </a:endParaRPr>
          </a:p>
          <a:p>
            <a:pPr marL="12700" marR="72390" indent="288925">
              <a:lnSpc>
                <a:spcPts val="1789"/>
              </a:lnSpc>
              <a:spcBef>
                <a:spcPts val="40"/>
              </a:spcBef>
            </a:pPr>
            <a:r>
              <a:rPr dirty="0" sz="1050" spc="-10">
                <a:solidFill>
                  <a:srgbClr val="52555A"/>
                </a:solidFill>
                <a:latin typeface="Calibri"/>
                <a:cs typeface="Calibri"/>
              </a:rPr>
              <a:t>Germany Switzerland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9494266" y="2670342"/>
            <a:ext cx="640080" cy="39243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050" spc="-10">
                <a:solidFill>
                  <a:srgbClr val="52555A"/>
                </a:solidFill>
                <a:latin typeface="Calibri"/>
                <a:cs typeface="Calibri"/>
              </a:rPr>
              <a:t>India</a:t>
            </a:r>
            <a:endParaRPr sz="1050">
              <a:latin typeface="Calibri"/>
              <a:cs typeface="Calibri"/>
            </a:endParaRPr>
          </a:p>
          <a:p>
            <a:pPr marL="74295">
              <a:lnSpc>
                <a:spcPct val="100000"/>
              </a:lnSpc>
              <a:spcBef>
                <a:spcPts val="185"/>
              </a:spcBef>
            </a:pPr>
            <a:r>
              <a:rPr dirty="0" sz="1050" spc="-10">
                <a:solidFill>
                  <a:srgbClr val="52555A"/>
                </a:solidFill>
                <a:latin typeface="Calibri"/>
                <a:cs typeface="Calibri"/>
              </a:rPr>
              <a:t>Singapore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11132311" y="3577209"/>
            <a:ext cx="74041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solidFill>
                  <a:srgbClr val="52555A"/>
                </a:solidFill>
                <a:latin typeface="Calibri"/>
                <a:cs typeface="Calibri"/>
              </a:rPr>
              <a:t>New </a:t>
            </a:r>
            <a:r>
              <a:rPr dirty="0" sz="1050" spc="-10">
                <a:solidFill>
                  <a:srgbClr val="52555A"/>
                </a:solidFill>
                <a:latin typeface="Calibri"/>
                <a:cs typeface="Calibri"/>
              </a:rPr>
              <a:t>Zealand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10643107" y="2326385"/>
            <a:ext cx="34163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>
                <a:solidFill>
                  <a:srgbClr val="52555A"/>
                </a:solidFill>
                <a:latin typeface="Calibri"/>
                <a:cs typeface="Calibri"/>
              </a:rPr>
              <a:t>Japan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9970769" y="2308352"/>
            <a:ext cx="33591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China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7306436" y="4403597"/>
            <a:ext cx="3486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Corbel"/>
                <a:cs typeface="Corbel"/>
              </a:rPr>
              <a:t>56%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6091935" y="4296409"/>
            <a:ext cx="1151255" cy="1476375"/>
            <a:chOff x="6091935" y="4296409"/>
            <a:chExt cx="1151255" cy="1476375"/>
          </a:xfrm>
        </p:grpSpPr>
        <p:sp>
          <p:nvSpPr>
            <p:cNvPr id="112" name="object 112" descr=""/>
            <p:cNvSpPr/>
            <p:nvPr/>
          </p:nvSpPr>
          <p:spPr>
            <a:xfrm>
              <a:off x="6963409" y="4628006"/>
              <a:ext cx="279400" cy="151130"/>
            </a:xfrm>
            <a:custGeom>
              <a:avLst/>
              <a:gdLst/>
              <a:ahLst/>
              <a:cxnLst/>
              <a:rect l="l" t="t" r="r" b="b"/>
              <a:pathLst>
                <a:path w="279400" h="151129">
                  <a:moveTo>
                    <a:pt x="45339" y="116840"/>
                  </a:moveTo>
                  <a:lnTo>
                    <a:pt x="0" y="139573"/>
                  </a:lnTo>
                  <a:lnTo>
                    <a:pt x="5588" y="151003"/>
                  </a:lnTo>
                  <a:lnTo>
                    <a:pt x="51054" y="128143"/>
                  </a:lnTo>
                  <a:lnTo>
                    <a:pt x="45339" y="116840"/>
                  </a:lnTo>
                  <a:close/>
                </a:path>
                <a:path w="279400" h="151129">
                  <a:moveTo>
                    <a:pt x="124841" y="76962"/>
                  </a:moveTo>
                  <a:lnTo>
                    <a:pt x="79375" y="99695"/>
                  </a:lnTo>
                  <a:lnTo>
                    <a:pt x="85090" y="111125"/>
                  </a:lnTo>
                  <a:lnTo>
                    <a:pt x="130429" y="88265"/>
                  </a:lnTo>
                  <a:lnTo>
                    <a:pt x="124841" y="76962"/>
                  </a:lnTo>
                  <a:close/>
                </a:path>
                <a:path w="279400" h="151129">
                  <a:moveTo>
                    <a:pt x="279273" y="6477"/>
                  </a:moveTo>
                  <a:lnTo>
                    <a:pt x="265175" y="6477"/>
                  </a:lnTo>
                  <a:lnTo>
                    <a:pt x="270891" y="17780"/>
                  </a:lnTo>
                  <a:lnTo>
                    <a:pt x="249819" y="28315"/>
                  </a:lnTo>
                  <a:lnTo>
                    <a:pt x="212598" y="85471"/>
                  </a:lnTo>
                  <a:lnTo>
                    <a:pt x="213487" y="89408"/>
                  </a:lnTo>
                  <a:lnTo>
                    <a:pt x="219329" y="93218"/>
                  </a:lnTo>
                  <a:lnTo>
                    <a:pt x="223266" y="92456"/>
                  </a:lnTo>
                  <a:lnTo>
                    <a:pt x="279273" y="6477"/>
                  </a:lnTo>
                  <a:close/>
                </a:path>
                <a:path w="279400" h="151129">
                  <a:moveTo>
                    <a:pt x="204216" y="37084"/>
                  </a:moveTo>
                  <a:lnTo>
                    <a:pt x="158876" y="59817"/>
                  </a:lnTo>
                  <a:lnTo>
                    <a:pt x="164592" y="71120"/>
                  </a:lnTo>
                  <a:lnTo>
                    <a:pt x="209931" y="48387"/>
                  </a:lnTo>
                  <a:lnTo>
                    <a:pt x="204216" y="37084"/>
                  </a:lnTo>
                  <a:close/>
                </a:path>
                <a:path w="279400" h="151129">
                  <a:moveTo>
                    <a:pt x="244202" y="16963"/>
                  </a:moveTo>
                  <a:lnTo>
                    <a:pt x="238251" y="19939"/>
                  </a:lnTo>
                  <a:lnTo>
                    <a:pt x="243967" y="31242"/>
                  </a:lnTo>
                  <a:lnTo>
                    <a:pt x="249819" y="28315"/>
                  </a:lnTo>
                  <a:lnTo>
                    <a:pt x="256681" y="17780"/>
                  </a:lnTo>
                  <a:lnTo>
                    <a:pt x="257355" y="17780"/>
                  </a:lnTo>
                  <a:lnTo>
                    <a:pt x="244202" y="16963"/>
                  </a:lnTo>
                  <a:close/>
                </a:path>
                <a:path w="279400" h="151129">
                  <a:moveTo>
                    <a:pt x="262636" y="8636"/>
                  </a:moveTo>
                  <a:lnTo>
                    <a:pt x="249819" y="28315"/>
                  </a:lnTo>
                  <a:lnTo>
                    <a:pt x="269621" y="18415"/>
                  </a:lnTo>
                  <a:lnTo>
                    <a:pt x="267589" y="18415"/>
                  </a:lnTo>
                  <a:lnTo>
                    <a:pt x="257355" y="17780"/>
                  </a:lnTo>
                  <a:lnTo>
                    <a:pt x="267267" y="17780"/>
                  </a:lnTo>
                  <a:lnTo>
                    <a:pt x="262636" y="8636"/>
                  </a:lnTo>
                  <a:close/>
                </a:path>
                <a:path w="279400" h="151129">
                  <a:moveTo>
                    <a:pt x="267267" y="17780"/>
                  </a:moveTo>
                  <a:lnTo>
                    <a:pt x="257355" y="17780"/>
                  </a:lnTo>
                  <a:lnTo>
                    <a:pt x="267589" y="18415"/>
                  </a:lnTo>
                  <a:lnTo>
                    <a:pt x="267267" y="17780"/>
                  </a:lnTo>
                  <a:close/>
                </a:path>
                <a:path w="279400" h="151129">
                  <a:moveTo>
                    <a:pt x="266267" y="8636"/>
                  </a:moveTo>
                  <a:lnTo>
                    <a:pt x="262636" y="8636"/>
                  </a:lnTo>
                  <a:lnTo>
                    <a:pt x="267589" y="18415"/>
                  </a:lnTo>
                  <a:lnTo>
                    <a:pt x="269621" y="18415"/>
                  </a:lnTo>
                  <a:lnTo>
                    <a:pt x="270891" y="17780"/>
                  </a:lnTo>
                  <a:lnTo>
                    <a:pt x="266267" y="8636"/>
                  </a:lnTo>
                  <a:close/>
                </a:path>
                <a:path w="279400" h="151129">
                  <a:moveTo>
                    <a:pt x="265175" y="6477"/>
                  </a:moveTo>
                  <a:lnTo>
                    <a:pt x="244202" y="16963"/>
                  </a:lnTo>
                  <a:lnTo>
                    <a:pt x="257355" y="17780"/>
                  </a:lnTo>
                  <a:lnTo>
                    <a:pt x="256681" y="17780"/>
                  </a:lnTo>
                  <a:lnTo>
                    <a:pt x="262636" y="8636"/>
                  </a:lnTo>
                  <a:lnTo>
                    <a:pt x="266267" y="8636"/>
                  </a:lnTo>
                  <a:lnTo>
                    <a:pt x="265175" y="6477"/>
                  </a:lnTo>
                  <a:close/>
                </a:path>
                <a:path w="279400" h="151129">
                  <a:moveTo>
                    <a:pt x="176911" y="0"/>
                  </a:moveTo>
                  <a:lnTo>
                    <a:pt x="173863" y="2667"/>
                  </a:lnTo>
                  <a:lnTo>
                    <a:pt x="173428" y="8636"/>
                  </a:lnTo>
                  <a:lnTo>
                    <a:pt x="173355" y="9652"/>
                  </a:lnTo>
                  <a:lnTo>
                    <a:pt x="176022" y="12700"/>
                  </a:lnTo>
                  <a:lnTo>
                    <a:pt x="244202" y="16963"/>
                  </a:lnTo>
                  <a:lnTo>
                    <a:pt x="265175" y="6477"/>
                  </a:lnTo>
                  <a:lnTo>
                    <a:pt x="279273" y="6477"/>
                  </a:lnTo>
                  <a:lnTo>
                    <a:pt x="180340" y="254"/>
                  </a:lnTo>
                  <a:lnTo>
                    <a:pt x="176911" y="0"/>
                  </a:lnTo>
                  <a:close/>
                </a:path>
              </a:pathLst>
            </a:custGeom>
            <a:solidFill>
              <a:srgbClr val="2A2F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6096507" y="4300981"/>
              <a:ext cx="996315" cy="1467485"/>
            </a:xfrm>
            <a:custGeom>
              <a:avLst/>
              <a:gdLst/>
              <a:ahLst/>
              <a:cxnLst/>
              <a:rect l="l" t="t" r="r" b="b"/>
              <a:pathLst>
                <a:path w="996315" h="1467485">
                  <a:moveTo>
                    <a:pt x="262127" y="0"/>
                  </a:moveTo>
                  <a:lnTo>
                    <a:pt x="309145" y="259"/>
                  </a:lnTo>
                  <a:lnTo>
                    <a:pt x="355432" y="3598"/>
                  </a:lnTo>
                  <a:lnTo>
                    <a:pt x="400891" y="9920"/>
                  </a:lnTo>
                  <a:lnTo>
                    <a:pt x="445427" y="19133"/>
                  </a:lnTo>
                  <a:lnTo>
                    <a:pt x="488941" y="31142"/>
                  </a:lnTo>
                  <a:lnTo>
                    <a:pt x="531338" y="45853"/>
                  </a:lnTo>
                  <a:lnTo>
                    <a:pt x="572521" y="63173"/>
                  </a:lnTo>
                  <a:lnTo>
                    <a:pt x="612393" y="83006"/>
                  </a:lnTo>
                  <a:lnTo>
                    <a:pt x="650857" y="105260"/>
                  </a:lnTo>
                  <a:lnTo>
                    <a:pt x="687817" y="129840"/>
                  </a:lnTo>
                  <a:lnTo>
                    <a:pt x="723176" y="156652"/>
                  </a:lnTo>
                  <a:lnTo>
                    <a:pt x="756837" y="185603"/>
                  </a:lnTo>
                  <a:lnTo>
                    <a:pt x="788704" y="216597"/>
                  </a:lnTo>
                  <a:lnTo>
                    <a:pt x="818679" y="249541"/>
                  </a:lnTo>
                  <a:lnTo>
                    <a:pt x="846667" y="284341"/>
                  </a:lnTo>
                  <a:lnTo>
                    <a:pt x="872570" y="320904"/>
                  </a:lnTo>
                  <a:lnTo>
                    <a:pt x="896292" y="359134"/>
                  </a:lnTo>
                  <a:lnTo>
                    <a:pt x="917735" y="398938"/>
                  </a:lnTo>
                  <a:lnTo>
                    <a:pt x="936804" y="440222"/>
                  </a:lnTo>
                  <a:lnTo>
                    <a:pt x="953402" y="482892"/>
                  </a:lnTo>
                  <a:lnTo>
                    <a:pt x="967431" y="526854"/>
                  </a:lnTo>
                  <a:lnTo>
                    <a:pt x="978796" y="572014"/>
                  </a:lnTo>
                  <a:lnTo>
                    <a:pt x="987399" y="618277"/>
                  </a:lnTo>
                  <a:lnTo>
                    <a:pt x="993144" y="665550"/>
                  </a:lnTo>
                  <a:lnTo>
                    <a:pt x="995934" y="713740"/>
                  </a:lnTo>
                  <a:lnTo>
                    <a:pt x="995684" y="762013"/>
                  </a:lnTo>
                  <a:lnTo>
                    <a:pt x="992435" y="809536"/>
                  </a:lnTo>
                  <a:lnTo>
                    <a:pt x="986278" y="856209"/>
                  </a:lnTo>
                  <a:lnTo>
                    <a:pt x="977306" y="901933"/>
                  </a:lnTo>
                  <a:lnTo>
                    <a:pt x="965610" y="946608"/>
                  </a:lnTo>
                  <a:lnTo>
                    <a:pt x="951281" y="990136"/>
                  </a:lnTo>
                  <a:lnTo>
                    <a:pt x="934412" y="1032417"/>
                  </a:lnTo>
                  <a:lnTo>
                    <a:pt x="915093" y="1073352"/>
                  </a:lnTo>
                  <a:lnTo>
                    <a:pt x="893416" y="1112841"/>
                  </a:lnTo>
                  <a:lnTo>
                    <a:pt x="869474" y="1150786"/>
                  </a:lnTo>
                  <a:lnTo>
                    <a:pt x="843357" y="1187087"/>
                  </a:lnTo>
                  <a:lnTo>
                    <a:pt x="815158" y="1221644"/>
                  </a:lnTo>
                  <a:lnTo>
                    <a:pt x="784968" y="1254359"/>
                  </a:lnTo>
                  <a:lnTo>
                    <a:pt x="752878" y="1285133"/>
                  </a:lnTo>
                  <a:lnTo>
                    <a:pt x="718980" y="1313865"/>
                  </a:lnTo>
                  <a:lnTo>
                    <a:pt x="683366" y="1340457"/>
                  </a:lnTo>
                  <a:lnTo>
                    <a:pt x="646128" y="1364809"/>
                  </a:lnTo>
                  <a:lnTo>
                    <a:pt x="607357" y="1386822"/>
                  </a:lnTo>
                  <a:lnTo>
                    <a:pt x="567144" y="1406398"/>
                  </a:lnTo>
                  <a:lnTo>
                    <a:pt x="525582" y="1423436"/>
                  </a:lnTo>
                  <a:lnTo>
                    <a:pt x="482762" y="1437837"/>
                  </a:lnTo>
                  <a:lnTo>
                    <a:pt x="438776" y="1449503"/>
                  </a:lnTo>
                  <a:lnTo>
                    <a:pt x="393715" y="1458333"/>
                  </a:lnTo>
                  <a:lnTo>
                    <a:pt x="347671" y="1464229"/>
                  </a:lnTo>
                  <a:lnTo>
                    <a:pt x="300736" y="1467091"/>
                  </a:lnTo>
                  <a:lnTo>
                    <a:pt x="249196" y="1466610"/>
                  </a:lnTo>
                  <a:lnTo>
                    <a:pt x="197960" y="1462337"/>
                  </a:lnTo>
                  <a:lnTo>
                    <a:pt x="147224" y="1454310"/>
                  </a:lnTo>
                  <a:lnTo>
                    <a:pt x="97187" y="1442567"/>
                  </a:lnTo>
                  <a:lnTo>
                    <a:pt x="48047" y="1427146"/>
                  </a:lnTo>
                  <a:lnTo>
                    <a:pt x="0" y="1408087"/>
                  </a:lnTo>
                  <a:lnTo>
                    <a:pt x="281431" y="733552"/>
                  </a:lnTo>
                  <a:lnTo>
                    <a:pt x="262127" y="0"/>
                  </a:lnTo>
                  <a:close/>
                </a:path>
              </a:pathLst>
            </a:custGeom>
            <a:ln w="9144">
              <a:solidFill>
                <a:srgbClr val="B51E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" name="object 114" descr=""/>
          <p:cNvGrpSpPr/>
          <p:nvPr/>
        </p:nvGrpSpPr>
        <p:grpSpPr>
          <a:xfrm>
            <a:off x="1321053" y="4386834"/>
            <a:ext cx="1234440" cy="1235075"/>
            <a:chOff x="1321053" y="4386834"/>
            <a:chExt cx="1234440" cy="1235075"/>
          </a:xfrm>
        </p:grpSpPr>
        <p:pic>
          <p:nvPicPr>
            <p:cNvPr id="115" name="object 11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25625" y="4391406"/>
              <a:ext cx="1225296" cy="1225334"/>
            </a:xfrm>
            <a:prstGeom prst="rect">
              <a:avLst/>
            </a:prstGeom>
          </p:spPr>
        </p:pic>
        <p:sp>
          <p:nvSpPr>
            <p:cNvPr id="116" name="object 116" descr=""/>
            <p:cNvSpPr/>
            <p:nvPr/>
          </p:nvSpPr>
          <p:spPr>
            <a:xfrm>
              <a:off x="1325625" y="4391406"/>
              <a:ext cx="1225550" cy="1225550"/>
            </a:xfrm>
            <a:custGeom>
              <a:avLst/>
              <a:gdLst/>
              <a:ahLst/>
              <a:cxnLst/>
              <a:rect l="l" t="t" r="r" b="b"/>
              <a:pathLst>
                <a:path w="1225550" h="1225550">
                  <a:moveTo>
                    <a:pt x="0" y="612648"/>
                  </a:moveTo>
                  <a:lnTo>
                    <a:pt x="1843" y="564773"/>
                  </a:lnTo>
                  <a:lnTo>
                    <a:pt x="7282" y="517906"/>
                  </a:lnTo>
                  <a:lnTo>
                    <a:pt x="16181" y="472182"/>
                  </a:lnTo>
                  <a:lnTo>
                    <a:pt x="28404" y="427737"/>
                  </a:lnTo>
                  <a:lnTo>
                    <a:pt x="43814" y="384709"/>
                  </a:lnTo>
                  <a:lnTo>
                    <a:pt x="62275" y="343233"/>
                  </a:lnTo>
                  <a:lnTo>
                    <a:pt x="83650" y="303445"/>
                  </a:lnTo>
                  <a:lnTo>
                    <a:pt x="107804" y="265482"/>
                  </a:lnTo>
                  <a:lnTo>
                    <a:pt x="134600" y="229479"/>
                  </a:lnTo>
                  <a:lnTo>
                    <a:pt x="163902" y="195574"/>
                  </a:lnTo>
                  <a:lnTo>
                    <a:pt x="195574" y="163902"/>
                  </a:lnTo>
                  <a:lnTo>
                    <a:pt x="229479" y="134600"/>
                  </a:lnTo>
                  <a:lnTo>
                    <a:pt x="265482" y="107804"/>
                  </a:lnTo>
                  <a:lnTo>
                    <a:pt x="303445" y="83650"/>
                  </a:lnTo>
                  <a:lnTo>
                    <a:pt x="343233" y="62275"/>
                  </a:lnTo>
                  <a:lnTo>
                    <a:pt x="384709" y="43814"/>
                  </a:lnTo>
                  <a:lnTo>
                    <a:pt x="427737" y="28404"/>
                  </a:lnTo>
                  <a:lnTo>
                    <a:pt x="472182" y="16181"/>
                  </a:lnTo>
                  <a:lnTo>
                    <a:pt x="517906" y="7282"/>
                  </a:lnTo>
                  <a:lnTo>
                    <a:pt x="564773" y="1843"/>
                  </a:lnTo>
                  <a:lnTo>
                    <a:pt x="612648" y="0"/>
                  </a:lnTo>
                  <a:lnTo>
                    <a:pt x="660522" y="1843"/>
                  </a:lnTo>
                  <a:lnTo>
                    <a:pt x="707389" y="7282"/>
                  </a:lnTo>
                  <a:lnTo>
                    <a:pt x="753113" y="16181"/>
                  </a:lnTo>
                  <a:lnTo>
                    <a:pt x="797558" y="28404"/>
                  </a:lnTo>
                  <a:lnTo>
                    <a:pt x="840586" y="43814"/>
                  </a:lnTo>
                  <a:lnTo>
                    <a:pt x="882062" y="62275"/>
                  </a:lnTo>
                  <a:lnTo>
                    <a:pt x="921850" y="83650"/>
                  </a:lnTo>
                  <a:lnTo>
                    <a:pt x="959813" y="107804"/>
                  </a:lnTo>
                  <a:lnTo>
                    <a:pt x="995816" y="134600"/>
                  </a:lnTo>
                  <a:lnTo>
                    <a:pt x="1029721" y="163902"/>
                  </a:lnTo>
                  <a:lnTo>
                    <a:pt x="1061393" y="195574"/>
                  </a:lnTo>
                  <a:lnTo>
                    <a:pt x="1090695" y="229479"/>
                  </a:lnTo>
                  <a:lnTo>
                    <a:pt x="1117491" y="265482"/>
                  </a:lnTo>
                  <a:lnTo>
                    <a:pt x="1141645" y="303445"/>
                  </a:lnTo>
                  <a:lnTo>
                    <a:pt x="1163020" y="343233"/>
                  </a:lnTo>
                  <a:lnTo>
                    <a:pt x="1181481" y="384709"/>
                  </a:lnTo>
                  <a:lnTo>
                    <a:pt x="1196891" y="427737"/>
                  </a:lnTo>
                  <a:lnTo>
                    <a:pt x="1209114" y="472182"/>
                  </a:lnTo>
                  <a:lnTo>
                    <a:pt x="1218013" y="517906"/>
                  </a:lnTo>
                  <a:lnTo>
                    <a:pt x="1223452" y="564773"/>
                  </a:lnTo>
                  <a:lnTo>
                    <a:pt x="1225296" y="612648"/>
                  </a:lnTo>
                  <a:lnTo>
                    <a:pt x="1223452" y="660539"/>
                  </a:lnTo>
                  <a:lnTo>
                    <a:pt x="1218013" y="707420"/>
                  </a:lnTo>
                  <a:lnTo>
                    <a:pt x="1209114" y="753155"/>
                  </a:lnTo>
                  <a:lnTo>
                    <a:pt x="1196891" y="797609"/>
                  </a:lnTo>
                  <a:lnTo>
                    <a:pt x="1181481" y="840644"/>
                  </a:lnTo>
                  <a:lnTo>
                    <a:pt x="1163020" y="882125"/>
                  </a:lnTo>
                  <a:lnTo>
                    <a:pt x="1141645" y="921916"/>
                  </a:lnTo>
                  <a:lnTo>
                    <a:pt x="1117491" y="959881"/>
                  </a:lnTo>
                  <a:lnTo>
                    <a:pt x="1090695" y="995884"/>
                  </a:lnTo>
                  <a:lnTo>
                    <a:pt x="1061393" y="1029788"/>
                  </a:lnTo>
                  <a:lnTo>
                    <a:pt x="1029721" y="1061458"/>
                  </a:lnTo>
                  <a:lnTo>
                    <a:pt x="995816" y="1090758"/>
                  </a:lnTo>
                  <a:lnTo>
                    <a:pt x="959813" y="1117551"/>
                  </a:lnTo>
                  <a:lnTo>
                    <a:pt x="921850" y="1141701"/>
                  </a:lnTo>
                  <a:lnTo>
                    <a:pt x="882062" y="1163073"/>
                  </a:lnTo>
                  <a:lnTo>
                    <a:pt x="840586" y="1181530"/>
                  </a:lnTo>
                  <a:lnTo>
                    <a:pt x="797558" y="1196937"/>
                  </a:lnTo>
                  <a:lnTo>
                    <a:pt x="753113" y="1209156"/>
                  </a:lnTo>
                  <a:lnTo>
                    <a:pt x="707389" y="1218053"/>
                  </a:lnTo>
                  <a:lnTo>
                    <a:pt x="660522" y="1223491"/>
                  </a:lnTo>
                  <a:lnTo>
                    <a:pt x="612648" y="1225334"/>
                  </a:lnTo>
                  <a:lnTo>
                    <a:pt x="583797" y="1224653"/>
                  </a:lnTo>
                  <a:lnTo>
                    <a:pt x="555005" y="1222616"/>
                  </a:lnTo>
                  <a:lnTo>
                    <a:pt x="526333" y="1219226"/>
                  </a:lnTo>
                  <a:lnTo>
                    <a:pt x="497840" y="1214488"/>
                  </a:lnTo>
                  <a:lnTo>
                    <a:pt x="612648" y="612648"/>
                  </a:lnTo>
                  <a:lnTo>
                    <a:pt x="0" y="612648"/>
                  </a:lnTo>
                  <a:close/>
                </a:path>
              </a:pathLst>
            </a:custGeom>
            <a:ln w="9144">
              <a:solidFill>
                <a:srgbClr val="426E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66214" y="5004054"/>
              <a:ext cx="472059" cy="601840"/>
            </a:xfrm>
            <a:prstGeom prst="rect">
              <a:avLst/>
            </a:prstGeom>
          </p:spPr>
        </p:pic>
        <p:sp>
          <p:nvSpPr>
            <p:cNvPr id="118" name="object 118" descr=""/>
            <p:cNvSpPr/>
            <p:nvPr/>
          </p:nvSpPr>
          <p:spPr>
            <a:xfrm>
              <a:off x="1466214" y="5004054"/>
              <a:ext cx="472440" cy="601980"/>
            </a:xfrm>
            <a:custGeom>
              <a:avLst/>
              <a:gdLst/>
              <a:ahLst/>
              <a:cxnLst/>
              <a:rect l="l" t="t" r="r" b="b"/>
              <a:pathLst>
                <a:path w="472439" h="601979">
                  <a:moveTo>
                    <a:pt x="357251" y="601840"/>
                  </a:moveTo>
                  <a:lnTo>
                    <a:pt x="311132" y="591189"/>
                  </a:lnTo>
                  <a:lnTo>
                    <a:pt x="266201" y="577079"/>
                  </a:lnTo>
                  <a:lnTo>
                    <a:pt x="222635" y="559619"/>
                  </a:lnTo>
                  <a:lnTo>
                    <a:pt x="180616" y="538915"/>
                  </a:lnTo>
                  <a:lnTo>
                    <a:pt x="140322" y="515077"/>
                  </a:lnTo>
                  <a:lnTo>
                    <a:pt x="101933" y="488211"/>
                  </a:lnTo>
                  <a:lnTo>
                    <a:pt x="65630" y="458425"/>
                  </a:lnTo>
                  <a:lnTo>
                    <a:pt x="31593" y="425827"/>
                  </a:lnTo>
                  <a:lnTo>
                    <a:pt x="0" y="390525"/>
                  </a:lnTo>
                  <a:lnTo>
                    <a:pt x="472059" y="0"/>
                  </a:lnTo>
                  <a:lnTo>
                    <a:pt x="357251" y="601840"/>
                  </a:lnTo>
                  <a:close/>
                </a:path>
              </a:pathLst>
            </a:custGeom>
            <a:ln w="9144">
              <a:solidFill>
                <a:srgbClr val="A0A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55597" y="5004054"/>
              <a:ext cx="582676" cy="390524"/>
            </a:xfrm>
            <a:prstGeom prst="rect">
              <a:avLst/>
            </a:prstGeom>
          </p:spPr>
        </p:pic>
        <p:sp>
          <p:nvSpPr>
            <p:cNvPr id="120" name="object 120" descr=""/>
            <p:cNvSpPr/>
            <p:nvPr/>
          </p:nvSpPr>
          <p:spPr>
            <a:xfrm>
              <a:off x="1355597" y="5004054"/>
              <a:ext cx="582930" cy="390525"/>
            </a:xfrm>
            <a:custGeom>
              <a:avLst/>
              <a:gdLst/>
              <a:ahLst/>
              <a:cxnLst/>
              <a:rect l="l" t="t" r="r" b="b"/>
              <a:pathLst>
                <a:path w="582930" h="390525">
                  <a:moveTo>
                    <a:pt x="110617" y="390525"/>
                  </a:moveTo>
                  <a:lnTo>
                    <a:pt x="82531" y="353827"/>
                  </a:lnTo>
                  <a:lnTo>
                    <a:pt x="57323" y="315178"/>
                  </a:lnTo>
                  <a:lnTo>
                    <a:pt x="35096" y="274761"/>
                  </a:lnTo>
                  <a:lnTo>
                    <a:pt x="15954" y="232760"/>
                  </a:lnTo>
                  <a:lnTo>
                    <a:pt x="0" y="189357"/>
                  </a:lnTo>
                  <a:lnTo>
                    <a:pt x="582676" y="0"/>
                  </a:lnTo>
                  <a:lnTo>
                    <a:pt x="110617" y="390525"/>
                  </a:lnTo>
                  <a:close/>
                </a:path>
              </a:pathLst>
            </a:custGeom>
            <a:ln w="9144">
              <a:solidFill>
                <a:srgbClr val="5896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25625" y="5004054"/>
              <a:ext cx="612648" cy="189356"/>
            </a:xfrm>
            <a:prstGeom prst="rect">
              <a:avLst/>
            </a:prstGeom>
          </p:spPr>
        </p:pic>
        <p:sp>
          <p:nvSpPr>
            <p:cNvPr id="122" name="object 122" descr=""/>
            <p:cNvSpPr/>
            <p:nvPr/>
          </p:nvSpPr>
          <p:spPr>
            <a:xfrm>
              <a:off x="1325625" y="5004054"/>
              <a:ext cx="612775" cy="189865"/>
            </a:xfrm>
            <a:custGeom>
              <a:avLst/>
              <a:gdLst/>
              <a:ahLst/>
              <a:cxnLst/>
              <a:rect l="l" t="t" r="r" b="b"/>
              <a:pathLst>
                <a:path w="612775" h="189864">
                  <a:moveTo>
                    <a:pt x="29971" y="189357"/>
                  </a:moveTo>
                  <a:lnTo>
                    <a:pt x="16930" y="143053"/>
                  </a:lnTo>
                  <a:lnTo>
                    <a:pt x="7556" y="95916"/>
                  </a:lnTo>
                  <a:lnTo>
                    <a:pt x="1897" y="48160"/>
                  </a:lnTo>
                  <a:lnTo>
                    <a:pt x="0" y="0"/>
                  </a:lnTo>
                  <a:lnTo>
                    <a:pt x="612648" y="0"/>
                  </a:lnTo>
                  <a:lnTo>
                    <a:pt x="29971" y="189357"/>
                  </a:lnTo>
                  <a:close/>
                </a:path>
              </a:pathLst>
            </a:custGeom>
            <a:ln w="9144">
              <a:solidFill>
                <a:srgbClr val="2442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 descr=""/>
          <p:cNvSpPr txBox="1"/>
          <p:nvPr/>
        </p:nvSpPr>
        <p:spPr>
          <a:xfrm>
            <a:off x="2104770" y="4639436"/>
            <a:ext cx="2914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orbel"/>
                <a:cs typeface="Corbel"/>
              </a:rPr>
              <a:t>78%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24" name="object 124" descr=""/>
          <p:cNvSpPr txBox="1"/>
          <p:nvPr/>
        </p:nvSpPr>
        <p:spPr>
          <a:xfrm>
            <a:off x="1152550" y="5242161"/>
            <a:ext cx="466090" cy="50165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200" spc="-25">
                <a:latin typeface="Corbel"/>
                <a:cs typeface="Corbel"/>
              </a:rPr>
              <a:t>6%</a:t>
            </a:r>
            <a:endParaRPr sz="1200">
              <a:latin typeface="Corbel"/>
              <a:cs typeface="Corbel"/>
            </a:endParaRPr>
          </a:p>
          <a:p>
            <a:pPr marL="192405">
              <a:lnSpc>
                <a:spcPct val="100000"/>
              </a:lnSpc>
              <a:spcBef>
                <a:spcPts val="434"/>
              </a:spcBef>
            </a:pPr>
            <a:r>
              <a:rPr dirty="0" sz="1200" spc="-25">
                <a:latin typeface="Corbel"/>
                <a:cs typeface="Corbel"/>
              </a:rPr>
              <a:t>11%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25" name="object 125" descr=""/>
          <p:cNvSpPr txBox="1"/>
          <p:nvPr/>
        </p:nvSpPr>
        <p:spPr>
          <a:xfrm>
            <a:off x="1085494" y="5001514"/>
            <a:ext cx="2216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orbel"/>
                <a:cs typeface="Corbel"/>
              </a:rPr>
              <a:t>5%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126" name="object 126" descr=""/>
          <p:cNvGrpSpPr/>
          <p:nvPr/>
        </p:nvGrpSpPr>
        <p:grpSpPr>
          <a:xfrm>
            <a:off x="720851" y="5948171"/>
            <a:ext cx="93345" cy="91440"/>
            <a:chOff x="720851" y="5948171"/>
            <a:chExt cx="93345" cy="91440"/>
          </a:xfrm>
        </p:grpSpPr>
        <p:pic>
          <p:nvPicPr>
            <p:cNvPr id="127" name="object 12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25423" y="5952743"/>
              <a:ext cx="83820" cy="82296"/>
            </a:xfrm>
            <a:prstGeom prst="rect">
              <a:avLst/>
            </a:prstGeom>
          </p:spPr>
        </p:pic>
        <p:sp>
          <p:nvSpPr>
            <p:cNvPr id="128" name="object 128" descr=""/>
            <p:cNvSpPr/>
            <p:nvPr/>
          </p:nvSpPr>
          <p:spPr>
            <a:xfrm>
              <a:off x="725423" y="5952743"/>
              <a:ext cx="83820" cy="82550"/>
            </a:xfrm>
            <a:custGeom>
              <a:avLst/>
              <a:gdLst/>
              <a:ahLst/>
              <a:cxnLst/>
              <a:rect l="l" t="t" r="r" b="b"/>
              <a:pathLst>
                <a:path w="83820" h="82550">
                  <a:moveTo>
                    <a:pt x="0" y="82295"/>
                  </a:moveTo>
                  <a:lnTo>
                    <a:pt x="83820" y="82295"/>
                  </a:lnTo>
                  <a:lnTo>
                    <a:pt x="83820" y="0"/>
                  </a:lnTo>
                  <a:lnTo>
                    <a:pt x="0" y="0"/>
                  </a:lnTo>
                  <a:lnTo>
                    <a:pt x="0" y="82295"/>
                  </a:lnTo>
                  <a:close/>
                </a:path>
              </a:pathLst>
            </a:custGeom>
            <a:ln w="9144">
              <a:solidFill>
                <a:srgbClr val="426E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 descr=""/>
          <p:cNvSpPr txBox="1"/>
          <p:nvPr/>
        </p:nvSpPr>
        <p:spPr>
          <a:xfrm>
            <a:off x="537057" y="5768238"/>
            <a:ext cx="1017905" cy="53086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308610">
              <a:lnSpc>
                <a:spcPct val="100000"/>
              </a:lnSpc>
              <a:spcBef>
                <a:spcPts val="930"/>
              </a:spcBef>
            </a:pPr>
            <a:r>
              <a:rPr dirty="0" sz="1200" spc="-10">
                <a:latin typeface="Corbel"/>
                <a:cs typeface="Corbel"/>
              </a:rPr>
              <a:t>Americas</a:t>
            </a:r>
            <a:endParaRPr sz="1200">
              <a:latin typeface="Corbel"/>
              <a:cs typeface="Corbe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dirty="0" sz="900" i="1">
                <a:solidFill>
                  <a:srgbClr val="2A2F3B"/>
                </a:solidFill>
                <a:latin typeface="Corbel"/>
                <a:cs typeface="Corbel"/>
              </a:rPr>
              <a:t>*</a:t>
            </a:r>
            <a:r>
              <a:rPr dirty="0" sz="900" spc="-1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 i="1">
                <a:solidFill>
                  <a:srgbClr val="2A2F3B"/>
                </a:solidFill>
                <a:latin typeface="Corbel"/>
                <a:cs typeface="Corbel"/>
              </a:rPr>
              <a:t>As</a:t>
            </a:r>
            <a:r>
              <a:rPr dirty="0" sz="900" spc="-1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 i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900" spc="-2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 i="1">
                <a:solidFill>
                  <a:srgbClr val="2A2F3B"/>
                </a:solidFill>
                <a:latin typeface="Corbel"/>
                <a:cs typeface="Corbel"/>
              </a:rPr>
              <a:t>31</a:t>
            </a:r>
            <a:r>
              <a:rPr dirty="0" baseline="27777" sz="900" i="1">
                <a:solidFill>
                  <a:srgbClr val="2A2F3B"/>
                </a:solidFill>
                <a:latin typeface="Corbel"/>
                <a:cs typeface="Corbel"/>
              </a:rPr>
              <a:t>st</a:t>
            </a:r>
            <a:r>
              <a:rPr dirty="0" baseline="27777" sz="900" spc="67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 i="1">
                <a:solidFill>
                  <a:srgbClr val="2A2F3B"/>
                </a:solidFill>
                <a:latin typeface="Corbel"/>
                <a:cs typeface="Corbel"/>
              </a:rPr>
              <a:t>Dec</a:t>
            </a:r>
            <a:r>
              <a:rPr dirty="0" sz="900" spc="-1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 spc="-20" i="1">
                <a:solidFill>
                  <a:srgbClr val="2A2F3B"/>
                </a:solidFill>
                <a:latin typeface="Corbel"/>
                <a:cs typeface="Corbel"/>
              </a:rPr>
              <a:t>2018</a:t>
            </a:r>
            <a:endParaRPr sz="900">
              <a:latin typeface="Corbel"/>
              <a:cs typeface="Corbel"/>
            </a:endParaRPr>
          </a:p>
        </p:txBody>
      </p:sp>
      <p:grpSp>
        <p:nvGrpSpPr>
          <p:cNvPr id="130" name="object 130" descr=""/>
          <p:cNvGrpSpPr/>
          <p:nvPr/>
        </p:nvGrpSpPr>
        <p:grpSpPr>
          <a:xfrm>
            <a:off x="1565147" y="5948171"/>
            <a:ext cx="93345" cy="91440"/>
            <a:chOff x="1565147" y="5948171"/>
            <a:chExt cx="93345" cy="91440"/>
          </a:xfrm>
        </p:grpSpPr>
        <p:pic>
          <p:nvPicPr>
            <p:cNvPr id="131" name="object 13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69719" y="5952743"/>
              <a:ext cx="83819" cy="82296"/>
            </a:xfrm>
            <a:prstGeom prst="rect">
              <a:avLst/>
            </a:prstGeom>
          </p:spPr>
        </p:pic>
        <p:sp>
          <p:nvSpPr>
            <p:cNvPr id="132" name="object 132" descr=""/>
            <p:cNvSpPr/>
            <p:nvPr/>
          </p:nvSpPr>
          <p:spPr>
            <a:xfrm>
              <a:off x="1569719" y="5952743"/>
              <a:ext cx="83820" cy="82550"/>
            </a:xfrm>
            <a:custGeom>
              <a:avLst/>
              <a:gdLst/>
              <a:ahLst/>
              <a:cxnLst/>
              <a:rect l="l" t="t" r="r" b="b"/>
              <a:pathLst>
                <a:path w="83819" h="82550">
                  <a:moveTo>
                    <a:pt x="0" y="82295"/>
                  </a:moveTo>
                  <a:lnTo>
                    <a:pt x="83819" y="82295"/>
                  </a:lnTo>
                  <a:lnTo>
                    <a:pt x="83819" y="0"/>
                  </a:lnTo>
                  <a:lnTo>
                    <a:pt x="0" y="0"/>
                  </a:lnTo>
                  <a:lnTo>
                    <a:pt x="0" y="82295"/>
                  </a:lnTo>
                  <a:close/>
                </a:path>
              </a:pathLst>
            </a:custGeom>
            <a:ln w="9144">
              <a:solidFill>
                <a:srgbClr val="A0A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3" name="object 133" descr=""/>
          <p:cNvGrpSpPr/>
          <p:nvPr/>
        </p:nvGrpSpPr>
        <p:grpSpPr>
          <a:xfrm>
            <a:off x="2211323" y="5948171"/>
            <a:ext cx="93345" cy="91440"/>
            <a:chOff x="2211323" y="5948171"/>
            <a:chExt cx="93345" cy="91440"/>
          </a:xfrm>
        </p:grpSpPr>
        <p:pic>
          <p:nvPicPr>
            <p:cNvPr id="134" name="object 13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15895" y="5952743"/>
              <a:ext cx="83819" cy="82296"/>
            </a:xfrm>
            <a:prstGeom prst="rect">
              <a:avLst/>
            </a:prstGeom>
          </p:spPr>
        </p:pic>
        <p:sp>
          <p:nvSpPr>
            <p:cNvPr id="135" name="object 135" descr=""/>
            <p:cNvSpPr/>
            <p:nvPr/>
          </p:nvSpPr>
          <p:spPr>
            <a:xfrm>
              <a:off x="2215895" y="5952743"/>
              <a:ext cx="83820" cy="82550"/>
            </a:xfrm>
            <a:custGeom>
              <a:avLst/>
              <a:gdLst/>
              <a:ahLst/>
              <a:cxnLst/>
              <a:rect l="l" t="t" r="r" b="b"/>
              <a:pathLst>
                <a:path w="83819" h="82550">
                  <a:moveTo>
                    <a:pt x="0" y="82295"/>
                  </a:moveTo>
                  <a:lnTo>
                    <a:pt x="83819" y="82295"/>
                  </a:lnTo>
                  <a:lnTo>
                    <a:pt x="83819" y="0"/>
                  </a:lnTo>
                  <a:lnTo>
                    <a:pt x="0" y="0"/>
                  </a:lnTo>
                  <a:lnTo>
                    <a:pt x="0" y="82295"/>
                  </a:lnTo>
                  <a:close/>
                </a:path>
              </a:pathLst>
            </a:custGeom>
            <a:ln w="9144">
              <a:solidFill>
                <a:srgbClr val="5896D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6" name="object 136" descr=""/>
          <p:cNvGrpSpPr/>
          <p:nvPr/>
        </p:nvGrpSpPr>
        <p:grpSpPr>
          <a:xfrm>
            <a:off x="2776727" y="5948171"/>
            <a:ext cx="93345" cy="91440"/>
            <a:chOff x="2776727" y="5948171"/>
            <a:chExt cx="93345" cy="91440"/>
          </a:xfrm>
        </p:grpSpPr>
        <p:pic>
          <p:nvPicPr>
            <p:cNvPr id="137" name="object 13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781299" y="5952743"/>
              <a:ext cx="83819" cy="82296"/>
            </a:xfrm>
            <a:prstGeom prst="rect">
              <a:avLst/>
            </a:prstGeom>
          </p:spPr>
        </p:pic>
        <p:sp>
          <p:nvSpPr>
            <p:cNvPr id="138" name="object 138" descr=""/>
            <p:cNvSpPr/>
            <p:nvPr/>
          </p:nvSpPr>
          <p:spPr>
            <a:xfrm>
              <a:off x="2781299" y="5952743"/>
              <a:ext cx="83820" cy="82550"/>
            </a:xfrm>
            <a:custGeom>
              <a:avLst/>
              <a:gdLst/>
              <a:ahLst/>
              <a:cxnLst/>
              <a:rect l="l" t="t" r="r" b="b"/>
              <a:pathLst>
                <a:path w="83819" h="82550">
                  <a:moveTo>
                    <a:pt x="0" y="82295"/>
                  </a:moveTo>
                  <a:lnTo>
                    <a:pt x="83819" y="82295"/>
                  </a:lnTo>
                  <a:lnTo>
                    <a:pt x="83819" y="0"/>
                  </a:lnTo>
                  <a:lnTo>
                    <a:pt x="0" y="0"/>
                  </a:lnTo>
                  <a:lnTo>
                    <a:pt x="0" y="82295"/>
                  </a:lnTo>
                  <a:close/>
                </a:path>
              </a:pathLst>
            </a:custGeom>
            <a:ln w="9144">
              <a:solidFill>
                <a:srgbClr val="2442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 descr=""/>
          <p:cNvSpPr txBox="1"/>
          <p:nvPr/>
        </p:nvSpPr>
        <p:spPr>
          <a:xfrm>
            <a:off x="1652016" y="5873902"/>
            <a:ext cx="1713230" cy="442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83895" algn="l"/>
                <a:tab pos="1250315" algn="l"/>
              </a:tabLst>
            </a:pPr>
            <a:r>
              <a:rPr dirty="0" sz="1200" spc="-20">
                <a:latin typeface="Corbel"/>
                <a:cs typeface="Corbel"/>
              </a:rPr>
              <a:t>EMEA</a:t>
            </a:r>
            <a:r>
              <a:rPr dirty="0" sz="1200">
                <a:latin typeface="Corbel"/>
                <a:cs typeface="Corbel"/>
              </a:rPr>
              <a:t>	</a:t>
            </a:r>
            <a:r>
              <a:rPr dirty="0" sz="1200" spc="-10">
                <a:latin typeface="Corbel"/>
                <a:cs typeface="Corbel"/>
              </a:rPr>
              <a:t>India</a:t>
            </a:r>
            <a:r>
              <a:rPr dirty="0" sz="1200">
                <a:latin typeface="Corbel"/>
                <a:cs typeface="Corbel"/>
              </a:rPr>
              <a:t>	</a:t>
            </a:r>
            <a:r>
              <a:rPr dirty="0" sz="1200" spc="-25">
                <a:latin typeface="Corbel"/>
                <a:cs typeface="Corbel"/>
              </a:rPr>
              <a:t>RoW</a:t>
            </a:r>
            <a:endParaRPr sz="1200">
              <a:latin typeface="Corbel"/>
              <a:cs typeface="Corbel"/>
            </a:endParaRPr>
          </a:p>
          <a:p>
            <a:pPr marL="257175">
              <a:lnSpc>
                <a:spcPct val="100000"/>
              </a:lnSpc>
              <a:spcBef>
                <a:spcPts val="760"/>
              </a:spcBef>
            </a:pPr>
            <a:r>
              <a:rPr dirty="0" sz="900" i="1">
                <a:latin typeface="Corbel"/>
                <a:cs typeface="Corbel"/>
              </a:rPr>
              <a:t>#</a:t>
            </a:r>
            <a:r>
              <a:rPr dirty="0" sz="900" spc="130" i="1">
                <a:latin typeface="Corbel"/>
                <a:cs typeface="Corbel"/>
              </a:rPr>
              <a:t> </a:t>
            </a:r>
            <a:r>
              <a:rPr dirty="0" sz="900" i="1">
                <a:latin typeface="Corbel"/>
                <a:cs typeface="Corbel"/>
              </a:rPr>
              <a:t>Quarter</a:t>
            </a:r>
            <a:r>
              <a:rPr dirty="0" sz="900" spc="-20" i="1">
                <a:latin typeface="Corbel"/>
                <a:cs typeface="Corbel"/>
              </a:rPr>
              <a:t> </a:t>
            </a:r>
            <a:r>
              <a:rPr dirty="0" sz="900" i="1">
                <a:latin typeface="Corbel"/>
                <a:cs typeface="Corbel"/>
              </a:rPr>
              <a:t>ended</a:t>
            </a:r>
            <a:r>
              <a:rPr dirty="0" sz="900" spc="-15" i="1">
                <a:latin typeface="Corbel"/>
                <a:cs typeface="Corbel"/>
              </a:rPr>
              <a:t> </a:t>
            </a:r>
            <a:r>
              <a:rPr dirty="0" sz="900" i="1">
                <a:latin typeface="Corbel"/>
                <a:cs typeface="Corbel"/>
              </a:rPr>
              <a:t>31</a:t>
            </a:r>
            <a:r>
              <a:rPr dirty="0" baseline="27777" sz="900" i="1">
                <a:latin typeface="Corbel"/>
                <a:cs typeface="Corbel"/>
              </a:rPr>
              <a:t>st</a:t>
            </a:r>
            <a:r>
              <a:rPr dirty="0" baseline="27777" sz="900" spc="60" i="1">
                <a:latin typeface="Corbel"/>
                <a:cs typeface="Corbel"/>
              </a:rPr>
              <a:t> </a:t>
            </a:r>
            <a:r>
              <a:rPr dirty="0" sz="900" i="1">
                <a:latin typeface="Corbel"/>
                <a:cs typeface="Corbel"/>
              </a:rPr>
              <a:t>Dec</a:t>
            </a:r>
            <a:r>
              <a:rPr dirty="0" sz="900" spc="-20" i="1">
                <a:latin typeface="Corbel"/>
                <a:cs typeface="Corbel"/>
              </a:rPr>
              <a:t> 2018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41" name="object 14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142" name="object 14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40" name="object 140" descr=""/>
          <p:cNvSpPr txBox="1"/>
          <p:nvPr/>
        </p:nvSpPr>
        <p:spPr>
          <a:xfrm>
            <a:off x="3535807" y="6136944"/>
            <a:ext cx="9353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latin typeface="Corbel"/>
                <a:cs typeface="Corbel"/>
              </a:rPr>
              <a:t>^</a:t>
            </a:r>
            <a:r>
              <a:rPr dirty="0" sz="900" spc="5" i="1">
                <a:latin typeface="Corbel"/>
                <a:cs typeface="Corbel"/>
              </a:rPr>
              <a:t> </a:t>
            </a:r>
            <a:r>
              <a:rPr dirty="0" sz="900" spc="-10" i="1">
                <a:latin typeface="Corbel"/>
                <a:cs typeface="Corbel"/>
              </a:rPr>
              <a:t>trailing</a:t>
            </a:r>
            <a:r>
              <a:rPr dirty="0" sz="900" spc="-15" i="1">
                <a:latin typeface="Corbel"/>
                <a:cs typeface="Corbel"/>
              </a:rPr>
              <a:t> </a:t>
            </a:r>
            <a:r>
              <a:rPr dirty="0" sz="900" i="1">
                <a:latin typeface="Corbel"/>
                <a:cs typeface="Corbel"/>
              </a:rPr>
              <a:t>12</a:t>
            </a:r>
            <a:r>
              <a:rPr dirty="0" sz="900" spc="15" i="1">
                <a:latin typeface="Corbel"/>
                <a:cs typeface="Corbel"/>
              </a:rPr>
              <a:t> </a:t>
            </a:r>
            <a:r>
              <a:rPr dirty="0" sz="900" spc="-10" i="1">
                <a:latin typeface="Corbel"/>
                <a:cs typeface="Corbel"/>
              </a:rPr>
              <a:t>months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67429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M</a:t>
            </a:r>
            <a:r>
              <a:rPr dirty="0"/>
              <a:t>phasis</a:t>
            </a:r>
            <a:r>
              <a:rPr dirty="0" spc="-55"/>
              <a:t> </a:t>
            </a:r>
            <a:r>
              <a:rPr dirty="0" spc="-10"/>
              <a:t>Turn</a:t>
            </a:r>
            <a:r>
              <a:rPr dirty="0" spc="-75"/>
              <a:t> </a:t>
            </a:r>
            <a:r>
              <a:rPr dirty="0"/>
              <a:t>Around</a:t>
            </a:r>
            <a:r>
              <a:rPr dirty="0" spc="-85"/>
              <a:t> </a:t>
            </a:r>
            <a:r>
              <a:rPr dirty="0" spc="-10"/>
              <a:t>Sto</a:t>
            </a:r>
            <a:r>
              <a:rPr dirty="0" u="none" spc="-10"/>
              <a:t>ry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52665" y="1017269"/>
            <a:ext cx="11096625" cy="4291330"/>
            <a:chOff x="752665" y="1017269"/>
            <a:chExt cx="11096625" cy="4291330"/>
          </a:xfrm>
        </p:grpSpPr>
        <p:sp>
          <p:nvSpPr>
            <p:cNvPr id="4" name="object 4" descr=""/>
            <p:cNvSpPr/>
            <p:nvPr/>
          </p:nvSpPr>
          <p:spPr>
            <a:xfrm>
              <a:off x="778763" y="2279903"/>
              <a:ext cx="59055" cy="970915"/>
            </a:xfrm>
            <a:custGeom>
              <a:avLst/>
              <a:gdLst/>
              <a:ahLst/>
              <a:cxnLst/>
              <a:rect l="l" t="t" r="r" b="b"/>
              <a:pathLst>
                <a:path w="59055" h="970914">
                  <a:moveTo>
                    <a:pt x="0" y="970788"/>
                  </a:moveTo>
                  <a:lnTo>
                    <a:pt x="58737" y="970788"/>
                  </a:lnTo>
                </a:path>
                <a:path w="59055" h="970914">
                  <a:moveTo>
                    <a:pt x="0" y="0"/>
                  </a:moveTo>
                  <a:lnTo>
                    <a:pt x="58737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78763" y="1955291"/>
              <a:ext cx="59055" cy="0"/>
            </a:xfrm>
            <a:custGeom>
              <a:avLst/>
              <a:gdLst/>
              <a:ahLst/>
              <a:cxnLst/>
              <a:rect l="l" t="t" r="r" b="b"/>
              <a:pathLst>
                <a:path w="59055" h="0">
                  <a:moveTo>
                    <a:pt x="0" y="0"/>
                  </a:moveTo>
                  <a:lnTo>
                    <a:pt x="58737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78763" y="3575303"/>
              <a:ext cx="59055" cy="1728470"/>
            </a:xfrm>
            <a:custGeom>
              <a:avLst/>
              <a:gdLst/>
              <a:ahLst/>
              <a:cxnLst/>
              <a:rect l="l" t="t" r="r" b="b"/>
              <a:pathLst>
                <a:path w="59055" h="1728470">
                  <a:moveTo>
                    <a:pt x="0" y="647700"/>
                  </a:moveTo>
                  <a:lnTo>
                    <a:pt x="58737" y="647700"/>
                  </a:lnTo>
                </a:path>
                <a:path w="59055" h="1728470">
                  <a:moveTo>
                    <a:pt x="0" y="1728216"/>
                  </a:moveTo>
                  <a:lnTo>
                    <a:pt x="58737" y="1728216"/>
                  </a:lnTo>
                </a:path>
                <a:path w="59055" h="1728470">
                  <a:moveTo>
                    <a:pt x="0" y="323088"/>
                  </a:moveTo>
                  <a:lnTo>
                    <a:pt x="58737" y="323088"/>
                  </a:lnTo>
                </a:path>
                <a:path w="59055" h="1728470">
                  <a:moveTo>
                    <a:pt x="0" y="0"/>
                  </a:moveTo>
                  <a:lnTo>
                    <a:pt x="58737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78763" y="1632203"/>
              <a:ext cx="59055" cy="0"/>
            </a:xfrm>
            <a:custGeom>
              <a:avLst/>
              <a:gdLst/>
              <a:ahLst/>
              <a:cxnLst/>
              <a:rect l="l" t="t" r="r" b="b"/>
              <a:pathLst>
                <a:path w="59055" h="0">
                  <a:moveTo>
                    <a:pt x="0" y="0"/>
                  </a:moveTo>
                  <a:lnTo>
                    <a:pt x="58737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78763" y="2602991"/>
              <a:ext cx="59055" cy="2377440"/>
            </a:xfrm>
            <a:custGeom>
              <a:avLst/>
              <a:gdLst/>
              <a:ahLst/>
              <a:cxnLst/>
              <a:rect l="l" t="t" r="r" b="b"/>
              <a:pathLst>
                <a:path w="59055" h="2377440">
                  <a:moveTo>
                    <a:pt x="0" y="324612"/>
                  </a:moveTo>
                  <a:lnTo>
                    <a:pt x="58737" y="324612"/>
                  </a:lnTo>
                </a:path>
                <a:path w="59055" h="2377440">
                  <a:moveTo>
                    <a:pt x="0" y="2377440"/>
                  </a:moveTo>
                  <a:lnTo>
                    <a:pt x="58737" y="2377440"/>
                  </a:lnTo>
                </a:path>
                <a:path w="59055" h="2377440">
                  <a:moveTo>
                    <a:pt x="0" y="0"/>
                  </a:moveTo>
                  <a:lnTo>
                    <a:pt x="58737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54024" y="1851659"/>
              <a:ext cx="10773410" cy="3451860"/>
            </a:xfrm>
            <a:custGeom>
              <a:avLst/>
              <a:gdLst/>
              <a:ahLst/>
              <a:cxnLst/>
              <a:rect l="l" t="t" r="r" b="b"/>
              <a:pathLst>
                <a:path w="10773410" h="3451860">
                  <a:moveTo>
                    <a:pt x="291084" y="762000"/>
                  </a:moveTo>
                  <a:lnTo>
                    <a:pt x="0" y="762000"/>
                  </a:lnTo>
                  <a:lnTo>
                    <a:pt x="0" y="3451860"/>
                  </a:lnTo>
                  <a:lnTo>
                    <a:pt x="291084" y="3451860"/>
                  </a:lnTo>
                  <a:lnTo>
                    <a:pt x="291084" y="762000"/>
                  </a:lnTo>
                  <a:close/>
                </a:path>
                <a:path w="10773410" h="3451860">
                  <a:moveTo>
                    <a:pt x="815340" y="879348"/>
                  </a:moveTo>
                  <a:lnTo>
                    <a:pt x="524256" y="879348"/>
                  </a:lnTo>
                  <a:lnTo>
                    <a:pt x="524256" y="3451860"/>
                  </a:lnTo>
                  <a:lnTo>
                    <a:pt x="815340" y="3451860"/>
                  </a:lnTo>
                  <a:lnTo>
                    <a:pt x="815340" y="879348"/>
                  </a:lnTo>
                  <a:close/>
                </a:path>
                <a:path w="10773410" h="3451860">
                  <a:moveTo>
                    <a:pt x="1339596" y="1082040"/>
                  </a:moveTo>
                  <a:lnTo>
                    <a:pt x="1048512" y="1082040"/>
                  </a:lnTo>
                  <a:lnTo>
                    <a:pt x="1048512" y="3451860"/>
                  </a:lnTo>
                  <a:lnTo>
                    <a:pt x="1339596" y="3451860"/>
                  </a:lnTo>
                  <a:lnTo>
                    <a:pt x="1339596" y="1082040"/>
                  </a:lnTo>
                  <a:close/>
                </a:path>
                <a:path w="10773410" h="3451860">
                  <a:moveTo>
                    <a:pt x="1863852" y="1415796"/>
                  </a:moveTo>
                  <a:lnTo>
                    <a:pt x="1572768" y="1415796"/>
                  </a:lnTo>
                  <a:lnTo>
                    <a:pt x="1572768" y="3451860"/>
                  </a:lnTo>
                  <a:lnTo>
                    <a:pt x="1863852" y="3451860"/>
                  </a:lnTo>
                  <a:lnTo>
                    <a:pt x="1863852" y="1415796"/>
                  </a:lnTo>
                  <a:close/>
                </a:path>
                <a:path w="10773410" h="3451860">
                  <a:moveTo>
                    <a:pt x="2388108" y="1836420"/>
                  </a:moveTo>
                  <a:lnTo>
                    <a:pt x="2097024" y="1836420"/>
                  </a:lnTo>
                  <a:lnTo>
                    <a:pt x="2097024" y="3451860"/>
                  </a:lnTo>
                  <a:lnTo>
                    <a:pt x="2388108" y="3451860"/>
                  </a:lnTo>
                  <a:lnTo>
                    <a:pt x="2388108" y="1836420"/>
                  </a:lnTo>
                  <a:close/>
                </a:path>
                <a:path w="10773410" h="3451860">
                  <a:moveTo>
                    <a:pt x="2912364" y="1781556"/>
                  </a:moveTo>
                  <a:lnTo>
                    <a:pt x="2621280" y="1781556"/>
                  </a:lnTo>
                  <a:lnTo>
                    <a:pt x="2621280" y="3451860"/>
                  </a:lnTo>
                  <a:lnTo>
                    <a:pt x="2912364" y="3451860"/>
                  </a:lnTo>
                  <a:lnTo>
                    <a:pt x="2912364" y="1781556"/>
                  </a:lnTo>
                  <a:close/>
                </a:path>
                <a:path w="10773410" h="3451860">
                  <a:moveTo>
                    <a:pt x="3436620" y="1577340"/>
                  </a:moveTo>
                  <a:lnTo>
                    <a:pt x="3145536" y="1577340"/>
                  </a:lnTo>
                  <a:lnTo>
                    <a:pt x="3145536" y="3451860"/>
                  </a:lnTo>
                  <a:lnTo>
                    <a:pt x="3436620" y="3451860"/>
                  </a:lnTo>
                  <a:lnTo>
                    <a:pt x="3436620" y="1577340"/>
                  </a:lnTo>
                  <a:close/>
                </a:path>
                <a:path w="10773410" h="3451860">
                  <a:moveTo>
                    <a:pt x="3960876" y="1496568"/>
                  </a:moveTo>
                  <a:lnTo>
                    <a:pt x="3669792" y="1496568"/>
                  </a:lnTo>
                  <a:lnTo>
                    <a:pt x="3669792" y="3451860"/>
                  </a:lnTo>
                  <a:lnTo>
                    <a:pt x="3960876" y="3451860"/>
                  </a:lnTo>
                  <a:lnTo>
                    <a:pt x="3960876" y="1496568"/>
                  </a:lnTo>
                  <a:close/>
                </a:path>
                <a:path w="10773410" h="3451860">
                  <a:moveTo>
                    <a:pt x="4485132" y="1755648"/>
                  </a:moveTo>
                  <a:lnTo>
                    <a:pt x="4194048" y="1755648"/>
                  </a:lnTo>
                  <a:lnTo>
                    <a:pt x="4194048" y="3451860"/>
                  </a:lnTo>
                  <a:lnTo>
                    <a:pt x="4485132" y="3451860"/>
                  </a:lnTo>
                  <a:lnTo>
                    <a:pt x="4485132" y="1755648"/>
                  </a:lnTo>
                  <a:close/>
                </a:path>
                <a:path w="10773410" h="3451860">
                  <a:moveTo>
                    <a:pt x="5009388" y="1874520"/>
                  </a:moveTo>
                  <a:lnTo>
                    <a:pt x="4718304" y="1874520"/>
                  </a:lnTo>
                  <a:lnTo>
                    <a:pt x="4718304" y="3451860"/>
                  </a:lnTo>
                  <a:lnTo>
                    <a:pt x="5009388" y="3451860"/>
                  </a:lnTo>
                  <a:lnTo>
                    <a:pt x="5009388" y="1874520"/>
                  </a:lnTo>
                  <a:close/>
                </a:path>
                <a:path w="10773410" h="3451860">
                  <a:moveTo>
                    <a:pt x="5532120" y="1900428"/>
                  </a:moveTo>
                  <a:lnTo>
                    <a:pt x="5241036" y="1900428"/>
                  </a:lnTo>
                  <a:lnTo>
                    <a:pt x="5241036" y="3451860"/>
                  </a:lnTo>
                  <a:lnTo>
                    <a:pt x="5532120" y="3451860"/>
                  </a:lnTo>
                  <a:lnTo>
                    <a:pt x="5532120" y="1900428"/>
                  </a:lnTo>
                  <a:close/>
                </a:path>
                <a:path w="10773410" h="3451860">
                  <a:moveTo>
                    <a:pt x="6056376" y="1914144"/>
                  </a:moveTo>
                  <a:lnTo>
                    <a:pt x="5765292" y="1914144"/>
                  </a:lnTo>
                  <a:lnTo>
                    <a:pt x="5765292" y="3451860"/>
                  </a:lnTo>
                  <a:lnTo>
                    <a:pt x="6056376" y="3451860"/>
                  </a:lnTo>
                  <a:lnTo>
                    <a:pt x="6056376" y="1914144"/>
                  </a:lnTo>
                  <a:close/>
                </a:path>
                <a:path w="10773410" h="3451860">
                  <a:moveTo>
                    <a:pt x="6580632" y="1933956"/>
                  </a:moveTo>
                  <a:lnTo>
                    <a:pt x="6289548" y="1933956"/>
                  </a:lnTo>
                  <a:lnTo>
                    <a:pt x="6289548" y="3451860"/>
                  </a:lnTo>
                  <a:lnTo>
                    <a:pt x="6580632" y="3451860"/>
                  </a:lnTo>
                  <a:lnTo>
                    <a:pt x="6580632" y="1933956"/>
                  </a:lnTo>
                  <a:close/>
                </a:path>
                <a:path w="10773410" h="3451860">
                  <a:moveTo>
                    <a:pt x="7104888" y="1997964"/>
                  </a:moveTo>
                  <a:lnTo>
                    <a:pt x="6813804" y="1997964"/>
                  </a:lnTo>
                  <a:lnTo>
                    <a:pt x="6813804" y="3451860"/>
                  </a:lnTo>
                  <a:lnTo>
                    <a:pt x="7104888" y="3451860"/>
                  </a:lnTo>
                  <a:lnTo>
                    <a:pt x="7104888" y="1997964"/>
                  </a:lnTo>
                  <a:close/>
                </a:path>
                <a:path w="10773410" h="3451860">
                  <a:moveTo>
                    <a:pt x="7629144" y="1693164"/>
                  </a:moveTo>
                  <a:lnTo>
                    <a:pt x="7338060" y="1693164"/>
                  </a:lnTo>
                  <a:lnTo>
                    <a:pt x="7338060" y="3451860"/>
                  </a:lnTo>
                  <a:lnTo>
                    <a:pt x="7629144" y="3451860"/>
                  </a:lnTo>
                  <a:lnTo>
                    <a:pt x="7629144" y="1693164"/>
                  </a:lnTo>
                  <a:close/>
                </a:path>
                <a:path w="10773410" h="3451860">
                  <a:moveTo>
                    <a:pt x="8153400" y="1324356"/>
                  </a:moveTo>
                  <a:lnTo>
                    <a:pt x="7862316" y="1324356"/>
                  </a:lnTo>
                  <a:lnTo>
                    <a:pt x="7862316" y="3451860"/>
                  </a:lnTo>
                  <a:lnTo>
                    <a:pt x="8153400" y="3451860"/>
                  </a:lnTo>
                  <a:lnTo>
                    <a:pt x="8153400" y="1324356"/>
                  </a:lnTo>
                  <a:close/>
                </a:path>
                <a:path w="10773410" h="3451860">
                  <a:moveTo>
                    <a:pt x="8677656" y="1024128"/>
                  </a:moveTo>
                  <a:lnTo>
                    <a:pt x="8386572" y="1024128"/>
                  </a:lnTo>
                  <a:lnTo>
                    <a:pt x="8386572" y="3451860"/>
                  </a:lnTo>
                  <a:lnTo>
                    <a:pt x="8677656" y="3451860"/>
                  </a:lnTo>
                  <a:lnTo>
                    <a:pt x="8677656" y="1024128"/>
                  </a:lnTo>
                  <a:close/>
                </a:path>
                <a:path w="10773410" h="3451860">
                  <a:moveTo>
                    <a:pt x="9201912" y="618744"/>
                  </a:moveTo>
                  <a:lnTo>
                    <a:pt x="8910828" y="618744"/>
                  </a:lnTo>
                  <a:lnTo>
                    <a:pt x="8910828" y="3451860"/>
                  </a:lnTo>
                  <a:lnTo>
                    <a:pt x="9201912" y="3451860"/>
                  </a:lnTo>
                  <a:lnTo>
                    <a:pt x="9201912" y="618744"/>
                  </a:lnTo>
                  <a:close/>
                </a:path>
                <a:path w="10773410" h="3451860">
                  <a:moveTo>
                    <a:pt x="9726168" y="469392"/>
                  </a:moveTo>
                  <a:lnTo>
                    <a:pt x="9435084" y="469392"/>
                  </a:lnTo>
                  <a:lnTo>
                    <a:pt x="9435084" y="3451860"/>
                  </a:lnTo>
                  <a:lnTo>
                    <a:pt x="9726168" y="3451860"/>
                  </a:lnTo>
                  <a:lnTo>
                    <a:pt x="9726168" y="469392"/>
                  </a:lnTo>
                  <a:close/>
                </a:path>
                <a:path w="10773410" h="3451860">
                  <a:moveTo>
                    <a:pt x="10250424" y="246888"/>
                  </a:moveTo>
                  <a:lnTo>
                    <a:pt x="9957816" y="246888"/>
                  </a:lnTo>
                  <a:lnTo>
                    <a:pt x="9957816" y="3451860"/>
                  </a:lnTo>
                  <a:lnTo>
                    <a:pt x="10250424" y="3451860"/>
                  </a:lnTo>
                  <a:lnTo>
                    <a:pt x="10250424" y="246888"/>
                  </a:lnTo>
                  <a:close/>
                </a:path>
                <a:path w="10773410" h="3451860">
                  <a:moveTo>
                    <a:pt x="10773156" y="0"/>
                  </a:moveTo>
                  <a:lnTo>
                    <a:pt x="10482072" y="12"/>
                  </a:lnTo>
                  <a:lnTo>
                    <a:pt x="10482072" y="3451860"/>
                  </a:lnTo>
                  <a:lnTo>
                    <a:pt x="10773156" y="3451860"/>
                  </a:lnTo>
                  <a:lnTo>
                    <a:pt x="10773156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38199" y="1632203"/>
              <a:ext cx="11006455" cy="3671570"/>
            </a:xfrm>
            <a:custGeom>
              <a:avLst/>
              <a:gdLst/>
              <a:ahLst/>
              <a:cxnLst/>
              <a:rect l="l" t="t" r="r" b="b"/>
              <a:pathLst>
                <a:path w="11006455" h="3671570">
                  <a:moveTo>
                    <a:pt x="0" y="3671316"/>
                  </a:moveTo>
                  <a:lnTo>
                    <a:pt x="0" y="0"/>
                  </a:lnTo>
                </a:path>
                <a:path w="11006455" h="3671570">
                  <a:moveTo>
                    <a:pt x="0" y="3671316"/>
                  </a:moveTo>
                  <a:lnTo>
                    <a:pt x="11006328" y="3671316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7428" y="4489703"/>
              <a:ext cx="11047730" cy="175260"/>
            </a:xfrm>
            <a:custGeom>
              <a:avLst/>
              <a:gdLst/>
              <a:ahLst/>
              <a:cxnLst/>
              <a:rect l="l" t="t" r="r" b="b"/>
              <a:pathLst>
                <a:path w="11047730" h="175260">
                  <a:moveTo>
                    <a:pt x="161544" y="38100"/>
                  </a:moveTo>
                  <a:lnTo>
                    <a:pt x="0" y="80518"/>
                  </a:lnTo>
                  <a:lnTo>
                    <a:pt x="0" y="137160"/>
                  </a:lnTo>
                  <a:lnTo>
                    <a:pt x="161544" y="94742"/>
                  </a:lnTo>
                  <a:lnTo>
                    <a:pt x="161544" y="38100"/>
                  </a:lnTo>
                  <a:close/>
                </a:path>
                <a:path w="11047730" h="175260">
                  <a:moveTo>
                    <a:pt x="565404" y="0"/>
                  </a:moveTo>
                  <a:lnTo>
                    <a:pt x="120396" y="118364"/>
                  </a:lnTo>
                  <a:lnTo>
                    <a:pt x="120396" y="175260"/>
                  </a:lnTo>
                  <a:lnTo>
                    <a:pt x="565404" y="56896"/>
                  </a:lnTo>
                  <a:lnTo>
                    <a:pt x="565404" y="0"/>
                  </a:lnTo>
                  <a:close/>
                </a:path>
                <a:path w="11047730" h="175260">
                  <a:moveTo>
                    <a:pt x="1088136" y="0"/>
                  </a:moveTo>
                  <a:lnTo>
                    <a:pt x="644652" y="118364"/>
                  </a:lnTo>
                  <a:lnTo>
                    <a:pt x="644652" y="175260"/>
                  </a:lnTo>
                  <a:lnTo>
                    <a:pt x="1088136" y="56896"/>
                  </a:lnTo>
                  <a:lnTo>
                    <a:pt x="1088136" y="0"/>
                  </a:lnTo>
                  <a:close/>
                </a:path>
                <a:path w="11047730" h="175260">
                  <a:moveTo>
                    <a:pt x="1612392" y="0"/>
                  </a:moveTo>
                  <a:lnTo>
                    <a:pt x="1168908" y="118364"/>
                  </a:lnTo>
                  <a:lnTo>
                    <a:pt x="1168908" y="175260"/>
                  </a:lnTo>
                  <a:lnTo>
                    <a:pt x="1612392" y="56896"/>
                  </a:lnTo>
                  <a:lnTo>
                    <a:pt x="1612392" y="0"/>
                  </a:lnTo>
                  <a:close/>
                </a:path>
                <a:path w="11047730" h="175260">
                  <a:moveTo>
                    <a:pt x="2136648" y="0"/>
                  </a:moveTo>
                  <a:lnTo>
                    <a:pt x="1691640" y="118364"/>
                  </a:lnTo>
                  <a:lnTo>
                    <a:pt x="1691640" y="175260"/>
                  </a:lnTo>
                  <a:lnTo>
                    <a:pt x="2136648" y="56896"/>
                  </a:lnTo>
                  <a:lnTo>
                    <a:pt x="2136648" y="0"/>
                  </a:lnTo>
                  <a:close/>
                </a:path>
                <a:path w="11047730" h="175260">
                  <a:moveTo>
                    <a:pt x="2662428" y="0"/>
                  </a:moveTo>
                  <a:lnTo>
                    <a:pt x="2217420" y="118364"/>
                  </a:lnTo>
                  <a:lnTo>
                    <a:pt x="2217420" y="175260"/>
                  </a:lnTo>
                  <a:lnTo>
                    <a:pt x="2662428" y="56896"/>
                  </a:lnTo>
                  <a:lnTo>
                    <a:pt x="2662428" y="0"/>
                  </a:lnTo>
                  <a:close/>
                </a:path>
                <a:path w="11047730" h="175260">
                  <a:moveTo>
                    <a:pt x="3186684" y="0"/>
                  </a:moveTo>
                  <a:lnTo>
                    <a:pt x="2741676" y="118364"/>
                  </a:lnTo>
                  <a:lnTo>
                    <a:pt x="2741676" y="175260"/>
                  </a:lnTo>
                  <a:lnTo>
                    <a:pt x="3186684" y="56896"/>
                  </a:lnTo>
                  <a:lnTo>
                    <a:pt x="3186684" y="0"/>
                  </a:lnTo>
                  <a:close/>
                </a:path>
                <a:path w="11047730" h="175260">
                  <a:moveTo>
                    <a:pt x="3709416" y="0"/>
                  </a:moveTo>
                  <a:lnTo>
                    <a:pt x="3265932" y="118364"/>
                  </a:lnTo>
                  <a:lnTo>
                    <a:pt x="3265932" y="175260"/>
                  </a:lnTo>
                  <a:lnTo>
                    <a:pt x="3709416" y="56896"/>
                  </a:lnTo>
                  <a:lnTo>
                    <a:pt x="3709416" y="0"/>
                  </a:lnTo>
                  <a:close/>
                </a:path>
                <a:path w="11047730" h="175260">
                  <a:moveTo>
                    <a:pt x="4233672" y="0"/>
                  </a:moveTo>
                  <a:lnTo>
                    <a:pt x="3788664" y="118364"/>
                  </a:lnTo>
                  <a:lnTo>
                    <a:pt x="3788664" y="175260"/>
                  </a:lnTo>
                  <a:lnTo>
                    <a:pt x="4233672" y="56896"/>
                  </a:lnTo>
                  <a:lnTo>
                    <a:pt x="4233672" y="0"/>
                  </a:lnTo>
                  <a:close/>
                </a:path>
                <a:path w="11047730" h="175260">
                  <a:moveTo>
                    <a:pt x="4757928" y="0"/>
                  </a:moveTo>
                  <a:lnTo>
                    <a:pt x="4312920" y="118364"/>
                  </a:lnTo>
                  <a:lnTo>
                    <a:pt x="4312920" y="175260"/>
                  </a:lnTo>
                  <a:lnTo>
                    <a:pt x="4757928" y="56896"/>
                  </a:lnTo>
                  <a:lnTo>
                    <a:pt x="4757928" y="0"/>
                  </a:lnTo>
                  <a:close/>
                </a:path>
                <a:path w="11047730" h="175260">
                  <a:moveTo>
                    <a:pt x="5282184" y="0"/>
                  </a:moveTo>
                  <a:lnTo>
                    <a:pt x="4837176" y="118364"/>
                  </a:lnTo>
                  <a:lnTo>
                    <a:pt x="4837176" y="175260"/>
                  </a:lnTo>
                  <a:lnTo>
                    <a:pt x="5282184" y="56896"/>
                  </a:lnTo>
                  <a:lnTo>
                    <a:pt x="5282184" y="0"/>
                  </a:lnTo>
                  <a:close/>
                </a:path>
                <a:path w="11047730" h="175260">
                  <a:moveTo>
                    <a:pt x="5804916" y="0"/>
                  </a:moveTo>
                  <a:lnTo>
                    <a:pt x="5361432" y="118364"/>
                  </a:lnTo>
                  <a:lnTo>
                    <a:pt x="5361432" y="175260"/>
                  </a:lnTo>
                  <a:lnTo>
                    <a:pt x="5804916" y="56896"/>
                  </a:lnTo>
                  <a:lnTo>
                    <a:pt x="5804916" y="0"/>
                  </a:lnTo>
                  <a:close/>
                </a:path>
                <a:path w="11047730" h="175260">
                  <a:moveTo>
                    <a:pt x="6330696" y="0"/>
                  </a:moveTo>
                  <a:lnTo>
                    <a:pt x="5885688" y="118364"/>
                  </a:lnTo>
                  <a:lnTo>
                    <a:pt x="5885688" y="175260"/>
                  </a:lnTo>
                  <a:lnTo>
                    <a:pt x="6330696" y="56896"/>
                  </a:lnTo>
                  <a:lnTo>
                    <a:pt x="6330696" y="0"/>
                  </a:lnTo>
                  <a:close/>
                </a:path>
                <a:path w="11047730" h="175260">
                  <a:moveTo>
                    <a:pt x="6854952" y="0"/>
                  </a:moveTo>
                  <a:lnTo>
                    <a:pt x="6409944" y="118364"/>
                  </a:lnTo>
                  <a:lnTo>
                    <a:pt x="6409944" y="175260"/>
                  </a:lnTo>
                  <a:lnTo>
                    <a:pt x="6854952" y="56896"/>
                  </a:lnTo>
                  <a:lnTo>
                    <a:pt x="6854952" y="0"/>
                  </a:lnTo>
                  <a:close/>
                </a:path>
                <a:path w="11047730" h="175260">
                  <a:moveTo>
                    <a:pt x="7379208" y="0"/>
                  </a:moveTo>
                  <a:lnTo>
                    <a:pt x="6934200" y="118364"/>
                  </a:lnTo>
                  <a:lnTo>
                    <a:pt x="6934200" y="175260"/>
                  </a:lnTo>
                  <a:lnTo>
                    <a:pt x="7379208" y="56896"/>
                  </a:lnTo>
                  <a:lnTo>
                    <a:pt x="7379208" y="0"/>
                  </a:lnTo>
                  <a:close/>
                </a:path>
                <a:path w="11047730" h="175260">
                  <a:moveTo>
                    <a:pt x="7901940" y="0"/>
                  </a:moveTo>
                  <a:lnTo>
                    <a:pt x="7458456" y="118364"/>
                  </a:lnTo>
                  <a:lnTo>
                    <a:pt x="7458456" y="175260"/>
                  </a:lnTo>
                  <a:lnTo>
                    <a:pt x="7901940" y="56896"/>
                  </a:lnTo>
                  <a:lnTo>
                    <a:pt x="7901940" y="0"/>
                  </a:lnTo>
                  <a:close/>
                </a:path>
                <a:path w="11047730" h="175260">
                  <a:moveTo>
                    <a:pt x="8426196" y="0"/>
                  </a:moveTo>
                  <a:lnTo>
                    <a:pt x="7981188" y="118364"/>
                  </a:lnTo>
                  <a:lnTo>
                    <a:pt x="7981188" y="175260"/>
                  </a:lnTo>
                  <a:lnTo>
                    <a:pt x="8426196" y="56896"/>
                  </a:lnTo>
                  <a:lnTo>
                    <a:pt x="8426196" y="0"/>
                  </a:lnTo>
                  <a:close/>
                </a:path>
                <a:path w="11047730" h="175260">
                  <a:moveTo>
                    <a:pt x="8950452" y="0"/>
                  </a:moveTo>
                  <a:lnTo>
                    <a:pt x="8505444" y="118364"/>
                  </a:lnTo>
                  <a:lnTo>
                    <a:pt x="8505444" y="175260"/>
                  </a:lnTo>
                  <a:lnTo>
                    <a:pt x="8950452" y="56896"/>
                  </a:lnTo>
                  <a:lnTo>
                    <a:pt x="8950452" y="0"/>
                  </a:lnTo>
                  <a:close/>
                </a:path>
                <a:path w="11047730" h="175260">
                  <a:moveTo>
                    <a:pt x="9474708" y="0"/>
                  </a:moveTo>
                  <a:lnTo>
                    <a:pt x="9029700" y="118364"/>
                  </a:lnTo>
                  <a:lnTo>
                    <a:pt x="9029700" y="175260"/>
                  </a:lnTo>
                  <a:lnTo>
                    <a:pt x="9474708" y="56896"/>
                  </a:lnTo>
                  <a:lnTo>
                    <a:pt x="9474708" y="0"/>
                  </a:lnTo>
                  <a:close/>
                </a:path>
                <a:path w="11047730" h="175260">
                  <a:moveTo>
                    <a:pt x="9998964" y="0"/>
                  </a:moveTo>
                  <a:lnTo>
                    <a:pt x="9555480" y="118364"/>
                  </a:lnTo>
                  <a:lnTo>
                    <a:pt x="9555480" y="175260"/>
                  </a:lnTo>
                  <a:lnTo>
                    <a:pt x="9998964" y="56896"/>
                  </a:lnTo>
                  <a:lnTo>
                    <a:pt x="9998964" y="0"/>
                  </a:lnTo>
                  <a:close/>
                </a:path>
                <a:path w="11047730" h="175260">
                  <a:moveTo>
                    <a:pt x="10523220" y="0"/>
                  </a:moveTo>
                  <a:lnTo>
                    <a:pt x="10078212" y="118364"/>
                  </a:lnTo>
                  <a:lnTo>
                    <a:pt x="10078212" y="175260"/>
                  </a:lnTo>
                  <a:lnTo>
                    <a:pt x="10523220" y="56896"/>
                  </a:lnTo>
                  <a:lnTo>
                    <a:pt x="10523220" y="0"/>
                  </a:lnTo>
                  <a:close/>
                </a:path>
                <a:path w="11047730" h="175260">
                  <a:moveTo>
                    <a:pt x="11047476" y="0"/>
                  </a:moveTo>
                  <a:lnTo>
                    <a:pt x="10602468" y="118364"/>
                  </a:lnTo>
                  <a:lnTo>
                    <a:pt x="10602468" y="175260"/>
                  </a:lnTo>
                  <a:lnTo>
                    <a:pt x="11047476" y="56896"/>
                  </a:lnTo>
                  <a:lnTo>
                    <a:pt x="11047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7427" y="4489704"/>
              <a:ext cx="11047730" cy="175260"/>
            </a:xfrm>
            <a:custGeom>
              <a:avLst/>
              <a:gdLst/>
              <a:ahLst/>
              <a:cxnLst/>
              <a:rect l="l" t="t" r="r" b="b"/>
              <a:pathLst>
                <a:path w="11047730" h="175260">
                  <a:moveTo>
                    <a:pt x="120396" y="175260"/>
                  </a:moveTo>
                  <a:lnTo>
                    <a:pt x="565404" y="56388"/>
                  </a:lnTo>
                </a:path>
                <a:path w="11047730" h="175260">
                  <a:moveTo>
                    <a:pt x="3788664" y="118872"/>
                  </a:moveTo>
                  <a:lnTo>
                    <a:pt x="4233672" y="0"/>
                  </a:lnTo>
                </a:path>
                <a:path w="11047730" h="175260">
                  <a:moveTo>
                    <a:pt x="1691639" y="175260"/>
                  </a:moveTo>
                  <a:lnTo>
                    <a:pt x="2136648" y="56388"/>
                  </a:lnTo>
                </a:path>
                <a:path w="11047730" h="175260">
                  <a:moveTo>
                    <a:pt x="3265932" y="175260"/>
                  </a:moveTo>
                  <a:lnTo>
                    <a:pt x="3709416" y="56388"/>
                  </a:lnTo>
                </a:path>
                <a:path w="11047730" h="175260">
                  <a:moveTo>
                    <a:pt x="8505444" y="175260"/>
                  </a:moveTo>
                  <a:lnTo>
                    <a:pt x="8950452" y="56388"/>
                  </a:lnTo>
                </a:path>
                <a:path w="11047730" h="175260">
                  <a:moveTo>
                    <a:pt x="7458456" y="175260"/>
                  </a:moveTo>
                  <a:lnTo>
                    <a:pt x="7901940" y="56388"/>
                  </a:lnTo>
                </a:path>
                <a:path w="11047730" h="175260">
                  <a:moveTo>
                    <a:pt x="3788664" y="175260"/>
                  </a:moveTo>
                  <a:lnTo>
                    <a:pt x="4233672" y="56388"/>
                  </a:lnTo>
                </a:path>
                <a:path w="11047730" h="175260">
                  <a:moveTo>
                    <a:pt x="4312920" y="175260"/>
                  </a:moveTo>
                  <a:lnTo>
                    <a:pt x="4757928" y="56388"/>
                  </a:lnTo>
                </a:path>
                <a:path w="11047730" h="175260">
                  <a:moveTo>
                    <a:pt x="5885688" y="118872"/>
                  </a:moveTo>
                  <a:lnTo>
                    <a:pt x="6330696" y="0"/>
                  </a:lnTo>
                </a:path>
                <a:path w="11047730" h="175260">
                  <a:moveTo>
                    <a:pt x="6934200" y="175260"/>
                  </a:moveTo>
                  <a:lnTo>
                    <a:pt x="7379208" y="56388"/>
                  </a:lnTo>
                </a:path>
                <a:path w="11047730" h="175260">
                  <a:moveTo>
                    <a:pt x="644652" y="175260"/>
                  </a:moveTo>
                  <a:lnTo>
                    <a:pt x="1088136" y="56388"/>
                  </a:lnTo>
                </a:path>
                <a:path w="11047730" h="175260">
                  <a:moveTo>
                    <a:pt x="3265932" y="118872"/>
                  </a:moveTo>
                  <a:lnTo>
                    <a:pt x="3709416" y="0"/>
                  </a:lnTo>
                </a:path>
                <a:path w="11047730" h="175260">
                  <a:moveTo>
                    <a:pt x="9555480" y="118872"/>
                  </a:moveTo>
                  <a:lnTo>
                    <a:pt x="9998964" y="0"/>
                  </a:lnTo>
                </a:path>
                <a:path w="11047730" h="175260">
                  <a:moveTo>
                    <a:pt x="1168908" y="118872"/>
                  </a:moveTo>
                  <a:lnTo>
                    <a:pt x="1612392" y="0"/>
                  </a:lnTo>
                </a:path>
                <a:path w="11047730" h="175260">
                  <a:moveTo>
                    <a:pt x="1168908" y="175260"/>
                  </a:moveTo>
                  <a:lnTo>
                    <a:pt x="1612392" y="56388"/>
                  </a:lnTo>
                </a:path>
                <a:path w="11047730" h="175260">
                  <a:moveTo>
                    <a:pt x="1691639" y="118872"/>
                  </a:moveTo>
                  <a:lnTo>
                    <a:pt x="2136648" y="0"/>
                  </a:lnTo>
                </a:path>
                <a:path w="11047730" h="175260">
                  <a:moveTo>
                    <a:pt x="2217420" y="118872"/>
                  </a:moveTo>
                  <a:lnTo>
                    <a:pt x="2662428" y="0"/>
                  </a:lnTo>
                </a:path>
                <a:path w="11047730" h="175260">
                  <a:moveTo>
                    <a:pt x="2217420" y="175260"/>
                  </a:moveTo>
                  <a:lnTo>
                    <a:pt x="2662428" y="56388"/>
                  </a:lnTo>
                </a:path>
                <a:path w="11047730" h="175260">
                  <a:moveTo>
                    <a:pt x="2741676" y="118872"/>
                  </a:moveTo>
                  <a:lnTo>
                    <a:pt x="3186684" y="0"/>
                  </a:lnTo>
                </a:path>
                <a:path w="11047730" h="175260">
                  <a:moveTo>
                    <a:pt x="2741676" y="175260"/>
                  </a:moveTo>
                  <a:lnTo>
                    <a:pt x="3186684" y="56388"/>
                  </a:lnTo>
                </a:path>
                <a:path w="11047730" h="175260">
                  <a:moveTo>
                    <a:pt x="4312920" y="118872"/>
                  </a:moveTo>
                  <a:lnTo>
                    <a:pt x="4757928" y="0"/>
                  </a:lnTo>
                </a:path>
                <a:path w="11047730" h="175260">
                  <a:moveTo>
                    <a:pt x="4837176" y="118872"/>
                  </a:moveTo>
                  <a:lnTo>
                    <a:pt x="5282184" y="0"/>
                  </a:lnTo>
                </a:path>
                <a:path w="11047730" h="175260">
                  <a:moveTo>
                    <a:pt x="4837176" y="175260"/>
                  </a:moveTo>
                  <a:lnTo>
                    <a:pt x="5282184" y="56388"/>
                  </a:lnTo>
                </a:path>
                <a:path w="11047730" h="175260">
                  <a:moveTo>
                    <a:pt x="5361432" y="118872"/>
                  </a:moveTo>
                  <a:lnTo>
                    <a:pt x="5804916" y="0"/>
                  </a:lnTo>
                </a:path>
                <a:path w="11047730" h="175260">
                  <a:moveTo>
                    <a:pt x="5361432" y="175260"/>
                  </a:moveTo>
                  <a:lnTo>
                    <a:pt x="5804916" y="56388"/>
                  </a:lnTo>
                </a:path>
                <a:path w="11047730" h="175260">
                  <a:moveTo>
                    <a:pt x="5885688" y="175260"/>
                  </a:moveTo>
                  <a:lnTo>
                    <a:pt x="6330696" y="56388"/>
                  </a:lnTo>
                </a:path>
                <a:path w="11047730" h="175260">
                  <a:moveTo>
                    <a:pt x="6409944" y="118872"/>
                  </a:moveTo>
                  <a:lnTo>
                    <a:pt x="6854952" y="0"/>
                  </a:lnTo>
                </a:path>
                <a:path w="11047730" h="175260">
                  <a:moveTo>
                    <a:pt x="6409944" y="175260"/>
                  </a:moveTo>
                  <a:lnTo>
                    <a:pt x="6854952" y="56388"/>
                  </a:lnTo>
                </a:path>
                <a:path w="11047730" h="175260">
                  <a:moveTo>
                    <a:pt x="6934200" y="118872"/>
                  </a:moveTo>
                  <a:lnTo>
                    <a:pt x="7379208" y="0"/>
                  </a:lnTo>
                </a:path>
                <a:path w="11047730" h="175260">
                  <a:moveTo>
                    <a:pt x="7458456" y="118872"/>
                  </a:moveTo>
                  <a:lnTo>
                    <a:pt x="7901940" y="0"/>
                  </a:lnTo>
                </a:path>
                <a:path w="11047730" h="175260">
                  <a:moveTo>
                    <a:pt x="7981188" y="118872"/>
                  </a:moveTo>
                  <a:lnTo>
                    <a:pt x="8426196" y="0"/>
                  </a:lnTo>
                </a:path>
                <a:path w="11047730" h="175260">
                  <a:moveTo>
                    <a:pt x="7981188" y="175260"/>
                  </a:moveTo>
                  <a:lnTo>
                    <a:pt x="8426196" y="56388"/>
                  </a:lnTo>
                </a:path>
                <a:path w="11047730" h="175260">
                  <a:moveTo>
                    <a:pt x="8505444" y="118872"/>
                  </a:moveTo>
                  <a:lnTo>
                    <a:pt x="8950452" y="0"/>
                  </a:lnTo>
                </a:path>
                <a:path w="11047730" h="175260">
                  <a:moveTo>
                    <a:pt x="9029700" y="118872"/>
                  </a:moveTo>
                  <a:lnTo>
                    <a:pt x="9474708" y="0"/>
                  </a:lnTo>
                </a:path>
                <a:path w="11047730" h="175260">
                  <a:moveTo>
                    <a:pt x="644652" y="118872"/>
                  </a:moveTo>
                  <a:lnTo>
                    <a:pt x="1088136" y="0"/>
                  </a:lnTo>
                </a:path>
                <a:path w="11047730" h="175260">
                  <a:moveTo>
                    <a:pt x="9029700" y="175260"/>
                  </a:moveTo>
                  <a:lnTo>
                    <a:pt x="9474708" y="56388"/>
                  </a:lnTo>
                </a:path>
                <a:path w="11047730" h="175260">
                  <a:moveTo>
                    <a:pt x="9555480" y="175260"/>
                  </a:moveTo>
                  <a:lnTo>
                    <a:pt x="9998964" y="56388"/>
                  </a:lnTo>
                </a:path>
                <a:path w="11047730" h="175260">
                  <a:moveTo>
                    <a:pt x="0" y="80772"/>
                  </a:moveTo>
                  <a:lnTo>
                    <a:pt x="161544" y="38100"/>
                  </a:lnTo>
                </a:path>
                <a:path w="11047730" h="175260">
                  <a:moveTo>
                    <a:pt x="0" y="137160"/>
                  </a:moveTo>
                  <a:lnTo>
                    <a:pt x="161544" y="94488"/>
                  </a:lnTo>
                </a:path>
                <a:path w="11047730" h="175260">
                  <a:moveTo>
                    <a:pt x="10078212" y="118872"/>
                  </a:moveTo>
                  <a:lnTo>
                    <a:pt x="10523220" y="0"/>
                  </a:lnTo>
                </a:path>
                <a:path w="11047730" h="175260">
                  <a:moveTo>
                    <a:pt x="10078212" y="175260"/>
                  </a:moveTo>
                  <a:lnTo>
                    <a:pt x="10523220" y="56388"/>
                  </a:lnTo>
                </a:path>
                <a:path w="11047730" h="175260">
                  <a:moveTo>
                    <a:pt x="10602468" y="118872"/>
                  </a:moveTo>
                  <a:lnTo>
                    <a:pt x="11047476" y="0"/>
                  </a:lnTo>
                </a:path>
                <a:path w="11047730" h="175260">
                  <a:moveTo>
                    <a:pt x="10602468" y="175260"/>
                  </a:moveTo>
                  <a:lnTo>
                    <a:pt x="11047476" y="56388"/>
                  </a:lnTo>
                </a:path>
                <a:path w="11047730" h="175260">
                  <a:moveTo>
                    <a:pt x="120396" y="118872"/>
                  </a:moveTo>
                  <a:lnTo>
                    <a:pt x="565404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98245" y="1017269"/>
              <a:ext cx="10485755" cy="2411095"/>
            </a:xfrm>
            <a:custGeom>
              <a:avLst/>
              <a:gdLst/>
              <a:ahLst/>
              <a:cxnLst/>
              <a:rect l="l" t="t" r="r" b="b"/>
              <a:pathLst>
                <a:path w="10485755" h="2411095">
                  <a:moveTo>
                    <a:pt x="5768645" y="2385441"/>
                  </a:moveTo>
                  <a:lnTo>
                    <a:pt x="5691937" y="2325878"/>
                  </a:lnTo>
                  <a:lnTo>
                    <a:pt x="5686272" y="2354173"/>
                  </a:lnTo>
                  <a:lnTo>
                    <a:pt x="5676" y="1218692"/>
                  </a:lnTo>
                  <a:lnTo>
                    <a:pt x="0" y="1247140"/>
                  </a:lnTo>
                  <a:lnTo>
                    <a:pt x="5680583" y="2382596"/>
                  </a:lnTo>
                  <a:lnTo>
                    <a:pt x="5674919" y="2410968"/>
                  </a:lnTo>
                  <a:lnTo>
                    <a:pt x="5768645" y="2385441"/>
                  </a:lnTo>
                  <a:close/>
                </a:path>
                <a:path w="10485755" h="2411095">
                  <a:moveTo>
                    <a:pt x="10485298" y="0"/>
                  </a:moveTo>
                  <a:lnTo>
                    <a:pt x="10388270" y="3429"/>
                  </a:lnTo>
                  <a:lnTo>
                    <a:pt x="10402100" y="28829"/>
                  </a:lnTo>
                  <a:lnTo>
                    <a:pt x="6809664" y="1984375"/>
                  </a:lnTo>
                  <a:lnTo>
                    <a:pt x="6823507" y="2009775"/>
                  </a:lnTo>
                  <a:lnTo>
                    <a:pt x="10416007" y="54330"/>
                  </a:lnTo>
                  <a:lnTo>
                    <a:pt x="10429799" y="79629"/>
                  </a:lnTo>
                  <a:lnTo>
                    <a:pt x="10470070" y="21844"/>
                  </a:lnTo>
                  <a:lnTo>
                    <a:pt x="104852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73176" y="1385798"/>
            <a:ext cx="302895" cy="294068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spc="-25">
                <a:latin typeface="Corbel"/>
                <a:cs typeface="Corbel"/>
              </a:rPr>
              <a:t>290</a:t>
            </a:r>
            <a:endParaRPr sz="1400">
              <a:latin typeface="Corbel"/>
              <a:cs typeface="Corbel"/>
            </a:endParaRPr>
          </a:p>
          <a:p>
            <a:pPr marL="13970">
              <a:lnSpc>
                <a:spcPct val="100000"/>
              </a:lnSpc>
              <a:spcBef>
                <a:spcPts val="869"/>
              </a:spcBef>
            </a:pPr>
            <a:r>
              <a:rPr dirty="0" sz="1400" spc="-25">
                <a:latin typeface="Corbel"/>
                <a:cs typeface="Corbel"/>
              </a:rPr>
              <a:t>280</a:t>
            </a:r>
            <a:endParaRPr sz="1400">
              <a:latin typeface="Corbel"/>
              <a:cs typeface="Corbel"/>
            </a:endParaRPr>
          </a:p>
          <a:p>
            <a:pPr marL="33020">
              <a:lnSpc>
                <a:spcPct val="100000"/>
              </a:lnSpc>
              <a:spcBef>
                <a:spcPts val="869"/>
              </a:spcBef>
            </a:pPr>
            <a:r>
              <a:rPr dirty="0" sz="1400" spc="-25">
                <a:latin typeface="Corbel"/>
                <a:cs typeface="Corbel"/>
              </a:rPr>
              <a:t>270</a:t>
            </a:r>
            <a:endParaRPr sz="14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400" spc="-25">
                <a:latin typeface="Corbel"/>
                <a:cs typeface="Corbel"/>
              </a:rPr>
              <a:t>260</a:t>
            </a:r>
            <a:endParaRPr sz="1400">
              <a:latin typeface="Corbel"/>
              <a:cs typeface="Corbel"/>
            </a:endParaRPr>
          </a:p>
          <a:p>
            <a:pPr marL="27940">
              <a:lnSpc>
                <a:spcPct val="100000"/>
              </a:lnSpc>
              <a:spcBef>
                <a:spcPts val="869"/>
              </a:spcBef>
            </a:pPr>
            <a:r>
              <a:rPr dirty="0" sz="1400" spc="-25">
                <a:latin typeface="Corbel"/>
                <a:cs typeface="Corbel"/>
              </a:rPr>
              <a:t>250</a:t>
            </a:r>
            <a:endParaRPr sz="1400">
              <a:latin typeface="Corbel"/>
              <a:cs typeface="Corbel"/>
            </a:endParaRPr>
          </a:p>
          <a:p>
            <a:pPr marL="13970">
              <a:lnSpc>
                <a:spcPct val="100000"/>
              </a:lnSpc>
              <a:spcBef>
                <a:spcPts val="869"/>
              </a:spcBef>
            </a:pPr>
            <a:r>
              <a:rPr dirty="0" sz="1400" spc="-25">
                <a:latin typeface="Corbel"/>
                <a:cs typeface="Corbel"/>
              </a:rPr>
              <a:t>240</a:t>
            </a:r>
            <a:endParaRPr sz="1400">
              <a:latin typeface="Corbel"/>
              <a:cs typeface="Corbel"/>
            </a:endParaRPr>
          </a:p>
          <a:p>
            <a:pPr marL="29845">
              <a:lnSpc>
                <a:spcPct val="100000"/>
              </a:lnSpc>
              <a:spcBef>
                <a:spcPts val="869"/>
              </a:spcBef>
            </a:pPr>
            <a:r>
              <a:rPr dirty="0" sz="1400" spc="-25">
                <a:latin typeface="Corbel"/>
                <a:cs typeface="Corbel"/>
              </a:rPr>
              <a:t>230</a:t>
            </a:r>
            <a:endParaRPr sz="1400">
              <a:latin typeface="Corbel"/>
              <a:cs typeface="Corbel"/>
            </a:endParaRPr>
          </a:p>
          <a:p>
            <a:pPr marL="25400">
              <a:lnSpc>
                <a:spcPct val="100000"/>
              </a:lnSpc>
              <a:spcBef>
                <a:spcPts val="869"/>
              </a:spcBef>
            </a:pPr>
            <a:r>
              <a:rPr dirty="0" sz="1400" spc="-25">
                <a:latin typeface="Corbel"/>
                <a:cs typeface="Corbel"/>
              </a:rPr>
              <a:t>220</a:t>
            </a:r>
            <a:endParaRPr sz="1400">
              <a:latin typeface="Corbel"/>
              <a:cs typeface="Corbel"/>
            </a:endParaRPr>
          </a:p>
          <a:p>
            <a:pPr marL="26670">
              <a:lnSpc>
                <a:spcPct val="100000"/>
              </a:lnSpc>
              <a:spcBef>
                <a:spcPts val="875"/>
              </a:spcBef>
            </a:pPr>
            <a:r>
              <a:rPr dirty="0" sz="1400" spc="-25">
                <a:latin typeface="Corbel"/>
                <a:cs typeface="Corbel"/>
              </a:rPr>
              <a:t>210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129909" y="3490086"/>
            <a:ext cx="42608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224.5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854943" y="1835657"/>
            <a:ext cx="41211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275.6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985007" y="3425190"/>
            <a:ext cx="4267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226.5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93775" y="2350135"/>
            <a:ext cx="4152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259.7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507104" y="3369309"/>
            <a:ext cx="4305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228.2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370944" y="1589277"/>
            <a:ext cx="4279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283.2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462529" y="3004185"/>
            <a:ext cx="41973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239.5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037457" y="3165805"/>
            <a:ext cx="41783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234.5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614161" y="3464814"/>
            <a:ext cx="4095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225.3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749665" y="2913633"/>
            <a:ext cx="4279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242.3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709661" y="3586988"/>
            <a:ext cx="41338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221.5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927351" y="2670810"/>
            <a:ext cx="4400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249.8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658736" y="3502914"/>
            <a:ext cx="41973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224.1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566284" y="3085338"/>
            <a:ext cx="4083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237.0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278493" y="2611882"/>
            <a:ext cx="4178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251.6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077459" y="3344036"/>
            <a:ext cx="4330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229.0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225790" y="3282188"/>
            <a:ext cx="4254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230.9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187565" y="3521709"/>
            <a:ext cx="4095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223.5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0323068" y="2057781"/>
            <a:ext cx="4254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268.7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409827" y="2468702"/>
            <a:ext cx="42989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256.0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3672649" y="2685097"/>
            <a:ext cx="624205" cy="282575"/>
            <a:chOff x="3672649" y="2685097"/>
            <a:chExt cx="624205" cy="282575"/>
          </a:xfrm>
        </p:grpSpPr>
        <p:sp>
          <p:nvSpPr>
            <p:cNvPr id="36" name="object 36" descr=""/>
            <p:cNvSpPr/>
            <p:nvPr/>
          </p:nvSpPr>
          <p:spPr>
            <a:xfrm>
              <a:off x="3677411" y="2689860"/>
              <a:ext cx="614680" cy="273050"/>
            </a:xfrm>
            <a:custGeom>
              <a:avLst/>
              <a:gdLst/>
              <a:ahLst/>
              <a:cxnLst/>
              <a:rect l="l" t="t" r="r" b="b"/>
              <a:pathLst>
                <a:path w="614679" h="273050">
                  <a:moveTo>
                    <a:pt x="307086" y="0"/>
                  </a:moveTo>
                  <a:lnTo>
                    <a:pt x="245212" y="2771"/>
                  </a:lnTo>
                  <a:lnTo>
                    <a:pt x="187577" y="10721"/>
                  </a:lnTo>
                  <a:lnTo>
                    <a:pt x="135414" y="23299"/>
                  </a:lnTo>
                  <a:lnTo>
                    <a:pt x="89963" y="39957"/>
                  </a:lnTo>
                  <a:lnTo>
                    <a:pt x="52459" y="60145"/>
                  </a:lnTo>
                  <a:lnTo>
                    <a:pt x="6241" y="108914"/>
                  </a:lnTo>
                  <a:lnTo>
                    <a:pt x="0" y="136398"/>
                  </a:lnTo>
                  <a:lnTo>
                    <a:pt x="6241" y="163881"/>
                  </a:lnTo>
                  <a:lnTo>
                    <a:pt x="52459" y="212650"/>
                  </a:lnTo>
                  <a:lnTo>
                    <a:pt x="89963" y="232838"/>
                  </a:lnTo>
                  <a:lnTo>
                    <a:pt x="135414" y="249496"/>
                  </a:lnTo>
                  <a:lnTo>
                    <a:pt x="187577" y="262074"/>
                  </a:lnTo>
                  <a:lnTo>
                    <a:pt x="245212" y="270024"/>
                  </a:lnTo>
                  <a:lnTo>
                    <a:pt x="307086" y="272795"/>
                  </a:lnTo>
                  <a:lnTo>
                    <a:pt x="368959" y="270024"/>
                  </a:lnTo>
                  <a:lnTo>
                    <a:pt x="426594" y="262074"/>
                  </a:lnTo>
                  <a:lnTo>
                    <a:pt x="478757" y="249496"/>
                  </a:lnTo>
                  <a:lnTo>
                    <a:pt x="524208" y="232838"/>
                  </a:lnTo>
                  <a:lnTo>
                    <a:pt x="561712" y="212650"/>
                  </a:lnTo>
                  <a:lnTo>
                    <a:pt x="607930" y="163881"/>
                  </a:lnTo>
                  <a:lnTo>
                    <a:pt x="614172" y="136398"/>
                  </a:lnTo>
                  <a:lnTo>
                    <a:pt x="607930" y="108914"/>
                  </a:lnTo>
                  <a:lnTo>
                    <a:pt x="561712" y="60145"/>
                  </a:lnTo>
                  <a:lnTo>
                    <a:pt x="524208" y="39957"/>
                  </a:lnTo>
                  <a:lnTo>
                    <a:pt x="478757" y="23299"/>
                  </a:lnTo>
                  <a:lnTo>
                    <a:pt x="426594" y="10721"/>
                  </a:lnTo>
                  <a:lnTo>
                    <a:pt x="368959" y="2771"/>
                  </a:lnTo>
                  <a:lnTo>
                    <a:pt x="307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677411" y="2689860"/>
              <a:ext cx="614680" cy="273050"/>
            </a:xfrm>
            <a:custGeom>
              <a:avLst/>
              <a:gdLst/>
              <a:ahLst/>
              <a:cxnLst/>
              <a:rect l="l" t="t" r="r" b="b"/>
              <a:pathLst>
                <a:path w="614679" h="273050">
                  <a:moveTo>
                    <a:pt x="0" y="136398"/>
                  </a:moveTo>
                  <a:lnTo>
                    <a:pt x="24139" y="83313"/>
                  </a:lnTo>
                  <a:lnTo>
                    <a:pt x="89963" y="39957"/>
                  </a:lnTo>
                  <a:lnTo>
                    <a:pt x="135414" y="23299"/>
                  </a:lnTo>
                  <a:lnTo>
                    <a:pt x="187577" y="10721"/>
                  </a:lnTo>
                  <a:lnTo>
                    <a:pt x="245212" y="2771"/>
                  </a:lnTo>
                  <a:lnTo>
                    <a:pt x="307086" y="0"/>
                  </a:lnTo>
                  <a:lnTo>
                    <a:pt x="368959" y="2771"/>
                  </a:lnTo>
                  <a:lnTo>
                    <a:pt x="426594" y="10721"/>
                  </a:lnTo>
                  <a:lnTo>
                    <a:pt x="478757" y="23299"/>
                  </a:lnTo>
                  <a:lnTo>
                    <a:pt x="524208" y="39957"/>
                  </a:lnTo>
                  <a:lnTo>
                    <a:pt x="561712" y="60145"/>
                  </a:lnTo>
                  <a:lnTo>
                    <a:pt x="607930" y="108914"/>
                  </a:lnTo>
                  <a:lnTo>
                    <a:pt x="614172" y="136398"/>
                  </a:lnTo>
                  <a:lnTo>
                    <a:pt x="607930" y="163881"/>
                  </a:lnTo>
                  <a:lnTo>
                    <a:pt x="561712" y="212650"/>
                  </a:lnTo>
                  <a:lnTo>
                    <a:pt x="524208" y="232838"/>
                  </a:lnTo>
                  <a:lnTo>
                    <a:pt x="478757" y="249496"/>
                  </a:lnTo>
                  <a:lnTo>
                    <a:pt x="426594" y="262074"/>
                  </a:lnTo>
                  <a:lnTo>
                    <a:pt x="368959" y="270024"/>
                  </a:lnTo>
                  <a:lnTo>
                    <a:pt x="307086" y="272795"/>
                  </a:lnTo>
                  <a:lnTo>
                    <a:pt x="245212" y="270024"/>
                  </a:lnTo>
                  <a:lnTo>
                    <a:pt x="187577" y="262074"/>
                  </a:lnTo>
                  <a:lnTo>
                    <a:pt x="135414" y="249496"/>
                  </a:lnTo>
                  <a:lnTo>
                    <a:pt x="89963" y="232838"/>
                  </a:lnTo>
                  <a:lnTo>
                    <a:pt x="52459" y="212650"/>
                  </a:lnTo>
                  <a:lnTo>
                    <a:pt x="6241" y="163881"/>
                  </a:lnTo>
                  <a:lnTo>
                    <a:pt x="0" y="13639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3754882" y="2684145"/>
            <a:ext cx="4597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rbel"/>
                <a:cs typeface="Corbel"/>
              </a:rPr>
              <a:t>-</a:t>
            </a:r>
            <a:r>
              <a:rPr dirty="0" sz="1400" spc="-20" b="1">
                <a:latin typeface="Corbel"/>
                <a:cs typeface="Corbel"/>
              </a:rPr>
              <a:t>1.3%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9402889" y="1872805"/>
            <a:ext cx="689610" cy="282575"/>
            <a:chOff x="9402889" y="1872805"/>
            <a:chExt cx="689610" cy="282575"/>
          </a:xfrm>
        </p:grpSpPr>
        <p:sp>
          <p:nvSpPr>
            <p:cNvPr id="40" name="object 40" descr=""/>
            <p:cNvSpPr/>
            <p:nvPr/>
          </p:nvSpPr>
          <p:spPr>
            <a:xfrm>
              <a:off x="9407652" y="1877567"/>
              <a:ext cx="680085" cy="273050"/>
            </a:xfrm>
            <a:custGeom>
              <a:avLst/>
              <a:gdLst/>
              <a:ahLst/>
              <a:cxnLst/>
              <a:rect l="l" t="t" r="r" b="b"/>
              <a:pathLst>
                <a:path w="680084" h="273050">
                  <a:moveTo>
                    <a:pt x="339851" y="0"/>
                  </a:moveTo>
                  <a:lnTo>
                    <a:pt x="271356" y="2771"/>
                  </a:lnTo>
                  <a:lnTo>
                    <a:pt x="207561" y="10721"/>
                  </a:lnTo>
                  <a:lnTo>
                    <a:pt x="149832" y="23299"/>
                  </a:lnTo>
                  <a:lnTo>
                    <a:pt x="99536" y="39957"/>
                  </a:lnTo>
                  <a:lnTo>
                    <a:pt x="58038" y="60145"/>
                  </a:lnTo>
                  <a:lnTo>
                    <a:pt x="26705" y="83313"/>
                  </a:lnTo>
                  <a:lnTo>
                    <a:pt x="0" y="136398"/>
                  </a:lnTo>
                  <a:lnTo>
                    <a:pt x="6904" y="163881"/>
                  </a:lnTo>
                  <a:lnTo>
                    <a:pt x="58038" y="212650"/>
                  </a:lnTo>
                  <a:lnTo>
                    <a:pt x="99536" y="232838"/>
                  </a:lnTo>
                  <a:lnTo>
                    <a:pt x="149832" y="249496"/>
                  </a:lnTo>
                  <a:lnTo>
                    <a:pt x="207561" y="262074"/>
                  </a:lnTo>
                  <a:lnTo>
                    <a:pt x="271356" y="270024"/>
                  </a:lnTo>
                  <a:lnTo>
                    <a:pt x="339851" y="272796"/>
                  </a:lnTo>
                  <a:lnTo>
                    <a:pt x="408347" y="270024"/>
                  </a:lnTo>
                  <a:lnTo>
                    <a:pt x="472142" y="262074"/>
                  </a:lnTo>
                  <a:lnTo>
                    <a:pt x="529871" y="249496"/>
                  </a:lnTo>
                  <a:lnTo>
                    <a:pt x="580167" y="232838"/>
                  </a:lnTo>
                  <a:lnTo>
                    <a:pt x="621665" y="212650"/>
                  </a:lnTo>
                  <a:lnTo>
                    <a:pt x="652998" y="189482"/>
                  </a:lnTo>
                  <a:lnTo>
                    <a:pt x="679703" y="136398"/>
                  </a:lnTo>
                  <a:lnTo>
                    <a:pt x="672799" y="108914"/>
                  </a:lnTo>
                  <a:lnTo>
                    <a:pt x="621665" y="60145"/>
                  </a:lnTo>
                  <a:lnTo>
                    <a:pt x="580167" y="39957"/>
                  </a:lnTo>
                  <a:lnTo>
                    <a:pt x="529871" y="23299"/>
                  </a:lnTo>
                  <a:lnTo>
                    <a:pt x="472142" y="10721"/>
                  </a:lnTo>
                  <a:lnTo>
                    <a:pt x="408347" y="2771"/>
                  </a:lnTo>
                  <a:lnTo>
                    <a:pt x="3398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9407652" y="1877567"/>
              <a:ext cx="680085" cy="273050"/>
            </a:xfrm>
            <a:custGeom>
              <a:avLst/>
              <a:gdLst/>
              <a:ahLst/>
              <a:cxnLst/>
              <a:rect l="l" t="t" r="r" b="b"/>
              <a:pathLst>
                <a:path w="680084" h="273050">
                  <a:moveTo>
                    <a:pt x="0" y="136398"/>
                  </a:moveTo>
                  <a:lnTo>
                    <a:pt x="26705" y="83313"/>
                  </a:lnTo>
                  <a:lnTo>
                    <a:pt x="58038" y="60145"/>
                  </a:lnTo>
                  <a:lnTo>
                    <a:pt x="99536" y="39957"/>
                  </a:lnTo>
                  <a:lnTo>
                    <a:pt x="149832" y="23299"/>
                  </a:lnTo>
                  <a:lnTo>
                    <a:pt x="207561" y="10721"/>
                  </a:lnTo>
                  <a:lnTo>
                    <a:pt x="271356" y="2771"/>
                  </a:lnTo>
                  <a:lnTo>
                    <a:pt x="339851" y="0"/>
                  </a:lnTo>
                  <a:lnTo>
                    <a:pt x="408347" y="2771"/>
                  </a:lnTo>
                  <a:lnTo>
                    <a:pt x="472142" y="10721"/>
                  </a:lnTo>
                  <a:lnTo>
                    <a:pt x="529871" y="23299"/>
                  </a:lnTo>
                  <a:lnTo>
                    <a:pt x="580167" y="39957"/>
                  </a:lnTo>
                  <a:lnTo>
                    <a:pt x="621665" y="60145"/>
                  </a:lnTo>
                  <a:lnTo>
                    <a:pt x="652998" y="83313"/>
                  </a:lnTo>
                  <a:lnTo>
                    <a:pt x="679703" y="136398"/>
                  </a:lnTo>
                  <a:lnTo>
                    <a:pt x="672799" y="163881"/>
                  </a:lnTo>
                  <a:lnTo>
                    <a:pt x="621665" y="212650"/>
                  </a:lnTo>
                  <a:lnTo>
                    <a:pt x="580167" y="232838"/>
                  </a:lnTo>
                  <a:lnTo>
                    <a:pt x="529871" y="249496"/>
                  </a:lnTo>
                  <a:lnTo>
                    <a:pt x="472142" y="262074"/>
                  </a:lnTo>
                  <a:lnTo>
                    <a:pt x="408347" y="270024"/>
                  </a:lnTo>
                  <a:lnTo>
                    <a:pt x="339851" y="272796"/>
                  </a:lnTo>
                  <a:lnTo>
                    <a:pt x="271356" y="270024"/>
                  </a:lnTo>
                  <a:lnTo>
                    <a:pt x="207561" y="262074"/>
                  </a:lnTo>
                  <a:lnTo>
                    <a:pt x="149832" y="249496"/>
                  </a:lnTo>
                  <a:lnTo>
                    <a:pt x="99536" y="232838"/>
                  </a:lnTo>
                  <a:lnTo>
                    <a:pt x="58038" y="212650"/>
                  </a:lnTo>
                  <a:lnTo>
                    <a:pt x="26705" y="189482"/>
                  </a:lnTo>
                  <a:lnTo>
                    <a:pt x="0" y="13639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9495790" y="1752320"/>
            <a:ext cx="728980" cy="69469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400" spc="-10" b="1">
                <a:latin typeface="Corbel"/>
                <a:cs typeface="Corbel"/>
              </a:rPr>
              <a:t>+3.6%</a:t>
            </a:r>
            <a:endParaRPr sz="1400">
              <a:latin typeface="Corbel"/>
              <a:cs typeface="Corbel"/>
            </a:endParaRPr>
          </a:p>
          <a:p>
            <a:pPr marL="312420">
              <a:lnSpc>
                <a:spcPct val="100000"/>
              </a:lnSpc>
              <a:spcBef>
                <a:spcPts val="955"/>
              </a:spcBef>
            </a:pPr>
            <a:r>
              <a:rPr dirty="0" sz="1400" spc="-20">
                <a:latin typeface="Corbel"/>
                <a:cs typeface="Corbel"/>
              </a:rPr>
              <a:t>264.1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91413" y="5317616"/>
            <a:ext cx="11126470" cy="917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0209">
              <a:lnSpc>
                <a:spcPts val="1595"/>
              </a:lnSpc>
              <a:spcBef>
                <a:spcPts val="100"/>
              </a:spcBef>
              <a:tabLst>
                <a:tab pos="939800" algn="l"/>
                <a:tab pos="1464310" algn="l"/>
                <a:tab pos="1981835" algn="l"/>
                <a:tab pos="2512060" algn="l"/>
                <a:tab pos="3031490" algn="l"/>
                <a:tab pos="3561715" algn="l"/>
                <a:tab pos="4079240" algn="l"/>
                <a:tab pos="4608195" algn="l"/>
                <a:tab pos="5126990" algn="l"/>
                <a:tab pos="5657215" algn="l"/>
                <a:tab pos="6176645" algn="l"/>
                <a:tab pos="6705600" algn="l"/>
                <a:tab pos="7224395" algn="l"/>
                <a:tab pos="7754620" algn="l"/>
                <a:tab pos="8272145" algn="l"/>
                <a:tab pos="8803005" algn="l"/>
                <a:tab pos="9320530" algn="l"/>
                <a:tab pos="9852025" algn="l"/>
                <a:tab pos="10369550" algn="l"/>
                <a:tab pos="10898505" algn="l"/>
              </a:tabLst>
            </a:pPr>
            <a:r>
              <a:rPr dirty="0" sz="1400" spc="-25">
                <a:latin typeface="Corbel"/>
                <a:cs typeface="Corbel"/>
              </a:rPr>
              <a:t>Q4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Q1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Q1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Q2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Q3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Q4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Q1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Q2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Q3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Q4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Q1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Q2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Q3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Q4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Q1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Q2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Q3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Q4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Q1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Q2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Q3</a:t>
            </a:r>
            <a:endParaRPr sz="1400">
              <a:latin typeface="Corbel"/>
              <a:cs typeface="Corbel"/>
            </a:endParaRPr>
          </a:p>
          <a:p>
            <a:pPr marL="393700">
              <a:lnSpc>
                <a:spcPts val="1595"/>
              </a:lnSpc>
              <a:tabLst>
                <a:tab pos="862330" algn="l"/>
                <a:tab pos="1437005" algn="l"/>
                <a:tab pos="1960880" algn="l"/>
                <a:tab pos="2486660" algn="l"/>
                <a:tab pos="3010535" algn="l"/>
                <a:tab pos="3529965" algn="l"/>
                <a:tab pos="4053204" algn="l"/>
                <a:tab pos="4577715" algn="l"/>
                <a:tab pos="5102860" algn="l"/>
                <a:tab pos="5636260" algn="l"/>
                <a:tab pos="6161405" algn="l"/>
                <a:tab pos="6685280" algn="l"/>
                <a:tab pos="7209155" algn="l"/>
                <a:tab pos="7724140" algn="l"/>
                <a:tab pos="8248015" algn="l"/>
                <a:tab pos="8772525" algn="l"/>
                <a:tab pos="9295765" algn="l"/>
                <a:tab pos="9820275" algn="l"/>
                <a:tab pos="10343515" algn="l"/>
                <a:tab pos="10868025" algn="l"/>
              </a:tabLst>
            </a:pPr>
            <a:r>
              <a:rPr dirty="0" sz="1400" spc="-25">
                <a:latin typeface="Corbel"/>
                <a:cs typeface="Corbel"/>
              </a:rPr>
              <a:t>’13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0">
                <a:latin typeface="Corbel"/>
                <a:cs typeface="Corbel"/>
              </a:rPr>
              <a:t>’14*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’15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’15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’15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’15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’16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’16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’16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’16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’17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’17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’17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’17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’18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’18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’18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’18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’19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’19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5">
                <a:latin typeface="Corbel"/>
                <a:cs typeface="Corbel"/>
              </a:rPr>
              <a:t>’19</a:t>
            </a:r>
            <a:endParaRPr sz="1400">
              <a:latin typeface="Corbel"/>
              <a:cs typeface="Corbel"/>
            </a:endParaRPr>
          </a:p>
          <a:p>
            <a:pPr marL="88265">
              <a:lnSpc>
                <a:spcPct val="100000"/>
              </a:lnSpc>
              <a:spcBef>
                <a:spcPts val="375"/>
              </a:spcBef>
            </a:pPr>
            <a:r>
              <a:rPr dirty="0" sz="1050">
                <a:latin typeface="Corbel"/>
                <a:cs typeface="Corbel"/>
              </a:rPr>
              <a:t>Company</a:t>
            </a:r>
            <a:r>
              <a:rPr dirty="0" sz="1050" spc="-10">
                <a:latin typeface="Corbel"/>
                <a:cs typeface="Corbel"/>
              </a:rPr>
              <a:t> </a:t>
            </a:r>
            <a:r>
              <a:rPr dirty="0" sz="1050">
                <a:latin typeface="Corbel"/>
                <a:cs typeface="Corbel"/>
              </a:rPr>
              <a:t>Revenue</a:t>
            </a:r>
            <a:r>
              <a:rPr dirty="0" sz="1050" spc="-30">
                <a:latin typeface="Corbel"/>
                <a:cs typeface="Corbel"/>
              </a:rPr>
              <a:t> </a:t>
            </a:r>
            <a:r>
              <a:rPr dirty="0" sz="1050">
                <a:latin typeface="Corbel"/>
                <a:cs typeface="Corbel"/>
              </a:rPr>
              <a:t>in</a:t>
            </a:r>
            <a:r>
              <a:rPr dirty="0" sz="1050" spc="-15">
                <a:latin typeface="Corbel"/>
                <a:cs typeface="Corbel"/>
              </a:rPr>
              <a:t> </a:t>
            </a:r>
            <a:r>
              <a:rPr dirty="0" sz="1050">
                <a:latin typeface="Corbel"/>
                <a:cs typeface="Corbel"/>
              </a:rPr>
              <a:t>USD</a:t>
            </a:r>
            <a:r>
              <a:rPr dirty="0" sz="1050" spc="-20">
                <a:latin typeface="Corbel"/>
                <a:cs typeface="Corbel"/>
              </a:rPr>
              <a:t> </a:t>
            </a:r>
            <a:r>
              <a:rPr dirty="0" sz="1050">
                <a:latin typeface="Corbel"/>
                <a:cs typeface="Corbel"/>
              </a:rPr>
              <a:t>$M</a:t>
            </a:r>
            <a:r>
              <a:rPr dirty="0" sz="1050" spc="-10">
                <a:latin typeface="Corbel"/>
                <a:cs typeface="Corbel"/>
              </a:rPr>
              <a:t> (gross)</a:t>
            </a:r>
            <a:endParaRPr sz="105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000">
                <a:solidFill>
                  <a:srgbClr val="585858"/>
                </a:solidFill>
                <a:latin typeface="Corbel"/>
                <a:cs typeface="Corbel"/>
              </a:rPr>
              <a:t>*</a:t>
            </a:r>
            <a:r>
              <a:rPr dirty="0" sz="1000" spc="-35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dirty="0" sz="1000">
                <a:solidFill>
                  <a:srgbClr val="585858"/>
                </a:solidFill>
                <a:latin typeface="Corbel"/>
                <a:cs typeface="Corbel"/>
              </a:rPr>
              <a:t>Transition</a:t>
            </a:r>
            <a:r>
              <a:rPr dirty="0" sz="1000" spc="-15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dirty="0" sz="1000">
                <a:solidFill>
                  <a:srgbClr val="585858"/>
                </a:solidFill>
                <a:latin typeface="Corbel"/>
                <a:cs typeface="Corbel"/>
              </a:rPr>
              <a:t>Year</a:t>
            </a:r>
            <a:r>
              <a:rPr dirty="0" sz="1000" spc="-20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dirty="0" sz="1000">
                <a:solidFill>
                  <a:srgbClr val="585858"/>
                </a:solidFill>
                <a:latin typeface="Corbel"/>
                <a:cs typeface="Corbel"/>
              </a:rPr>
              <a:t>5</a:t>
            </a:r>
            <a:r>
              <a:rPr dirty="0" sz="1000" spc="-35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dirty="0" sz="1000">
                <a:solidFill>
                  <a:srgbClr val="585858"/>
                </a:solidFill>
                <a:latin typeface="Corbel"/>
                <a:cs typeface="Corbel"/>
              </a:rPr>
              <a:t>months</a:t>
            </a:r>
            <a:r>
              <a:rPr dirty="0" sz="1000" spc="-15">
                <a:solidFill>
                  <a:srgbClr val="585858"/>
                </a:solidFill>
                <a:latin typeface="Corbel"/>
                <a:cs typeface="Corbel"/>
              </a:rPr>
              <a:t> </a:t>
            </a:r>
            <a:r>
              <a:rPr dirty="0" sz="1000" spc="-20">
                <a:solidFill>
                  <a:srgbClr val="585858"/>
                </a:solidFill>
                <a:latin typeface="Corbel"/>
                <a:cs typeface="Corbel"/>
              </a:rPr>
              <a:t>adj.</a:t>
            </a:r>
            <a:endParaRPr sz="1000">
              <a:latin typeface="Corbel"/>
              <a:cs typeface="Corbel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7648956" y="1219200"/>
            <a:ext cx="0" cy="4744720"/>
          </a:xfrm>
          <a:custGeom>
            <a:avLst/>
            <a:gdLst/>
            <a:ahLst/>
            <a:cxnLst/>
            <a:rect l="l" t="t" r="r" b="b"/>
            <a:pathLst>
              <a:path w="0" h="4744720">
                <a:moveTo>
                  <a:pt x="0" y="0"/>
                </a:moveTo>
                <a:lnTo>
                  <a:pt x="0" y="4744110"/>
                </a:lnTo>
              </a:path>
            </a:pathLst>
          </a:custGeom>
          <a:ln w="9144">
            <a:solidFill>
              <a:srgbClr val="B51E6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46" name="object 4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4904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 </a:t>
            </a:r>
            <a:r>
              <a:rPr dirty="0" spc="-10"/>
              <a:t>Performance</a:t>
            </a:r>
            <a:r>
              <a:rPr dirty="0" spc="-45"/>
              <a:t> </a:t>
            </a:r>
            <a:r>
              <a:rPr dirty="0" spc="-10"/>
              <a:t>Highlight</a:t>
            </a:r>
            <a:r>
              <a:rPr dirty="0" u="none" spc="-10"/>
              <a:t>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096000" y="1203960"/>
            <a:ext cx="0" cy="4380865"/>
          </a:xfrm>
          <a:custGeom>
            <a:avLst/>
            <a:gdLst/>
            <a:ahLst/>
            <a:cxnLst/>
            <a:rect l="l" t="t" r="r" b="b"/>
            <a:pathLst>
              <a:path w="0" h="4380865">
                <a:moveTo>
                  <a:pt x="0" y="0"/>
                </a:moveTo>
                <a:lnTo>
                  <a:pt x="0" y="4380357"/>
                </a:lnTo>
              </a:path>
            </a:pathLst>
          </a:custGeom>
          <a:ln w="9144">
            <a:solidFill>
              <a:srgbClr val="B51E6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262115" y="1086611"/>
            <a:ext cx="5092065" cy="363220"/>
            <a:chOff x="6262115" y="1086611"/>
            <a:chExt cx="5092065" cy="36322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6499" y="1112519"/>
              <a:ext cx="5042915" cy="336803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262115" y="1086611"/>
              <a:ext cx="5092065" cy="337185"/>
            </a:xfrm>
            <a:custGeom>
              <a:avLst/>
              <a:gdLst/>
              <a:ahLst/>
              <a:cxnLst/>
              <a:rect l="l" t="t" r="r" b="b"/>
              <a:pathLst>
                <a:path w="5092065" h="337184">
                  <a:moveTo>
                    <a:pt x="5091684" y="0"/>
                  </a:moveTo>
                  <a:lnTo>
                    <a:pt x="0" y="0"/>
                  </a:lnTo>
                  <a:lnTo>
                    <a:pt x="0" y="336803"/>
                  </a:lnTo>
                  <a:lnTo>
                    <a:pt x="5091684" y="336803"/>
                  </a:lnTo>
                  <a:lnTo>
                    <a:pt x="5091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271639" y="1127886"/>
            <a:ext cx="30734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Consistent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track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record</a:t>
            </a:r>
            <a:r>
              <a:rPr dirty="0" sz="16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growth</a:t>
            </a:r>
            <a:r>
              <a:rPr dirty="0" baseline="26455" sz="1575" spc="-15" b="1">
                <a:solidFill>
                  <a:srgbClr val="2A2F3B"/>
                </a:solidFill>
                <a:latin typeface="Corbel"/>
                <a:cs typeface="Corbel"/>
              </a:rPr>
              <a:t>3</a:t>
            </a:r>
            <a:endParaRPr baseline="26455" sz="1575">
              <a:latin typeface="Corbel"/>
              <a:cs typeface="Corbe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25423" y="1088136"/>
            <a:ext cx="4874260" cy="353695"/>
            <a:chOff x="725423" y="1088136"/>
            <a:chExt cx="4874260" cy="35369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283" y="1114044"/>
              <a:ext cx="4828032" cy="32766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725423" y="1088136"/>
              <a:ext cx="4874260" cy="327660"/>
            </a:xfrm>
            <a:custGeom>
              <a:avLst/>
              <a:gdLst/>
              <a:ahLst/>
              <a:cxnLst/>
              <a:rect l="l" t="t" r="r" b="b"/>
              <a:pathLst>
                <a:path w="4874260" h="327659">
                  <a:moveTo>
                    <a:pt x="4873752" y="0"/>
                  </a:moveTo>
                  <a:lnTo>
                    <a:pt x="0" y="0"/>
                  </a:lnTo>
                  <a:lnTo>
                    <a:pt x="0" y="327660"/>
                  </a:lnTo>
                  <a:lnTo>
                    <a:pt x="4873752" y="327660"/>
                  </a:lnTo>
                  <a:lnTo>
                    <a:pt x="4873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148204" y="1120597"/>
            <a:ext cx="20275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Performance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vs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Index</a:t>
            </a:r>
            <a:r>
              <a:rPr dirty="0" baseline="26455" sz="1575" spc="-15" b="1">
                <a:solidFill>
                  <a:srgbClr val="2A2F3B"/>
                </a:solidFill>
                <a:latin typeface="Corbel"/>
                <a:cs typeface="Corbel"/>
              </a:rPr>
              <a:t>1</a:t>
            </a:r>
            <a:endParaRPr baseline="26455" sz="1575">
              <a:latin typeface="Corbel"/>
              <a:cs typeface="Corbe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315711" y="3102864"/>
            <a:ext cx="579120" cy="315595"/>
          </a:xfrm>
          <a:custGeom>
            <a:avLst/>
            <a:gdLst/>
            <a:ahLst/>
            <a:cxnLst/>
            <a:rect l="l" t="t" r="r" b="b"/>
            <a:pathLst>
              <a:path w="579120" h="315595">
                <a:moveTo>
                  <a:pt x="289560" y="0"/>
                </a:moveTo>
                <a:lnTo>
                  <a:pt x="231211" y="3204"/>
                </a:lnTo>
                <a:lnTo>
                  <a:pt x="176861" y="12394"/>
                </a:lnTo>
                <a:lnTo>
                  <a:pt x="127675" y="26936"/>
                </a:lnTo>
                <a:lnTo>
                  <a:pt x="84820" y="46196"/>
                </a:lnTo>
                <a:lnTo>
                  <a:pt x="49459" y="69539"/>
                </a:lnTo>
                <a:lnTo>
                  <a:pt x="5883" y="125942"/>
                </a:lnTo>
                <a:lnTo>
                  <a:pt x="0" y="157734"/>
                </a:lnTo>
                <a:lnTo>
                  <a:pt x="5883" y="189525"/>
                </a:lnTo>
                <a:lnTo>
                  <a:pt x="49459" y="245928"/>
                </a:lnTo>
                <a:lnTo>
                  <a:pt x="84820" y="269271"/>
                </a:lnTo>
                <a:lnTo>
                  <a:pt x="127675" y="288531"/>
                </a:lnTo>
                <a:lnTo>
                  <a:pt x="176861" y="303073"/>
                </a:lnTo>
                <a:lnTo>
                  <a:pt x="231211" y="312263"/>
                </a:lnTo>
                <a:lnTo>
                  <a:pt x="289560" y="315468"/>
                </a:lnTo>
                <a:lnTo>
                  <a:pt x="347908" y="312263"/>
                </a:lnTo>
                <a:lnTo>
                  <a:pt x="402258" y="303073"/>
                </a:lnTo>
                <a:lnTo>
                  <a:pt x="451444" y="288531"/>
                </a:lnTo>
                <a:lnTo>
                  <a:pt x="494299" y="269271"/>
                </a:lnTo>
                <a:lnTo>
                  <a:pt x="529660" y="245928"/>
                </a:lnTo>
                <a:lnTo>
                  <a:pt x="573236" y="189525"/>
                </a:lnTo>
                <a:lnTo>
                  <a:pt x="579120" y="157734"/>
                </a:lnTo>
                <a:lnTo>
                  <a:pt x="573236" y="125942"/>
                </a:lnTo>
                <a:lnTo>
                  <a:pt x="529660" y="69539"/>
                </a:lnTo>
                <a:lnTo>
                  <a:pt x="494299" y="46196"/>
                </a:lnTo>
                <a:lnTo>
                  <a:pt x="451444" y="26936"/>
                </a:lnTo>
                <a:lnTo>
                  <a:pt x="402258" y="12394"/>
                </a:lnTo>
                <a:lnTo>
                  <a:pt x="347908" y="3204"/>
                </a:lnTo>
                <a:lnTo>
                  <a:pt x="289560" y="0"/>
                </a:lnTo>
                <a:close/>
              </a:path>
            </a:pathLst>
          </a:custGeom>
          <a:solidFill>
            <a:srgbClr val="A2116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344159" y="3147516"/>
            <a:ext cx="5226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 i="1">
                <a:solidFill>
                  <a:srgbClr val="FFFFFF"/>
                </a:solidFill>
                <a:latin typeface="Corbel"/>
                <a:cs typeface="Corbel"/>
              </a:rPr>
              <a:t>+42.8%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276088" y="3544823"/>
            <a:ext cx="591820" cy="327660"/>
            <a:chOff x="5276088" y="3544823"/>
            <a:chExt cx="591820" cy="327660"/>
          </a:xfrm>
        </p:grpSpPr>
        <p:sp>
          <p:nvSpPr>
            <p:cNvPr id="15" name="object 15" descr=""/>
            <p:cNvSpPr/>
            <p:nvPr/>
          </p:nvSpPr>
          <p:spPr>
            <a:xfrm>
              <a:off x="5282184" y="3550919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289560" y="0"/>
                  </a:moveTo>
                  <a:lnTo>
                    <a:pt x="231211" y="3204"/>
                  </a:lnTo>
                  <a:lnTo>
                    <a:pt x="176861" y="12394"/>
                  </a:lnTo>
                  <a:lnTo>
                    <a:pt x="127675" y="26936"/>
                  </a:lnTo>
                  <a:lnTo>
                    <a:pt x="84820" y="46196"/>
                  </a:lnTo>
                  <a:lnTo>
                    <a:pt x="49459" y="69539"/>
                  </a:lnTo>
                  <a:lnTo>
                    <a:pt x="5883" y="125942"/>
                  </a:lnTo>
                  <a:lnTo>
                    <a:pt x="0" y="157733"/>
                  </a:lnTo>
                  <a:lnTo>
                    <a:pt x="5883" y="189525"/>
                  </a:lnTo>
                  <a:lnTo>
                    <a:pt x="49459" y="245928"/>
                  </a:lnTo>
                  <a:lnTo>
                    <a:pt x="84820" y="269271"/>
                  </a:lnTo>
                  <a:lnTo>
                    <a:pt x="127675" y="288531"/>
                  </a:lnTo>
                  <a:lnTo>
                    <a:pt x="176861" y="303073"/>
                  </a:lnTo>
                  <a:lnTo>
                    <a:pt x="231211" y="312263"/>
                  </a:lnTo>
                  <a:lnTo>
                    <a:pt x="289560" y="315467"/>
                  </a:lnTo>
                  <a:lnTo>
                    <a:pt x="347908" y="312263"/>
                  </a:lnTo>
                  <a:lnTo>
                    <a:pt x="402258" y="303073"/>
                  </a:lnTo>
                  <a:lnTo>
                    <a:pt x="451444" y="288531"/>
                  </a:lnTo>
                  <a:lnTo>
                    <a:pt x="494299" y="269271"/>
                  </a:lnTo>
                  <a:lnTo>
                    <a:pt x="529660" y="245928"/>
                  </a:lnTo>
                  <a:lnTo>
                    <a:pt x="573236" y="189525"/>
                  </a:lnTo>
                  <a:lnTo>
                    <a:pt x="579119" y="157733"/>
                  </a:lnTo>
                  <a:lnTo>
                    <a:pt x="573236" y="125942"/>
                  </a:lnTo>
                  <a:lnTo>
                    <a:pt x="529660" y="69539"/>
                  </a:lnTo>
                  <a:lnTo>
                    <a:pt x="494299" y="46196"/>
                  </a:lnTo>
                  <a:lnTo>
                    <a:pt x="451444" y="26936"/>
                  </a:lnTo>
                  <a:lnTo>
                    <a:pt x="402258" y="12394"/>
                  </a:lnTo>
                  <a:lnTo>
                    <a:pt x="347908" y="3204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282184" y="3550919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0" y="157733"/>
                  </a:moveTo>
                  <a:lnTo>
                    <a:pt x="22758" y="96333"/>
                  </a:lnTo>
                  <a:lnTo>
                    <a:pt x="84820" y="46196"/>
                  </a:lnTo>
                  <a:lnTo>
                    <a:pt x="127675" y="26936"/>
                  </a:lnTo>
                  <a:lnTo>
                    <a:pt x="176861" y="12394"/>
                  </a:lnTo>
                  <a:lnTo>
                    <a:pt x="231211" y="3204"/>
                  </a:lnTo>
                  <a:lnTo>
                    <a:pt x="289560" y="0"/>
                  </a:lnTo>
                  <a:lnTo>
                    <a:pt x="347908" y="3204"/>
                  </a:lnTo>
                  <a:lnTo>
                    <a:pt x="402258" y="12394"/>
                  </a:lnTo>
                  <a:lnTo>
                    <a:pt x="451444" y="26936"/>
                  </a:lnTo>
                  <a:lnTo>
                    <a:pt x="494299" y="46196"/>
                  </a:lnTo>
                  <a:lnTo>
                    <a:pt x="529660" y="69539"/>
                  </a:lnTo>
                  <a:lnTo>
                    <a:pt x="573236" y="125942"/>
                  </a:lnTo>
                  <a:lnTo>
                    <a:pt x="579119" y="157733"/>
                  </a:lnTo>
                  <a:lnTo>
                    <a:pt x="573236" y="189525"/>
                  </a:lnTo>
                  <a:lnTo>
                    <a:pt x="529660" y="245928"/>
                  </a:lnTo>
                  <a:lnTo>
                    <a:pt x="494299" y="269271"/>
                  </a:lnTo>
                  <a:lnTo>
                    <a:pt x="451444" y="288531"/>
                  </a:lnTo>
                  <a:lnTo>
                    <a:pt x="402258" y="303073"/>
                  </a:lnTo>
                  <a:lnTo>
                    <a:pt x="347908" y="312263"/>
                  </a:lnTo>
                  <a:lnTo>
                    <a:pt x="289560" y="315467"/>
                  </a:lnTo>
                  <a:lnTo>
                    <a:pt x="231211" y="312263"/>
                  </a:lnTo>
                  <a:lnTo>
                    <a:pt x="176861" y="303073"/>
                  </a:lnTo>
                  <a:lnTo>
                    <a:pt x="127675" y="288531"/>
                  </a:lnTo>
                  <a:lnTo>
                    <a:pt x="84820" y="269271"/>
                  </a:lnTo>
                  <a:lnTo>
                    <a:pt x="49459" y="245928"/>
                  </a:lnTo>
                  <a:lnTo>
                    <a:pt x="5883" y="189525"/>
                  </a:lnTo>
                  <a:lnTo>
                    <a:pt x="0" y="157733"/>
                  </a:lnTo>
                  <a:close/>
                </a:path>
              </a:pathLst>
            </a:custGeom>
            <a:ln w="12191">
              <a:solidFill>
                <a:srgbClr val="9FB4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315458" y="3596132"/>
            <a:ext cx="5137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 i="1">
                <a:solidFill>
                  <a:srgbClr val="FFFFFF"/>
                </a:solidFill>
                <a:latin typeface="Corbel"/>
                <a:cs typeface="Corbel"/>
              </a:rPr>
              <a:t>+23.8%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268467" y="4067555"/>
            <a:ext cx="591820" cy="327660"/>
            <a:chOff x="5268467" y="4067555"/>
            <a:chExt cx="591820" cy="327660"/>
          </a:xfrm>
        </p:grpSpPr>
        <p:sp>
          <p:nvSpPr>
            <p:cNvPr id="19" name="object 19" descr=""/>
            <p:cNvSpPr/>
            <p:nvPr/>
          </p:nvSpPr>
          <p:spPr>
            <a:xfrm>
              <a:off x="5274563" y="4073651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289560" y="0"/>
                  </a:moveTo>
                  <a:lnTo>
                    <a:pt x="231211" y="3204"/>
                  </a:lnTo>
                  <a:lnTo>
                    <a:pt x="176861" y="12394"/>
                  </a:lnTo>
                  <a:lnTo>
                    <a:pt x="127675" y="26936"/>
                  </a:lnTo>
                  <a:lnTo>
                    <a:pt x="84820" y="46196"/>
                  </a:lnTo>
                  <a:lnTo>
                    <a:pt x="49459" y="69539"/>
                  </a:lnTo>
                  <a:lnTo>
                    <a:pt x="5883" y="125942"/>
                  </a:lnTo>
                  <a:lnTo>
                    <a:pt x="0" y="157734"/>
                  </a:lnTo>
                  <a:lnTo>
                    <a:pt x="5883" y="189525"/>
                  </a:lnTo>
                  <a:lnTo>
                    <a:pt x="49459" y="245928"/>
                  </a:lnTo>
                  <a:lnTo>
                    <a:pt x="84820" y="269271"/>
                  </a:lnTo>
                  <a:lnTo>
                    <a:pt x="127675" y="288531"/>
                  </a:lnTo>
                  <a:lnTo>
                    <a:pt x="176861" y="303073"/>
                  </a:lnTo>
                  <a:lnTo>
                    <a:pt x="231211" y="312263"/>
                  </a:lnTo>
                  <a:lnTo>
                    <a:pt x="289560" y="315468"/>
                  </a:lnTo>
                  <a:lnTo>
                    <a:pt x="347908" y="312263"/>
                  </a:lnTo>
                  <a:lnTo>
                    <a:pt x="402258" y="303073"/>
                  </a:lnTo>
                  <a:lnTo>
                    <a:pt x="451444" y="288531"/>
                  </a:lnTo>
                  <a:lnTo>
                    <a:pt x="494299" y="269271"/>
                  </a:lnTo>
                  <a:lnTo>
                    <a:pt x="529660" y="245928"/>
                  </a:lnTo>
                  <a:lnTo>
                    <a:pt x="573236" y="189525"/>
                  </a:lnTo>
                  <a:lnTo>
                    <a:pt x="579120" y="157734"/>
                  </a:lnTo>
                  <a:lnTo>
                    <a:pt x="573236" y="125942"/>
                  </a:lnTo>
                  <a:lnTo>
                    <a:pt x="529660" y="69539"/>
                  </a:lnTo>
                  <a:lnTo>
                    <a:pt x="494299" y="46196"/>
                  </a:lnTo>
                  <a:lnTo>
                    <a:pt x="451444" y="26936"/>
                  </a:lnTo>
                  <a:lnTo>
                    <a:pt x="402258" y="12394"/>
                  </a:lnTo>
                  <a:lnTo>
                    <a:pt x="347908" y="3204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274563" y="4073651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0" y="157734"/>
                  </a:moveTo>
                  <a:lnTo>
                    <a:pt x="22758" y="96333"/>
                  </a:lnTo>
                  <a:lnTo>
                    <a:pt x="84820" y="46196"/>
                  </a:lnTo>
                  <a:lnTo>
                    <a:pt x="127675" y="26936"/>
                  </a:lnTo>
                  <a:lnTo>
                    <a:pt x="176861" y="12394"/>
                  </a:lnTo>
                  <a:lnTo>
                    <a:pt x="231211" y="3204"/>
                  </a:lnTo>
                  <a:lnTo>
                    <a:pt x="289560" y="0"/>
                  </a:lnTo>
                  <a:lnTo>
                    <a:pt x="347908" y="3204"/>
                  </a:lnTo>
                  <a:lnTo>
                    <a:pt x="402258" y="12394"/>
                  </a:lnTo>
                  <a:lnTo>
                    <a:pt x="451444" y="26936"/>
                  </a:lnTo>
                  <a:lnTo>
                    <a:pt x="494299" y="46196"/>
                  </a:lnTo>
                  <a:lnTo>
                    <a:pt x="529660" y="69539"/>
                  </a:lnTo>
                  <a:lnTo>
                    <a:pt x="573236" y="125942"/>
                  </a:lnTo>
                  <a:lnTo>
                    <a:pt x="579120" y="157734"/>
                  </a:lnTo>
                  <a:lnTo>
                    <a:pt x="573236" y="189525"/>
                  </a:lnTo>
                  <a:lnTo>
                    <a:pt x="529660" y="245928"/>
                  </a:lnTo>
                  <a:lnTo>
                    <a:pt x="494299" y="269271"/>
                  </a:lnTo>
                  <a:lnTo>
                    <a:pt x="451444" y="288531"/>
                  </a:lnTo>
                  <a:lnTo>
                    <a:pt x="402258" y="303073"/>
                  </a:lnTo>
                  <a:lnTo>
                    <a:pt x="347908" y="312263"/>
                  </a:lnTo>
                  <a:lnTo>
                    <a:pt x="289560" y="315468"/>
                  </a:lnTo>
                  <a:lnTo>
                    <a:pt x="231211" y="312263"/>
                  </a:lnTo>
                  <a:lnTo>
                    <a:pt x="176861" y="303073"/>
                  </a:lnTo>
                  <a:lnTo>
                    <a:pt x="127675" y="288531"/>
                  </a:lnTo>
                  <a:lnTo>
                    <a:pt x="84820" y="269271"/>
                  </a:lnTo>
                  <a:lnTo>
                    <a:pt x="49459" y="245928"/>
                  </a:lnTo>
                  <a:lnTo>
                    <a:pt x="5883" y="189525"/>
                  </a:lnTo>
                  <a:lnTo>
                    <a:pt x="0" y="157734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5350509" y="4118864"/>
            <a:ext cx="429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 i="1">
                <a:solidFill>
                  <a:srgbClr val="FFFFFF"/>
                </a:solidFill>
                <a:latin typeface="Corbel"/>
                <a:cs typeface="Corbel"/>
              </a:rPr>
              <a:t>+3.2%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47852" y="5880303"/>
            <a:ext cx="27997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41605" algn="l"/>
              </a:tabLst>
            </a:pP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Indexed</a:t>
            </a:r>
            <a:r>
              <a:rPr dirty="0" sz="1000" spc="-3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to 100</a:t>
            </a:r>
            <a:r>
              <a:rPr dirty="0" sz="1000" spc="-2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- As</a:t>
            </a:r>
            <a:r>
              <a:rPr dirty="0" sz="1000" spc="-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000" spc="-1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spc="-10" i="1">
                <a:solidFill>
                  <a:srgbClr val="2A2F3B"/>
                </a:solidFill>
                <a:latin typeface="Corbel"/>
                <a:cs typeface="Corbel"/>
              </a:rPr>
              <a:t>12/29/2017</a:t>
            </a:r>
            <a:endParaRPr sz="1000">
              <a:latin typeface="Corbel"/>
              <a:cs typeface="Corbel"/>
            </a:endParaRPr>
          </a:p>
          <a:p>
            <a:pPr marL="141605" indent="-128905">
              <a:lnSpc>
                <a:spcPct val="100000"/>
              </a:lnSpc>
              <a:buAutoNum type="arabicPeriod"/>
              <a:tabLst>
                <a:tab pos="141605" algn="l"/>
              </a:tabLst>
            </a:pP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Includes</a:t>
            </a:r>
            <a:r>
              <a:rPr dirty="0" sz="1000" spc="-2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Dividend</a:t>
            </a:r>
            <a:r>
              <a:rPr dirty="0" sz="1000" spc="-4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000" spc="-1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Share</a:t>
            </a:r>
            <a:r>
              <a:rPr dirty="0" sz="1000" spc="-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splits;</a:t>
            </a:r>
            <a:r>
              <a:rPr dirty="0" sz="1000" spc="-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As</a:t>
            </a:r>
            <a:r>
              <a:rPr dirty="0" sz="1000" spc="-2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000" spc="16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spc="-10" i="1">
                <a:solidFill>
                  <a:srgbClr val="2A2F3B"/>
                </a:solidFill>
                <a:latin typeface="Corbel"/>
                <a:cs typeface="Corbel"/>
              </a:rPr>
              <a:t>12/31/2018</a:t>
            </a:r>
            <a:endParaRPr sz="1000">
              <a:latin typeface="Corbel"/>
              <a:cs typeface="Corbe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18997" y="1535048"/>
            <a:ext cx="25184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A2F3B"/>
                </a:solidFill>
                <a:latin typeface="Corbel"/>
                <a:cs typeface="Corbel"/>
              </a:rPr>
              <a:t>Total</a:t>
            </a:r>
            <a:r>
              <a:rPr dirty="0" sz="9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>
                <a:solidFill>
                  <a:srgbClr val="2A2F3B"/>
                </a:solidFill>
                <a:latin typeface="Corbel"/>
                <a:cs typeface="Corbel"/>
              </a:rPr>
              <a:t>Returns</a:t>
            </a:r>
            <a:r>
              <a:rPr dirty="0" sz="900" spc="-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>
                <a:solidFill>
                  <a:srgbClr val="2A2F3B"/>
                </a:solidFill>
                <a:latin typeface="Corbel"/>
                <a:cs typeface="Corbel"/>
              </a:rPr>
              <a:t>to</a:t>
            </a:r>
            <a:r>
              <a:rPr dirty="0" sz="9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 spc="-10">
                <a:solidFill>
                  <a:srgbClr val="2A2F3B"/>
                </a:solidFill>
                <a:latin typeface="Corbel"/>
                <a:cs typeface="Corbel"/>
              </a:rPr>
              <a:t>Shareholders</a:t>
            </a:r>
            <a:r>
              <a:rPr dirty="0" sz="900">
                <a:solidFill>
                  <a:srgbClr val="2A2F3B"/>
                </a:solidFill>
                <a:latin typeface="Corbel"/>
                <a:cs typeface="Corbel"/>
              </a:rPr>
              <a:t> in</a:t>
            </a:r>
            <a:r>
              <a:rPr dirty="0" sz="9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>
                <a:solidFill>
                  <a:srgbClr val="2A2F3B"/>
                </a:solidFill>
                <a:latin typeface="Corbel"/>
                <a:cs typeface="Corbel"/>
              </a:rPr>
              <a:t>last</a:t>
            </a:r>
            <a:r>
              <a:rPr dirty="0" sz="900" spc="-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>
                <a:solidFill>
                  <a:srgbClr val="2A2F3B"/>
                </a:solidFill>
                <a:latin typeface="Corbel"/>
                <a:cs typeface="Corbel"/>
              </a:rPr>
              <a:t>12</a:t>
            </a:r>
            <a:r>
              <a:rPr dirty="0" sz="900" spc="-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>
                <a:solidFill>
                  <a:srgbClr val="2A2F3B"/>
                </a:solidFill>
                <a:latin typeface="Corbel"/>
                <a:cs typeface="Corbel"/>
              </a:rPr>
              <a:t>months</a:t>
            </a:r>
            <a:r>
              <a:rPr dirty="0" sz="9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900" spc="-20" i="1">
                <a:solidFill>
                  <a:srgbClr val="2A2F3B"/>
                </a:solidFill>
                <a:latin typeface="Corbel"/>
                <a:cs typeface="Corbel"/>
              </a:rPr>
              <a:t>(%)</a:t>
            </a:r>
            <a:r>
              <a:rPr dirty="0" baseline="27777" sz="900" spc="-30" i="1">
                <a:solidFill>
                  <a:srgbClr val="2A2F3B"/>
                </a:solidFill>
                <a:latin typeface="Corbel"/>
                <a:cs typeface="Corbel"/>
              </a:rPr>
              <a:t>2</a:t>
            </a:r>
            <a:endParaRPr baseline="27777" sz="900">
              <a:latin typeface="Corbel"/>
              <a:cs typeface="Corbe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392926" y="6025083"/>
            <a:ext cx="16179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3.</a:t>
            </a:r>
            <a:r>
              <a:rPr dirty="0" sz="1000" spc="-2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Overall</a:t>
            </a:r>
            <a:r>
              <a:rPr dirty="0" sz="1000" spc="-2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Gross revenue</a:t>
            </a:r>
            <a:r>
              <a:rPr dirty="0" sz="1000" spc="-3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–</a:t>
            </a:r>
            <a:r>
              <a:rPr dirty="0" sz="1000" spc="-1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i="1">
                <a:solidFill>
                  <a:srgbClr val="2A2F3B"/>
                </a:solidFill>
                <a:latin typeface="Corbel"/>
                <a:cs typeface="Corbel"/>
              </a:rPr>
              <a:t>$</a:t>
            </a:r>
            <a:r>
              <a:rPr dirty="0" sz="1000" spc="-2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000" spc="-25" i="1">
                <a:solidFill>
                  <a:srgbClr val="2A2F3B"/>
                </a:solidFill>
                <a:latin typeface="Corbel"/>
                <a:cs typeface="Corbel"/>
              </a:rPr>
              <a:t>Mn</a:t>
            </a:r>
            <a:endParaRPr sz="1000">
              <a:latin typeface="Corbel"/>
              <a:cs typeface="Corbe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7310628" y="4931664"/>
            <a:ext cx="591820" cy="327660"/>
            <a:chOff x="7310628" y="4931664"/>
            <a:chExt cx="591820" cy="327660"/>
          </a:xfrm>
        </p:grpSpPr>
        <p:sp>
          <p:nvSpPr>
            <p:cNvPr id="26" name="object 26" descr=""/>
            <p:cNvSpPr/>
            <p:nvPr/>
          </p:nvSpPr>
          <p:spPr>
            <a:xfrm>
              <a:off x="7316724" y="4937760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289559" y="0"/>
                  </a:moveTo>
                  <a:lnTo>
                    <a:pt x="231211" y="3204"/>
                  </a:lnTo>
                  <a:lnTo>
                    <a:pt x="176861" y="12394"/>
                  </a:lnTo>
                  <a:lnTo>
                    <a:pt x="127675" y="26936"/>
                  </a:lnTo>
                  <a:lnTo>
                    <a:pt x="84820" y="46196"/>
                  </a:lnTo>
                  <a:lnTo>
                    <a:pt x="49459" y="69539"/>
                  </a:lnTo>
                  <a:lnTo>
                    <a:pt x="5883" y="125942"/>
                  </a:lnTo>
                  <a:lnTo>
                    <a:pt x="0" y="157733"/>
                  </a:lnTo>
                  <a:lnTo>
                    <a:pt x="5883" y="189525"/>
                  </a:lnTo>
                  <a:lnTo>
                    <a:pt x="49459" y="245928"/>
                  </a:lnTo>
                  <a:lnTo>
                    <a:pt x="84820" y="269271"/>
                  </a:lnTo>
                  <a:lnTo>
                    <a:pt x="127675" y="288531"/>
                  </a:lnTo>
                  <a:lnTo>
                    <a:pt x="176861" y="303073"/>
                  </a:lnTo>
                  <a:lnTo>
                    <a:pt x="231211" y="312263"/>
                  </a:lnTo>
                  <a:lnTo>
                    <a:pt x="289559" y="315467"/>
                  </a:lnTo>
                  <a:lnTo>
                    <a:pt x="347908" y="312263"/>
                  </a:lnTo>
                  <a:lnTo>
                    <a:pt x="402258" y="303073"/>
                  </a:lnTo>
                  <a:lnTo>
                    <a:pt x="451444" y="288531"/>
                  </a:lnTo>
                  <a:lnTo>
                    <a:pt x="494299" y="269271"/>
                  </a:lnTo>
                  <a:lnTo>
                    <a:pt x="529660" y="245928"/>
                  </a:lnTo>
                  <a:lnTo>
                    <a:pt x="573236" y="189525"/>
                  </a:lnTo>
                  <a:lnTo>
                    <a:pt x="579120" y="157733"/>
                  </a:lnTo>
                  <a:lnTo>
                    <a:pt x="573236" y="125942"/>
                  </a:lnTo>
                  <a:lnTo>
                    <a:pt x="529660" y="69539"/>
                  </a:lnTo>
                  <a:lnTo>
                    <a:pt x="494299" y="46196"/>
                  </a:lnTo>
                  <a:lnTo>
                    <a:pt x="451444" y="26936"/>
                  </a:lnTo>
                  <a:lnTo>
                    <a:pt x="402258" y="12394"/>
                  </a:lnTo>
                  <a:lnTo>
                    <a:pt x="347908" y="3204"/>
                  </a:lnTo>
                  <a:lnTo>
                    <a:pt x="289559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316724" y="4937760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0" y="157733"/>
                  </a:moveTo>
                  <a:lnTo>
                    <a:pt x="22758" y="96333"/>
                  </a:lnTo>
                  <a:lnTo>
                    <a:pt x="84820" y="46196"/>
                  </a:lnTo>
                  <a:lnTo>
                    <a:pt x="127675" y="26936"/>
                  </a:lnTo>
                  <a:lnTo>
                    <a:pt x="176861" y="12394"/>
                  </a:lnTo>
                  <a:lnTo>
                    <a:pt x="231211" y="3204"/>
                  </a:lnTo>
                  <a:lnTo>
                    <a:pt x="289559" y="0"/>
                  </a:lnTo>
                  <a:lnTo>
                    <a:pt x="347908" y="3204"/>
                  </a:lnTo>
                  <a:lnTo>
                    <a:pt x="402258" y="12394"/>
                  </a:lnTo>
                  <a:lnTo>
                    <a:pt x="451444" y="26936"/>
                  </a:lnTo>
                  <a:lnTo>
                    <a:pt x="494299" y="46196"/>
                  </a:lnTo>
                  <a:lnTo>
                    <a:pt x="529660" y="69539"/>
                  </a:lnTo>
                  <a:lnTo>
                    <a:pt x="573236" y="125942"/>
                  </a:lnTo>
                  <a:lnTo>
                    <a:pt x="579120" y="157733"/>
                  </a:lnTo>
                  <a:lnTo>
                    <a:pt x="573236" y="189525"/>
                  </a:lnTo>
                  <a:lnTo>
                    <a:pt x="529660" y="245928"/>
                  </a:lnTo>
                  <a:lnTo>
                    <a:pt x="494299" y="269271"/>
                  </a:lnTo>
                  <a:lnTo>
                    <a:pt x="451444" y="288531"/>
                  </a:lnTo>
                  <a:lnTo>
                    <a:pt x="402258" y="303073"/>
                  </a:lnTo>
                  <a:lnTo>
                    <a:pt x="347908" y="312263"/>
                  </a:lnTo>
                  <a:lnTo>
                    <a:pt x="289559" y="315467"/>
                  </a:lnTo>
                  <a:lnTo>
                    <a:pt x="231211" y="312263"/>
                  </a:lnTo>
                  <a:lnTo>
                    <a:pt x="176861" y="303073"/>
                  </a:lnTo>
                  <a:lnTo>
                    <a:pt x="127675" y="288531"/>
                  </a:lnTo>
                  <a:lnTo>
                    <a:pt x="84820" y="269271"/>
                  </a:lnTo>
                  <a:lnTo>
                    <a:pt x="49459" y="245928"/>
                  </a:lnTo>
                  <a:lnTo>
                    <a:pt x="5883" y="189525"/>
                  </a:lnTo>
                  <a:lnTo>
                    <a:pt x="0" y="157733"/>
                  </a:lnTo>
                  <a:close/>
                </a:path>
              </a:pathLst>
            </a:custGeom>
            <a:ln w="12192">
              <a:solidFill>
                <a:srgbClr val="9FB4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349743" y="4983607"/>
            <a:ext cx="516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 i="1">
                <a:solidFill>
                  <a:srgbClr val="FFFFFF"/>
                </a:solidFill>
                <a:latin typeface="Corbel"/>
                <a:cs typeface="Corbel"/>
              </a:rPr>
              <a:t>+19.2%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8392668" y="4931664"/>
            <a:ext cx="591820" cy="327660"/>
            <a:chOff x="8392668" y="4931664"/>
            <a:chExt cx="591820" cy="327660"/>
          </a:xfrm>
        </p:grpSpPr>
        <p:sp>
          <p:nvSpPr>
            <p:cNvPr id="30" name="object 30" descr=""/>
            <p:cNvSpPr/>
            <p:nvPr/>
          </p:nvSpPr>
          <p:spPr>
            <a:xfrm>
              <a:off x="8398764" y="4937760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289559" y="0"/>
                  </a:moveTo>
                  <a:lnTo>
                    <a:pt x="231211" y="3204"/>
                  </a:lnTo>
                  <a:lnTo>
                    <a:pt x="176861" y="12394"/>
                  </a:lnTo>
                  <a:lnTo>
                    <a:pt x="127675" y="26936"/>
                  </a:lnTo>
                  <a:lnTo>
                    <a:pt x="84820" y="46196"/>
                  </a:lnTo>
                  <a:lnTo>
                    <a:pt x="49459" y="69539"/>
                  </a:lnTo>
                  <a:lnTo>
                    <a:pt x="5883" y="125942"/>
                  </a:lnTo>
                  <a:lnTo>
                    <a:pt x="0" y="157733"/>
                  </a:lnTo>
                  <a:lnTo>
                    <a:pt x="5883" y="189525"/>
                  </a:lnTo>
                  <a:lnTo>
                    <a:pt x="49459" y="245928"/>
                  </a:lnTo>
                  <a:lnTo>
                    <a:pt x="84820" y="269271"/>
                  </a:lnTo>
                  <a:lnTo>
                    <a:pt x="127675" y="288531"/>
                  </a:lnTo>
                  <a:lnTo>
                    <a:pt x="176861" y="303073"/>
                  </a:lnTo>
                  <a:lnTo>
                    <a:pt x="231211" y="312263"/>
                  </a:lnTo>
                  <a:lnTo>
                    <a:pt x="289559" y="315467"/>
                  </a:lnTo>
                  <a:lnTo>
                    <a:pt x="347908" y="312263"/>
                  </a:lnTo>
                  <a:lnTo>
                    <a:pt x="402258" y="303073"/>
                  </a:lnTo>
                  <a:lnTo>
                    <a:pt x="451444" y="288531"/>
                  </a:lnTo>
                  <a:lnTo>
                    <a:pt x="494299" y="269271"/>
                  </a:lnTo>
                  <a:lnTo>
                    <a:pt x="529660" y="245928"/>
                  </a:lnTo>
                  <a:lnTo>
                    <a:pt x="573236" y="189525"/>
                  </a:lnTo>
                  <a:lnTo>
                    <a:pt x="579119" y="157733"/>
                  </a:lnTo>
                  <a:lnTo>
                    <a:pt x="573236" y="125942"/>
                  </a:lnTo>
                  <a:lnTo>
                    <a:pt x="529660" y="69539"/>
                  </a:lnTo>
                  <a:lnTo>
                    <a:pt x="494299" y="46196"/>
                  </a:lnTo>
                  <a:lnTo>
                    <a:pt x="451444" y="26936"/>
                  </a:lnTo>
                  <a:lnTo>
                    <a:pt x="402258" y="12394"/>
                  </a:lnTo>
                  <a:lnTo>
                    <a:pt x="347908" y="3204"/>
                  </a:lnTo>
                  <a:lnTo>
                    <a:pt x="289559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398764" y="4937760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0" y="157733"/>
                  </a:moveTo>
                  <a:lnTo>
                    <a:pt x="22758" y="96333"/>
                  </a:lnTo>
                  <a:lnTo>
                    <a:pt x="84820" y="46196"/>
                  </a:lnTo>
                  <a:lnTo>
                    <a:pt x="127675" y="26936"/>
                  </a:lnTo>
                  <a:lnTo>
                    <a:pt x="176861" y="12394"/>
                  </a:lnTo>
                  <a:lnTo>
                    <a:pt x="231211" y="3204"/>
                  </a:lnTo>
                  <a:lnTo>
                    <a:pt x="289559" y="0"/>
                  </a:lnTo>
                  <a:lnTo>
                    <a:pt x="347908" y="3204"/>
                  </a:lnTo>
                  <a:lnTo>
                    <a:pt x="402258" y="12394"/>
                  </a:lnTo>
                  <a:lnTo>
                    <a:pt x="451444" y="26936"/>
                  </a:lnTo>
                  <a:lnTo>
                    <a:pt x="494299" y="46196"/>
                  </a:lnTo>
                  <a:lnTo>
                    <a:pt x="529660" y="69539"/>
                  </a:lnTo>
                  <a:lnTo>
                    <a:pt x="573236" y="125942"/>
                  </a:lnTo>
                  <a:lnTo>
                    <a:pt x="579119" y="157733"/>
                  </a:lnTo>
                  <a:lnTo>
                    <a:pt x="573236" y="189525"/>
                  </a:lnTo>
                  <a:lnTo>
                    <a:pt x="529660" y="245928"/>
                  </a:lnTo>
                  <a:lnTo>
                    <a:pt x="494299" y="269271"/>
                  </a:lnTo>
                  <a:lnTo>
                    <a:pt x="451444" y="288531"/>
                  </a:lnTo>
                  <a:lnTo>
                    <a:pt x="402258" y="303073"/>
                  </a:lnTo>
                  <a:lnTo>
                    <a:pt x="347908" y="312263"/>
                  </a:lnTo>
                  <a:lnTo>
                    <a:pt x="289559" y="315467"/>
                  </a:lnTo>
                  <a:lnTo>
                    <a:pt x="231211" y="312263"/>
                  </a:lnTo>
                  <a:lnTo>
                    <a:pt x="176861" y="303073"/>
                  </a:lnTo>
                  <a:lnTo>
                    <a:pt x="127675" y="288531"/>
                  </a:lnTo>
                  <a:lnTo>
                    <a:pt x="84820" y="269271"/>
                  </a:lnTo>
                  <a:lnTo>
                    <a:pt x="49459" y="245928"/>
                  </a:lnTo>
                  <a:lnTo>
                    <a:pt x="5883" y="189525"/>
                  </a:lnTo>
                  <a:lnTo>
                    <a:pt x="0" y="157733"/>
                  </a:lnTo>
                  <a:close/>
                </a:path>
              </a:pathLst>
            </a:custGeom>
            <a:ln w="12192">
              <a:solidFill>
                <a:srgbClr val="9FB4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8430894" y="4983607"/>
            <a:ext cx="5187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 i="1">
                <a:solidFill>
                  <a:srgbClr val="FFFFFF"/>
                </a:solidFill>
                <a:latin typeface="Corbel"/>
                <a:cs typeface="Corbel"/>
              </a:rPr>
              <a:t>+16.4%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9459468" y="4931664"/>
            <a:ext cx="591820" cy="327660"/>
            <a:chOff x="9459468" y="4931664"/>
            <a:chExt cx="591820" cy="327660"/>
          </a:xfrm>
        </p:grpSpPr>
        <p:sp>
          <p:nvSpPr>
            <p:cNvPr id="34" name="object 34" descr=""/>
            <p:cNvSpPr/>
            <p:nvPr/>
          </p:nvSpPr>
          <p:spPr>
            <a:xfrm>
              <a:off x="9465564" y="4937760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289559" y="0"/>
                  </a:moveTo>
                  <a:lnTo>
                    <a:pt x="231211" y="3204"/>
                  </a:lnTo>
                  <a:lnTo>
                    <a:pt x="176861" y="12394"/>
                  </a:lnTo>
                  <a:lnTo>
                    <a:pt x="127675" y="26936"/>
                  </a:lnTo>
                  <a:lnTo>
                    <a:pt x="84820" y="46196"/>
                  </a:lnTo>
                  <a:lnTo>
                    <a:pt x="49459" y="69539"/>
                  </a:lnTo>
                  <a:lnTo>
                    <a:pt x="5883" y="125942"/>
                  </a:lnTo>
                  <a:lnTo>
                    <a:pt x="0" y="157733"/>
                  </a:lnTo>
                  <a:lnTo>
                    <a:pt x="5883" y="189525"/>
                  </a:lnTo>
                  <a:lnTo>
                    <a:pt x="49459" y="245928"/>
                  </a:lnTo>
                  <a:lnTo>
                    <a:pt x="84820" y="269271"/>
                  </a:lnTo>
                  <a:lnTo>
                    <a:pt x="127675" y="288531"/>
                  </a:lnTo>
                  <a:lnTo>
                    <a:pt x="176861" y="303073"/>
                  </a:lnTo>
                  <a:lnTo>
                    <a:pt x="231211" y="312263"/>
                  </a:lnTo>
                  <a:lnTo>
                    <a:pt x="289559" y="315467"/>
                  </a:lnTo>
                  <a:lnTo>
                    <a:pt x="347908" y="312263"/>
                  </a:lnTo>
                  <a:lnTo>
                    <a:pt x="402258" y="303073"/>
                  </a:lnTo>
                  <a:lnTo>
                    <a:pt x="451444" y="288531"/>
                  </a:lnTo>
                  <a:lnTo>
                    <a:pt x="494299" y="269271"/>
                  </a:lnTo>
                  <a:lnTo>
                    <a:pt x="529660" y="245928"/>
                  </a:lnTo>
                  <a:lnTo>
                    <a:pt x="573236" y="189525"/>
                  </a:lnTo>
                  <a:lnTo>
                    <a:pt x="579119" y="157733"/>
                  </a:lnTo>
                  <a:lnTo>
                    <a:pt x="573236" y="125942"/>
                  </a:lnTo>
                  <a:lnTo>
                    <a:pt x="529660" y="69539"/>
                  </a:lnTo>
                  <a:lnTo>
                    <a:pt x="494299" y="46196"/>
                  </a:lnTo>
                  <a:lnTo>
                    <a:pt x="451444" y="26936"/>
                  </a:lnTo>
                  <a:lnTo>
                    <a:pt x="402258" y="12394"/>
                  </a:lnTo>
                  <a:lnTo>
                    <a:pt x="347908" y="3204"/>
                  </a:lnTo>
                  <a:lnTo>
                    <a:pt x="289559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465564" y="4937760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0" y="157733"/>
                  </a:moveTo>
                  <a:lnTo>
                    <a:pt x="22758" y="96333"/>
                  </a:lnTo>
                  <a:lnTo>
                    <a:pt x="84820" y="46196"/>
                  </a:lnTo>
                  <a:lnTo>
                    <a:pt x="127675" y="26936"/>
                  </a:lnTo>
                  <a:lnTo>
                    <a:pt x="176861" y="12394"/>
                  </a:lnTo>
                  <a:lnTo>
                    <a:pt x="231211" y="3204"/>
                  </a:lnTo>
                  <a:lnTo>
                    <a:pt x="289559" y="0"/>
                  </a:lnTo>
                  <a:lnTo>
                    <a:pt x="347908" y="3204"/>
                  </a:lnTo>
                  <a:lnTo>
                    <a:pt x="402258" y="12394"/>
                  </a:lnTo>
                  <a:lnTo>
                    <a:pt x="451444" y="26936"/>
                  </a:lnTo>
                  <a:lnTo>
                    <a:pt x="494299" y="46196"/>
                  </a:lnTo>
                  <a:lnTo>
                    <a:pt x="529660" y="69539"/>
                  </a:lnTo>
                  <a:lnTo>
                    <a:pt x="573236" y="125942"/>
                  </a:lnTo>
                  <a:lnTo>
                    <a:pt x="579119" y="157733"/>
                  </a:lnTo>
                  <a:lnTo>
                    <a:pt x="573236" y="189525"/>
                  </a:lnTo>
                  <a:lnTo>
                    <a:pt x="529660" y="245928"/>
                  </a:lnTo>
                  <a:lnTo>
                    <a:pt x="494299" y="269271"/>
                  </a:lnTo>
                  <a:lnTo>
                    <a:pt x="451444" y="288531"/>
                  </a:lnTo>
                  <a:lnTo>
                    <a:pt x="402258" y="303073"/>
                  </a:lnTo>
                  <a:lnTo>
                    <a:pt x="347908" y="312263"/>
                  </a:lnTo>
                  <a:lnTo>
                    <a:pt x="289559" y="315467"/>
                  </a:lnTo>
                  <a:lnTo>
                    <a:pt x="231211" y="312263"/>
                  </a:lnTo>
                  <a:lnTo>
                    <a:pt x="176861" y="303073"/>
                  </a:lnTo>
                  <a:lnTo>
                    <a:pt x="127675" y="288531"/>
                  </a:lnTo>
                  <a:lnTo>
                    <a:pt x="84820" y="269271"/>
                  </a:lnTo>
                  <a:lnTo>
                    <a:pt x="49459" y="245928"/>
                  </a:lnTo>
                  <a:lnTo>
                    <a:pt x="5883" y="189525"/>
                  </a:lnTo>
                  <a:lnTo>
                    <a:pt x="0" y="157733"/>
                  </a:lnTo>
                  <a:close/>
                </a:path>
              </a:pathLst>
            </a:custGeom>
            <a:ln w="12192">
              <a:solidFill>
                <a:srgbClr val="9FB4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9508363" y="4983607"/>
            <a:ext cx="4959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 i="1">
                <a:solidFill>
                  <a:srgbClr val="FFFFFF"/>
                </a:solidFill>
                <a:latin typeface="Corbel"/>
                <a:cs typeface="Corbel"/>
              </a:rPr>
              <a:t>+13.7%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10526268" y="4931664"/>
            <a:ext cx="591820" cy="327660"/>
            <a:chOff x="10526268" y="4931664"/>
            <a:chExt cx="591820" cy="327660"/>
          </a:xfrm>
        </p:grpSpPr>
        <p:sp>
          <p:nvSpPr>
            <p:cNvPr id="38" name="object 38" descr=""/>
            <p:cNvSpPr/>
            <p:nvPr/>
          </p:nvSpPr>
          <p:spPr>
            <a:xfrm>
              <a:off x="10532364" y="4937760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289559" y="0"/>
                  </a:moveTo>
                  <a:lnTo>
                    <a:pt x="231211" y="3204"/>
                  </a:lnTo>
                  <a:lnTo>
                    <a:pt x="176861" y="12394"/>
                  </a:lnTo>
                  <a:lnTo>
                    <a:pt x="127675" y="26936"/>
                  </a:lnTo>
                  <a:lnTo>
                    <a:pt x="84820" y="46196"/>
                  </a:lnTo>
                  <a:lnTo>
                    <a:pt x="49459" y="69539"/>
                  </a:lnTo>
                  <a:lnTo>
                    <a:pt x="5883" y="125942"/>
                  </a:lnTo>
                  <a:lnTo>
                    <a:pt x="0" y="157733"/>
                  </a:lnTo>
                  <a:lnTo>
                    <a:pt x="5883" y="189525"/>
                  </a:lnTo>
                  <a:lnTo>
                    <a:pt x="49459" y="245928"/>
                  </a:lnTo>
                  <a:lnTo>
                    <a:pt x="84820" y="269271"/>
                  </a:lnTo>
                  <a:lnTo>
                    <a:pt x="127675" y="288531"/>
                  </a:lnTo>
                  <a:lnTo>
                    <a:pt x="176861" y="303073"/>
                  </a:lnTo>
                  <a:lnTo>
                    <a:pt x="231211" y="312263"/>
                  </a:lnTo>
                  <a:lnTo>
                    <a:pt x="289559" y="315467"/>
                  </a:lnTo>
                  <a:lnTo>
                    <a:pt x="347908" y="312263"/>
                  </a:lnTo>
                  <a:lnTo>
                    <a:pt x="402258" y="303073"/>
                  </a:lnTo>
                  <a:lnTo>
                    <a:pt x="451444" y="288531"/>
                  </a:lnTo>
                  <a:lnTo>
                    <a:pt x="494299" y="269271"/>
                  </a:lnTo>
                  <a:lnTo>
                    <a:pt x="529660" y="245928"/>
                  </a:lnTo>
                  <a:lnTo>
                    <a:pt x="573236" y="189525"/>
                  </a:lnTo>
                  <a:lnTo>
                    <a:pt x="579119" y="157733"/>
                  </a:lnTo>
                  <a:lnTo>
                    <a:pt x="573236" y="125942"/>
                  </a:lnTo>
                  <a:lnTo>
                    <a:pt x="529660" y="69539"/>
                  </a:lnTo>
                  <a:lnTo>
                    <a:pt x="494299" y="46196"/>
                  </a:lnTo>
                  <a:lnTo>
                    <a:pt x="451444" y="26936"/>
                  </a:lnTo>
                  <a:lnTo>
                    <a:pt x="402258" y="12394"/>
                  </a:lnTo>
                  <a:lnTo>
                    <a:pt x="347908" y="3204"/>
                  </a:lnTo>
                  <a:lnTo>
                    <a:pt x="289559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0532364" y="4937760"/>
              <a:ext cx="579120" cy="315595"/>
            </a:xfrm>
            <a:custGeom>
              <a:avLst/>
              <a:gdLst/>
              <a:ahLst/>
              <a:cxnLst/>
              <a:rect l="l" t="t" r="r" b="b"/>
              <a:pathLst>
                <a:path w="579120" h="315595">
                  <a:moveTo>
                    <a:pt x="0" y="157733"/>
                  </a:moveTo>
                  <a:lnTo>
                    <a:pt x="22758" y="96333"/>
                  </a:lnTo>
                  <a:lnTo>
                    <a:pt x="84820" y="46196"/>
                  </a:lnTo>
                  <a:lnTo>
                    <a:pt x="127675" y="26936"/>
                  </a:lnTo>
                  <a:lnTo>
                    <a:pt x="176861" y="12394"/>
                  </a:lnTo>
                  <a:lnTo>
                    <a:pt x="231211" y="3204"/>
                  </a:lnTo>
                  <a:lnTo>
                    <a:pt x="289559" y="0"/>
                  </a:lnTo>
                  <a:lnTo>
                    <a:pt x="347908" y="3204"/>
                  </a:lnTo>
                  <a:lnTo>
                    <a:pt x="402258" y="12394"/>
                  </a:lnTo>
                  <a:lnTo>
                    <a:pt x="451444" y="26936"/>
                  </a:lnTo>
                  <a:lnTo>
                    <a:pt x="494299" y="46196"/>
                  </a:lnTo>
                  <a:lnTo>
                    <a:pt x="529660" y="69539"/>
                  </a:lnTo>
                  <a:lnTo>
                    <a:pt x="573236" y="125942"/>
                  </a:lnTo>
                  <a:lnTo>
                    <a:pt x="579119" y="157733"/>
                  </a:lnTo>
                  <a:lnTo>
                    <a:pt x="573236" y="189525"/>
                  </a:lnTo>
                  <a:lnTo>
                    <a:pt x="529660" y="245928"/>
                  </a:lnTo>
                  <a:lnTo>
                    <a:pt x="494299" y="269271"/>
                  </a:lnTo>
                  <a:lnTo>
                    <a:pt x="451444" y="288531"/>
                  </a:lnTo>
                  <a:lnTo>
                    <a:pt x="402258" y="303073"/>
                  </a:lnTo>
                  <a:lnTo>
                    <a:pt x="347908" y="312263"/>
                  </a:lnTo>
                  <a:lnTo>
                    <a:pt x="289559" y="315467"/>
                  </a:lnTo>
                  <a:lnTo>
                    <a:pt x="231211" y="312263"/>
                  </a:lnTo>
                  <a:lnTo>
                    <a:pt x="176861" y="303073"/>
                  </a:lnTo>
                  <a:lnTo>
                    <a:pt x="127675" y="288531"/>
                  </a:lnTo>
                  <a:lnTo>
                    <a:pt x="84820" y="269271"/>
                  </a:lnTo>
                  <a:lnTo>
                    <a:pt x="49459" y="245928"/>
                  </a:lnTo>
                  <a:lnTo>
                    <a:pt x="5883" y="189525"/>
                  </a:lnTo>
                  <a:lnTo>
                    <a:pt x="0" y="157733"/>
                  </a:lnTo>
                  <a:close/>
                </a:path>
              </a:pathLst>
            </a:custGeom>
            <a:ln w="12192">
              <a:solidFill>
                <a:srgbClr val="9FB4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0572368" y="4983607"/>
            <a:ext cx="502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 i="1">
                <a:solidFill>
                  <a:srgbClr val="FFFFFF"/>
                </a:solidFill>
                <a:latin typeface="Corbel"/>
                <a:cs typeface="Corbel"/>
              </a:rPr>
              <a:t>+12.3%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6322314" y="4967096"/>
            <a:ext cx="4781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i="1">
                <a:latin typeface="Corbel"/>
                <a:cs typeface="Corbel"/>
              </a:rPr>
              <a:t>YoY</a:t>
            </a:r>
            <a:r>
              <a:rPr dirty="0" sz="1400" spc="-55" i="1">
                <a:latin typeface="Corbel"/>
                <a:cs typeface="Corbel"/>
              </a:rPr>
              <a:t> </a:t>
            </a:r>
            <a:r>
              <a:rPr dirty="0" sz="1400" spc="-50" i="1">
                <a:latin typeface="Corbel"/>
                <a:cs typeface="Corbel"/>
              </a:rPr>
              <a:t>%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7062216" y="1740407"/>
            <a:ext cx="4291965" cy="2862580"/>
            <a:chOff x="7062216" y="1740407"/>
            <a:chExt cx="4291965" cy="2862580"/>
          </a:xfrm>
        </p:grpSpPr>
        <p:sp>
          <p:nvSpPr>
            <p:cNvPr id="43" name="object 43" descr=""/>
            <p:cNvSpPr/>
            <p:nvPr/>
          </p:nvSpPr>
          <p:spPr>
            <a:xfrm>
              <a:off x="7301484" y="1740407"/>
              <a:ext cx="3815079" cy="2857500"/>
            </a:xfrm>
            <a:custGeom>
              <a:avLst/>
              <a:gdLst/>
              <a:ahLst/>
              <a:cxnLst/>
              <a:rect l="l" t="t" r="r" b="b"/>
              <a:pathLst>
                <a:path w="3815079" h="2857500">
                  <a:moveTo>
                    <a:pt x="595884" y="2558796"/>
                  </a:moveTo>
                  <a:lnTo>
                    <a:pt x="0" y="2558796"/>
                  </a:lnTo>
                  <a:lnTo>
                    <a:pt x="0" y="2857500"/>
                  </a:lnTo>
                  <a:lnTo>
                    <a:pt x="595884" y="2857500"/>
                  </a:lnTo>
                  <a:lnTo>
                    <a:pt x="595884" y="2558796"/>
                  </a:lnTo>
                  <a:close/>
                </a:path>
                <a:path w="3815079" h="2857500">
                  <a:moveTo>
                    <a:pt x="1668780" y="1940052"/>
                  </a:moveTo>
                  <a:lnTo>
                    <a:pt x="1072896" y="1940052"/>
                  </a:lnTo>
                  <a:lnTo>
                    <a:pt x="1072896" y="2857500"/>
                  </a:lnTo>
                  <a:lnTo>
                    <a:pt x="1668780" y="2857500"/>
                  </a:lnTo>
                  <a:lnTo>
                    <a:pt x="1668780" y="1940052"/>
                  </a:lnTo>
                  <a:close/>
                </a:path>
                <a:path w="3815079" h="2857500">
                  <a:moveTo>
                    <a:pt x="2741676" y="1014984"/>
                  </a:moveTo>
                  <a:lnTo>
                    <a:pt x="2145792" y="1014984"/>
                  </a:lnTo>
                  <a:lnTo>
                    <a:pt x="2145792" y="2857500"/>
                  </a:lnTo>
                  <a:lnTo>
                    <a:pt x="2741676" y="2857500"/>
                  </a:lnTo>
                  <a:lnTo>
                    <a:pt x="2741676" y="1014984"/>
                  </a:lnTo>
                  <a:close/>
                </a:path>
                <a:path w="3815079" h="2857500">
                  <a:moveTo>
                    <a:pt x="3814572" y="0"/>
                  </a:moveTo>
                  <a:lnTo>
                    <a:pt x="3218688" y="0"/>
                  </a:lnTo>
                  <a:lnTo>
                    <a:pt x="3218688" y="2857500"/>
                  </a:lnTo>
                  <a:lnTo>
                    <a:pt x="3814572" y="2857500"/>
                  </a:lnTo>
                  <a:lnTo>
                    <a:pt x="3814572" y="0"/>
                  </a:lnTo>
                  <a:close/>
                </a:path>
              </a:pathLst>
            </a:custGeom>
            <a:solidFill>
              <a:srgbClr val="9DB0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062216" y="4597907"/>
              <a:ext cx="4291965" cy="0"/>
            </a:xfrm>
            <a:custGeom>
              <a:avLst/>
              <a:gdLst/>
              <a:ahLst/>
              <a:cxnLst/>
              <a:rect l="l" t="t" r="r" b="b"/>
              <a:pathLst>
                <a:path w="4291965" h="0">
                  <a:moveTo>
                    <a:pt x="0" y="0"/>
                  </a:moveTo>
                  <a:lnTo>
                    <a:pt x="4291583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246620" y="4325111"/>
              <a:ext cx="3923029" cy="247015"/>
            </a:xfrm>
            <a:custGeom>
              <a:avLst/>
              <a:gdLst/>
              <a:ahLst/>
              <a:cxnLst/>
              <a:rect l="l" t="t" r="r" b="b"/>
              <a:pathLst>
                <a:path w="3923029" h="247014">
                  <a:moveTo>
                    <a:pt x="705612" y="0"/>
                  </a:moveTo>
                  <a:lnTo>
                    <a:pt x="0" y="189865"/>
                  </a:lnTo>
                  <a:lnTo>
                    <a:pt x="0" y="246888"/>
                  </a:lnTo>
                  <a:lnTo>
                    <a:pt x="705612" y="57023"/>
                  </a:lnTo>
                  <a:lnTo>
                    <a:pt x="705612" y="0"/>
                  </a:lnTo>
                  <a:close/>
                </a:path>
                <a:path w="3923029" h="247014">
                  <a:moveTo>
                    <a:pt x="1778508" y="0"/>
                  </a:moveTo>
                  <a:lnTo>
                    <a:pt x="1072896" y="189865"/>
                  </a:lnTo>
                  <a:lnTo>
                    <a:pt x="1072896" y="246888"/>
                  </a:lnTo>
                  <a:lnTo>
                    <a:pt x="1778508" y="57023"/>
                  </a:lnTo>
                  <a:lnTo>
                    <a:pt x="1778508" y="0"/>
                  </a:lnTo>
                  <a:close/>
                </a:path>
                <a:path w="3923029" h="247014">
                  <a:moveTo>
                    <a:pt x="2849880" y="1524"/>
                  </a:moveTo>
                  <a:lnTo>
                    <a:pt x="2147316" y="189865"/>
                  </a:lnTo>
                  <a:lnTo>
                    <a:pt x="2147316" y="246888"/>
                  </a:lnTo>
                  <a:lnTo>
                    <a:pt x="2849880" y="58547"/>
                  </a:lnTo>
                  <a:lnTo>
                    <a:pt x="2849880" y="1524"/>
                  </a:lnTo>
                  <a:close/>
                </a:path>
                <a:path w="3923029" h="247014">
                  <a:moveTo>
                    <a:pt x="3922776" y="0"/>
                  </a:moveTo>
                  <a:lnTo>
                    <a:pt x="3218688" y="189865"/>
                  </a:lnTo>
                  <a:lnTo>
                    <a:pt x="3218688" y="246888"/>
                  </a:lnTo>
                  <a:lnTo>
                    <a:pt x="3922776" y="57023"/>
                  </a:lnTo>
                  <a:lnTo>
                    <a:pt x="3922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246620" y="4325111"/>
              <a:ext cx="3923029" cy="247015"/>
            </a:xfrm>
            <a:custGeom>
              <a:avLst/>
              <a:gdLst/>
              <a:ahLst/>
              <a:cxnLst/>
              <a:rect l="l" t="t" r="r" b="b"/>
              <a:pathLst>
                <a:path w="3923029" h="247014">
                  <a:moveTo>
                    <a:pt x="2147315" y="190500"/>
                  </a:moveTo>
                  <a:lnTo>
                    <a:pt x="2849879" y="1524"/>
                  </a:lnTo>
                </a:path>
                <a:path w="3923029" h="247014">
                  <a:moveTo>
                    <a:pt x="1072896" y="190500"/>
                  </a:moveTo>
                  <a:lnTo>
                    <a:pt x="1778507" y="0"/>
                  </a:lnTo>
                </a:path>
                <a:path w="3923029" h="247014">
                  <a:moveTo>
                    <a:pt x="0" y="190500"/>
                  </a:moveTo>
                  <a:lnTo>
                    <a:pt x="705611" y="0"/>
                  </a:lnTo>
                </a:path>
                <a:path w="3923029" h="247014">
                  <a:moveTo>
                    <a:pt x="0" y="246887"/>
                  </a:moveTo>
                  <a:lnTo>
                    <a:pt x="705611" y="56387"/>
                  </a:lnTo>
                </a:path>
                <a:path w="3923029" h="247014">
                  <a:moveTo>
                    <a:pt x="1072896" y="246887"/>
                  </a:moveTo>
                  <a:lnTo>
                    <a:pt x="1778507" y="56387"/>
                  </a:lnTo>
                </a:path>
                <a:path w="3923029" h="247014">
                  <a:moveTo>
                    <a:pt x="2147315" y="246887"/>
                  </a:moveTo>
                  <a:lnTo>
                    <a:pt x="2849879" y="57912"/>
                  </a:lnTo>
                </a:path>
                <a:path w="3923029" h="247014">
                  <a:moveTo>
                    <a:pt x="3218687" y="190500"/>
                  </a:moveTo>
                  <a:lnTo>
                    <a:pt x="3922776" y="0"/>
                  </a:lnTo>
                </a:path>
                <a:path w="3923029" h="247014">
                  <a:moveTo>
                    <a:pt x="3218687" y="246887"/>
                  </a:moveTo>
                  <a:lnTo>
                    <a:pt x="3922776" y="56387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7369809" y="4632452"/>
            <a:ext cx="459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orbel"/>
                <a:cs typeface="Corbel"/>
              </a:rPr>
              <a:t>Q4’18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8449436" y="4632452"/>
            <a:ext cx="4495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orbel"/>
                <a:cs typeface="Corbel"/>
              </a:rPr>
              <a:t>Q1’19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9514713" y="4632452"/>
            <a:ext cx="4616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orbel"/>
                <a:cs typeface="Corbel"/>
              </a:rPr>
              <a:t>Q2’19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7386066" y="4036314"/>
            <a:ext cx="4286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orbel"/>
                <a:cs typeface="Corbel"/>
              </a:rPr>
              <a:t>264.1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8460740" y="3417189"/>
            <a:ext cx="4254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268.7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9540367" y="2493010"/>
            <a:ext cx="41211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275.6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0592816" y="4632452"/>
            <a:ext cx="4508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orbel"/>
                <a:cs typeface="Corbel"/>
              </a:rPr>
              <a:t>Q3’19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0605896" y="1476197"/>
            <a:ext cx="4286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283.2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810768" y="4732020"/>
            <a:ext cx="4375785" cy="36830"/>
          </a:xfrm>
          <a:custGeom>
            <a:avLst/>
            <a:gdLst/>
            <a:ahLst/>
            <a:cxnLst/>
            <a:rect l="l" t="t" r="r" b="b"/>
            <a:pathLst>
              <a:path w="4375785" h="36829">
                <a:moveTo>
                  <a:pt x="0" y="0"/>
                </a:moveTo>
                <a:lnTo>
                  <a:pt x="4375404" y="0"/>
                </a:lnTo>
              </a:path>
              <a:path w="4375785" h="36829">
                <a:moveTo>
                  <a:pt x="0" y="0"/>
                </a:moveTo>
                <a:lnTo>
                  <a:pt x="0" y="36575"/>
                </a:lnTo>
              </a:path>
              <a:path w="4375785" h="36829">
                <a:moveTo>
                  <a:pt x="368807" y="0"/>
                </a:moveTo>
                <a:lnTo>
                  <a:pt x="368807" y="36575"/>
                </a:lnTo>
              </a:path>
              <a:path w="4375785" h="36829">
                <a:moveTo>
                  <a:pt x="725423" y="0"/>
                </a:moveTo>
                <a:lnTo>
                  <a:pt x="725423" y="36575"/>
                </a:lnTo>
              </a:path>
              <a:path w="4375785" h="36829">
                <a:moveTo>
                  <a:pt x="1094232" y="0"/>
                </a:moveTo>
                <a:lnTo>
                  <a:pt x="1094232" y="36575"/>
                </a:lnTo>
              </a:path>
              <a:path w="4375785" h="36829">
                <a:moveTo>
                  <a:pt x="1450848" y="0"/>
                </a:moveTo>
                <a:lnTo>
                  <a:pt x="1450848" y="36575"/>
                </a:lnTo>
              </a:path>
              <a:path w="4375785" h="36829">
                <a:moveTo>
                  <a:pt x="1819656" y="0"/>
                </a:moveTo>
                <a:lnTo>
                  <a:pt x="1819656" y="36575"/>
                </a:lnTo>
              </a:path>
              <a:path w="4375785" h="36829">
                <a:moveTo>
                  <a:pt x="2176272" y="0"/>
                </a:moveTo>
                <a:lnTo>
                  <a:pt x="2176272" y="36575"/>
                </a:lnTo>
              </a:path>
              <a:path w="4375785" h="36829">
                <a:moveTo>
                  <a:pt x="2543556" y="0"/>
                </a:moveTo>
                <a:lnTo>
                  <a:pt x="2543556" y="36575"/>
                </a:lnTo>
              </a:path>
              <a:path w="4375785" h="36829">
                <a:moveTo>
                  <a:pt x="2912364" y="0"/>
                </a:moveTo>
                <a:lnTo>
                  <a:pt x="2912364" y="36575"/>
                </a:lnTo>
              </a:path>
              <a:path w="4375785" h="36829">
                <a:moveTo>
                  <a:pt x="3268979" y="0"/>
                </a:moveTo>
                <a:lnTo>
                  <a:pt x="3268979" y="36575"/>
                </a:lnTo>
              </a:path>
              <a:path w="4375785" h="36829">
                <a:moveTo>
                  <a:pt x="3637787" y="0"/>
                </a:moveTo>
                <a:lnTo>
                  <a:pt x="3637787" y="36575"/>
                </a:lnTo>
              </a:path>
              <a:path w="4375785" h="36829">
                <a:moveTo>
                  <a:pt x="3994404" y="0"/>
                </a:moveTo>
                <a:lnTo>
                  <a:pt x="3994404" y="36575"/>
                </a:lnTo>
              </a:path>
              <a:path w="4375785" h="36829">
                <a:moveTo>
                  <a:pt x="4363211" y="0"/>
                </a:moveTo>
                <a:lnTo>
                  <a:pt x="4363211" y="36575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6" name="object 56" descr=""/>
          <p:cNvGrpSpPr/>
          <p:nvPr/>
        </p:nvGrpSpPr>
        <p:grpSpPr>
          <a:xfrm>
            <a:off x="803148" y="2409444"/>
            <a:ext cx="4391025" cy="1984375"/>
            <a:chOff x="803148" y="2409444"/>
            <a:chExt cx="4391025" cy="1984375"/>
          </a:xfrm>
        </p:grpSpPr>
        <p:sp>
          <p:nvSpPr>
            <p:cNvPr id="57" name="object 57" descr=""/>
            <p:cNvSpPr/>
            <p:nvPr/>
          </p:nvSpPr>
          <p:spPr>
            <a:xfrm>
              <a:off x="816864" y="3336036"/>
              <a:ext cx="3556000" cy="940435"/>
            </a:xfrm>
            <a:custGeom>
              <a:avLst/>
              <a:gdLst/>
              <a:ahLst/>
              <a:cxnLst/>
              <a:rect l="l" t="t" r="r" b="b"/>
              <a:pathLst>
                <a:path w="3556000" h="940435">
                  <a:moveTo>
                    <a:pt x="0" y="925068"/>
                  </a:moveTo>
                  <a:lnTo>
                    <a:pt x="47244" y="937259"/>
                  </a:lnTo>
                  <a:lnTo>
                    <a:pt x="59436" y="940307"/>
                  </a:lnTo>
                  <a:lnTo>
                    <a:pt x="70104" y="940307"/>
                  </a:lnTo>
                  <a:lnTo>
                    <a:pt x="82296" y="931163"/>
                  </a:lnTo>
                  <a:lnTo>
                    <a:pt x="118872" y="902207"/>
                  </a:lnTo>
                  <a:lnTo>
                    <a:pt x="129540" y="899159"/>
                  </a:lnTo>
                  <a:lnTo>
                    <a:pt x="141732" y="845819"/>
                  </a:lnTo>
                  <a:lnTo>
                    <a:pt x="153924" y="836676"/>
                  </a:lnTo>
                  <a:lnTo>
                    <a:pt x="166116" y="836676"/>
                  </a:lnTo>
                  <a:lnTo>
                    <a:pt x="201168" y="858012"/>
                  </a:lnTo>
                  <a:lnTo>
                    <a:pt x="213360" y="769619"/>
                  </a:lnTo>
                  <a:lnTo>
                    <a:pt x="225552" y="749807"/>
                  </a:lnTo>
                  <a:lnTo>
                    <a:pt x="237744" y="742188"/>
                  </a:lnTo>
                  <a:lnTo>
                    <a:pt x="248412" y="728471"/>
                  </a:lnTo>
                  <a:lnTo>
                    <a:pt x="284988" y="676656"/>
                  </a:lnTo>
                  <a:lnTo>
                    <a:pt x="297180" y="644651"/>
                  </a:lnTo>
                  <a:lnTo>
                    <a:pt x="307848" y="605027"/>
                  </a:lnTo>
                  <a:lnTo>
                    <a:pt x="320040" y="630936"/>
                  </a:lnTo>
                  <a:lnTo>
                    <a:pt x="367284" y="606551"/>
                  </a:lnTo>
                  <a:lnTo>
                    <a:pt x="379476" y="632459"/>
                  </a:lnTo>
                  <a:lnTo>
                    <a:pt x="391668" y="656844"/>
                  </a:lnTo>
                  <a:lnTo>
                    <a:pt x="403860" y="661415"/>
                  </a:lnTo>
                  <a:lnTo>
                    <a:pt x="416052" y="658368"/>
                  </a:lnTo>
                  <a:lnTo>
                    <a:pt x="451104" y="667512"/>
                  </a:lnTo>
                  <a:lnTo>
                    <a:pt x="463296" y="743712"/>
                  </a:lnTo>
                  <a:lnTo>
                    <a:pt x="475488" y="766571"/>
                  </a:lnTo>
                  <a:lnTo>
                    <a:pt x="486156" y="737615"/>
                  </a:lnTo>
                  <a:lnTo>
                    <a:pt x="498348" y="757427"/>
                  </a:lnTo>
                  <a:lnTo>
                    <a:pt x="534924" y="771144"/>
                  </a:lnTo>
                  <a:lnTo>
                    <a:pt x="557784" y="772668"/>
                  </a:lnTo>
                  <a:lnTo>
                    <a:pt x="569976" y="765047"/>
                  </a:lnTo>
                  <a:lnTo>
                    <a:pt x="582168" y="768095"/>
                  </a:lnTo>
                  <a:lnTo>
                    <a:pt x="617220" y="789432"/>
                  </a:lnTo>
                  <a:lnTo>
                    <a:pt x="629412" y="781812"/>
                  </a:lnTo>
                  <a:lnTo>
                    <a:pt x="641604" y="723900"/>
                  </a:lnTo>
                  <a:lnTo>
                    <a:pt x="653796" y="708659"/>
                  </a:lnTo>
                  <a:lnTo>
                    <a:pt x="665988" y="681227"/>
                  </a:lnTo>
                  <a:lnTo>
                    <a:pt x="701040" y="713232"/>
                  </a:lnTo>
                  <a:lnTo>
                    <a:pt x="713232" y="705612"/>
                  </a:lnTo>
                  <a:lnTo>
                    <a:pt x="725424" y="693419"/>
                  </a:lnTo>
                  <a:lnTo>
                    <a:pt x="736092" y="701039"/>
                  </a:lnTo>
                  <a:lnTo>
                    <a:pt x="784860" y="684276"/>
                  </a:lnTo>
                  <a:lnTo>
                    <a:pt x="795528" y="714756"/>
                  </a:lnTo>
                  <a:lnTo>
                    <a:pt x="807720" y="720851"/>
                  </a:lnTo>
                  <a:lnTo>
                    <a:pt x="819912" y="719327"/>
                  </a:lnTo>
                  <a:lnTo>
                    <a:pt x="832104" y="705612"/>
                  </a:lnTo>
                  <a:lnTo>
                    <a:pt x="867156" y="670559"/>
                  </a:lnTo>
                  <a:lnTo>
                    <a:pt x="879348" y="708659"/>
                  </a:lnTo>
                  <a:lnTo>
                    <a:pt x="891540" y="697991"/>
                  </a:lnTo>
                  <a:lnTo>
                    <a:pt x="903732" y="702563"/>
                  </a:lnTo>
                  <a:lnTo>
                    <a:pt x="914400" y="716280"/>
                  </a:lnTo>
                  <a:lnTo>
                    <a:pt x="950976" y="771144"/>
                  </a:lnTo>
                  <a:lnTo>
                    <a:pt x="963168" y="734568"/>
                  </a:lnTo>
                  <a:lnTo>
                    <a:pt x="973836" y="734568"/>
                  </a:lnTo>
                  <a:lnTo>
                    <a:pt x="986028" y="757427"/>
                  </a:lnTo>
                  <a:lnTo>
                    <a:pt x="998219" y="748283"/>
                  </a:lnTo>
                  <a:lnTo>
                    <a:pt x="1033272" y="763524"/>
                  </a:lnTo>
                  <a:lnTo>
                    <a:pt x="1045463" y="752856"/>
                  </a:lnTo>
                  <a:lnTo>
                    <a:pt x="1057656" y="752856"/>
                  </a:lnTo>
                  <a:lnTo>
                    <a:pt x="1117092" y="714756"/>
                  </a:lnTo>
                  <a:lnTo>
                    <a:pt x="1129284" y="733044"/>
                  </a:lnTo>
                  <a:lnTo>
                    <a:pt x="1141476" y="757427"/>
                  </a:lnTo>
                  <a:lnTo>
                    <a:pt x="1152144" y="719327"/>
                  </a:lnTo>
                  <a:lnTo>
                    <a:pt x="1164336" y="734568"/>
                  </a:lnTo>
                  <a:lnTo>
                    <a:pt x="1200912" y="749807"/>
                  </a:lnTo>
                  <a:lnTo>
                    <a:pt x="1211580" y="740663"/>
                  </a:lnTo>
                  <a:lnTo>
                    <a:pt x="1223772" y="704088"/>
                  </a:lnTo>
                  <a:lnTo>
                    <a:pt x="1235964" y="620268"/>
                  </a:lnTo>
                  <a:lnTo>
                    <a:pt x="1248156" y="601980"/>
                  </a:lnTo>
                  <a:lnTo>
                    <a:pt x="1283208" y="614171"/>
                  </a:lnTo>
                  <a:lnTo>
                    <a:pt x="1295400" y="621791"/>
                  </a:lnTo>
                  <a:lnTo>
                    <a:pt x="1307592" y="629412"/>
                  </a:lnTo>
                  <a:lnTo>
                    <a:pt x="1319784" y="598932"/>
                  </a:lnTo>
                  <a:lnTo>
                    <a:pt x="1330452" y="470915"/>
                  </a:lnTo>
                  <a:lnTo>
                    <a:pt x="1367028" y="449580"/>
                  </a:lnTo>
                  <a:lnTo>
                    <a:pt x="1379220" y="505968"/>
                  </a:lnTo>
                  <a:lnTo>
                    <a:pt x="1391412" y="473963"/>
                  </a:lnTo>
                  <a:lnTo>
                    <a:pt x="1402080" y="446531"/>
                  </a:lnTo>
                  <a:lnTo>
                    <a:pt x="1414272" y="493775"/>
                  </a:lnTo>
                  <a:lnTo>
                    <a:pt x="1450848" y="455675"/>
                  </a:lnTo>
                  <a:lnTo>
                    <a:pt x="1473708" y="502919"/>
                  </a:lnTo>
                  <a:lnTo>
                    <a:pt x="1485900" y="559307"/>
                  </a:lnTo>
                  <a:lnTo>
                    <a:pt x="1498092" y="563880"/>
                  </a:lnTo>
                  <a:lnTo>
                    <a:pt x="1533144" y="568451"/>
                  </a:lnTo>
                  <a:lnTo>
                    <a:pt x="1545336" y="577595"/>
                  </a:lnTo>
                  <a:lnTo>
                    <a:pt x="1557528" y="563880"/>
                  </a:lnTo>
                  <a:lnTo>
                    <a:pt x="1569720" y="568451"/>
                  </a:lnTo>
                  <a:lnTo>
                    <a:pt x="1580388" y="557783"/>
                  </a:lnTo>
                  <a:lnTo>
                    <a:pt x="1616964" y="563880"/>
                  </a:lnTo>
                  <a:lnTo>
                    <a:pt x="1629156" y="553212"/>
                  </a:lnTo>
                  <a:lnTo>
                    <a:pt x="1639824" y="548639"/>
                  </a:lnTo>
                  <a:lnTo>
                    <a:pt x="1652016" y="553212"/>
                  </a:lnTo>
                  <a:lnTo>
                    <a:pt x="1664208" y="562356"/>
                  </a:lnTo>
                  <a:lnTo>
                    <a:pt x="1699260" y="556259"/>
                  </a:lnTo>
                  <a:lnTo>
                    <a:pt x="1711452" y="556259"/>
                  </a:lnTo>
                  <a:lnTo>
                    <a:pt x="1723644" y="560832"/>
                  </a:lnTo>
                  <a:lnTo>
                    <a:pt x="1735836" y="498347"/>
                  </a:lnTo>
                  <a:lnTo>
                    <a:pt x="1748028" y="501395"/>
                  </a:lnTo>
                  <a:lnTo>
                    <a:pt x="1783080" y="554736"/>
                  </a:lnTo>
                  <a:lnTo>
                    <a:pt x="1795272" y="541019"/>
                  </a:lnTo>
                  <a:lnTo>
                    <a:pt x="1807464" y="542544"/>
                  </a:lnTo>
                  <a:lnTo>
                    <a:pt x="1818132" y="519683"/>
                  </a:lnTo>
                  <a:lnTo>
                    <a:pt x="1830324" y="542544"/>
                  </a:lnTo>
                  <a:lnTo>
                    <a:pt x="1866900" y="534924"/>
                  </a:lnTo>
                  <a:lnTo>
                    <a:pt x="1877568" y="571500"/>
                  </a:lnTo>
                  <a:lnTo>
                    <a:pt x="1889760" y="548639"/>
                  </a:lnTo>
                  <a:lnTo>
                    <a:pt x="1901952" y="516636"/>
                  </a:lnTo>
                  <a:lnTo>
                    <a:pt x="1914144" y="499871"/>
                  </a:lnTo>
                  <a:lnTo>
                    <a:pt x="1949196" y="498347"/>
                  </a:lnTo>
                  <a:lnTo>
                    <a:pt x="1961388" y="481583"/>
                  </a:lnTo>
                  <a:lnTo>
                    <a:pt x="1973580" y="445007"/>
                  </a:lnTo>
                  <a:lnTo>
                    <a:pt x="1985772" y="487680"/>
                  </a:lnTo>
                  <a:lnTo>
                    <a:pt x="1996440" y="428244"/>
                  </a:lnTo>
                  <a:lnTo>
                    <a:pt x="2033016" y="448056"/>
                  </a:lnTo>
                  <a:lnTo>
                    <a:pt x="2045208" y="483107"/>
                  </a:lnTo>
                  <a:lnTo>
                    <a:pt x="2055876" y="490727"/>
                  </a:lnTo>
                  <a:lnTo>
                    <a:pt x="2068068" y="498347"/>
                  </a:lnTo>
                  <a:lnTo>
                    <a:pt x="2080260" y="498347"/>
                  </a:lnTo>
                  <a:lnTo>
                    <a:pt x="2115312" y="480059"/>
                  </a:lnTo>
                  <a:lnTo>
                    <a:pt x="2127504" y="463295"/>
                  </a:lnTo>
                  <a:lnTo>
                    <a:pt x="2139696" y="449580"/>
                  </a:lnTo>
                  <a:lnTo>
                    <a:pt x="2151888" y="478536"/>
                  </a:lnTo>
                  <a:lnTo>
                    <a:pt x="2164080" y="454151"/>
                  </a:lnTo>
                  <a:lnTo>
                    <a:pt x="2199132" y="437388"/>
                  </a:lnTo>
                  <a:lnTo>
                    <a:pt x="2211324" y="406907"/>
                  </a:lnTo>
                  <a:lnTo>
                    <a:pt x="2223516" y="426719"/>
                  </a:lnTo>
                  <a:lnTo>
                    <a:pt x="2235708" y="458724"/>
                  </a:lnTo>
                  <a:lnTo>
                    <a:pt x="2246376" y="449580"/>
                  </a:lnTo>
                  <a:lnTo>
                    <a:pt x="2282952" y="431291"/>
                  </a:lnTo>
                  <a:lnTo>
                    <a:pt x="2295144" y="406907"/>
                  </a:lnTo>
                  <a:lnTo>
                    <a:pt x="2305812" y="344424"/>
                  </a:lnTo>
                  <a:lnTo>
                    <a:pt x="2318004" y="348995"/>
                  </a:lnTo>
                  <a:lnTo>
                    <a:pt x="2330196" y="344424"/>
                  </a:lnTo>
                  <a:lnTo>
                    <a:pt x="2365248" y="327659"/>
                  </a:lnTo>
                  <a:lnTo>
                    <a:pt x="2377440" y="327659"/>
                  </a:lnTo>
                  <a:lnTo>
                    <a:pt x="2389632" y="324612"/>
                  </a:lnTo>
                  <a:lnTo>
                    <a:pt x="2401824" y="353568"/>
                  </a:lnTo>
                  <a:lnTo>
                    <a:pt x="2414016" y="310895"/>
                  </a:lnTo>
                  <a:lnTo>
                    <a:pt x="2449068" y="313944"/>
                  </a:lnTo>
                  <a:lnTo>
                    <a:pt x="2461260" y="318515"/>
                  </a:lnTo>
                  <a:lnTo>
                    <a:pt x="2473452" y="336803"/>
                  </a:lnTo>
                  <a:lnTo>
                    <a:pt x="2484120" y="358139"/>
                  </a:lnTo>
                  <a:lnTo>
                    <a:pt x="2496312" y="347471"/>
                  </a:lnTo>
                  <a:lnTo>
                    <a:pt x="2532888" y="367283"/>
                  </a:lnTo>
                  <a:lnTo>
                    <a:pt x="2543556" y="333756"/>
                  </a:lnTo>
                  <a:lnTo>
                    <a:pt x="2555748" y="315468"/>
                  </a:lnTo>
                  <a:lnTo>
                    <a:pt x="2567940" y="341375"/>
                  </a:lnTo>
                  <a:lnTo>
                    <a:pt x="2580132" y="321563"/>
                  </a:lnTo>
                  <a:lnTo>
                    <a:pt x="2615184" y="330707"/>
                  </a:lnTo>
                  <a:lnTo>
                    <a:pt x="2627376" y="329183"/>
                  </a:lnTo>
                  <a:lnTo>
                    <a:pt x="2639568" y="329183"/>
                  </a:lnTo>
                  <a:lnTo>
                    <a:pt x="2651760" y="330707"/>
                  </a:lnTo>
                  <a:lnTo>
                    <a:pt x="2662428" y="315468"/>
                  </a:lnTo>
                  <a:lnTo>
                    <a:pt x="2699004" y="274319"/>
                  </a:lnTo>
                  <a:lnTo>
                    <a:pt x="2711196" y="248412"/>
                  </a:lnTo>
                  <a:lnTo>
                    <a:pt x="2734056" y="240791"/>
                  </a:lnTo>
                  <a:lnTo>
                    <a:pt x="2746248" y="225551"/>
                  </a:lnTo>
                  <a:lnTo>
                    <a:pt x="2781300" y="251460"/>
                  </a:lnTo>
                  <a:lnTo>
                    <a:pt x="2793491" y="222503"/>
                  </a:lnTo>
                  <a:lnTo>
                    <a:pt x="2817876" y="185927"/>
                  </a:lnTo>
                  <a:lnTo>
                    <a:pt x="2830068" y="198119"/>
                  </a:lnTo>
                  <a:lnTo>
                    <a:pt x="2865120" y="146303"/>
                  </a:lnTo>
                  <a:lnTo>
                    <a:pt x="2877312" y="132587"/>
                  </a:lnTo>
                  <a:lnTo>
                    <a:pt x="2889504" y="144779"/>
                  </a:lnTo>
                  <a:lnTo>
                    <a:pt x="2900172" y="143255"/>
                  </a:lnTo>
                  <a:lnTo>
                    <a:pt x="2912364" y="86867"/>
                  </a:lnTo>
                  <a:lnTo>
                    <a:pt x="2948940" y="103631"/>
                  </a:lnTo>
                  <a:lnTo>
                    <a:pt x="2959608" y="38100"/>
                  </a:lnTo>
                  <a:lnTo>
                    <a:pt x="2971800" y="39624"/>
                  </a:lnTo>
                  <a:lnTo>
                    <a:pt x="2983991" y="32003"/>
                  </a:lnTo>
                  <a:lnTo>
                    <a:pt x="2996184" y="27431"/>
                  </a:lnTo>
                  <a:lnTo>
                    <a:pt x="3031236" y="27431"/>
                  </a:lnTo>
                  <a:lnTo>
                    <a:pt x="3043428" y="50291"/>
                  </a:lnTo>
                  <a:lnTo>
                    <a:pt x="3055620" y="36575"/>
                  </a:lnTo>
                  <a:lnTo>
                    <a:pt x="3080004" y="33527"/>
                  </a:lnTo>
                  <a:lnTo>
                    <a:pt x="3115056" y="24384"/>
                  </a:lnTo>
                  <a:lnTo>
                    <a:pt x="3127248" y="41148"/>
                  </a:lnTo>
                  <a:lnTo>
                    <a:pt x="3139440" y="35051"/>
                  </a:lnTo>
                  <a:lnTo>
                    <a:pt x="3162300" y="82296"/>
                  </a:lnTo>
                  <a:lnTo>
                    <a:pt x="3198876" y="12191"/>
                  </a:lnTo>
                  <a:lnTo>
                    <a:pt x="3209544" y="0"/>
                  </a:lnTo>
                  <a:lnTo>
                    <a:pt x="3221736" y="62484"/>
                  </a:lnTo>
                  <a:lnTo>
                    <a:pt x="3233928" y="44196"/>
                  </a:lnTo>
                  <a:lnTo>
                    <a:pt x="3246120" y="80772"/>
                  </a:lnTo>
                  <a:lnTo>
                    <a:pt x="3281172" y="4572"/>
                  </a:lnTo>
                  <a:lnTo>
                    <a:pt x="3305556" y="67055"/>
                  </a:lnTo>
                  <a:lnTo>
                    <a:pt x="3317748" y="161543"/>
                  </a:lnTo>
                  <a:lnTo>
                    <a:pt x="3328416" y="131063"/>
                  </a:lnTo>
                  <a:lnTo>
                    <a:pt x="3364991" y="188975"/>
                  </a:lnTo>
                  <a:lnTo>
                    <a:pt x="3377184" y="175260"/>
                  </a:lnTo>
                  <a:lnTo>
                    <a:pt x="3387852" y="220979"/>
                  </a:lnTo>
                  <a:lnTo>
                    <a:pt x="3400044" y="313944"/>
                  </a:lnTo>
                  <a:lnTo>
                    <a:pt x="3412236" y="342900"/>
                  </a:lnTo>
                  <a:lnTo>
                    <a:pt x="3447288" y="291083"/>
                  </a:lnTo>
                  <a:lnTo>
                    <a:pt x="3459480" y="272795"/>
                  </a:lnTo>
                  <a:lnTo>
                    <a:pt x="3471672" y="260603"/>
                  </a:lnTo>
                  <a:lnTo>
                    <a:pt x="3496056" y="356615"/>
                  </a:lnTo>
                  <a:lnTo>
                    <a:pt x="3531108" y="367283"/>
                  </a:lnTo>
                  <a:lnTo>
                    <a:pt x="3543300" y="449580"/>
                  </a:lnTo>
                  <a:lnTo>
                    <a:pt x="3555491" y="441959"/>
                  </a:lnTo>
                </a:path>
              </a:pathLst>
            </a:custGeom>
            <a:ln w="27432">
              <a:solidFill>
                <a:srgbClr val="B4C6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372356" y="3584447"/>
              <a:ext cx="807720" cy="245745"/>
            </a:xfrm>
            <a:custGeom>
              <a:avLst/>
              <a:gdLst/>
              <a:ahLst/>
              <a:cxnLst/>
              <a:rect l="l" t="t" r="r" b="b"/>
              <a:pathLst>
                <a:path w="807720" h="245745">
                  <a:moveTo>
                    <a:pt x="0" y="193547"/>
                  </a:moveTo>
                  <a:lnTo>
                    <a:pt x="10668" y="190500"/>
                  </a:lnTo>
                  <a:lnTo>
                    <a:pt x="22860" y="245363"/>
                  </a:lnTo>
                  <a:lnTo>
                    <a:pt x="59436" y="176783"/>
                  </a:lnTo>
                  <a:lnTo>
                    <a:pt x="70104" y="132587"/>
                  </a:lnTo>
                  <a:lnTo>
                    <a:pt x="82296" y="13715"/>
                  </a:lnTo>
                  <a:lnTo>
                    <a:pt x="94488" y="77724"/>
                  </a:lnTo>
                  <a:lnTo>
                    <a:pt x="106680" y="123443"/>
                  </a:lnTo>
                  <a:lnTo>
                    <a:pt x="141732" y="108203"/>
                  </a:lnTo>
                  <a:lnTo>
                    <a:pt x="153924" y="86868"/>
                  </a:lnTo>
                  <a:lnTo>
                    <a:pt x="188976" y="92963"/>
                  </a:lnTo>
                  <a:lnTo>
                    <a:pt x="225552" y="73151"/>
                  </a:lnTo>
                  <a:lnTo>
                    <a:pt x="237744" y="62483"/>
                  </a:lnTo>
                  <a:lnTo>
                    <a:pt x="248412" y="135635"/>
                  </a:lnTo>
                  <a:lnTo>
                    <a:pt x="260604" y="132587"/>
                  </a:lnTo>
                  <a:lnTo>
                    <a:pt x="272796" y="108203"/>
                  </a:lnTo>
                  <a:lnTo>
                    <a:pt x="309372" y="82295"/>
                  </a:lnTo>
                  <a:lnTo>
                    <a:pt x="320040" y="146303"/>
                  </a:lnTo>
                  <a:lnTo>
                    <a:pt x="332232" y="228600"/>
                  </a:lnTo>
                  <a:lnTo>
                    <a:pt x="344424" y="237744"/>
                  </a:lnTo>
                  <a:lnTo>
                    <a:pt x="391668" y="199644"/>
                  </a:lnTo>
                  <a:lnTo>
                    <a:pt x="403860" y="158495"/>
                  </a:lnTo>
                  <a:lnTo>
                    <a:pt x="416052" y="76200"/>
                  </a:lnTo>
                  <a:lnTo>
                    <a:pt x="428244" y="109727"/>
                  </a:lnTo>
                  <a:lnTo>
                    <a:pt x="438912" y="74675"/>
                  </a:lnTo>
                  <a:lnTo>
                    <a:pt x="475488" y="54863"/>
                  </a:lnTo>
                  <a:lnTo>
                    <a:pt x="487680" y="1524"/>
                  </a:lnTo>
                  <a:lnTo>
                    <a:pt x="498348" y="0"/>
                  </a:lnTo>
                  <a:lnTo>
                    <a:pt x="510540" y="64007"/>
                  </a:lnTo>
                  <a:lnTo>
                    <a:pt x="522732" y="70103"/>
                  </a:lnTo>
                  <a:lnTo>
                    <a:pt x="557784" y="118871"/>
                  </a:lnTo>
                  <a:lnTo>
                    <a:pt x="569976" y="86868"/>
                  </a:lnTo>
                  <a:lnTo>
                    <a:pt x="582168" y="54863"/>
                  </a:lnTo>
                  <a:lnTo>
                    <a:pt x="594360" y="33527"/>
                  </a:lnTo>
                  <a:lnTo>
                    <a:pt x="606552" y="32003"/>
                  </a:lnTo>
                  <a:lnTo>
                    <a:pt x="641604" y="27431"/>
                  </a:lnTo>
                  <a:lnTo>
                    <a:pt x="653796" y="56387"/>
                  </a:lnTo>
                  <a:lnTo>
                    <a:pt x="665988" y="83819"/>
                  </a:lnTo>
                  <a:lnTo>
                    <a:pt x="676656" y="94487"/>
                  </a:lnTo>
                  <a:lnTo>
                    <a:pt x="688848" y="161544"/>
                  </a:lnTo>
                  <a:lnTo>
                    <a:pt x="725424" y="153924"/>
                  </a:lnTo>
                  <a:lnTo>
                    <a:pt x="748284" y="172212"/>
                  </a:lnTo>
                  <a:lnTo>
                    <a:pt x="760476" y="132587"/>
                  </a:lnTo>
                  <a:lnTo>
                    <a:pt x="772668" y="126491"/>
                  </a:lnTo>
                  <a:lnTo>
                    <a:pt x="807720" y="115824"/>
                  </a:lnTo>
                </a:path>
              </a:pathLst>
            </a:custGeom>
            <a:ln w="27432">
              <a:solidFill>
                <a:srgbClr val="B4C6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816864" y="3989832"/>
              <a:ext cx="3556000" cy="390525"/>
            </a:xfrm>
            <a:custGeom>
              <a:avLst/>
              <a:gdLst/>
              <a:ahLst/>
              <a:cxnLst/>
              <a:rect l="l" t="t" r="r" b="b"/>
              <a:pathLst>
                <a:path w="3556000" h="390525">
                  <a:moveTo>
                    <a:pt x="0" y="271272"/>
                  </a:moveTo>
                  <a:lnTo>
                    <a:pt x="47244" y="291084"/>
                  </a:lnTo>
                  <a:lnTo>
                    <a:pt x="59436" y="291084"/>
                  </a:lnTo>
                  <a:lnTo>
                    <a:pt x="70104" y="277368"/>
                  </a:lnTo>
                  <a:lnTo>
                    <a:pt x="82296" y="265176"/>
                  </a:lnTo>
                  <a:lnTo>
                    <a:pt x="118872" y="249936"/>
                  </a:lnTo>
                  <a:lnTo>
                    <a:pt x="129540" y="246888"/>
                  </a:lnTo>
                  <a:lnTo>
                    <a:pt x="141732" y="248412"/>
                  </a:lnTo>
                  <a:lnTo>
                    <a:pt x="153924" y="243840"/>
                  </a:lnTo>
                  <a:lnTo>
                    <a:pt x="166116" y="237744"/>
                  </a:lnTo>
                  <a:lnTo>
                    <a:pt x="201168" y="224028"/>
                  </a:lnTo>
                  <a:lnTo>
                    <a:pt x="213360" y="233172"/>
                  </a:lnTo>
                  <a:lnTo>
                    <a:pt x="225552" y="213360"/>
                  </a:lnTo>
                  <a:lnTo>
                    <a:pt x="237744" y="207264"/>
                  </a:lnTo>
                  <a:lnTo>
                    <a:pt x="248412" y="188976"/>
                  </a:lnTo>
                  <a:lnTo>
                    <a:pt x="284988" y="173736"/>
                  </a:lnTo>
                  <a:lnTo>
                    <a:pt x="297180" y="146304"/>
                  </a:lnTo>
                  <a:lnTo>
                    <a:pt x="307848" y="146304"/>
                  </a:lnTo>
                  <a:lnTo>
                    <a:pt x="320040" y="150876"/>
                  </a:lnTo>
                  <a:lnTo>
                    <a:pt x="367284" y="137160"/>
                  </a:lnTo>
                  <a:lnTo>
                    <a:pt x="379476" y="153924"/>
                  </a:lnTo>
                  <a:lnTo>
                    <a:pt x="391668" y="160020"/>
                  </a:lnTo>
                  <a:lnTo>
                    <a:pt x="403860" y="161544"/>
                  </a:lnTo>
                  <a:lnTo>
                    <a:pt x="416052" y="219456"/>
                  </a:lnTo>
                  <a:lnTo>
                    <a:pt x="451104" y="240792"/>
                  </a:lnTo>
                  <a:lnTo>
                    <a:pt x="463296" y="277368"/>
                  </a:lnTo>
                  <a:lnTo>
                    <a:pt x="475488" y="283464"/>
                  </a:lnTo>
                  <a:lnTo>
                    <a:pt x="486156" y="260604"/>
                  </a:lnTo>
                  <a:lnTo>
                    <a:pt x="498348" y="288036"/>
                  </a:lnTo>
                  <a:lnTo>
                    <a:pt x="534924" y="268224"/>
                  </a:lnTo>
                  <a:lnTo>
                    <a:pt x="557784" y="277368"/>
                  </a:lnTo>
                  <a:lnTo>
                    <a:pt x="569976" y="268224"/>
                  </a:lnTo>
                  <a:lnTo>
                    <a:pt x="582168" y="288036"/>
                  </a:lnTo>
                  <a:lnTo>
                    <a:pt x="617220" y="304800"/>
                  </a:lnTo>
                  <a:lnTo>
                    <a:pt x="629412" y="309372"/>
                  </a:lnTo>
                  <a:lnTo>
                    <a:pt x="641604" y="300228"/>
                  </a:lnTo>
                  <a:lnTo>
                    <a:pt x="653796" y="303276"/>
                  </a:lnTo>
                  <a:lnTo>
                    <a:pt x="665988" y="280416"/>
                  </a:lnTo>
                  <a:lnTo>
                    <a:pt x="701040" y="259080"/>
                  </a:lnTo>
                  <a:lnTo>
                    <a:pt x="713232" y="265176"/>
                  </a:lnTo>
                  <a:lnTo>
                    <a:pt x="725424" y="278892"/>
                  </a:lnTo>
                  <a:lnTo>
                    <a:pt x="736092" y="286512"/>
                  </a:lnTo>
                  <a:lnTo>
                    <a:pt x="784860" y="309372"/>
                  </a:lnTo>
                  <a:lnTo>
                    <a:pt x="795528" y="333756"/>
                  </a:lnTo>
                  <a:lnTo>
                    <a:pt x="807720" y="355092"/>
                  </a:lnTo>
                  <a:lnTo>
                    <a:pt x="819912" y="335280"/>
                  </a:lnTo>
                  <a:lnTo>
                    <a:pt x="832104" y="338328"/>
                  </a:lnTo>
                  <a:lnTo>
                    <a:pt x="867156" y="295656"/>
                  </a:lnTo>
                  <a:lnTo>
                    <a:pt x="879348" y="294132"/>
                  </a:lnTo>
                  <a:lnTo>
                    <a:pt x="891540" y="297180"/>
                  </a:lnTo>
                  <a:lnTo>
                    <a:pt x="903732" y="309372"/>
                  </a:lnTo>
                  <a:lnTo>
                    <a:pt x="914400" y="345948"/>
                  </a:lnTo>
                  <a:lnTo>
                    <a:pt x="950976" y="368808"/>
                  </a:lnTo>
                  <a:lnTo>
                    <a:pt x="963168" y="361188"/>
                  </a:lnTo>
                  <a:lnTo>
                    <a:pt x="973836" y="355092"/>
                  </a:lnTo>
                  <a:lnTo>
                    <a:pt x="986028" y="364236"/>
                  </a:lnTo>
                  <a:lnTo>
                    <a:pt x="998219" y="390144"/>
                  </a:lnTo>
                  <a:lnTo>
                    <a:pt x="1033272" y="361188"/>
                  </a:lnTo>
                  <a:lnTo>
                    <a:pt x="1045463" y="348996"/>
                  </a:lnTo>
                  <a:lnTo>
                    <a:pt x="1057656" y="364236"/>
                  </a:lnTo>
                  <a:lnTo>
                    <a:pt x="1117092" y="342900"/>
                  </a:lnTo>
                  <a:lnTo>
                    <a:pt x="1129284" y="335280"/>
                  </a:lnTo>
                  <a:lnTo>
                    <a:pt x="1141476" y="361188"/>
                  </a:lnTo>
                  <a:lnTo>
                    <a:pt x="1152144" y="316992"/>
                  </a:lnTo>
                  <a:lnTo>
                    <a:pt x="1164336" y="315468"/>
                  </a:lnTo>
                  <a:lnTo>
                    <a:pt x="1200912" y="304800"/>
                  </a:lnTo>
                  <a:lnTo>
                    <a:pt x="1211580" y="300228"/>
                  </a:lnTo>
                  <a:lnTo>
                    <a:pt x="1223772" y="295656"/>
                  </a:lnTo>
                  <a:lnTo>
                    <a:pt x="1235964" y="286512"/>
                  </a:lnTo>
                  <a:lnTo>
                    <a:pt x="1248156" y="281940"/>
                  </a:lnTo>
                  <a:lnTo>
                    <a:pt x="1283208" y="271272"/>
                  </a:lnTo>
                  <a:lnTo>
                    <a:pt x="1295400" y="266700"/>
                  </a:lnTo>
                  <a:lnTo>
                    <a:pt x="1307592" y="271272"/>
                  </a:lnTo>
                  <a:lnTo>
                    <a:pt x="1319784" y="263652"/>
                  </a:lnTo>
                  <a:lnTo>
                    <a:pt x="1330452" y="263652"/>
                  </a:lnTo>
                  <a:lnTo>
                    <a:pt x="1367028" y="259080"/>
                  </a:lnTo>
                  <a:lnTo>
                    <a:pt x="1379220" y="251460"/>
                  </a:lnTo>
                  <a:lnTo>
                    <a:pt x="1391412" y="262128"/>
                  </a:lnTo>
                  <a:lnTo>
                    <a:pt x="1402080" y="251460"/>
                  </a:lnTo>
                  <a:lnTo>
                    <a:pt x="1414272" y="234696"/>
                  </a:lnTo>
                  <a:lnTo>
                    <a:pt x="1450848" y="224028"/>
                  </a:lnTo>
                  <a:lnTo>
                    <a:pt x="1473708" y="228600"/>
                  </a:lnTo>
                  <a:lnTo>
                    <a:pt x="1485900" y="237744"/>
                  </a:lnTo>
                  <a:lnTo>
                    <a:pt x="1498092" y="251460"/>
                  </a:lnTo>
                  <a:lnTo>
                    <a:pt x="1533144" y="230124"/>
                  </a:lnTo>
                  <a:lnTo>
                    <a:pt x="1545336" y="228600"/>
                  </a:lnTo>
                  <a:lnTo>
                    <a:pt x="1557528" y="224028"/>
                  </a:lnTo>
                  <a:lnTo>
                    <a:pt x="1569720" y="228600"/>
                  </a:lnTo>
                  <a:lnTo>
                    <a:pt x="1580388" y="208788"/>
                  </a:lnTo>
                  <a:lnTo>
                    <a:pt x="1616964" y="208788"/>
                  </a:lnTo>
                  <a:lnTo>
                    <a:pt x="1629156" y="210312"/>
                  </a:lnTo>
                  <a:lnTo>
                    <a:pt x="1639824" y="224028"/>
                  </a:lnTo>
                  <a:lnTo>
                    <a:pt x="1652016" y="236220"/>
                  </a:lnTo>
                  <a:lnTo>
                    <a:pt x="1664208" y="256032"/>
                  </a:lnTo>
                  <a:lnTo>
                    <a:pt x="1699260" y="274320"/>
                  </a:lnTo>
                  <a:lnTo>
                    <a:pt x="1711452" y="269748"/>
                  </a:lnTo>
                  <a:lnTo>
                    <a:pt x="1723644" y="292608"/>
                  </a:lnTo>
                  <a:lnTo>
                    <a:pt x="1735836" y="274320"/>
                  </a:lnTo>
                  <a:lnTo>
                    <a:pt x="1748028" y="254508"/>
                  </a:lnTo>
                  <a:lnTo>
                    <a:pt x="1783080" y="236220"/>
                  </a:lnTo>
                  <a:lnTo>
                    <a:pt x="1795272" y="248412"/>
                  </a:lnTo>
                  <a:lnTo>
                    <a:pt x="1807464" y="251460"/>
                  </a:lnTo>
                  <a:lnTo>
                    <a:pt x="1818132" y="225552"/>
                  </a:lnTo>
                  <a:lnTo>
                    <a:pt x="1830324" y="233172"/>
                  </a:lnTo>
                  <a:lnTo>
                    <a:pt x="1866900" y="248412"/>
                  </a:lnTo>
                  <a:lnTo>
                    <a:pt x="1877568" y="257556"/>
                  </a:lnTo>
                  <a:lnTo>
                    <a:pt x="1889760" y="236220"/>
                  </a:lnTo>
                  <a:lnTo>
                    <a:pt x="1901952" y="217932"/>
                  </a:lnTo>
                  <a:lnTo>
                    <a:pt x="1914144" y="217932"/>
                  </a:lnTo>
                  <a:lnTo>
                    <a:pt x="1949196" y="213360"/>
                  </a:lnTo>
                  <a:lnTo>
                    <a:pt x="1961388" y="201168"/>
                  </a:lnTo>
                  <a:lnTo>
                    <a:pt x="1973580" y="198120"/>
                  </a:lnTo>
                  <a:lnTo>
                    <a:pt x="1985772" y="208788"/>
                  </a:lnTo>
                  <a:lnTo>
                    <a:pt x="1996440" y="207264"/>
                  </a:lnTo>
                  <a:lnTo>
                    <a:pt x="2033016" y="210312"/>
                  </a:lnTo>
                  <a:lnTo>
                    <a:pt x="2045208" y="230124"/>
                  </a:lnTo>
                  <a:lnTo>
                    <a:pt x="2055876" y="216408"/>
                  </a:lnTo>
                  <a:lnTo>
                    <a:pt x="2068068" y="224028"/>
                  </a:lnTo>
                  <a:lnTo>
                    <a:pt x="2080260" y="205740"/>
                  </a:lnTo>
                  <a:lnTo>
                    <a:pt x="2115312" y="219456"/>
                  </a:lnTo>
                  <a:lnTo>
                    <a:pt x="2127504" y="217932"/>
                  </a:lnTo>
                  <a:lnTo>
                    <a:pt x="2139696" y="239268"/>
                  </a:lnTo>
                  <a:lnTo>
                    <a:pt x="2151888" y="257556"/>
                  </a:lnTo>
                  <a:lnTo>
                    <a:pt x="2164080" y="230124"/>
                  </a:lnTo>
                  <a:lnTo>
                    <a:pt x="2199132" y="242316"/>
                  </a:lnTo>
                  <a:lnTo>
                    <a:pt x="2211324" y="233172"/>
                  </a:lnTo>
                  <a:lnTo>
                    <a:pt x="2223516" y="217932"/>
                  </a:lnTo>
                  <a:lnTo>
                    <a:pt x="2235708" y="222504"/>
                  </a:lnTo>
                  <a:lnTo>
                    <a:pt x="2246376" y="216408"/>
                  </a:lnTo>
                  <a:lnTo>
                    <a:pt x="2282952" y="198120"/>
                  </a:lnTo>
                  <a:lnTo>
                    <a:pt x="2295144" y="176784"/>
                  </a:lnTo>
                  <a:lnTo>
                    <a:pt x="2305812" y="176784"/>
                  </a:lnTo>
                  <a:lnTo>
                    <a:pt x="2318004" y="160020"/>
                  </a:lnTo>
                  <a:lnTo>
                    <a:pt x="2330196" y="161544"/>
                  </a:lnTo>
                  <a:lnTo>
                    <a:pt x="2365248" y="179832"/>
                  </a:lnTo>
                  <a:lnTo>
                    <a:pt x="2377440" y="164592"/>
                  </a:lnTo>
                  <a:lnTo>
                    <a:pt x="2389632" y="170688"/>
                  </a:lnTo>
                  <a:lnTo>
                    <a:pt x="2401824" y="175260"/>
                  </a:lnTo>
                  <a:lnTo>
                    <a:pt x="2414016" y="163068"/>
                  </a:lnTo>
                  <a:lnTo>
                    <a:pt x="2449068" y="146304"/>
                  </a:lnTo>
                  <a:lnTo>
                    <a:pt x="2461260" y="135636"/>
                  </a:lnTo>
                  <a:lnTo>
                    <a:pt x="2473452" y="135636"/>
                  </a:lnTo>
                  <a:lnTo>
                    <a:pt x="2484120" y="128016"/>
                  </a:lnTo>
                  <a:lnTo>
                    <a:pt x="2496312" y="103632"/>
                  </a:lnTo>
                  <a:lnTo>
                    <a:pt x="2532888" y="94488"/>
                  </a:lnTo>
                  <a:lnTo>
                    <a:pt x="2543556" y="85344"/>
                  </a:lnTo>
                  <a:lnTo>
                    <a:pt x="2555748" y="88392"/>
                  </a:lnTo>
                  <a:lnTo>
                    <a:pt x="2567940" y="111252"/>
                  </a:lnTo>
                  <a:lnTo>
                    <a:pt x="2580132" y="85344"/>
                  </a:lnTo>
                  <a:lnTo>
                    <a:pt x="2615184" y="79248"/>
                  </a:lnTo>
                  <a:lnTo>
                    <a:pt x="2627376" y="77724"/>
                  </a:lnTo>
                  <a:lnTo>
                    <a:pt x="2639568" y="65532"/>
                  </a:lnTo>
                  <a:lnTo>
                    <a:pt x="2651760" y="60960"/>
                  </a:lnTo>
                  <a:lnTo>
                    <a:pt x="2662428" y="70104"/>
                  </a:lnTo>
                  <a:lnTo>
                    <a:pt x="2699004" y="85344"/>
                  </a:lnTo>
                  <a:lnTo>
                    <a:pt x="2711196" y="68580"/>
                  </a:lnTo>
                  <a:lnTo>
                    <a:pt x="2734056" y="79248"/>
                  </a:lnTo>
                  <a:lnTo>
                    <a:pt x="2746248" y="60960"/>
                  </a:lnTo>
                  <a:lnTo>
                    <a:pt x="2781300" y="42672"/>
                  </a:lnTo>
                  <a:lnTo>
                    <a:pt x="2793491" y="38100"/>
                  </a:lnTo>
                  <a:lnTo>
                    <a:pt x="2817876" y="35052"/>
                  </a:lnTo>
                  <a:lnTo>
                    <a:pt x="2830068" y="41148"/>
                  </a:lnTo>
                  <a:lnTo>
                    <a:pt x="2865120" y="10668"/>
                  </a:lnTo>
                  <a:lnTo>
                    <a:pt x="2877312" y="0"/>
                  </a:lnTo>
                  <a:lnTo>
                    <a:pt x="2889504" y="10668"/>
                  </a:lnTo>
                  <a:lnTo>
                    <a:pt x="2900172" y="13716"/>
                  </a:lnTo>
                  <a:lnTo>
                    <a:pt x="2912364" y="13716"/>
                  </a:lnTo>
                  <a:lnTo>
                    <a:pt x="2948940" y="35052"/>
                  </a:lnTo>
                  <a:lnTo>
                    <a:pt x="2959608" y="48768"/>
                  </a:lnTo>
                  <a:lnTo>
                    <a:pt x="2971800" y="59436"/>
                  </a:lnTo>
                  <a:lnTo>
                    <a:pt x="2983991" y="45720"/>
                  </a:lnTo>
                  <a:lnTo>
                    <a:pt x="2996184" y="33528"/>
                  </a:lnTo>
                  <a:lnTo>
                    <a:pt x="3031236" y="67056"/>
                  </a:lnTo>
                  <a:lnTo>
                    <a:pt x="3043428" y="100584"/>
                  </a:lnTo>
                  <a:lnTo>
                    <a:pt x="3055620" y="82296"/>
                  </a:lnTo>
                  <a:lnTo>
                    <a:pt x="3080004" y="50292"/>
                  </a:lnTo>
                  <a:lnTo>
                    <a:pt x="3115056" y="80772"/>
                  </a:lnTo>
                  <a:lnTo>
                    <a:pt x="3127248" y="103632"/>
                  </a:lnTo>
                  <a:lnTo>
                    <a:pt x="3139440" y="112776"/>
                  </a:lnTo>
                  <a:lnTo>
                    <a:pt x="3162300" y="134112"/>
                  </a:lnTo>
                  <a:lnTo>
                    <a:pt x="3198876" y="173736"/>
                  </a:lnTo>
                  <a:lnTo>
                    <a:pt x="3209544" y="150876"/>
                  </a:lnTo>
                  <a:lnTo>
                    <a:pt x="3221736" y="153924"/>
                  </a:lnTo>
                  <a:lnTo>
                    <a:pt x="3233928" y="170688"/>
                  </a:lnTo>
                  <a:lnTo>
                    <a:pt x="3246120" y="181356"/>
                  </a:lnTo>
                  <a:lnTo>
                    <a:pt x="3281172" y="164592"/>
                  </a:lnTo>
                  <a:lnTo>
                    <a:pt x="3305556" y="198120"/>
                  </a:lnTo>
                  <a:lnTo>
                    <a:pt x="3317748" y="256032"/>
                  </a:lnTo>
                  <a:lnTo>
                    <a:pt x="3328416" y="318516"/>
                  </a:lnTo>
                  <a:lnTo>
                    <a:pt x="3364991" y="312420"/>
                  </a:lnTo>
                  <a:lnTo>
                    <a:pt x="3377184" y="321564"/>
                  </a:lnTo>
                  <a:lnTo>
                    <a:pt x="3387852" y="286512"/>
                  </a:lnTo>
                  <a:lnTo>
                    <a:pt x="3400044" y="336804"/>
                  </a:lnTo>
                  <a:lnTo>
                    <a:pt x="3412236" y="283464"/>
                  </a:lnTo>
                  <a:lnTo>
                    <a:pt x="3447288" y="274320"/>
                  </a:lnTo>
                  <a:lnTo>
                    <a:pt x="3459480" y="259080"/>
                  </a:lnTo>
                  <a:lnTo>
                    <a:pt x="3471672" y="288036"/>
                  </a:lnTo>
                  <a:lnTo>
                    <a:pt x="3496056" y="321564"/>
                  </a:lnTo>
                  <a:lnTo>
                    <a:pt x="3531108" y="335280"/>
                  </a:lnTo>
                  <a:lnTo>
                    <a:pt x="3543300" y="356616"/>
                  </a:lnTo>
                  <a:lnTo>
                    <a:pt x="3555491" y="339852"/>
                  </a:lnTo>
                </a:path>
              </a:pathLst>
            </a:custGeom>
            <a:ln w="2743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372356" y="4163567"/>
              <a:ext cx="807720" cy="208915"/>
            </a:xfrm>
            <a:custGeom>
              <a:avLst/>
              <a:gdLst/>
              <a:ahLst/>
              <a:cxnLst/>
              <a:rect l="l" t="t" r="r" b="b"/>
              <a:pathLst>
                <a:path w="807720" h="208914">
                  <a:moveTo>
                    <a:pt x="0" y="166115"/>
                  </a:moveTo>
                  <a:lnTo>
                    <a:pt x="10668" y="187451"/>
                  </a:lnTo>
                  <a:lnTo>
                    <a:pt x="22860" y="208787"/>
                  </a:lnTo>
                  <a:lnTo>
                    <a:pt x="59436" y="160019"/>
                  </a:lnTo>
                  <a:lnTo>
                    <a:pt x="70104" y="172211"/>
                  </a:lnTo>
                  <a:lnTo>
                    <a:pt x="82296" y="129539"/>
                  </a:lnTo>
                  <a:lnTo>
                    <a:pt x="94488" y="131063"/>
                  </a:lnTo>
                  <a:lnTo>
                    <a:pt x="106680" y="91439"/>
                  </a:lnTo>
                  <a:lnTo>
                    <a:pt x="141732" y="99059"/>
                  </a:lnTo>
                  <a:lnTo>
                    <a:pt x="153924" y="97535"/>
                  </a:lnTo>
                  <a:lnTo>
                    <a:pt x="188976" y="85343"/>
                  </a:lnTo>
                  <a:lnTo>
                    <a:pt x="225552" y="108203"/>
                  </a:lnTo>
                  <a:lnTo>
                    <a:pt x="237744" y="85343"/>
                  </a:lnTo>
                  <a:lnTo>
                    <a:pt x="248412" y="86867"/>
                  </a:lnTo>
                  <a:lnTo>
                    <a:pt x="260604" y="77723"/>
                  </a:lnTo>
                  <a:lnTo>
                    <a:pt x="272796" y="62483"/>
                  </a:lnTo>
                  <a:lnTo>
                    <a:pt x="309372" y="45719"/>
                  </a:lnTo>
                  <a:lnTo>
                    <a:pt x="320040" y="68579"/>
                  </a:lnTo>
                  <a:lnTo>
                    <a:pt x="332232" y="82295"/>
                  </a:lnTo>
                  <a:lnTo>
                    <a:pt x="344424" y="97535"/>
                  </a:lnTo>
                  <a:lnTo>
                    <a:pt x="391668" y="74675"/>
                  </a:lnTo>
                  <a:lnTo>
                    <a:pt x="403860" y="62483"/>
                  </a:lnTo>
                  <a:lnTo>
                    <a:pt x="416052" y="53339"/>
                  </a:lnTo>
                  <a:lnTo>
                    <a:pt x="428244" y="24383"/>
                  </a:lnTo>
                  <a:lnTo>
                    <a:pt x="438912" y="19811"/>
                  </a:lnTo>
                  <a:lnTo>
                    <a:pt x="475488" y="18287"/>
                  </a:lnTo>
                  <a:lnTo>
                    <a:pt x="487680" y="21335"/>
                  </a:lnTo>
                  <a:lnTo>
                    <a:pt x="498348" y="41147"/>
                  </a:lnTo>
                  <a:lnTo>
                    <a:pt x="510540" y="80771"/>
                  </a:lnTo>
                  <a:lnTo>
                    <a:pt x="522732" y="60959"/>
                  </a:lnTo>
                  <a:lnTo>
                    <a:pt x="557784" y="106679"/>
                  </a:lnTo>
                  <a:lnTo>
                    <a:pt x="569976" y="92963"/>
                  </a:lnTo>
                  <a:lnTo>
                    <a:pt x="582168" y="50291"/>
                  </a:lnTo>
                  <a:lnTo>
                    <a:pt x="594360" y="38099"/>
                  </a:lnTo>
                  <a:lnTo>
                    <a:pt x="606552" y="35051"/>
                  </a:lnTo>
                  <a:lnTo>
                    <a:pt x="641604" y="16763"/>
                  </a:lnTo>
                  <a:lnTo>
                    <a:pt x="653796" y="12191"/>
                  </a:lnTo>
                  <a:lnTo>
                    <a:pt x="665988" y="0"/>
                  </a:lnTo>
                  <a:lnTo>
                    <a:pt x="676656" y="3047"/>
                  </a:lnTo>
                  <a:lnTo>
                    <a:pt x="688848" y="47243"/>
                  </a:lnTo>
                  <a:lnTo>
                    <a:pt x="725424" y="67055"/>
                  </a:lnTo>
                  <a:lnTo>
                    <a:pt x="748284" y="51815"/>
                  </a:lnTo>
                  <a:lnTo>
                    <a:pt x="760476" y="41147"/>
                  </a:lnTo>
                  <a:lnTo>
                    <a:pt x="772668" y="22859"/>
                  </a:lnTo>
                  <a:lnTo>
                    <a:pt x="807720" y="22859"/>
                  </a:lnTo>
                </a:path>
              </a:pathLst>
            </a:custGeom>
            <a:ln w="2743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816864" y="2423160"/>
              <a:ext cx="3556000" cy="1888489"/>
            </a:xfrm>
            <a:custGeom>
              <a:avLst/>
              <a:gdLst/>
              <a:ahLst/>
              <a:cxnLst/>
              <a:rect l="l" t="t" r="r" b="b"/>
              <a:pathLst>
                <a:path w="3556000" h="1888489">
                  <a:moveTo>
                    <a:pt x="0" y="1837944"/>
                  </a:moveTo>
                  <a:lnTo>
                    <a:pt x="47244" y="1808988"/>
                  </a:lnTo>
                  <a:lnTo>
                    <a:pt x="59436" y="1856232"/>
                  </a:lnTo>
                  <a:lnTo>
                    <a:pt x="70104" y="1869947"/>
                  </a:lnTo>
                  <a:lnTo>
                    <a:pt x="82296" y="1876044"/>
                  </a:lnTo>
                  <a:lnTo>
                    <a:pt x="118872" y="1869947"/>
                  </a:lnTo>
                  <a:lnTo>
                    <a:pt x="129540" y="1880615"/>
                  </a:lnTo>
                  <a:lnTo>
                    <a:pt x="141732" y="1888235"/>
                  </a:lnTo>
                  <a:lnTo>
                    <a:pt x="153924" y="1868423"/>
                  </a:lnTo>
                  <a:lnTo>
                    <a:pt x="166116" y="1827276"/>
                  </a:lnTo>
                  <a:lnTo>
                    <a:pt x="201168" y="1761744"/>
                  </a:lnTo>
                  <a:lnTo>
                    <a:pt x="213360" y="1786127"/>
                  </a:lnTo>
                  <a:lnTo>
                    <a:pt x="225552" y="1719071"/>
                  </a:lnTo>
                  <a:lnTo>
                    <a:pt x="237744" y="1613915"/>
                  </a:lnTo>
                  <a:lnTo>
                    <a:pt x="248412" y="1629156"/>
                  </a:lnTo>
                  <a:lnTo>
                    <a:pt x="284988" y="1589532"/>
                  </a:lnTo>
                  <a:lnTo>
                    <a:pt x="297180" y="1607820"/>
                  </a:lnTo>
                  <a:lnTo>
                    <a:pt x="307848" y="1588008"/>
                  </a:lnTo>
                  <a:lnTo>
                    <a:pt x="320040" y="1517903"/>
                  </a:lnTo>
                  <a:lnTo>
                    <a:pt x="367284" y="1336547"/>
                  </a:lnTo>
                  <a:lnTo>
                    <a:pt x="379476" y="1324356"/>
                  </a:lnTo>
                  <a:lnTo>
                    <a:pt x="391668" y="1287779"/>
                  </a:lnTo>
                  <a:lnTo>
                    <a:pt x="403860" y="1336547"/>
                  </a:lnTo>
                  <a:lnTo>
                    <a:pt x="416052" y="1418844"/>
                  </a:lnTo>
                  <a:lnTo>
                    <a:pt x="451104" y="1412747"/>
                  </a:lnTo>
                  <a:lnTo>
                    <a:pt x="463296" y="1447800"/>
                  </a:lnTo>
                  <a:lnTo>
                    <a:pt x="475488" y="1487423"/>
                  </a:lnTo>
                  <a:lnTo>
                    <a:pt x="486156" y="1360932"/>
                  </a:lnTo>
                  <a:lnTo>
                    <a:pt x="498348" y="1278635"/>
                  </a:lnTo>
                  <a:lnTo>
                    <a:pt x="534924" y="1408176"/>
                  </a:lnTo>
                  <a:lnTo>
                    <a:pt x="557784" y="1299971"/>
                  </a:lnTo>
                  <a:lnTo>
                    <a:pt x="569976" y="1338071"/>
                  </a:lnTo>
                  <a:lnTo>
                    <a:pt x="582168" y="1391412"/>
                  </a:lnTo>
                  <a:lnTo>
                    <a:pt x="617220" y="1403603"/>
                  </a:lnTo>
                  <a:lnTo>
                    <a:pt x="629412" y="1382267"/>
                  </a:lnTo>
                  <a:lnTo>
                    <a:pt x="641604" y="1315212"/>
                  </a:lnTo>
                  <a:lnTo>
                    <a:pt x="653796" y="1249679"/>
                  </a:lnTo>
                  <a:lnTo>
                    <a:pt x="665988" y="1248156"/>
                  </a:lnTo>
                  <a:lnTo>
                    <a:pt x="701040" y="1321308"/>
                  </a:lnTo>
                  <a:lnTo>
                    <a:pt x="713232" y="1359408"/>
                  </a:lnTo>
                  <a:lnTo>
                    <a:pt x="725424" y="1402079"/>
                  </a:lnTo>
                  <a:lnTo>
                    <a:pt x="736092" y="1417320"/>
                  </a:lnTo>
                  <a:lnTo>
                    <a:pt x="784860" y="1406652"/>
                  </a:lnTo>
                  <a:lnTo>
                    <a:pt x="795528" y="1444752"/>
                  </a:lnTo>
                  <a:lnTo>
                    <a:pt x="807720" y="1459991"/>
                  </a:lnTo>
                  <a:lnTo>
                    <a:pt x="819912" y="1487423"/>
                  </a:lnTo>
                  <a:lnTo>
                    <a:pt x="832104" y="1514856"/>
                  </a:lnTo>
                  <a:lnTo>
                    <a:pt x="867156" y="1411223"/>
                  </a:lnTo>
                  <a:lnTo>
                    <a:pt x="879348" y="1434083"/>
                  </a:lnTo>
                  <a:lnTo>
                    <a:pt x="891540" y="1380744"/>
                  </a:lnTo>
                  <a:lnTo>
                    <a:pt x="903732" y="1331976"/>
                  </a:lnTo>
                  <a:lnTo>
                    <a:pt x="914400" y="1350264"/>
                  </a:lnTo>
                  <a:lnTo>
                    <a:pt x="950976" y="1415795"/>
                  </a:lnTo>
                  <a:lnTo>
                    <a:pt x="963168" y="1459991"/>
                  </a:lnTo>
                  <a:lnTo>
                    <a:pt x="973836" y="1411223"/>
                  </a:lnTo>
                  <a:lnTo>
                    <a:pt x="986028" y="1449323"/>
                  </a:lnTo>
                  <a:lnTo>
                    <a:pt x="998219" y="1481327"/>
                  </a:lnTo>
                  <a:lnTo>
                    <a:pt x="1033272" y="1502664"/>
                  </a:lnTo>
                  <a:lnTo>
                    <a:pt x="1045463" y="1559052"/>
                  </a:lnTo>
                  <a:lnTo>
                    <a:pt x="1057656" y="1473708"/>
                  </a:lnTo>
                  <a:lnTo>
                    <a:pt x="1117092" y="1443227"/>
                  </a:lnTo>
                  <a:lnTo>
                    <a:pt x="1129284" y="1426464"/>
                  </a:lnTo>
                  <a:lnTo>
                    <a:pt x="1141476" y="1368552"/>
                  </a:lnTo>
                  <a:lnTo>
                    <a:pt x="1152144" y="1368552"/>
                  </a:lnTo>
                  <a:lnTo>
                    <a:pt x="1164336" y="1214627"/>
                  </a:lnTo>
                  <a:lnTo>
                    <a:pt x="1200912" y="1281683"/>
                  </a:lnTo>
                  <a:lnTo>
                    <a:pt x="1211580" y="1239012"/>
                  </a:lnTo>
                  <a:lnTo>
                    <a:pt x="1223772" y="1275588"/>
                  </a:lnTo>
                  <a:lnTo>
                    <a:pt x="1235964" y="1187195"/>
                  </a:lnTo>
                  <a:lnTo>
                    <a:pt x="1248156" y="1248156"/>
                  </a:lnTo>
                  <a:lnTo>
                    <a:pt x="1283208" y="1283208"/>
                  </a:lnTo>
                  <a:lnTo>
                    <a:pt x="1295400" y="1271015"/>
                  </a:lnTo>
                  <a:lnTo>
                    <a:pt x="1307592" y="1277112"/>
                  </a:lnTo>
                  <a:lnTo>
                    <a:pt x="1319784" y="1318259"/>
                  </a:lnTo>
                  <a:lnTo>
                    <a:pt x="1330452" y="1257300"/>
                  </a:lnTo>
                  <a:lnTo>
                    <a:pt x="1367028" y="1167384"/>
                  </a:lnTo>
                  <a:lnTo>
                    <a:pt x="1379220" y="1002791"/>
                  </a:lnTo>
                  <a:lnTo>
                    <a:pt x="1391412" y="941831"/>
                  </a:lnTo>
                  <a:lnTo>
                    <a:pt x="1402080" y="954024"/>
                  </a:lnTo>
                  <a:lnTo>
                    <a:pt x="1414272" y="917448"/>
                  </a:lnTo>
                  <a:lnTo>
                    <a:pt x="1450848" y="827531"/>
                  </a:lnTo>
                  <a:lnTo>
                    <a:pt x="1473708" y="934212"/>
                  </a:lnTo>
                  <a:lnTo>
                    <a:pt x="1485900" y="989076"/>
                  </a:lnTo>
                  <a:lnTo>
                    <a:pt x="1498092" y="1025651"/>
                  </a:lnTo>
                  <a:lnTo>
                    <a:pt x="1533144" y="970788"/>
                  </a:lnTo>
                  <a:lnTo>
                    <a:pt x="1545336" y="1043939"/>
                  </a:lnTo>
                  <a:lnTo>
                    <a:pt x="1557528" y="978407"/>
                  </a:lnTo>
                  <a:lnTo>
                    <a:pt x="1569720" y="958595"/>
                  </a:lnTo>
                  <a:lnTo>
                    <a:pt x="1580388" y="984503"/>
                  </a:lnTo>
                  <a:lnTo>
                    <a:pt x="1616964" y="999743"/>
                  </a:lnTo>
                  <a:lnTo>
                    <a:pt x="1629156" y="693419"/>
                  </a:lnTo>
                  <a:lnTo>
                    <a:pt x="1639824" y="626363"/>
                  </a:lnTo>
                  <a:lnTo>
                    <a:pt x="1652016" y="525779"/>
                  </a:lnTo>
                  <a:lnTo>
                    <a:pt x="1664208" y="533400"/>
                  </a:lnTo>
                  <a:lnTo>
                    <a:pt x="1699260" y="678179"/>
                  </a:lnTo>
                  <a:lnTo>
                    <a:pt x="1711452" y="740663"/>
                  </a:lnTo>
                  <a:lnTo>
                    <a:pt x="1723644" y="682751"/>
                  </a:lnTo>
                  <a:lnTo>
                    <a:pt x="1735836" y="632460"/>
                  </a:lnTo>
                  <a:lnTo>
                    <a:pt x="1748028" y="562355"/>
                  </a:lnTo>
                  <a:lnTo>
                    <a:pt x="1783080" y="749807"/>
                  </a:lnTo>
                  <a:lnTo>
                    <a:pt x="1795272" y="829055"/>
                  </a:lnTo>
                  <a:lnTo>
                    <a:pt x="1807464" y="754379"/>
                  </a:lnTo>
                  <a:lnTo>
                    <a:pt x="1818132" y="617219"/>
                  </a:lnTo>
                  <a:lnTo>
                    <a:pt x="1830324" y="758951"/>
                  </a:lnTo>
                  <a:lnTo>
                    <a:pt x="1866900" y="868679"/>
                  </a:lnTo>
                  <a:lnTo>
                    <a:pt x="1877568" y="826007"/>
                  </a:lnTo>
                  <a:lnTo>
                    <a:pt x="1889760" y="754379"/>
                  </a:lnTo>
                  <a:lnTo>
                    <a:pt x="1901952" y="737615"/>
                  </a:lnTo>
                  <a:lnTo>
                    <a:pt x="1914144" y="583691"/>
                  </a:lnTo>
                  <a:lnTo>
                    <a:pt x="1949196" y="534924"/>
                  </a:lnTo>
                  <a:lnTo>
                    <a:pt x="1961388" y="534924"/>
                  </a:lnTo>
                  <a:lnTo>
                    <a:pt x="1973580" y="576072"/>
                  </a:lnTo>
                  <a:lnTo>
                    <a:pt x="1985772" y="600455"/>
                  </a:lnTo>
                  <a:lnTo>
                    <a:pt x="1996440" y="713231"/>
                  </a:lnTo>
                  <a:lnTo>
                    <a:pt x="2033016" y="627888"/>
                  </a:lnTo>
                  <a:lnTo>
                    <a:pt x="2045208" y="690372"/>
                  </a:lnTo>
                  <a:lnTo>
                    <a:pt x="2055876" y="748284"/>
                  </a:lnTo>
                  <a:lnTo>
                    <a:pt x="2068068" y="627888"/>
                  </a:lnTo>
                  <a:lnTo>
                    <a:pt x="2080260" y="623315"/>
                  </a:lnTo>
                  <a:lnTo>
                    <a:pt x="2115312" y="653795"/>
                  </a:lnTo>
                  <a:lnTo>
                    <a:pt x="2127504" y="707136"/>
                  </a:lnTo>
                  <a:lnTo>
                    <a:pt x="2139696" y="536448"/>
                  </a:lnTo>
                  <a:lnTo>
                    <a:pt x="2151888" y="755903"/>
                  </a:lnTo>
                  <a:lnTo>
                    <a:pt x="2164080" y="672084"/>
                  </a:lnTo>
                  <a:lnTo>
                    <a:pt x="2199132" y="620267"/>
                  </a:lnTo>
                  <a:lnTo>
                    <a:pt x="2211324" y="621791"/>
                  </a:lnTo>
                  <a:lnTo>
                    <a:pt x="2223516" y="652272"/>
                  </a:lnTo>
                  <a:lnTo>
                    <a:pt x="2235708" y="662939"/>
                  </a:lnTo>
                  <a:lnTo>
                    <a:pt x="2246376" y="589788"/>
                  </a:lnTo>
                  <a:lnTo>
                    <a:pt x="2282952" y="562355"/>
                  </a:lnTo>
                  <a:lnTo>
                    <a:pt x="2295144" y="518160"/>
                  </a:lnTo>
                  <a:lnTo>
                    <a:pt x="2305812" y="466343"/>
                  </a:lnTo>
                  <a:lnTo>
                    <a:pt x="2318004" y="402336"/>
                  </a:lnTo>
                  <a:lnTo>
                    <a:pt x="2330196" y="248412"/>
                  </a:lnTo>
                  <a:lnTo>
                    <a:pt x="2365248" y="280415"/>
                  </a:lnTo>
                  <a:lnTo>
                    <a:pt x="2377440" y="448055"/>
                  </a:lnTo>
                  <a:lnTo>
                    <a:pt x="2389632" y="501395"/>
                  </a:lnTo>
                  <a:lnTo>
                    <a:pt x="2401824" y="464819"/>
                  </a:lnTo>
                  <a:lnTo>
                    <a:pt x="2414016" y="417575"/>
                  </a:lnTo>
                  <a:lnTo>
                    <a:pt x="2449068" y="531876"/>
                  </a:lnTo>
                  <a:lnTo>
                    <a:pt x="2461260" y="388619"/>
                  </a:lnTo>
                  <a:lnTo>
                    <a:pt x="2473452" y="376427"/>
                  </a:lnTo>
                  <a:lnTo>
                    <a:pt x="2484120" y="475488"/>
                  </a:lnTo>
                  <a:lnTo>
                    <a:pt x="2496312" y="489203"/>
                  </a:lnTo>
                  <a:lnTo>
                    <a:pt x="2532888" y="531876"/>
                  </a:lnTo>
                  <a:lnTo>
                    <a:pt x="2543556" y="387095"/>
                  </a:lnTo>
                  <a:lnTo>
                    <a:pt x="2555748" y="211836"/>
                  </a:lnTo>
                  <a:lnTo>
                    <a:pt x="2567940" y="298703"/>
                  </a:lnTo>
                  <a:lnTo>
                    <a:pt x="2580132" y="228600"/>
                  </a:lnTo>
                  <a:lnTo>
                    <a:pt x="2615184" y="310895"/>
                  </a:lnTo>
                  <a:lnTo>
                    <a:pt x="2627376" y="260603"/>
                  </a:lnTo>
                  <a:lnTo>
                    <a:pt x="2639568" y="394715"/>
                  </a:lnTo>
                  <a:lnTo>
                    <a:pt x="2651760" y="391667"/>
                  </a:lnTo>
                  <a:lnTo>
                    <a:pt x="2662428" y="382524"/>
                  </a:lnTo>
                  <a:lnTo>
                    <a:pt x="2699004" y="332231"/>
                  </a:lnTo>
                  <a:lnTo>
                    <a:pt x="2711196" y="348995"/>
                  </a:lnTo>
                  <a:lnTo>
                    <a:pt x="2734056" y="269748"/>
                  </a:lnTo>
                  <a:lnTo>
                    <a:pt x="2746248" y="271272"/>
                  </a:lnTo>
                  <a:lnTo>
                    <a:pt x="2781300" y="234695"/>
                  </a:lnTo>
                  <a:lnTo>
                    <a:pt x="2793491" y="236219"/>
                  </a:lnTo>
                  <a:lnTo>
                    <a:pt x="2817876" y="164591"/>
                  </a:lnTo>
                  <a:lnTo>
                    <a:pt x="2830068" y="44195"/>
                  </a:lnTo>
                  <a:lnTo>
                    <a:pt x="2865120" y="0"/>
                  </a:lnTo>
                  <a:lnTo>
                    <a:pt x="2877312" y="68579"/>
                  </a:lnTo>
                  <a:lnTo>
                    <a:pt x="2889504" y="70103"/>
                  </a:lnTo>
                  <a:lnTo>
                    <a:pt x="2900172" y="27431"/>
                  </a:lnTo>
                  <a:lnTo>
                    <a:pt x="2912364" y="28955"/>
                  </a:lnTo>
                  <a:lnTo>
                    <a:pt x="2948940" y="68579"/>
                  </a:lnTo>
                  <a:lnTo>
                    <a:pt x="2959608" y="3048"/>
                  </a:lnTo>
                  <a:lnTo>
                    <a:pt x="2971800" y="102107"/>
                  </a:lnTo>
                  <a:lnTo>
                    <a:pt x="2983991" y="77724"/>
                  </a:lnTo>
                  <a:lnTo>
                    <a:pt x="2996184" y="99060"/>
                  </a:lnTo>
                  <a:lnTo>
                    <a:pt x="3031236" y="100584"/>
                  </a:lnTo>
                  <a:lnTo>
                    <a:pt x="3043428" y="32003"/>
                  </a:lnTo>
                  <a:lnTo>
                    <a:pt x="3055620" y="39624"/>
                  </a:lnTo>
                  <a:lnTo>
                    <a:pt x="3080004" y="102107"/>
                  </a:lnTo>
                  <a:lnTo>
                    <a:pt x="3115056" y="144779"/>
                  </a:lnTo>
                  <a:lnTo>
                    <a:pt x="3127248" y="178307"/>
                  </a:lnTo>
                  <a:lnTo>
                    <a:pt x="3139440" y="144779"/>
                  </a:lnTo>
                  <a:lnTo>
                    <a:pt x="3162300" y="269748"/>
                  </a:lnTo>
                  <a:lnTo>
                    <a:pt x="3198876" y="265175"/>
                  </a:lnTo>
                  <a:lnTo>
                    <a:pt x="3209544" y="263651"/>
                  </a:lnTo>
                  <a:lnTo>
                    <a:pt x="3221736" y="292607"/>
                  </a:lnTo>
                  <a:lnTo>
                    <a:pt x="3233928" y="359663"/>
                  </a:lnTo>
                  <a:lnTo>
                    <a:pt x="3246120" y="316991"/>
                  </a:lnTo>
                  <a:lnTo>
                    <a:pt x="3281172" y="361188"/>
                  </a:lnTo>
                  <a:lnTo>
                    <a:pt x="3305556" y="362712"/>
                  </a:lnTo>
                  <a:lnTo>
                    <a:pt x="3317748" y="399288"/>
                  </a:lnTo>
                  <a:lnTo>
                    <a:pt x="3328416" y="490727"/>
                  </a:lnTo>
                  <a:lnTo>
                    <a:pt x="3364991" y="563879"/>
                  </a:lnTo>
                  <a:lnTo>
                    <a:pt x="3377184" y="675131"/>
                  </a:lnTo>
                  <a:lnTo>
                    <a:pt x="3387852" y="627888"/>
                  </a:lnTo>
                  <a:lnTo>
                    <a:pt x="3400044" y="804672"/>
                  </a:lnTo>
                  <a:lnTo>
                    <a:pt x="3412236" y="862584"/>
                  </a:lnTo>
                  <a:lnTo>
                    <a:pt x="3447288" y="606551"/>
                  </a:lnTo>
                  <a:lnTo>
                    <a:pt x="3459480" y="460248"/>
                  </a:lnTo>
                  <a:lnTo>
                    <a:pt x="3471672" y="480060"/>
                  </a:lnTo>
                  <a:lnTo>
                    <a:pt x="3496056" y="665988"/>
                  </a:lnTo>
                  <a:lnTo>
                    <a:pt x="3531108" y="638555"/>
                  </a:lnTo>
                  <a:lnTo>
                    <a:pt x="3543300" y="673607"/>
                  </a:lnTo>
                  <a:lnTo>
                    <a:pt x="3555491" y="813815"/>
                  </a:lnTo>
                </a:path>
              </a:pathLst>
            </a:custGeom>
            <a:ln w="27432">
              <a:solidFill>
                <a:srgbClr val="A2116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372356" y="3236976"/>
              <a:ext cx="807720" cy="390525"/>
            </a:xfrm>
            <a:custGeom>
              <a:avLst/>
              <a:gdLst/>
              <a:ahLst/>
              <a:cxnLst/>
              <a:rect l="l" t="t" r="r" b="b"/>
              <a:pathLst>
                <a:path w="807720" h="390525">
                  <a:moveTo>
                    <a:pt x="0" y="0"/>
                  </a:moveTo>
                  <a:lnTo>
                    <a:pt x="10668" y="167639"/>
                  </a:lnTo>
                  <a:lnTo>
                    <a:pt x="22860" y="42672"/>
                  </a:lnTo>
                  <a:lnTo>
                    <a:pt x="59436" y="146303"/>
                  </a:lnTo>
                  <a:lnTo>
                    <a:pt x="70104" y="224027"/>
                  </a:lnTo>
                  <a:lnTo>
                    <a:pt x="82296" y="118872"/>
                  </a:lnTo>
                  <a:lnTo>
                    <a:pt x="94488" y="164591"/>
                  </a:lnTo>
                  <a:lnTo>
                    <a:pt x="106680" y="237744"/>
                  </a:lnTo>
                  <a:lnTo>
                    <a:pt x="141732" y="268224"/>
                  </a:lnTo>
                  <a:lnTo>
                    <a:pt x="153924" y="373380"/>
                  </a:lnTo>
                  <a:lnTo>
                    <a:pt x="188976" y="246887"/>
                  </a:lnTo>
                  <a:lnTo>
                    <a:pt x="225552" y="172212"/>
                  </a:lnTo>
                  <a:lnTo>
                    <a:pt x="237744" y="188975"/>
                  </a:lnTo>
                  <a:lnTo>
                    <a:pt x="248412" y="224027"/>
                  </a:lnTo>
                  <a:lnTo>
                    <a:pt x="260604" y="248412"/>
                  </a:lnTo>
                  <a:lnTo>
                    <a:pt x="272796" y="228600"/>
                  </a:lnTo>
                  <a:lnTo>
                    <a:pt x="309372" y="243839"/>
                  </a:lnTo>
                  <a:lnTo>
                    <a:pt x="320040" y="306324"/>
                  </a:lnTo>
                  <a:lnTo>
                    <a:pt x="332232" y="388619"/>
                  </a:lnTo>
                  <a:lnTo>
                    <a:pt x="344424" y="318515"/>
                  </a:lnTo>
                  <a:lnTo>
                    <a:pt x="391668" y="355091"/>
                  </a:lnTo>
                  <a:lnTo>
                    <a:pt x="403860" y="390144"/>
                  </a:lnTo>
                  <a:lnTo>
                    <a:pt x="416052" y="222503"/>
                  </a:lnTo>
                  <a:lnTo>
                    <a:pt x="428244" y="233172"/>
                  </a:lnTo>
                  <a:lnTo>
                    <a:pt x="438912" y="65532"/>
                  </a:lnTo>
                  <a:lnTo>
                    <a:pt x="475488" y="80772"/>
                  </a:lnTo>
                  <a:lnTo>
                    <a:pt x="487680" y="68579"/>
                  </a:lnTo>
                  <a:lnTo>
                    <a:pt x="498348" y="121920"/>
                  </a:lnTo>
                  <a:lnTo>
                    <a:pt x="510540" y="60960"/>
                  </a:lnTo>
                  <a:lnTo>
                    <a:pt x="522732" y="131063"/>
                  </a:lnTo>
                  <a:lnTo>
                    <a:pt x="557784" y="234696"/>
                  </a:lnTo>
                  <a:lnTo>
                    <a:pt x="569976" y="181356"/>
                  </a:lnTo>
                  <a:lnTo>
                    <a:pt x="582168" y="188975"/>
                  </a:lnTo>
                  <a:lnTo>
                    <a:pt x="594360" y="160020"/>
                  </a:lnTo>
                  <a:lnTo>
                    <a:pt x="606552" y="167639"/>
                  </a:lnTo>
                  <a:lnTo>
                    <a:pt x="641604" y="153924"/>
                  </a:lnTo>
                  <a:lnTo>
                    <a:pt x="653796" y="57912"/>
                  </a:lnTo>
                  <a:lnTo>
                    <a:pt x="665988" y="103632"/>
                  </a:lnTo>
                  <a:lnTo>
                    <a:pt x="676656" y="123444"/>
                  </a:lnTo>
                  <a:lnTo>
                    <a:pt x="688848" y="179832"/>
                  </a:lnTo>
                  <a:lnTo>
                    <a:pt x="725424" y="15239"/>
                  </a:lnTo>
                  <a:lnTo>
                    <a:pt x="748284" y="25908"/>
                  </a:lnTo>
                  <a:lnTo>
                    <a:pt x="760476" y="134112"/>
                  </a:lnTo>
                  <a:lnTo>
                    <a:pt x="772668" y="62484"/>
                  </a:lnTo>
                  <a:lnTo>
                    <a:pt x="807720" y="15239"/>
                  </a:lnTo>
                </a:path>
              </a:pathLst>
            </a:custGeom>
            <a:ln w="27432">
              <a:solidFill>
                <a:srgbClr val="A2116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3" name="object 6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872" y="4836033"/>
            <a:ext cx="319455" cy="345439"/>
          </a:xfrm>
          <a:prstGeom prst="rect">
            <a:avLst/>
          </a:prstGeom>
        </p:spPr>
      </p:pic>
      <p:grpSp>
        <p:nvGrpSpPr>
          <p:cNvPr id="64" name="object 64" descr=""/>
          <p:cNvGrpSpPr/>
          <p:nvPr/>
        </p:nvGrpSpPr>
        <p:grpSpPr>
          <a:xfrm>
            <a:off x="865377" y="4842383"/>
            <a:ext cx="4331970" cy="339090"/>
            <a:chOff x="865377" y="4842383"/>
            <a:chExt cx="4331970" cy="339090"/>
          </a:xfrm>
        </p:grpSpPr>
        <p:pic>
          <p:nvPicPr>
            <p:cNvPr id="65" name="object 6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377" y="4842764"/>
              <a:ext cx="692912" cy="335280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0801" y="4842764"/>
              <a:ext cx="693039" cy="335280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6099" y="4842764"/>
              <a:ext cx="693165" cy="335280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1523" y="4842764"/>
              <a:ext cx="336169" cy="335280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10204" y="4842764"/>
              <a:ext cx="692785" cy="335280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38675" y="4842383"/>
              <a:ext cx="689990" cy="339089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64099" y="4842383"/>
              <a:ext cx="332994" cy="339089"/>
            </a:xfrm>
            <a:prstGeom prst="rect">
              <a:avLst/>
            </a:prstGeom>
          </p:spPr>
        </p:pic>
      </p:grpSp>
      <p:sp>
        <p:nvSpPr>
          <p:cNvPr id="72" name="object 72" descr=""/>
          <p:cNvSpPr/>
          <p:nvPr/>
        </p:nvSpPr>
        <p:spPr>
          <a:xfrm>
            <a:off x="1860804" y="540105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7432">
            <a:solidFill>
              <a:srgbClr val="B4C6E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 txBox="1"/>
          <p:nvPr/>
        </p:nvSpPr>
        <p:spPr>
          <a:xfrm>
            <a:off x="2118486" y="5307838"/>
            <a:ext cx="4210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Nifty</a:t>
            </a:r>
            <a:r>
              <a:rPr dirty="0" sz="900" spc="-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-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 spc="-35">
                <a:latin typeface="Calibri"/>
                <a:cs typeface="Calibri"/>
              </a:rPr>
              <a:t>IT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2659379" y="540105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7432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2917063" y="5307838"/>
            <a:ext cx="2514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Nifty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6" name="object 76" descr=""/>
          <p:cNvSpPr/>
          <p:nvPr/>
        </p:nvSpPr>
        <p:spPr>
          <a:xfrm>
            <a:off x="3313176" y="540105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7432">
            <a:solidFill>
              <a:srgbClr val="A2116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 txBox="1"/>
          <p:nvPr/>
        </p:nvSpPr>
        <p:spPr>
          <a:xfrm>
            <a:off x="3570223" y="5307838"/>
            <a:ext cx="4133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Mphasis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8" name="object 7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79" name="object 7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328545">
              <a:lnSpc>
                <a:spcPct val="100000"/>
              </a:lnSpc>
              <a:spcBef>
                <a:spcPts val="100"/>
              </a:spcBef>
            </a:pPr>
            <a:r>
              <a:rPr dirty="0" u="none" spc="-10" i="1">
                <a:latin typeface="Corbel"/>
                <a:cs typeface="Corbel"/>
              </a:rPr>
              <a:t>Corporate</a:t>
            </a:r>
            <a:r>
              <a:rPr dirty="0" u="none" spc="-110" i="1">
                <a:latin typeface="Corbel"/>
                <a:cs typeface="Corbel"/>
              </a:rPr>
              <a:t> </a:t>
            </a:r>
            <a:r>
              <a:rPr dirty="0" i="1">
                <a:latin typeface="Corbel"/>
                <a:cs typeface="Corbel"/>
              </a:rPr>
              <a:t>Strategy</a:t>
            </a:r>
            <a:r>
              <a:rPr dirty="0" spc="-40" i="1">
                <a:latin typeface="Corbel"/>
                <a:cs typeface="Corbel"/>
              </a:rPr>
              <a:t> </a:t>
            </a:r>
            <a:r>
              <a:rPr dirty="0" i="1">
                <a:latin typeface="Corbel"/>
                <a:cs typeface="Corbel"/>
              </a:rPr>
              <a:t>:</a:t>
            </a:r>
            <a:r>
              <a:rPr dirty="0" spc="-15" i="1">
                <a:latin typeface="Corbel"/>
                <a:cs typeface="Corbel"/>
              </a:rPr>
              <a:t> </a:t>
            </a:r>
            <a:r>
              <a:rPr dirty="0" i="1">
                <a:latin typeface="Corbel"/>
                <a:cs typeface="Corbel"/>
              </a:rPr>
              <a:t>Bring</a:t>
            </a:r>
            <a:r>
              <a:rPr dirty="0" spc="-15" i="1">
                <a:latin typeface="Corbel"/>
                <a:cs typeface="Corbel"/>
              </a:rPr>
              <a:t> </a:t>
            </a:r>
            <a:r>
              <a:rPr dirty="0" i="1">
                <a:latin typeface="Corbel"/>
                <a:cs typeface="Corbel"/>
              </a:rPr>
              <a:t>the</a:t>
            </a:r>
            <a:r>
              <a:rPr dirty="0" spc="-20" i="1">
                <a:latin typeface="Corbel"/>
                <a:cs typeface="Corbel"/>
              </a:rPr>
              <a:t> </a:t>
            </a:r>
            <a:r>
              <a:rPr dirty="0" i="1">
                <a:latin typeface="Corbel"/>
                <a:cs typeface="Corbel"/>
              </a:rPr>
              <a:t>“T”</a:t>
            </a:r>
            <a:r>
              <a:rPr dirty="0" u="none" spc="-15" i="1">
                <a:latin typeface="Corbel"/>
                <a:cs typeface="Corbel"/>
              </a:rPr>
              <a:t> </a:t>
            </a:r>
            <a:r>
              <a:rPr dirty="0" u="none" i="1">
                <a:latin typeface="Corbel"/>
                <a:cs typeface="Corbel"/>
              </a:rPr>
              <a:t>back</a:t>
            </a:r>
            <a:r>
              <a:rPr dirty="0" u="none" spc="-10" i="1">
                <a:latin typeface="Corbel"/>
                <a:cs typeface="Corbel"/>
              </a:rPr>
              <a:t> </a:t>
            </a:r>
            <a:r>
              <a:rPr dirty="0" u="none" i="1">
                <a:latin typeface="Corbel"/>
                <a:cs typeface="Corbel"/>
              </a:rPr>
              <a:t>into</a:t>
            </a:r>
            <a:r>
              <a:rPr dirty="0" u="none" spc="-15" i="1">
                <a:latin typeface="Corbel"/>
                <a:cs typeface="Corbel"/>
              </a:rPr>
              <a:t> </a:t>
            </a:r>
            <a:r>
              <a:rPr dirty="0" u="none" spc="-25" i="1">
                <a:latin typeface="Corbel"/>
                <a:cs typeface="Corbel"/>
              </a:rPr>
              <a:t>IT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629150" y="1602486"/>
            <a:ext cx="2225040" cy="809625"/>
          </a:xfrm>
          <a:prstGeom prst="rect">
            <a:avLst/>
          </a:prstGeom>
          <a:solidFill>
            <a:srgbClr val="BEBEBE"/>
          </a:solidFill>
          <a:ln w="25907">
            <a:solidFill>
              <a:srgbClr val="B51E6A"/>
            </a:solidFill>
          </a:ln>
        </p:spPr>
        <p:txBody>
          <a:bodyPr wrap="square" lIns="0" tIns="1784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dirty="0" sz="1400" b="1">
                <a:latin typeface="Corbel"/>
                <a:cs typeface="Corbel"/>
              </a:rPr>
              <a:t>Front</a:t>
            </a:r>
            <a:r>
              <a:rPr dirty="0" sz="1400" spc="-3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2 </a:t>
            </a:r>
            <a:r>
              <a:rPr dirty="0" sz="1400" spc="-20" b="1">
                <a:latin typeface="Corbel"/>
                <a:cs typeface="Corbel"/>
              </a:rPr>
              <a:t>Back</a:t>
            </a:r>
            <a:endParaRPr sz="1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latin typeface="Corbel"/>
                <a:cs typeface="Corbel"/>
              </a:rPr>
              <a:t>Transformation</a:t>
            </a:r>
            <a:r>
              <a:rPr dirty="0" sz="1400" spc="-60" b="1">
                <a:latin typeface="Corbel"/>
                <a:cs typeface="Corbel"/>
              </a:rPr>
              <a:t> </a:t>
            </a:r>
            <a:r>
              <a:rPr dirty="0" sz="1400" spc="-20" b="1">
                <a:latin typeface="Corbel"/>
                <a:cs typeface="Corbel"/>
              </a:rPr>
              <a:t>(F2B)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627626" y="2658617"/>
            <a:ext cx="2225040" cy="810895"/>
          </a:xfrm>
          <a:prstGeom prst="rect">
            <a:avLst/>
          </a:prstGeom>
          <a:solidFill>
            <a:srgbClr val="BDE7E4"/>
          </a:solidFill>
          <a:ln w="25907">
            <a:solidFill>
              <a:srgbClr val="B51E6A"/>
            </a:solidFill>
          </a:ln>
        </p:spPr>
        <p:txBody>
          <a:bodyPr wrap="square" lIns="0" tIns="179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dirty="0" sz="1400" spc="-10" b="1">
                <a:latin typeface="Corbel"/>
                <a:cs typeface="Corbel"/>
              </a:rPr>
              <a:t>Service</a:t>
            </a:r>
            <a:r>
              <a:rPr dirty="0" sz="1400" spc="-8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Transformation</a:t>
            </a:r>
            <a:endParaRPr sz="1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 spc="-20" b="1">
                <a:latin typeface="Corbel"/>
                <a:cs typeface="Corbel"/>
              </a:rPr>
              <a:t>(ST)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230879" y="1961388"/>
            <a:ext cx="1024255" cy="1932939"/>
            <a:chOff x="3230879" y="1961388"/>
            <a:chExt cx="1024255" cy="1932939"/>
          </a:xfrm>
        </p:grpSpPr>
        <p:sp>
          <p:nvSpPr>
            <p:cNvPr id="6" name="object 6" descr=""/>
            <p:cNvSpPr/>
            <p:nvPr/>
          </p:nvSpPr>
          <p:spPr>
            <a:xfrm>
              <a:off x="3235451" y="1965960"/>
              <a:ext cx="1015365" cy="1923414"/>
            </a:xfrm>
            <a:custGeom>
              <a:avLst/>
              <a:gdLst/>
              <a:ahLst/>
              <a:cxnLst/>
              <a:rect l="l" t="t" r="r" b="b"/>
              <a:pathLst>
                <a:path w="1015364" h="1923414">
                  <a:moveTo>
                    <a:pt x="0" y="1923288"/>
                  </a:moveTo>
                  <a:lnTo>
                    <a:pt x="1014984" y="1923288"/>
                  </a:lnTo>
                  <a:lnTo>
                    <a:pt x="1014984" y="0"/>
                  </a:lnTo>
                  <a:lnTo>
                    <a:pt x="0" y="0"/>
                  </a:lnTo>
                  <a:lnTo>
                    <a:pt x="0" y="1923288"/>
                  </a:lnTo>
                  <a:close/>
                </a:path>
              </a:pathLst>
            </a:custGeom>
            <a:ln w="9144">
              <a:solidFill>
                <a:srgbClr val="B51E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8895" y="2100072"/>
              <a:ext cx="350519" cy="166420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4467" y="2116836"/>
              <a:ext cx="350520" cy="1664208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3021329" y="3905250"/>
            <a:ext cx="1388110" cy="387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">
              <a:lnSpc>
                <a:spcPts val="1185"/>
              </a:lnSpc>
              <a:spcBef>
                <a:spcPts val="95"/>
              </a:spcBef>
            </a:pPr>
            <a:r>
              <a:rPr dirty="0" sz="1000" i="1">
                <a:latin typeface="Corbel"/>
                <a:cs typeface="Corbel"/>
              </a:rPr>
              <a:t>Powered</a:t>
            </a:r>
            <a:r>
              <a:rPr dirty="0" sz="1000" spc="-40" i="1">
                <a:latin typeface="Corbel"/>
                <a:cs typeface="Corbel"/>
              </a:rPr>
              <a:t> </a:t>
            </a:r>
            <a:r>
              <a:rPr dirty="0" sz="1000" spc="-25" i="1">
                <a:latin typeface="Corbel"/>
                <a:cs typeface="Corbel"/>
              </a:rPr>
              <a:t>by</a:t>
            </a:r>
            <a:endParaRPr sz="1000">
              <a:latin typeface="Corbel"/>
              <a:cs typeface="Corbel"/>
            </a:endParaRPr>
          </a:p>
          <a:p>
            <a:pPr algn="ctr">
              <a:lnSpc>
                <a:spcPts val="1664"/>
              </a:lnSpc>
            </a:pPr>
            <a:r>
              <a:rPr dirty="0" sz="1400" b="1">
                <a:latin typeface="Corbel"/>
                <a:cs typeface="Corbel"/>
              </a:rPr>
              <a:t>Cloud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&amp;</a:t>
            </a:r>
            <a:r>
              <a:rPr dirty="0" sz="1400" spc="-7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Cognitive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45222" y="2071877"/>
            <a:ext cx="17538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rbel"/>
                <a:cs typeface="Corbel"/>
              </a:rPr>
              <a:t>1.</a:t>
            </a:r>
            <a:r>
              <a:rPr dirty="0" sz="1400" spc="-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Strategic</a:t>
            </a:r>
            <a:r>
              <a:rPr dirty="0" sz="1400" spc="-4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Customers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245222" y="2859405"/>
            <a:ext cx="17341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rbel"/>
                <a:cs typeface="Corbel"/>
              </a:rPr>
              <a:t>2.</a:t>
            </a:r>
            <a:r>
              <a:rPr dirty="0" sz="1400" spc="20" b="1">
                <a:latin typeface="Corbel"/>
                <a:cs typeface="Corbel"/>
              </a:rPr>
              <a:t> </a:t>
            </a:r>
            <a:r>
              <a:rPr dirty="0" sz="1400" spc="-20" b="1">
                <a:latin typeface="Corbel"/>
                <a:cs typeface="Corbel"/>
              </a:rPr>
              <a:t>HP/DXC</a:t>
            </a:r>
            <a:r>
              <a:rPr dirty="0" sz="1400" spc="-12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Technology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245222" y="3628135"/>
            <a:ext cx="17602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rbel"/>
                <a:cs typeface="Corbel"/>
              </a:rPr>
              <a:t>3.</a:t>
            </a:r>
            <a:r>
              <a:rPr dirty="0" sz="1400" spc="-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Blackstone</a:t>
            </a:r>
            <a:r>
              <a:rPr dirty="0" sz="1400" spc="-4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Portfolio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245222" y="4415790"/>
            <a:ext cx="19335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rbel"/>
                <a:cs typeface="Corbel"/>
              </a:rPr>
              <a:t>4.</a:t>
            </a:r>
            <a:r>
              <a:rPr dirty="0" sz="1400" spc="1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New</a:t>
            </a:r>
            <a:r>
              <a:rPr dirty="0" sz="1400" spc="-7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Client</a:t>
            </a:r>
            <a:r>
              <a:rPr dirty="0" sz="1400" spc="-7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Acquisition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635246" y="4775453"/>
            <a:ext cx="2225040" cy="810895"/>
          </a:xfrm>
          <a:prstGeom prst="rect">
            <a:avLst/>
          </a:prstGeom>
          <a:solidFill>
            <a:srgbClr val="9FB4D3"/>
          </a:solidFill>
          <a:ln w="25907">
            <a:solidFill>
              <a:srgbClr val="B51E6A"/>
            </a:solidFill>
          </a:ln>
        </p:spPr>
        <p:txBody>
          <a:bodyPr wrap="square" lIns="0" tIns="831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5"/>
              </a:spcBef>
            </a:pPr>
            <a:endParaRPr sz="14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</a:pPr>
            <a:r>
              <a:rPr dirty="0" sz="1400" spc="-20" b="1">
                <a:latin typeface="Corbel"/>
                <a:cs typeface="Corbel"/>
              </a:rPr>
              <a:t>Traditional</a:t>
            </a:r>
            <a:r>
              <a:rPr dirty="0" sz="1400" spc="3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Services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26300" y="1596389"/>
            <a:ext cx="2713355" cy="4003040"/>
            <a:chOff x="626300" y="1596389"/>
            <a:chExt cx="2713355" cy="4003040"/>
          </a:xfrm>
        </p:grpSpPr>
        <p:sp>
          <p:nvSpPr>
            <p:cNvPr id="16" name="object 16" descr=""/>
            <p:cNvSpPr/>
            <p:nvPr/>
          </p:nvSpPr>
          <p:spPr>
            <a:xfrm>
              <a:off x="639317" y="4563617"/>
              <a:ext cx="2687320" cy="1022985"/>
            </a:xfrm>
            <a:custGeom>
              <a:avLst/>
              <a:gdLst/>
              <a:ahLst/>
              <a:cxnLst/>
              <a:rect l="l" t="t" r="r" b="b"/>
              <a:pathLst>
                <a:path w="2687320" h="1022985">
                  <a:moveTo>
                    <a:pt x="2686811" y="0"/>
                  </a:moveTo>
                  <a:lnTo>
                    <a:pt x="0" y="0"/>
                  </a:lnTo>
                  <a:lnTo>
                    <a:pt x="0" y="1022603"/>
                  </a:lnTo>
                  <a:lnTo>
                    <a:pt x="2686811" y="1022603"/>
                  </a:lnTo>
                  <a:lnTo>
                    <a:pt x="2686811" y="0"/>
                  </a:lnTo>
                  <a:close/>
                </a:path>
              </a:pathLst>
            </a:custGeom>
            <a:solidFill>
              <a:srgbClr val="CCE9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39317" y="4563617"/>
              <a:ext cx="2687320" cy="1022985"/>
            </a:xfrm>
            <a:custGeom>
              <a:avLst/>
              <a:gdLst/>
              <a:ahLst/>
              <a:cxnLst/>
              <a:rect l="l" t="t" r="r" b="b"/>
              <a:pathLst>
                <a:path w="2687320" h="1022985">
                  <a:moveTo>
                    <a:pt x="0" y="1022603"/>
                  </a:moveTo>
                  <a:lnTo>
                    <a:pt x="2686811" y="1022603"/>
                  </a:lnTo>
                  <a:lnTo>
                    <a:pt x="2686811" y="0"/>
                  </a:lnTo>
                  <a:lnTo>
                    <a:pt x="0" y="0"/>
                  </a:lnTo>
                  <a:lnTo>
                    <a:pt x="0" y="1022603"/>
                  </a:lnTo>
                  <a:close/>
                </a:path>
              </a:pathLst>
            </a:custGeom>
            <a:ln w="25908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22069" y="1596389"/>
              <a:ext cx="1403985" cy="2931160"/>
            </a:xfrm>
            <a:custGeom>
              <a:avLst/>
              <a:gdLst/>
              <a:ahLst/>
              <a:cxnLst/>
              <a:rect l="l" t="t" r="r" b="b"/>
              <a:pathLst>
                <a:path w="1403985" h="2931160">
                  <a:moveTo>
                    <a:pt x="1403604" y="0"/>
                  </a:moveTo>
                  <a:lnTo>
                    <a:pt x="0" y="0"/>
                  </a:lnTo>
                  <a:lnTo>
                    <a:pt x="0" y="2930651"/>
                  </a:lnTo>
                  <a:lnTo>
                    <a:pt x="1403604" y="2930651"/>
                  </a:lnTo>
                  <a:lnTo>
                    <a:pt x="1403604" y="0"/>
                  </a:lnTo>
                  <a:close/>
                </a:path>
              </a:pathLst>
            </a:custGeom>
            <a:solidFill>
              <a:srgbClr val="FBDB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322069" y="1596389"/>
            <a:ext cx="1403985" cy="2931160"/>
          </a:xfrm>
          <a:prstGeom prst="rect">
            <a:avLst/>
          </a:prstGeom>
          <a:ln w="25908">
            <a:solidFill>
              <a:srgbClr val="B51E6A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365"/>
              </a:spcBef>
            </a:pPr>
            <a:r>
              <a:rPr dirty="0" sz="1400" spc="-10" b="1">
                <a:latin typeface="Corbel"/>
                <a:cs typeface="Corbel"/>
              </a:rPr>
              <a:t>Vertical</a:t>
            </a:r>
            <a:r>
              <a:rPr dirty="0" sz="1400" spc="-40" b="1">
                <a:latin typeface="Corbel"/>
                <a:cs typeface="Corbel"/>
              </a:rPr>
              <a:t> </a:t>
            </a:r>
            <a:r>
              <a:rPr dirty="0" sz="1400" spc="-20" b="1">
                <a:latin typeface="Corbel"/>
                <a:cs typeface="Corbel"/>
              </a:rPr>
              <a:t>Play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394269" y="2198941"/>
            <a:ext cx="171450" cy="2026285"/>
            <a:chOff x="1394269" y="2198941"/>
            <a:chExt cx="171450" cy="2026285"/>
          </a:xfrm>
        </p:grpSpPr>
        <p:sp>
          <p:nvSpPr>
            <p:cNvPr id="21" name="object 21" descr=""/>
            <p:cNvSpPr/>
            <p:nvPr/>
          </p:nvSpPr>
          <p:spPr>
            <a:xfrm>
              <a:off x="1399032" y="2203704"/>
              <a:ext cx="161925" cy="2016760"/>
            </a:xfrm>
            <a:custGeom>
              <a:avLst/>
              <a:gdLst/>
              <a:ahLst/>
              <a:cxnLst/>
              <a:rect l="l" t="t" r="r" b="b"/>
              <a:pathLst>
                <a:path w="161925" h="2016760">
                  <a:moveTo>
                    <a:pt x="161544" y="0"/>
                  </a:moveTo>
                  <a:lnTo>
                    <a:pt x="0" y="0"/>
                  </a:lnTo>
                  <a:lnTo>
                    <a:pt x="0" y="2016252"/>
                  </a:lnTo>
                  <a:lnTo>
                    <a:pt x="161544" y="2016252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99032" y="2203704"/>
              <a:ext cx="161925" cy="2016760"/>
            </a:xfrm>
            <a:custGeom>
              <a:avLst/>
              <a:gdLst/>
              <a:ahLst/>
              <a:cxnLst/>
              <a:rect l="l" t="t" r="r" b="b"/>
              <a:pathLst>
                <a:path w="161925" h="2016760">
                  <a:moveTo>
                    <a:pt x="0" y="2016252"/>
                  </a:moveTo>
                  <a:lnTo>
                    <a:pt x="161544" y="2016252"/>
                  </a:lnTo>
                  <a:lnTo>
                    <a:pt x="161544" y="0"/>
                  </a:lnTo>
                  <a:lnTo>
                    <a:pt x="0" y="0"/>
                  </a:lnTo>
                  <a:lnTo>
                    <a:pt x="0" y="2016252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420839" y="2679904"/>
            <a:ext cx="139700" cy="10668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b="1">
                <a:latin typeface="Corbel"/>
                <a:cs typeface="Corbel"/>
              </a:rPr>
              <a:t>Wealth</a:t>
            </a:r>
            <a:r>
              <a:rPr dirty="0" sz="900" spc="-30" b="1">
                <a:latin typeface="Corbel"/>
                <a:cs typeface="Corbel"/>
              </a:rPr>
              <a:t> </a:t>
            </a:r>
            <a:r>
              <a:rPr dirty="0" sz="900" spc="-10" b="1">
                <a:latin typeface="Corbel"/>
                <a:cs typeface="Corbel"/>
              </a:rPr>
              <a:t>Management</a:t>
            </a:r>
            <a:endParaRPr sz="900">
              <a:latin typeface="Corbel"/>
              <a:cs typeface="Corbe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920049" y="2198941"/>
            <a:ext cx="171450" cy="2026285"/>
            <a:chOff x="1920049" y="2198941"/>
            <a:chExt cx="171450" cy="2026285"/>
          </a:xfrm>
        </p:grpSpPr>
        <p:sp>
          <p:nvSpPr>
            <p:cNvPr id="25" name="object 25" descr=""/>
            <p:cNvSpPr/>
            <p:nvPr/>
          </p:nvSpPr>
          <p:spPr>
            <a:xfrm>
              <a:off x="1924811" y="2203704"/>
              <a:ext cx="161925" cy="2016760"/>
            </a:xfrm>
            <a:custGeom>
              <a:avLst/>
              <a:gdLst/>
              <a:ahLst/>
              <a:cxnLst/>
              <a:rect l="l" t="t" r="r" b="b"/>
              <a:pathLst>
                <a:path w="161925" h="2016760">
                  <a:moveTo>
                    <a:pt x="161544" y="0"/>
                  </a:moveTo>
                  <a:lnTo>
                    <a:pt x="0" y="0"/>
                  </a:lnTo>
                  <a:lnTo>
                    <a:pt x="0" y="2016252"/>
                  </a:lnTo>
                  <a:lnTo>
                    <a:pt x="161544" y="2016252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924811" y="2203704"/>
              <a:ext cx="161925" cy="2016760"/>
            </a:xfrm>
            <a:custGeom>
              <a:avLst/>
              <a:gdLst/>
              <a:ahLst/>
              <a:cxnLst/>
              <a:rect l="l" t="t" r="r" b="b"/>
              <a:pathLst>
                <a:path w="161925" h="2016760">
                  <a:moveTo>
                    <a:pt x="0" y="2016252"/>
                  </a:moveTo>
                  <a:lnTo>
                    <a:pt x="161544" y="2016252"/>
                  </a:lnTo>
                  <a:lnTo>
                    <a:pt x="161544" y="0"/>
                  </a:lnTo>
                  <a:lnTo>
                    <a:pt x="0" y="0"/>
                  </a:lnTo>
                  <a:lnTo>
                    <a:pt x="0" y="2016252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946619" y="2960342"/>
            <a:ext cx="139700" cy="50482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-10" b="1">
                <a:latin typeface="Corbel"/>
                <a:cs typeface="Corbel"/>
              </a:rPr>
              <a:t>Insurance</a:t>
            </a:r>
            <a:endParaRPr sz="900">
              <a:latin typeface="Corbel"/>
              <a:cs typeface="Corbe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657921" y="2198941"/>
            <a:ext cx="171450" cy="2026285"/>
            <a:chOff x="1657921" y="2198941"/>
            <a:chExt cx="171450" cy="2026285"/>
          </a:xfrm>
        </p:grpSpPr>
        <p:sp>
          <p:nvSpPr>
            <p:cNvPr id="29" name="object 29" descr=""/>
            <p:cNvSpPr/>
            <p:nvPr/>
          </p:nvSpPr>
          <p:spPr>
            <a:xfrm>
              <a:off x="1662683" y="2203704"/>
              <a:ext cx="161925" cy="2016760"/>
            </a:xfrm>
            <a:custGeom>
              <a:avLst/>
              <a:gdLst/>
              <a:ahLst/>
              <a:cxnLst/>
              <a:rect l="l" t="t" r="r" b="b"/>
              <a:pathLst>
                <a:path w="161925" h="2016760">
                  <a:moveTo>
                    <a:pt x="161544" y="0"/>
                  </a:moveTo>
                  <a:lnTo>
                    <a:pt x="0" y="0"/>
                  </a:lnTo>
                  <a:lnTo>
                    <a:pt x="0" y="2016252"/>
                  </a:lnTo>
                  <a:lnTo>
                    <a:pt x="161544" y="2016252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662683" y="2203704"/>
              <a:ext cx="161925" cy="2016760"/>
            </a:xfrm>
            <a:custGeom>
              <a:avLst/>
              <a:gdLst/>
              <a:ahLst/>
              <a:cxnLst/>
              <a:rect l="l" t="t" r="r" b="b"/>
              <a:pathLst>
                <a:path w="161925" h="2016760">
                  <a:moveTo>
                    <a:pt x="0" y="2016252"/>
                  </a:moveTo>
                  <a:lnTo>
                    <a:pt x="161544" y="2016252"/>
                  </a:lnTo>
                  <a:lnTo>
                    <a:pt x="161544" y="0"/>
                  </a:lnTo>
                  <a:lnTo>
                    <a:pt x="0" y="0"/>
                  </a:lnTo>
                  <a:lnTo>
                    <a:pt x="0" y="2016252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683602" y="2839385"/>
            <a:ext cx="139700" cy="7473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b="1">
                <a:latin typeface="Corbel"/>
                <a:cs typeface="Corbel"/>
              </a:rPr>
              <a:t>Retail</a:t>
            </a:r>
            <a:r>
              <a:rPr dirty="0" sz="900" spc="-25" b="1">
                <a:latin typeface="Corbel"/>
                <a:cs typeface="Corbel"/>
              </a:rPr>
              <a:t> </a:t>
            </a:r>
            <a:r>
              <a:rPr dirty="0" sz="900" spc="-10" b="1">
                <a:latin typeface="Corbel"/>
                <a:cs typeface="Corbel"/>
              </a:rPr>
              <a:t>Banking</a:t>
            </a:r>
            <a:endParaRPr sz="900">
              <a:latin typeface="Corbel"/>
              <a:cs typeface="Corbe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2445829" y="2198941"/>
            <a:ext cx="171450" cy="2026285"/>
            <a:chOff x="2445829" y="2198941"/>
            <a:chExt cx="171450" cy="2026285"/>
          </a:xfrm>
        </p:grpSpPr>
        <p:sp>
          <p:nvSpPr>
            <p:cNvPr id="33" name="object 33" descr=""/>
            <p:cNvSpPr/>
            <p:nvPr/>
          </p:nvSpPr>
          <p:spPr>
            <a:xfrm>
              <a:off x="2450592" y="2203704"/>
              <a:ext cx="161925" cy="2016760"/>
            </a:xfrm>
            <a:custGeom>
              <a:avLst/>
              <a:gdLst/>
              <a:ahLst/>
              <a:cxnLst/>
              <a:rect l="l" t="t" r="r" b="b"/>
              <a:pathLst>
                <a:path w="161925" h="2016760">
                  <a:moveTo>
                    <a:pt x="161544" y="0"/>
                  </a:moveTo>
                  <a:lnTo>
                    <a:pt x="0" y="0"/>
                  </a:lnTo>
                  <a:lnTo>
                    <a:pt x="0" y="2016252"/>
                  </a:lnTo>
                  <a:lnTo>
                    <a:pt x="161544" y="2016252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450592" y="2203704"/>
              <a:ext cx="161925" cy="2016760"/>
            </a:xfrm>
            <a:custGeom>
              <a:avLst/>
              <a:gdLst/>
              <a:ahLst/>
              <a:cxnLst/>
              <a:rect l="l" t="t" r="r" b="b"/>
              <a:pathLst>
                <a:path w="161925" h="2016760">
                  <a:moveTo>
                    <a:pt x="0" y="2016252"/>
                  </a:moveTo>
                  <a:lnTo>
                    <a:pt x="161544" y="2016252"/>
                  </a:lnTo>
                  <a:lnTo>
                    <a:pt x="161544" y="0"/>
                  </a:lnTo>
                  <a:lnTo>
                    <a:pt x="0" y="0"/>
                  </a:lnTo>
                  <a:lnTo>
                    <a:pt x="0" y="2016252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2472018" y="2684206"/>
            <a:ext cx="139700" cy="10579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-10" b="1">
                <a:latin typeface="Corbel"/>
                <a:cs typeface="Corbel"/>
              </a:rPr>
              <a:t>Emerging</a:t>
            </a:r>
            <a:r>
              <a:rPr dirty="0" sz="900" spc="30" b="1">
                <a:latin typeface="Corbel"/>
                <a:cs typeface="Corbel"/>
              </a:rPr>
              <a:t> </a:t>
            </a:r>
            <a:r>
              <a:rPr dirty="0" sz="900" spc="-10" b="1">
                <a:latin typeface="Corbel"/>
                <a:cs typeface="Corbel"/>
              </a:rPr>
              <a:t>Verticals…</a:t>
            </a:r>
            <a:endParaRPr sz="900">
              <a:latin typeface="Corbel"/>
              <a:cs typeface="Corbe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815149" y="4946713"/>
            <a:ext cx="2366010" cy="442595"/>
            <a:chOff x="815149" y="4946713"/>
            <a:chExt cx="2366010" cy="442595"/>
          </a:xfrm>
        </p:grpSpPr>
        <p:sp>
          <p:nvSpPr>
            <p:cNvPr id="37" name="object 37" descr=""/>
            <p:cNvSpPr/>
            <p:nvPr/>
          </p:nvSpPr>
          <p:spPr>
            <a:xfrm>
              <a:off x="819911" y="4951476"/>
              <a:ext cx="1085215" cy="170815"/>
            </a:xfrm>
            <a:custGeom>
              <a:avLst/>
              <a:gdLst/>
              <a:ahLst/>
              <a:cxnLst/>
              <a:rect l="l" t="t" r="r" b="b"/>
              <a:pathLst>
                <a:path w="1085214" h="170814">
                  <a:moveTo>
                    <a:pt x="1085088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1085088" y="170687"/>
                  </a:lnTo>
                  <a:lnTo>
                    <a:pt x="1085088" y="0"/>
                  </a:lnTo>
                  <a:close/>
                </a:path>
              </a:pathLst>
            </a:custGeom>
            <a:solidFill>
              <a:srgbClr val="FF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19911" y="4951476"/>
              <a:ext cx="1085215" cy="170815"/>
            </a:xfrm>
            <a:custGeom>
              <a:avLst/>
              <a:gdLst/>
              <a:ahLst/>
              <a:cxnLst/>
              <a:rect l="l" t="t" r="r" b="b"/>
              <a:pathLst>
                <a:path w="1085214" h="170814">
                  <a:moveTo>
                    <a:pt x="0" y="170687"/>
                  </a:moveTo>
                  <a:lnTo>
                    <a:pt x="1085088" y="170687"/>
                  </a:lnTo>
                  <a:lnTo>
                    <a:pt x="1085088" y="0"/>
                  </a:lnTo>
                  <a:lnTo>
                    <a:pt x="0" y="0"/>
                  </a:lnTo>
                  <a:lnTo>
                    <a:pt x="0" y="170687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819911" y="5213604"/>
              <a:ext cx="1085215" cy="170815"/>
            </a:xfrm>
            <a:custGeom>
              <a:avLst/>
              <a:gdLst/>
              <a:ahLst/>
              <a:cxnLst/>
              <a:rect l="l" t="t" r="r" b="b"/>
              <a:pathLst>
                <a:path w="1085214" h="170814">
                  <a:moveTo>
                    <a:pt x="1085088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1085088" y="170688"/>
                  </a:lnTo>
                  <a:lnTo>
                    <a:pt x="1085088" y="0"/>
                  </a:lnTo>
                  <a:close/>
                </a:path>
              </a:pathLst>
            </a:custGeom>
            <a:solidFill>
              <a:srgbClr val="FF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19911" y="5213604"/>
              <a:ext cx="1085215" cy="170815"/>
            </a:xfrm>
            <a:custGeom>
              <a:avLst/>
              <a:gdLst/>
              <a:ahLst/>
              <a:cxnLst/>
              <a:rect l="l" t="t" r="r" b="b"/>
              <a:pathLst>
                <a:path w="1085214" h="170814">
                  <a:moveTo>
                    <a:pt x="0" y="170688"/>
                  </a:moveTo>
                  <a:lnTo>
                    <a:pt x="1085088" y="170688"/>
                  </a:lnTo>
                  <a:lnTo>
                    <a:pt x="1085088" y="0"/>
                  </a:lnTo>
                  <a:lnTo>
                    <a:pt x="0" y="0"/>
                  </a:lnTo>
                  <a:lnTo>
                    <a:pt x="0" y="170688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090927" y="4951476"/>
              <a:ext cx="1085215" cy="170815"/>
            </a:xfrm>
            <a:custGeom>
              <a:avLst/>
              <a:gdLst/>
              <a:ahLst/>
              <a:cxnLst/>
              <a:rect l="l" t="t" r="r" b="b"/>
              <a:pathLst>
                <a:path w="1085214" h="170814">
                  <a:moveTo>
                    <a:pt x="1085088" y="0"/>
                  </a:moveTo>
                  <a:lnTo>
                    <a:pt x="0" y="0"/>
                  </a:lnTo>
                  <a:lnTo>
                    <a:pt x="0" y="170687"/>
                  </a:lnTo>
                  <a:lnTo>
                    <a:pt x="1085088" y="170687"/>
                  </a:lnTo>
                  <a:lnTo>
                    <a:pt x="1085088" y="0"/>
                  </a:lnTo>
                  <a:close/>
                </a:path>
              </a:pathLst>
            </a:custGeom>
            <a:solidFill>
              <a:srgbClr val="FF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090927" y="4951476"/>
              <a:ext cx="1085215" cy="170815"/>
            </a:xfrm>
            <a:custGeom>
              <a:avLst/>
              <a:gdLst/>
              <a:ahLst/>
              <a:cxnLst/>
              <a:rect l="l" t="t" r="r" b="b"/>
              <a:pathLst>
                <a:path w="1085214" h="170814">
                  <a:moveTo>
                    <a:pt x="0" y="170687"/>
                  </a:moveTo>
                  <a:lnTo>
                    <a:pt x="1085088" y="170687"/>
                  </a:lnTo>
                  <a:lnTo>
                    <a:pt x="1085088" y="0"/>
                  </a:lnTo>
                  <a:lnTo>
                    <a:pt x="0" y="0"/>
                  </a:lnTo>
                  <a:lnTo>
                    <a:pt x="0" y="170687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090927" y="5213604"/>
              <a:ext cx="1085215" cy="170815"/>
            </a:xfrm>
            <a:custGeom>
              <a:avLst/>
              <a:gdLst/>
              <a:ahLst/>
              <a:cxnLst/>
              <a:rect l="l" t="t" r="r" b="b"/>
              <a:pathLst>
                <a:path w="1085214" h="170814">
                  <a:moveTo>
                    <a:pt x="1085088" y="0"/>
                  </a:moveTo>
                  <a:lnTo>
                    <a:pt x="0" y="0"/>
                  </a:lnTo>
                  <a:lnTo>
                    <a:pt x="0" y="170688"/>
                  </a:lnTo>
                  <a:lnTo>
                    <a:pt x="1085088" y="170688"/>
                  </a:lnTo>
                  <a:lnTo>
                    <a:pt x="1085088" y="0"/>
                  </a:lnTo>
                  <a:close/>
                </a:path>
              </a:pathLst>
            </a:custGeom>
            <a:solidFill>
              <a:srgbClr val="FF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090927" y="5213604"/>
              <a:ext cx="1085215" cy="170815"/>
            </a:xfrm>
            <a:custGeom>
              <a:avLst/>
              <a:gdLst/>
              <a:ahLst/>
              <a:cxnLst/>
              <a:rect l="l" t="t" r="r" b="b"/>
              <a:pathLst>
                <a:path w="1085214" h="170814">
                  <a:moveTo>
                    <a:pt x="0" y="170688"/>
                  </a:moveTo>
                  <a:lnTo>
                    <a:pt x="1085088" y="170688"/>
                  </a:lnTo>
                  <a:lnTo>
                    <a:pt x="1085088" y="0"/>
                  </a:lnTo>
                  <a:lnTo>
                    <a:pt x="0" y="0"/>
                  </a:lnTo>
                  <a:lnTo>
                    <a:pt x="0" y="170688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1089964" y="4597146"/>
            <a:ext cx="1856739" cy="78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829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orbel"/>
                <a:cs typeface="Corbel"/>
              </a:rPr>
              <a:t>Horizontal</a:t>
            </a:r>
            <a:r>
              <a:rPr dirty="0" sz="1400" spc="-55" b="1">
                <a:latin typeface="Corbel"/>
                <a:cs typeface="Corbel"/>
              </a:rPr>
              <a:t> </a:t>
            </a:r>
            <a:r>
              <a:rPr dirty="0" sz="1400" spc="-20" b="1">
                <a:latin typeface="Corbel"/>
                <a:cs typeface="Corbel"/>
              </a:rPr>
              <a:t>Play</a:t>
            </a:r>
            <a:endParaRPr sz="1400">
              <a:latin typeface="Corbel"/>
              <a:cs typeface="Corbel"/>
            </a:endParaRPr>
          </a:p>
          <a:p>
            <a:pPr algn="r" marR="43815">
              <a:lnSpc>
                <a:spcPct val="100000"/>
              </a:lnSpc>
              <a:spcBef>
                <a:spcPts val="1025"/>
              </a:spcBef>
              <a:tabLst>
                <a:tab pos="1167130" algn="l"/>
              </a:tabLst>
            </a:pPr>
            <a:r>
              <a:rPr dirty="0" sz="1000" spc="-10" b="1">
                <a:latin typeface="Corbel"/>
                <a:cs typeface="Corbel"/>
              </a:rPr>
              <a:t>Cloud</a:t>
            </a:r>
            <a:r>
              <a:rPr dirty="0" sz="1000" b="1">
                <a:latin typeface="Corbel"/>
                <a:cs typeface="Corbel"/>
              </a:rPr>
              <a:t>	</a:t>
            </a:r>
            <a:r>
              <a:rPr dirty="0" sz="1000" spc="-10" b="1">
                <a:latin typeface="Corbel"/>
                <a:cs typeface="Corbel"/>
              </a:rPr>
              <a:t>Cognitive</a:t>
            </a:r>
            <a:endParaRPr sz="1000">
              <a:latin typeface="Corbel"/>
              <a:cs typeface="Corbel"/>
            </a:endParaRPr>
          </a:p>
          <a:p>
            <a:pPr algn="r" marR="5080">
              <a:lnSpc>
                <a:spcPct val="100000"/>
              </a:lnSpc>
              <a:spcBef>
                <a:spcPts val="865"/>
              </a:spcBef>
              <a:tabLst>
                <a:tab pos="1243330" algn="l"/>
              </a:tabLst>
            </a:pPr>
            <a:r>
              <a:rPr dirty="0" sz="1000" b="1">
                <a:latin typeface="Corbel"/>
                <a:cs typeface="Corbel"/>
              </a:rPr>
              <a:t>Digital</a:t>
            </a:r>
            <a:r>
              <a:rPr dirty="0" sz="1000" spc="-40" b="1">
                <a:latin typeface="Corbel"/>
                <a:cs typeface="Corbel"/>
              </a:rPr>
              <a:t> </a:t>
            </a:r>
            <a:r>
              <a:rPr dirty="0" sz="1000" spc="-25" b="1">
                <a:latin typeface="Corbel"/>
                <a:cs typeface="Corbel"/>
              </a:rPr>
              <a:t>CX</a:t>
            </a:r>
            <a:r>
              <a:rPr dirty="0" sz="1000" b="1">
                <a:latin typeface="Corbel"/>
                <a:cs typeface="Corbel"/>
              </a:rPr>
              <a:t>	</a:t>
            </a:r>
            <a:r>
              <a:rPr dirty="0" sz="1000" spc="-10" b="1">
                <a:latin typeface="Corbel"/>
                <a:cs typeface="Corbel"/>
              </a:rPr>
              <a:t>Traditional</a:t>
            </a:r>
            <a:endParaRPr sz="1000">
              <a:latin typeface="Corbel"/>
              <a:cs typeface="Corbel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4626864" y="1060703"/>
            <a:ext cx="2225040" cy="323215"/>
            <a:chOff x="4626864" y="1060703"/>
            <a:chExt cx="2225040" cy="323215"/>
          </a:xfrm>
        </p:grpSpPr>
        <p:pic>
          <p:nvPicPr>
            <p:cNvPr id="47" name="object 4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36008" y="1086611"/>
              <a:ext cx="2206751" cy="297179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4626864" y="1060703"/>
              <a:ext cx="2225040" cy="297180"/>
            </a:xfrm>
            <a:custGeom>
              <a:avLst/>
              <a:gdLst/>
              <a:ahLst/>
              <a:cxnLst/>
              <a:rect l="l" t="t" r="r" b="b"/>
              <a:pathLst>
                <a:path w="2225040" h="297180">
                  <a:moveTo>
                    <a:pt x="2225040" y="0"/>
                  </a:moveTo>
                  <a:lnTo>
                    <a:pt x="0" y="0"/>
                  </a:lnTo>
                  <a:lnTo>
                    <a:pt x="0" y="297179"/>
                  </a:lnTo>
                  <a:lnTo>
                    <a:pt x="2225040" y="297179"/>
                  </a:lnTo>
                  <a:lnTo>
                    <a:pt x="22250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5318886" y="1092200"/>
            <a:ext cx="8420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rbel"/>
                <a:cs typeface="Corbel"/>
              </a:rPr>
              <a:t>GTM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Plays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7123176" y="1060703"/>
            <a:ext cx="2586355" cy="323215"/>
            <a:chOff x="7123176" y="1060703"/>
            <a:chExt cx="2586355" cy="323215"/>
          </a:xfrm>
        </p:grpSpPr>
        <p:pic>
          <p:nvPicPr>
            <p:cNvPr id="51" name="object 5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3844" y="1086611"/>
              <a:ext cx="2564892" cy="297179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7123176" y="1060703"/>
              <a:ext cx="2586355" cy="297180"/>
            </a:xfrm>
            <a:custGeom>
              <a:avLst/>
              <a:gdLst/>
              <a:ahLst/>
              <a:cxnLst/>
              <a:rect l="l" t="t" r="r" b="b"/>
              <a:pathLst>
                <a:path w="2586354" h="297180">
                  <a:moveTo>
                    <a:pt x="2586228" y="0"/>
                  </a:moveTo>
                  <a:lnTo>
                    <a:pt x="0" y="0"/>
                  </a:lnTo>
                  <a:lnTo>
                    <a:pt x="0" y="297179"/>
                  </a:lnTo>
                  <a:lnTo>
                    <a:pt x="2586228" y="297179"/>
                  </a:lnTo>
                  <a:lnTo>
                    <a:pt x="2586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7627366" y="1092200"/>
            <a:ext cx="15798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Corbel"/>
                <a:cs typeface="Corbel"/>
              </a:rPr>
              <a:t>Customer</a:t>
            </a:r>
            <a:r>
              <a:rPr dirty="0" sz="1400" spc="-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Segments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819911" y="1060703"/>
            <a:ext cx="2356485" cy="323215"/>
            <a:chOff x="819911" y="1060703"/>
            <a:chExt cx="2356485" cy="323215"/>
          </a:xfrm>
        </p:grpSpPr>
        <p:pic>
          <p:nvPicPr>
            <p:cNvPr id="55" name="object 5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0579" y="1086611"/>
              <a:ext cx="2334768" cy="297179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819911" y="1060703"/>
              <a:ext cx="2356485" cy="297180"/>
            </a:xfrm>
            <a:custGeom>
              <a:avLst/>
              <a:gdLst/>
              <a:ahLst/>
              <a:cxnLst/>
              <a:rect l="l" t="t" r="r" b="b"/>
              <a:pathLst>
                <a:path w="2356485" h="297180">
                  <a:moveTo>
                    <a:pt x="2356104" y="0"/>
                  </a:moveTo>
                  <a:lnTo>
                    <a:pt x="0" y="0"/>
                  </a:lnTo>
                  <a:lnTo>
                    <a:pt x="0" y="297179"/>
                  </a:lnTo>
                  <a:lnTo>
                    <a:pt x="2356104" y="297179"/>
                  </a:lnTo>
                  <a:lnTo>
                    <a:pt x="2356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1558544" y="1092200"/>
            <a:ext cx="88074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rbel"/>
                <a:cs typeface="Corbel"/>
              </a:rPr>
              <a:t>‘Inverted</a:t>
            </a:r>
            <a:r>
              <a:rPr dirty="0" sz="1400" spc="-130" b="1">
                <a:latin typeface="Corbel"/>
                <a:cs typeface="Corbel"/>
              </a:rPr>
              <a:t> </a:t>
            </a:r>
            <a:r>
              <a:rPr dirty="0" sz="1400" spc="-25" b="1">
                <a:latin typeface="Corbel"/>
                <a:cs typeface="Corbel"/>
              </a:rPr>
              <a:t>T’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638555" y="5785103"/>
            <a:ext cx="9070975" cy="307975"/>
          </a:xfrm>
          <a:prstGeom prst="rect">
            <a:avLst/>
          </a:prstGeom>
          <a:solidFill>
            <a:srgbClr val="B51E6A"/>
          </a:solidFill>
        </p:spPr>
        <p:txBody>
          <a:bodyPr wrap="square" lIns="0" tIns="34925" rIns="0" bIns="0" rtlCol="0" vert="horz">
            <a:spAutoFit/>
          </a:bodyPr>
          <a:lstStyle/>
          <a:p>
            <a:pPr marL="2212340">
              <a:lnSpc>
                <a:spcPct val="100000"/>
              </a:lnSpc>
              <a:spcBef>
                <a:spcPts val="275"/>
              </a:spcBef>
            </a:pPr>
            <a:r>
              <a:rPr dirty="0" sz="1400" b="1">
                <a:solidFill>
                  <a:srgbClr val="FFFFFF"/>
                </a:solidFill>
                <a:latin typeface="Corbel"/>
                <a:cs typeface="Corbel"/>
              </a:rPr>
              <a:t>Global</a:t>
            </a:r>
            <a:r>
              <a:rPr dirty="0" sz="1400" spc="-4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rbel"/>
                <a:cs typeface="Corbel"/>
              </a:rPr>
              <a:t>Account</a:t>
            </a:r>
            <a:r>
              <a:rPr dirty="0" sz="1400" spc="-5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rbel"/>
                <a:cs typeface="Corbel"/>
              </a:rPr>
              <a:t>Delivery</a:t>
            </a:r>
            <a:r>
              <a:rPr dirty="0" sz="1400" spc="-3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rbel"/>
                <a:cs typeface="Corbel"/>
              </a:rPr>
              <a:t>Leadership</a:t>
            </a:r>
            <a:r>
              <a:rPr dirty="0" sz="1400" spc="-3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rbel"/>
                <a:cs typeface="Corbel"/>
              </a:rPr>
              <a:t>Onsite</a:t>
            </a:r>
            <a:r>
              <a:rPr dirty="0" sz="1400" spc="-4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1400" spc="-2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rbel"/>
                <a:cs typeface="Corbel"/>
              </a:rPr>
              <a:t>engage</a:t>
            </a:r>
            <a:r>
              <a:rPr dirty="0" sz="1400" spc="-1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1400" spc="-1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orbel"/>
                <a:cs typeface="Corbel"/>
              </a:rPr>
              <a:t>Clients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2183892" y="2199132"/>
            <a:ext cx="170815" cy="2025650"/>
            <a:chOff x="2183892" y="2199132"/>
            <a:chExt cx="170815" cy="2025650"/>
          </a:xfrm>
        </p:grpSpPr>
        <p:sp>
          <p:nvSpPr>
            <p:cNvPr id="60" name="object 60" descr=""/>
            <p:cNvSpPr/>
            <p:nvPr/>
          </p:nvSpPr>
          <p:spPr>
            <a:xfrm>
              <a:off x="2188464" y="2203704"/>
              <a:ext cx="161925" cy="2016760"/>
            </a:xfrm>
            <a:custGeom>
              <a:avLst/>
              <a:gdLst/>
              <a:ahLst/>
              <a:cxnLst/>
              <a:rect l="l" t="t" r="r" b="b"/>
              <a:pathLst>
                <a:path w="161925" h="2016760">
                  <a:moveTo>
                    <a:pt x="161544" y="0"/>
                  </a:moveTo>
                  <a:lnTo>
                    <a:pt x="0" y="0"/>
                  </a:lnTo>
                  <a:lnTo>
                    <a:pt x="0" y="2016252"/>
                  </a:lnTo>
                  <a:lnTo>
                    <a:pt x="161544" y="2016252"/>
                  </a:lnTo>
                  <a:lnTo>
                    <a:pt x="161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188464" y="2203704"/>
              <a:ext cx="161925" cy="2016760"/>
            </a:xfrm>
            <a:custGeom>
              <a:avLst/>
              <a:gdLst/>
              <a:ahLst/>
              <a:cxnLst/>
              <a:rect l="l" t="t" r="r" b="b"/>
              <a:pathLst>
                <a:path w="161925" h="2016760">
                  <a:moveTo>
                    <a:pt x="0" y="2016252"/>
                  </a:moveTo>
                  <a:lnTo>
                    <a:pt x="161544" y="2016252"/>
                  </a:lnTo>
                  <a:lnTo>
                    <a:pt x="161544" y="0"/>
                  </a:lnTo>
                  <a:lnTo>
                    <a:pt x="0" y="0"/>
                  </a:lnTo>
                  <a:lnTo>
                    <a:pt x="0" y="2016252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2209382" y="2783629"/>
            <a:ext cx="139700" cy="85979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b="1">
                <a:latin typeface="Corbel"/>
                <a:cs typeface="Corbel"/>
              </a:rPr>
              <a:t>Health</a:t>
            </a:r>
            <a:r>
              <a:rPr dirty="0" sz="900" spc="-35" b="1">
                <a:latin typeface="Corbel"/>
                <a:cs typeface="Corbel"/>
              </a:rPr>
              <a:t> </a:t>
            </a:r>
            <a:r>
              <a:rPr dirty="0" sz="900" spc="-10" b="1">
                <a:latin typeface="Corbel"/>
                <a:cs typeface="Corbel"/>
              </a:rPr>
              <a:t>Insurance</a:t>
            </a:r>
            <a:endParaRPr sz="900">
              <a:latin typeface="Corbel"/>
              <a:cs typeface="Corbel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9741407" y="1601724"/>
            <a:ext cx="288290" cy="3983990"/>
          </a:xfrm>
          <a:custGeom>
            <a:avLst/>
            <a:gdLst/>
            <a:ahLst/>
            <a:cxnLst/>
            <a:rect l="l" t="t" r="r" b="b"/>
            <a:pathLst>
              <a:path w="288290" h="3983990">
                <a:moveTo>
                  <a:pt x="0" y="0"/>
                </a:moveTo>
                <a:lnTo>
                  <a:pt x="0" y="3983736"/>
                </a:lnTo>
                <a:lnTo>
                  <a:pt x="288036" y="1991867"/>
                </a:lnTo>
                <a:lnTo>
                  <a:pt x="0" y="0"/>
                </a:lnTo>
                <a:close/>
              </a:path>
            </a:pathLst>
          </a:custGeom>
          <a:solidFill>
            <a:srgbClr val="9FB4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10323068" y="3030093"/>
            <a:ext cx="149352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orbel"/>
                <a:cs typeface="Corbel"/>
              </a:rPr>
              <a:t>Focus</a:t>
            </a:r>
            <a:r>
              <a:rPr dirty="0" sz="1400" spc="17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Geographies:</a:t>
            </a:r>
            <a:endParaRPr sz="1400">
              <a:latin typeface="Corbel"/>
              <a:cs typeface="Corbel"/>
            </a:endParaRPr>
          </a:p>
          <a:p>
            <a:pPr marL="184150" indent="-171450">
              <a:lnSpc>
                <a:spcPct val="100000"/>
              </a:lnSpc>
              <a:buFont typeface="Arial MT"/>
              <a:buChar char="•"/>
              <a:tabLst>
                <a:tab pos="184150" algn="l"/>
              </a:tabLst>
            </a:pPr>
            <a:r>
              <a:rPr dirty="0" sz="1400" spc="-10" b="1">
                <a:latin typeface="Corbel"/>
                <a:cs typeface="Corbel"/>
              </a:rPr>
              <a:t>Americas</a:t>
            </a:r>
            <a:endParaRPr sz="1400">
              <a:latin typeface="Corbel"/>
              <a:cs typeface="Corbel"/>
            </a:endParaRPr>
          </a:p>
          <a:p>
            <a:pPr marL="184150" indent="-171450">
              <a:lnSpc>
                <a:spcPct val="100000"/>
              </a:lnSpc>
              <a:buFont typeface="Arial MT"/>
              <a:buChar char="•"/>
              <a:tabLst>
                <a:tab pos="184150" algn="l"/>
              </a:tabLst>
            </a:pPr>
            <a:r>
              <a:rPr dirty="0" sz="1400" spc="-10" b="1">
                <a:latin typeface="Corbel"/>
                <a:cs typeface="Corbel"/>
              </a:rPr>
              <a:t>Europe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6" name="object 6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67" name="object 6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5" name="object 65" descr=""/>
          <p:cNvSpPr txBox="1"/>
          <p:nvPr/>
        </p:nvSpPr>
        <p:spPr>
          <a:xfrm>
            <a:off x="4635246" y="3716273"/>
            <a:ext cx="2225040" cy="812800"/>
          </a:xfrm>
          <a:prstGeom prst="rect">
            <a:avLst/>
          </a:prstGeom>
          <a:solidFill>
            <a:srgbClr val="9DDAD9"/>
          </a:solidFill>
          <a:ln w="25907">
            <a:solidFill>
              <a:srgbClr val="B51E6A"/>
            </a:solidFill>
          </a:ln>
        </p:spPr>
        <p:txBody>
          <a:bodyPr wrap="square" lIns="0" tIns="831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5"/>
              </a:spcBef>
            </a:pPr>
            <a:endParaRPr sz="1400">
              <a:latin typeface="Times New Roman"/>
              <a:cs typeface="Times New Roman"/>
            </a:endParaRPr>
          </a:p>
          <a:p>
            <a:pPr marL="558165">
              <a:lnSpc>
                <a:spcPct val="100000"/>
              </a:lnSpc>
            </a:pPr>
            <a:r>
              <a:rPr dirty="0" sz="1400" b="1">
                <a:latin typeface="Corbel"/>
                <a:cs typeface="Corbel"/>
              </a:rPr>
              <a:t>Cloud</a:t>
            </a:r>
            <a:r>
              <a:rPr dirty="0" sz="1400" spc="-6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Services</a:t>
            </a:r>
            <a:endParaRPr sz="1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4904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 </a:t>
            </a:r>
            <a:r>
              <a:rPr dirty="0"/>
              <a:t>Core</a:t>
            </a:r>
            <a:r>
              <a:rPr dirty="0" spc="-50"/>
              <a:t> </a:t>
            </a:r>
            <a:r>
              <a:rPr dirty="0" spc="-10"/>
              <a:t>Investment</a:t>
            </a:r>
            <a:r>
              <a:rPr dirty="0" spc="-30"/>
              <a:t> </a:t>
            </a:r>
            <a:r>
              <a:rPr dirty="0" spc="-10"/>
              <a:t>Thesi</a:t>
            </a:r>
            <a:r>
              <a:rPr dirty="0" u="none" spc="-10"/>
              <a:t>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06804" y="2787522"/>
            <a:ext cx="8477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orbel"/>
                <a:cs typeface="Corbel"/>
              </a:rPr>
              <a:t>Strategic</a:t>
            </a:r>
            <a:r>
              <a:rPr dirty="0" sz="1800" spc="-45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Partnership</a:t>
            </a:r>
            <a:r>
              <a:rPr dirty="0" sz="1800" spc="-4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with</a:t>
            </a:r>
            <a:r>
              <a:rPr dirty="0" sz="1800" spc="-25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DXC/HP</a:t>
            </a:r>
            <a:r>
              <a:rPr dirty="0" sz="1800" spc="-3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–</a:t>
            </a:r>
            <a:r>
              <a:rPr dirty="0" sz="1800" spc="-50" b="1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Transformed</a:t>
            </a:r>
            <a:r>
              <a:rPr dirty="0" sz="1800" spc="-40">
                <a:latin typeface="Corbel"/>
                <a:cs typeface="Corbel"/>
              </a:rPr>
              <a:t> </a:t>
            </a:r>
            <a:r>
              <a:rPr dirty="0" sz="1800" spc="-10">
                <a:latin typeface="Corbel"/>
                <a:cs typeface="Corbel"/>
              </a:rPr>
              <a:t>relationship</a:t>
            </a:r>
            <a:r>
              <a:rPr dirty="0" sz="1800" spc="-5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with</a:t>
            </a:r>
            <a:r>
              <a:rPr dirty="0" sz="1800" spc="-4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four</a:t>
            </a:r>
            <a:r>
              <a:rPr dirty="0" sz="1800" spc="-50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growth</a:t>
            </a:r>
            <a:r>
              <a:rPr dirty="0" sz="1800" spc="-35">
                <a:latin typeface="Corbel"/>
                <a:cs typeface="Corbel"/>
              </a:rPr>
              <a:t> </a:t>
            </a:r>
            <a:r>
              <a:rPr dirty="0" sz="1800" spc="-10">
                <a:latin typeface="Corbel"/>
                <a:cs typeface="Corbel"/>
              </a:rPr>
              <a:t>engines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06804" y="3640658"/>
            <a:ext cx="51301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Continued</a:t>
            </a:r>
            <a:r>
              <a:rPr dirty="0" sz="1800" spc="-3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focus</a:t>
            </a:r>
            <a:r>
              <a:rPr dirty="0" sz="1800" spc="-30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on</a:t>
            </a:r>
            <a:r>
              <a:rPr dirty="0" sz="1800" spc="-35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Margin</a:t>
            </a:r>
            <a:r>
              <a:rPr dirty="0" sz="1800" spc="-2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Expansion</a:t>
            </a:r>
            <a:r>
              <a:rPr dirty="0" sz="1800" spc="-15" b="1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to</a:t>
            </a:r>
            <a:r>
              <a:rPr dirty="0" sz="1800" spc="-30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fuel</a:t>
            </a:r>
            <a:r>
              <a:rPr dirty="0" sz="1800" spc="-45" b="1">
                <a:latin typeface="Corbel"/>
                <a:cs typeface="Corbel"/>
              </a:rPr>
              <a:t> </a:t>
            </a:r>
            <a:r>
              <a:rPr dirty="0" sz="1800" spc="-10" b="1">
                <a:latin typeface="Corbel"/>
                <a:cs typeface="Corbel"/>
              </a:rPr>
              <a:t>Growth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06804" y="4494657"/>
            <a:ext cx="5817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orbel"/>
                <a:cs typeface="Corbel"/>
              </a:rPr>
              <a:t>Strong</a:t>
            </a:r>
            <a:r>
              <a:rPr dirty="0" sz="1800" spc="-5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Management</a:t>
            </a:r>
            <a:r>
              <a:rPr dirty="0" sz="1800" spc="-3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team</a:t>
            </a:r>
            <a:r>
              <a:rPr dirty="0" sz="1800" spc="-25" b="1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backed</a:t>
            </a:r>
            <a:r>
              <a:rPr dirty="0" sz="1800" spc="-40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by</a:t>
            </a:r>
            <a:r>
              <a:rPr dirty="0" sz="1800" spc="-4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an</a:t>
            </a:r>
            <a:r>
              <a:rPr dirty="0" sz="1800" spc="-15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experienced</a:t>
            </a:r>
            <a:r>
              <a:rPr dirty="0" sz="1800" spc="-45" b="1">
                <a:latin typeface="Corbel"/>
                <a:cs typeface="Corbel"/>
              </a:rPr>
              <a:t> </a:t>
            </a:r>
            <a:r>
              <a:rPr dirty="0" sz="1800" spc="-10" b="1">
                <a:latin typeface="Corbel"/>
                <a:cs typeface="Corbel"/>
              </a:rPr>
              <a:t>Board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31519" y="865632"/>
            <a:ext cx="426720" cy="373380"/>
          </a:xfrm>
          <a:custGeom>
            <a:avLst/>
            <a:gdLst/>
            <a:ahLst/>
            <a:cxnLst/>
            <a:rect l="l" t="t" r="r" b="b"/>
            <a:pathLst>
              <a:path w="426719" h="373380">
                <a:moveTo>
                  <a:pt x="213360" y="0"/>
                </a:moveTo>
                <a:lnTo>
                  <a:pt x="164440" y="4929"/>
                </a:lnTo>
                <a:lnTo>
                  <a:pt x="119531" y="18972"/>
                </a:lnTo>
                <a:lnTo>
                  <a:pt x="79916" y="41008"/>
                </a:lnTo>
                <a:lnTo>
                  <a:pt x="46874" y="69917"/>
                </a:lnTo>
                <a:lnTo>
                  <a:pt x="21687" y="104580"/>
                </a:lnTo>
                <a:lnTo>
                  <a:pt x="5635" y="143878"/>
                </a:lnTo>
                <a:lnTo>
                  <a:pt x="0" y="186689"/>
                </a:lnTo>
                <a:lnTo>
                  <a:pt x="5635" y="229501"/>
                </a:lnTo>
                <a:lnTo>
                  <a:pt x="21687" y="268799"/>
                </a:lnTo>
                <a:lnTo>
                  <a:pt x="46874" y="303462"/>
                </a:lnTo>
                <a:lnTo>
                  <a:pt x="79916" y="332371"/>
                </a:lnTo>
                <a:lnTo>
                  <a:pt x="119531" y="354407"/>
                </a:lnTo>
                <a:lnTo>
                  <a:pt x="164440" y="368450"/>
                </a:lnTo>
                <a:lnTo>
                  <a:pt x="213360" y="373379"/>
                </a:lnTo>
                <a:lnTo>
                  <a:pt x="262279" y="368450"/>
                </a:lnTo>
                <a:lnTo>
                  <a:pt x="307188" y="354407"/>
                </a:lnTo>
                <a:lnTo>
                  <a:pt x="346803" y="332371"/>
                </a:lnTo>
                <a:lnTo>
                  <a:pt x="379845" y="303462"/>
                </a:lnTo>
                <a:lnTo>
                  <a:pt x="405032" y="268799"/>
                </a:lnTo>
                <a:lnTo>
                  <a:pt x="421084" y="229501"/>
                </a:lnTo>
                <a:lnTo>
                  <a:pt x="426720" y="186689"/>
                </a:lnTo>
                <a:lnTo>
                  <a:pt x="421084" y="143878"/>
                </a:lnTo>
                <a:lnTo>
                  <a:pt x="405032" y="104580"/>
                </a:lnTo>
                <a:lnTo>
                  <a:pt x="379845" y="69917"/>
                </a:lnTo>
                <a:lnTo>
                  <a:pt x="346803" y="41008"/>
                </a:lnTo>
                <a:lnTo>
                  <a:pt x="307188" y="18972"/>
                </a:lnTo>
                <a:lnTo>
                  <a:pt x="262279" y="4929"/>
                </a:lnTo>
                <a:lnTo>
                  <a:pt x="213360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87069" y="729995"/>
            <a:ext cx="8874125" cy="157988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332105" algn="l"/>
              </a:tabLst>
            </a:pPr>
            <a:r>
              <a:rPr dirty="0" baseline="3968" sz="2100" spc="-37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1800" spc="-25">
                <a:latin typeface="Wingdings"/>
                <a:cs typeface="Wingdings"/>
              </a:rPr>
              <a:t>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b="1">
                <a:latin typeface="Corbel"/>
                <a:cs typeface="Corbel"/>
              </a:rPr>
              <a:t>Accelerate</a:t>
            </a:r>
            <a:r>
              <a:rPr dirty="0" sz="1800" spc="-4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Direct</a:t>
            </a:r>
            <a:r>
              <a:rPr dirty="0" sz="1800" spc="-25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Core</a:t>
            </a:r>
            <a:r>
              <a:rPr dirty="0" sz="1800" spc="-4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-</a:t>
            </a:r>
            <a:r>
              <a:rPr dirty="0" sz="1800" spc="-35" b="1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Continue</a:t>
            </a:r>
            <a:r>
              <a:rPr dirty="0" sz="1800" spc="-2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to</a:t>
            </a:r>
            <a:r>
              <a:rPr dirty="0" sz="1800" spc="-2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outgrow</a:t>
            </a:r>
            <a:r>
              <a:rPr dirty="0" sz="1800" spc="-40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the</a:t>
            </a:r>
            <a:r>
              <a:rPr dirty="0" sz="1800" spc="-3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market</a:t>
            </a:r>
            <a:r>
              <a:rPr dirty="0" sz="1800" spc="-2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with</a:t>
            </a:r>
            <a:r>
              <a:rPr dirty="0" sz="1800" spc="-20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a</a:t>
            </a:r>
            <a:r>
              <a:rPr dirty="0" sz="1800" spc="-3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three</a:t>
            </a:r>
            <a:r>
              <a:rPr dirty="0" sz="1800" spc="-30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pronged</a:t>
            </a:r>
            <a:r>
              <a:rPr dirty="0" sz="1800" spc="-50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approach</a:t>
            </a:r>
            <a:r>
              <a:rPr dirty="0" sz="1800" spc="-15">
                <a:latin typeface="Corbel"/>
                <a:cs typeface="Corbel"/>
              </a:rPr>
              <a:t> </a:t>
            </a:r>
            <a:r>
              <a:rPr dirty="0" sz="1800" spc="-50">
                <a:latin typeface="Corbel"/>
                <a:cs typeface="Corbel"/>
              </a:rPr>
              <a:t>–</a:t>
            </a:r>
            <a:endParaRPr sz="1800">
              <a:latin typeface="Corbel"/>
              <a:cs typeface="Corbel"/>
            </a:endParaRPr>
          </a:p>
          <a:p>
            <a:pPr marL="789305" indent="-28638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89305" algn="l"/>
              </a:tabLst>
            </a:pPr>
            <a:r>
              <a:rPr dirty="0" sz="1800">
                <a:latin typeface="Corbel"/>
                <a:cs typeface="Corbel"/>
              </a:rPr>
              <a:t>Farming</a:t>
            </a:r>
            <a:r>
              <a:rPr dirty="0" sz="1800" spc="-2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Strategic</a:t>
            </a:r>
            <a:r>
              <a:rPr dirty="0" sz="1800" spc="-40">
                <a:latin typeface="Corbel"/>
                <a:cs typeface="Corbel"/>
              </a:rPr>
              <a:t> </a:t>
            </a:r>
            <a:r>
              <a:rPr dirty="0" sz="1800" spc="-10">
                <a:latin typeface="Corbel"/>
                <a:cs typeface="Corbel"/>
              </a:rPr>
              <a:t>Accounts</a:t>
            </a:r>
            <a:endParaRPr sz="1800">
              <a:latin typeface="Corbel"/>
              <a:cs typeface="Corbel"/>
            </a:endParaRPr>
          </a:p>
          <a:p>
            <a:pPr marL="78930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89305" algn="l"/>
              </a:tabLst>
            </a:pPr>
            <a:r>
              <a:rPr dirty="0" sz="1800">
                <a:latin typeface="Corbel"/>
                <a:cs typeface="Corbel"/>
              </a:rPr>
              <a:t>Blackstone</a:t>
            </a:r>
            <a:r>
              <a:rPr dirty="0" sz="1800" spc="-1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Portfolio</a:t>
            </a:r>
            <a:r>
              <a:rPr dirty="0" sz="1800" spc="-10">
                <a:latin typeface="Corbel"/>
                <a:cs typeface="Corbel"/>
              </a:rPr>
              <a:t> Opportunity</a:t>
            </a:r>
            <a:endParaRPr sz="1800">
              <a:latin typeface="Corbel"/>
              <a:cs typeface="Corbel"/>
            </a:endParaRPr>
          </a:p>
          <a:p>
            <a:pPr marL="78930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789305" algn="l"/>
              </a:tabLst>
            </a:pPr>
            <a:r>
              <a:rPr dirty="0" sz="1800">
                <a:latin typeface="Corbel"/>
                <a:cs typeface="Corbel"/>
              </a:rPr>
              <a:t>Focused</a:t>
            </a:r>
            <a:r>
              <a:rPr dirty="0" sz="1800" spc="-3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Strategy</a:t>
            </a:r>
            <a:r>
              <a:rPr dirty="0" sz="1800" spc="-30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for</a:t>
            </a:r>
            <a:r>
              <a:rPr dirty="0" sz="1800" spc="-3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New</a:t>
            </a:r>
            <a:r>
              <a:rPr dirty="0" sz="1800" spc="-20">
                <a:latin typeface="Corbel"/>
                <a:cs typeface="Corbel"/>
              </a:rPr>
              <a:t> </a:t>
            </a:r>
            <a:r>
              <a:rPr dirty="0" sz="1800" spc="-10">
                <a:latin typeface="Corbel"/>
                <a:cs typeface="Corbel"/>
              </a:rPr>
              <a:t>Logos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31519" y="2749295"/>
            <a:ext cx="426720" cy="373380"/>
          </a:xfrm>
          <a:custGeom>
            <a:avLst/>
            <a:gdLst/>
            <a:ahLst/>
            <a:cxnLst/>
            <a:rect l="l" t="t" r="r" b="b"/>
            <a:pathLst>
              <a:path w="426719" h="373380">
                <a:moveTo>
                  <a:pt x="213360" y="0"/>
                </a:moveTo>
                <a:lnTo>
                  <a:pt x="164440" y="4929"/>
                </a:lnTo>
                <a:lnTo>
                  <a:pt x="119531" y="18972"/>
                </a:lnTo>
                <a:lnTo>
                  <a:pt x="79916" y="41008"/>
                </a:lnTo>
                <a:lnTo>
                  <a:pt x="46874" y="69917"/>
                </a:lnTo>
                <a:lnTo>
                  <a:pt x="21687" y="104580"/>
                </a:lnTo>
                <a:lnTo>
                  <a:pt x="5635" y="143878"/>
                </a:lnTo>
                <a:lnTo>
                  <a:pt x="0" y="186689"/>
                </a:lnTo>
                <a:lnTo>
                  <a:pt x="5635" y="229501"/>
                </a:lnTo>
                <a:lnTo>
                  <a:pt x="21687" y="268799"/>
                </a:lnTo>
                <a:lnTo>
                  <a:pt x="46874" y="303462"/>
                </a:lnTo>
                <a:lnTo>
                  <a:pt x="79916" y="332371"/>
                </a:lnTo>
                <a:lnTo>
                  <a:pt x="119531" y="354407"/>
                </a:lnTo>
                <a:lnTo>
                  <a:pt x="164440" y="368450"/>
                </a:lnTo>
                <a:lnTo>
                  <a:pt x="213360" y="373379"/>
                </a:lnTo>
                <a:lnTo>
                  <a:pt x="262279" y="368450"/>
                </a:lnTo>
                <a:lnTo>
                  <a:pt x="307188" y="354407"/>
                </a:lnTo>
                <a:lnTo>
                  <a:pt x="346803" y="332371"/>
                </a:lnTo>
                <a:lnTo>
                  <a:pt x="379845" y="303462"/>
                </a:lnTo>
                <a:lnTo>
                  <a:pt x="405032" y="268799"/>
                </a:lnTo>
                <a:lnTo>
                  <a:pt x="421084" y="229501"/>
                </a:lnTo>
                <a:lnTo>
                  <a:pt x="426720" y="186689"/>
                </a:lnTo>
                <a:lnTo>
                  <a:pt x="421084" y="143878"/>
                </a:lnTo>
                <a:lnTo>
                  <a:pt x="405032" y="104580"/>
                </a:lnTo>
                <a:lnTo>
                  <a:pt x="379845" y="69917"/>
                </a:lnTo>
                <a:lnTo>
                  <a:pt x="346803" y="41008"/>
                </a:lnTo>
                <a:lnTo>
                  <a:pt x="307188" y="18972"/>
                </a:lnTo>
                <a:lnTo>
                  <a:pt x="262279" y="4929"/>
                </a:lnTo>
                <a:lnTo>
                  <a:pt x="213360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861669" y="2754248"/>
            <a:ext cx="2146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spc="-105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baseline="-7716" sz="2700" spc="-157">
                <a:latin typeface="Wingdings"/>
                <a:cs typeface="Wingdings"/>
              </a:rPr>
              <a:t></a:t>
            </a:r>
            <a:endParaRPr baseline="-7716" sz="2700">
              <a:latin typeface="Wingdings"/>
              <a:cs typeface="Wingding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31519" y="3604259"/>
            <a:ext cx="426720" cy="373380"/>
          </a:xfrm>
          <a:custGeom>
            <a:avLst/>
            <a:gdLst/>
            <a:ahLst/>
            <a:cxnLst/>
            <a:rect l="l" t="t" r="r" b="b"/>
            <a:pathLst>
              <a:path w="426719" h="373379">
                <a:moveTo>
                  <a:pt x="213360" y="0"/>
                </a:moveTo>
                <a:lnTo>
                  <a:pt x="164440" y="4929"/>
                </a:lnTo>
                <a:lnTo>
                  <a:pt x="119531" y="18972"/>
                </a:lnTo>
                <a:lnTo>
                  <a:pt x="79916" y="41008"/>
                </a:lnTo>
                <a:lnTo>
                  <a:pt x="46874" y="69917"/>
                </a:lnTo>
                <a:lnTo>
                  <a:pt x="21687" y="104580"/>
                </a:lnTo>
                <a:lnTo>
                  <a:pt x="5635" y="143878"/>
                </a:lnTo>
                <a:lnTo>
                  <a:pt x="0" y="186689"/>
                </a:lnTo>
                <a:lnTo>
                  <a:pt x="5635" y="229501"/>
                </a:lnTo>
                <a:lnTo>
                  <a:pt x="21687" y="268799"/>
                </a:lnTo>
                <a:lnTo>
                  <a:pt x="46874" y="303462"/>
                </a:lnTo>
                <a:lnTo>
                  <a:pt x="79916" y="332371"/>
                </a:lnTo>
                <a:lnTo>
                  <a:pt x="119531" y="354407"/>
                </a:lnTo>
                <a:lnTo>
                  <a:pt x="164440" y="368450"/>
                </a:lnTo>
                <a:lnTo>
                  <a:pt x="213360" y="373379"/>
                </a:lnTo>
                <a:lnTo>
                  <a:pt x="262279" y="368450"/>
                </a:lnTo>
                <a:lnTo>
                  <a:pt x="307188" y="354407"/>
                </a:lnTo>
                <a:lnTo>
                  <a:pt x="346803" y="332371"/>
                </a:lnTo>
                <a:lnTo>
                  <a:pt x="379845" y="303462"/>
                </a:lnTo>
                <a:lnTo>
                  <a:pt x="405032" y="268799"/>
                </a:lnTo>
                <a:lnTo>
                  <a:pt x="421084" y="229501"/>
                </a:lnTo>
                <a:lnTo>
                  <a:pt x="426720" y="186689"/>
                </a:lnTo>
                <a:lnTo>
                  <a:pt x="421084" y="143878"/>
                </a:lnTo>
                <a:lnTo>
                  <a:pt x="405032" y="104580"/>
                </a:lnTo>
                <a:lnTo>
                  <a:pt x="379845" y="69917"/>
                </a:lnTo>
                <a:lnTo>
                  <a:pt x="346803" y="41008"/>
                </a:lnTo>
                <a:lnTo>
                  <a:pt x="307188" y="18972"/>
                </a:lnTo>
                <a:lnTo>
                  <a:pt x="262279" y="4929"/>
                </a:lnTo>
                <a:lnTo>
                  <a:pt x="213360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61669" y="3610178"/>
            <a:ext cx="21462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spc="-105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baseline="-7716" sz="2700" spc="-157">
                <a:latin typeface="Wingdings"/>
                <a:cs typeface="Wingdings"/>
              </a:rPr>
              <a:t></a:t>
            </a:r>
            <a:endParaRPr baseline="-7716" sz="2700">
              <a:latin typeface="Wingdings"/>
              <a:cs typeface="Wingdings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31519" y="4474464"/>
            <a:ext cx="426720" cy="373380"/>
          </a:xfrm>
          <a:custGeom>
            <a:avLst/>
            <a:gdLst/>
            <a:ahLst/>
            <a:cxnLst/>
            <a:rect l="l" t="t" r="r" b="b"/>
            <a:pathLst>
              <a:path w="426719" h="373379">
                <a:moveTo>
                  <a:pt x="213360" y="0"/>
                </a:moveTo>
                <a:lnTo>
                  <a:pt x="164440" y="4929"/>
                </a:lnTo>
                <a:lnTo>
                  <a:pt x="119531" y="18972"/>
                </a:lnTo>
                <a:lnTo>
                  <a:pt x="79916" y="41008"/>
                </a:lnTo>
                <a:lnTo>
                  <a:pt x="46874" y="69917"/>
                </a:lnTo>
                <a:lnTo>
                  <a:pt x="21687" y="104580"/>
                </a:lnTo>
                <a:lnTo>
                  <a:pt x="5635" y="143878"/>
                </a:lnTo>
                <a:lnTo>
                  <a:pt x="0" y="186690"/>
                </a:lnTo>
                <a:lnTo>
                  <a:pt x="5635" y="229501"/>
                </a:lnTo>
                <a:lnTo>
                  <a:pt x="21687" y="268799"/>
                </a:lnTo>
                <a:lnTo>
                  <a:pt x="46874" y="303462"/>
                </a:lnTo>
                <a:lnTo>
                  <a:pt x="79916" y="332371"/>
                </a:lnTo>
                <a:lnTo>
                  <a:pt x="119531" y="354407"/>
                </a:lnTo>
                <a:lnTo>
                  <a:pt x="164440" y="368450"/>
                </a:lnTo>
                <a:lnTo>
                  <a:pt x="213360" y="373380"/>
                </a:lnTo>
                <a:lnTo>
                  <a:pt x="262279" y="368450"/>
                </a:lnTo>
                <a:lnTo>
                  <a:pt x="307188" y="354407"/>
                </a:lnTo>
                <a:lnTo>
                  <a:pt x="346803" y="332371"/>
                </a:lnTo>
                <a:lnTo>
                  <a:pt x="379845" y="303462"/>
                </a:lnTo>
                <a:lnTo>
                  <a:pt x="405032" y="268799"/>
                </a:lnTo>
                <a:lnTo>
                  <a:pt x="421084" y="229501"/>
                </a:lnTo>
                <a:lnTo>
                  <a:pt x="426720" y="186690"/>
                </a:lnTo>
                <a:lnTo>
                  <a:pt x="421084" y="143878"/>
                </a:lnTo>
                <a:lnTo>
                  <a:pt x="405032" y="104580"/>
                </a:lnTo>
                <a:lnTo>
                  <a:pt x="379845" y="69917"/>
                </a:lnTo>
                <a:lnTo>
                  <a:pt x="346803" y="41008"/>
                </a:lnTo>
                <a:lnTo>
                  <a:pt x="307188" y="18972"/>
                </a:lnTo>
                <a:lnTo>
                  <a:pt x="262279" y="4929"/>
                </a:lnTo>
                <a:lnTo>
                  <a:pt x="213360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887069" y="4480305"/>
            <a:ext cx="163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4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dirty="0" baseline="-3086" sz="2700" spc="-307">
                <a:latin typeface="Wingdings"/>
                <a:cs typeface="Wingdings"/>
              </a:rPr>
              <a:t></a:t>
            </a:r>
            <a:endParaRPr baseline="-3086" sz="2700">
              <a:latin typeface="Wingdings"/>
              <a:cs typeface="Wingding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31519" y="5344667"/>
            <a:ext cx="426720" cy="373380"/>
          </a:xfrm>
          <a:custGeom>
            <a:avLst/>
            <a:gdLst/>
            <a:ahLst/>
            <a:cxnLst/>
            <a:rect l="l" t="t" r="r" b="b"/>
            <a:pathLst>
              <a:path w="426719" h="373379">
                <a:moveTo>
                  <a:pt x="213360" y="0"/>
                </a:moveTo>
                <a:lnTo>
                  <a:pt x="164440" y="4929"/>
                </a:lnTo>
                <a:lnTo>
                  <a:pt x="119531" y="18972"/>
                </a:lnTo>
                <a:lnTo>
                  <a:pt x="79916" y="41008"/>
                </a:lnTo>
                <a:lnTo>
                  <a:pt x="46874" y="69917"/>
                </a:lnTo>
                <a:lnTo>
                  <a:pt x="21687" y="104580"/>
                </a:lnTo>
                <a:lnTo>
                  <a:pt x="5635" y="143878"/>
                </a:lnTo>
                <a:lnTo>
                  <a:pt x="0" y="186689"/>
                </a:lnTo>
                <a:lnTo>
                  <a:pt x="5635" y="229497"/>
                </a:lnTo>
                <a:lnTo>
                  <a:pt x="21687" y="268793"/>
                </a:lnTo>
                <a:lnTo>
                  <a:pt x="46874" y="303457"/>
                </a:lnTo>
                <a:lnTo>
                  <a:pt x="79916" y="332367"/>
                </a:lnTo>
                <a:lnTo>
                  <a:pt x="119531" y="354405"/>
                </a:lnTo>
                <a:lnTo>
                  <a:pt x="164440" y="368449"/>
                </a:lnTo>
                <a:lnTo>
                  <a:pt x="213360" y="373379"/>
                </a:lnTo>
                <a:lnTo>
                  <a:pt x="262279" y="368449"/>
                </a:lnTo>
                <a:lnTo>
                  <a:pt x="307188" y="354405"/>
                </a:lnTo>
                <a:lnTo>
                  <a:pt x="346803" y="332367"/>
                </a:lnTo>
                <a:lnTo>
                  <a:pt x="379845" y="303457"/>
                </a:lnTo>
                <a:lnTo>
                  <a:pt x="405032" y="268793"/>
                </a:lnTo>
                <a:lnTo>
                  <a:pt x="421084" y="229497"/>
                </a:lnTo>
                <a:lnTo>
                  <a:pt x="426720" y="186689"/>
                </a:lnTo>
                <a:lnTo>
                  <a:pt x="421084" y="143878"/>
                </a:lnTo>
                <a:lnTo>
                  <a:pt x="405032" y="104580"/>
                </a:lnTo>
                <a:lnTo>
                  <a:pt x="379845" y="69917"/>
                </a:lnTo>
                <a:lnTo>
                  <a:pt x="346803" y="41008"/>
                </a:lnTo>
                <a:lnTo>
                  <a:pt x="307188" y="18972"/>
                </a:lnTo>
                <a:lnTo>
                  <a:pt x="262279" y="4929"/>
                </a:lnTo>
                <a:lnTo>
                  <a:pt x="213360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887069" y="5350561"/>
            <a:ext cx="8836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105" algn="l"/>
              </a:tabLst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dirty="0" sz="1800" spc="-25">
                <a:latin typeface="Wingdings"/>
                <a:cs typeface="Wingdings"/>
              </a:rPr>
              <a:t>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b="1">
                <a:latin typeface="Corbel"/>
                <a:cs typeface="Corbel"/>
              </a:rPr>
              <a:t>Strong</a:t>
            </a:r>
            <a:r>
              <a:rPr dirty="0" sz="1800" spc="-45" b="1">
                <a:latin typeface="Corbel"/>
                <a:cs typeface="Corbel"/>
              </a:rPr>
              <a:t> </a:t>
            </a:r>
            <a:r>
              <a:rPr dirty="0" sz="1800" spc="-10" b="1">
                <a:latin typeface="Corbel"/>
                <a:cs typeface="Corbel"/>
              </a:rPr>
              <a:t>Cash-</a:t>
            </a:r>
            <a:r>
              <a:rPr dirty="0" sz="1800" b="1">
                <a:latin typeface="Corbel"/>
                <a:cs typeface="Corbel"/>
              </a:rPr>
              <a:t>flow</a:t>
            </a:r>
            <a:r>
              <a:rPr dirty="0" sz="1800" spc="-55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Generation</a:t>
            </a:r>
            <a:r>
              <a:rPr dirty="0" sz="1800" spc="-20" b="1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and</a:t>
            </a:r>
            <a:r>
              <a:rPr dirty="0" sz="1800" spc="-35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Optimal</a:t>
            </a:r>
            <a:r>
              <a:rPr dirty="0" sz="1800" spc="-3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Cash</a:t>
            </a:r>
            <a:r>
              <a:rPr dirty="0" sz="1800" spc="-55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Strategy</a:t>
            </a:r>
            <a:r>
              <a:rPr dirty="0" sz="1800" spc="-40" b="1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to</a:t>
            </a:r>
            <a:r>
              <a:rPr dirty="0" sz="1800" spc="-30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maximize</a:t>
            </a:r>
            <a:r>
              <a:rPr dirty="0" sz="1800" spc="-45">
                <a:latin typeface="Corbel"/>
                <a:cs typeface="Corbel"/>
              </a:rPr>
              <a:t> </a:t>
            </a:r>
            <a:r>
              <a:rPr dirty="0" sz="1800">
                <a:latin typeface="Corbel"/>
                <a:cs typeface="Corbel"/>
              </a:rPr>
              <a:t>shareholder</a:t>
            </a:r>
            <a:r>
              <a:rPr dirty="0" sz="1800" spc="-35">
                <a:latin typeface="Corbel"/>
                <a:cs typeface="Corbel"/>
              </a:rPr>
              <a:t> </a:t>
            </a:r>
            <a:r>
              <a:rPr dirty="0" sz="1800" spc="-10">
                <a:latin typeface="Corbel"/>
                <a:cs typeface="Corbel"/>
              </a:rPr>
              <a:t>value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49140" y="629412"/>
            <a:ext cx="2950210" cy="0"/>
          </a:xfrm>
          <a:custGeom>
            <a:avLst/>
            <a:gdLst/>
            <a:ahLst/>
            <a:cxnLst/>
            <a:rect l="l" t="t" r="r" b="b"/>
            <a:pathLst>
              <a:path w="2950209" h="0">
                <a:moveTo>
                  <a:pt x="0" y="0"/>
                </a:moveTo>
                <a:lnTo>
                  <a:pt x="2949702" y="0"/>
                </a:lnTo>
              </a:path>
            </a:pathLst>
          </a:custGeom>
          <a:ln w="9144">
            <a:solidFill>
              <a:srgbClr val="C725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27403" y="3381755"/>
            <a:ext cx="525780" cy="248920"/>
          </a:xfrm>
          <a:custGeom>
            <a:avLst/>
            <a:gdLst/>
            <a:ahLst/>
            <a:cxnLst/>
            <a:rect l="l" t="t" r="r" b="b"/>
            <a:pathLst>
              <a:path w="525780" h="248920">
                <a:moveTo>
                  <a:pt x="525779" y="0"/>
                </a:moveTo>
                <a:lnTo>
                  <a:pt x="0" y="0"/>
                </a:lnTo>
                <a:lnTo>
                  <a:pt x="0" y="248412"/>
                </a:lnTo>
                <a:lnTo>
                  <a:pt x="525779" y="248412"/>
                </a:lnTo>
                <a:lnTo>
                  <a:pt x="525779" y="0"/>
                </a:lnTo>
                <a:close/>
              </a:path>
            </a:pathLst>
          </a:custGeom>
          <a:solidFill>
            <a:srgbClr val="9FB4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641092" y="3186683"/>
            <a:ext cx="525780" cy="443865"/>
          </a:xfrm>
          <a:custGeom>
            <a:avLst/>
            <a:gdLst/>
            <a:ahLst/>
            <a:cxnLst/>
            <a:rect l="l" t="t" r="r" b="b"/>
            <a:pathLst>
              <a:path w="525780" h="443864">
                <a:moveTo>
                  <a:pt x="525780" y="0"/>
                </a:moveTo>
                <a:lnTo>
                  <a:pt x="0" y="0"/>
                </a:lnTo>
                <a:lnTo>
                  <a:pt x="0" y="443483"/>
                </a:lnTo>
                <a:lnTo>
                  <a:pt x="525780" y="443483"/>
                </a:lnTo>
                <a:lnTo>
                  <a:pt x="525780" y="0"/>
                </a:lnTo>
                <a:close/>
              </a:path>
            </a:pathLst>
          </a:custGeom>
          <a:solidFill>
            <a:srgbClr val="9FB4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956303" y="3075432"/>
            <a:ext cx="525780" cy="554990"/>
          </a:xfrm>
          <a:custGeom>
            <a:avLst/>
            <a:gdLst/>
            <a:ahLst/>
            <a:cxnLst/>
            <a:rect l="l" t="t" r="r" b="b"/>
            <a:pathLst>
              <a:path w="525779" h="554989">
                <a:moveTo>
                  <a:pt x="525780" y="0"/>
                </a:moveTo>
                <a:lnTo>
                  <a:pt x="0" y="0"/>
                </a:lnTo>
                <a:lnTo>
                  <a:pt x="0" y="554735"/>
                </a:lnTo>
                <a:lnTo>
                  <a:pt x="525780" y="554735"/>
                </a:lnTo>
                <a:lnTo>
                  <a:pt x="525780" y="0"/>
                </a:lnTo>
                <a:close/>
              </a:path>
            </a:pathLst>
          </a:custGeom>
          <a:solidFill>
            <a:srgbClr val="9FB4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269991" y="2891027"/>
            <a:ext cx="525780" cy="739140"/>
          </a:xfrm>
          <a:custGeom>
            <a:avLst/>
            <a:gdLst/>
            <a:ahLst/>
            <a:cxnLst/>
            <a:rect l="l" t="t" r="r" b="b"/>
            <a:pathLst>
              <a:path w="525779" h="739139">
                <a:moveTo>
                  <a:pt x="525780" y="0"/>
                </a:moveTo>
                <a:lnTo>
                  <a:pt x="0" y="0"/>
                </a:lnTo>
                <a:lnTo>
                  <a:pt x="0" y="739140"/>
                </a:lnTo>
                <a:lnTo>
                  <a:pt x="525780" y="739140"/>
                </a:lnTo>
                <a:lnTo>
                  <a:pt x="525780" y="0"/>
                </a:lnTo>
                <a:close/>
              </a:path>
            </a:pathLst>
          </a:custGeom>
          <a:solidFill>
            <a:srgbClr val="9FB4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327403" y="2333244"/>
            <a:ext cx="525780" cy="1049020"/>
          </a:xfrm>
          <a:custGeom>
            <a:avLst/>
            <a:gdLst/>
            <a:ahLst/>
            <a:cxnLst/>
            <a:rect l="l" t="t" r="r" b="b"/>
            <a:pathLst>
              <a:path w="525780" h="1049020">
                <a:moveTo>
                  <a:pt x="525779" y="0"/>
                </a:moveTo>
                <a:lnTo>
                  <a:pt x="0" y="0"/>
                </a:lnTo>
                <a:lnTo>
                  <a:pt x="0" y="1048511"/>
                </a:lnTo>
                <a:lnTo>
                  <a:pt x="525779" y="1048511"/>
                </a:lnTo>
                <a:lnTo>
                  <a:pt x="52577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641092" y="2083307"/>
            <a:ext cx="525780" cy="1103630"/>
          </a:xfrm>
          <a:custGeom>
            <a:avLst/>
            <a:gdLst/>
            <a:ahLst/>
            <a:cxnLst/>
            <a:rect l="l" t="t" r="r" b="b"/>
            <a:pathLst>
              <a:path w="525780" h="1103630">
                <a:moveTo>
                  <a:pt x="525780" y="0"/>
                </a:moveTo>
                <a:lnTo>
                  <a:pt x="0" y="0"/>
                </a:lnTo>
                <a:lnTo>
                  <a:pt x="0" y="1103376"/>
                </a:lnTo>
                <a:lnTo>
                  <a:pt x="525780" y="1103376"/>
                </a:lnTo>
                <a:lnTo>
                  <a:pt x="52578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956303" y="1903476"/>
            <a:ext cx="525780" cy="1172210"/>
          </a:xfrm>
          <a:custGeom>
            <a:avLst/>
            <a:gdLst/>
            <a:ahLst/>
            <a:cxnLst/>
            <a:rect l="l" t="t" r="r" b="b"/>
            <a:pathLst>
              <a:path w="525779" h="1172210">
                <a:moveTo>
                  <a:pt x="525780" y="0"/>
                </a:moveTo>
                <a:lnTo>
                  <a:pt x="0" y="0"/>
                </a:lnTo>
                <a:lnTo>
                  <a:pt x="0" y="1171956"/>
                </a:lnTo>
                <a:lnTo>
                  <a:pt x="525780" y="1171956"/>
                </a:lnTo>
                <a:lnTo>
                  <a:pt x="52578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269991" y="1764792"/>
            <a:ext cx="525780" cy="1126490"/>
          </a:xfrm>
          <a:custGeom>
            <a:avLst/>
            <a:gdLst/>
            <a:ahLst/>
            <a:cxnLst/>
            <a:rect l="l" t="t" r="r" b="b"/>
            <a:pathLst>
              <a:path w="525779" h="1126489">
                <a:moveTo>
                  <a:pt x="525780" y="0"/>
                </a:moveTo>
                <a:lnTo>
                  <a:pt x="0" y="0"/>
                </a:lnTo>
                <a:lnTo>
                  <a:pt x="0" y="1126236"/>
                </a:lnTo>
                <a:lnTo>
                  <a:pt x="525780" y="1126236"/>
                </a:lnTo>
                <a:lnTo>
                  <a:pt x="52578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932688" y="3630167"/>
            <a:ext cx="5257800" cy="0"/>
          </a:xfrm>
          <a:custGeom>
            <a:avLst/>
            <a:gdLst/>
            <a:ahLst/>
            <a:cxnLst/>
            <a:rect l="l" t="t" r="r" b="b"/>
            <a:pathLst>
              <a:path w="5257800" h="0">
                <a:moveTo>
                  <a:pt x="0" y="0"/>
                </a:moveTo>
                <a:lnTo>
                  <a:pt x="5257800" y="0"/>
                </a:lnTo>
              </a:path>
            </a:pathLst>
          </a:custGeom>
          <a:ln w="9144">
            <a:solidFill>
              <a:srgbClr val="85858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397253" y="3722877"/>
            <a:ext cx="3854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orbel"/>
                <a:cs typeface="Corbel"/>
              </a:rPr>
              <a:t>FY15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707894" y="3722877"/>
            <a:ext cx="3937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orbel"/>
                <a:cs typeface="Corbel"/>
              </a:rPr>
              <a:t>FY16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031107" y="3722877"/>
            <a:ext cx="3765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orbel"/>
                <a:cs typeface="Corbel"/>
              </a:rPr>
              <a:t>FY17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337809" y="3722877"/>
            <a:ext cx="3917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orbel"/>
                <a:cs typeface="Corbel"/>
              </a:rPr>
              <a:t>FY18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dirty="0" u="none" spc="-10"/>
              <a:t>Accelerate</a:t>
            </a:r>
            <a:r>
              <a:rPr dirty="0" u="none" spc="-75"/>
              <a:t> </a:t>
            </a:r>
            <a:r>
              <a:rPr dirty="0" u="none"/>
              <a:t>Direct</a:t>
            </a:r>
            <a:r>
              <a:rPr dirty="0" u="none" spc="-60"/>
              <a:t> </a:t>
            </a:r>
            <a:r>
              <a:rPr dirty="0" u="none"/>
              <a:t>Core</a:t>
            </a:r>
            <a:r>
              <a:rPr dirty="0" u="none" spc="-65"/>
              <a:t> </a:t>
            </a:r>
            <a:r>
              <a:rPr dirty="0" u="none"/>
              <a:t>:</a:t>
            </a:r>
            <a:r>
              <a:rPr dirty="0" u="none" spc="-55"/>
              <a:t> </a:t>
            </a:r>
            <a:r>
              <a:rPr dirty="0" u="none" spc="-20"/>
              <a:t>Track</a:t>
            </a:r>
            <a:r>
              <a:rPr dirty="0" u="none" spc="-75"/>
              <a:t> </a:t>
            </a:r>
            <a:r>
              <a:rPr dirty="0" u="none"/>
              <a:t>record</a:t>
            </a:r>
            <a:r>
              <a:rPr dirty="0" u="none" spc="-80"/>
              <a:t> </a:t>
            </a:r>
            <a:r>
              <a:rPr dirty="0" u="none"/>
              <a:t>of</a:t>
            </a:r>
            <a:r>
              <a:rPr dirty="0" u="none" spc="-65"/>
              <a:t> </a:t>
            </a:r>
            <a:r>
              <a:rPr dirty="0" u="none"/>
              <a:t>Growth</a:t>
            </a:r>
            <a:r>
              <a:rPr dirty="0" u="none" spc="-75"/>
              <a:t> </a:t>
            </a:r>
            <a:r>
              <a:rPr dirty="0" u="none"/>
              <a:t>driven</a:t>
            </a:r>
            <a:r>
              <a:rPr dirty="0" u="none" spc="-50"/>
              <a:t> </a:t>
            </a:r>
            <a:r>
              <a:rPr dirty="0" u="none"/>
              <a:t>by</a:t>
            </a:r>
            <a:r>
              <a:rPr dirty="0" u="none" spc="-55"/>
              <a:t> </a:t>
            </a:r>
            <a:r>
              <a:rPr dirty="0" u="none"/>
              <a:t>New</a:t>
            </a:r>
            <a:r>
              <a:rPr dirty="0" u="none" spc="-70"/>
              <a:t> </a:t>
            </a:r>
            <a:r>
              <a:rPr dirty="0" u="none" spc="-10"/>
              <a:t>Generation</a:t>
            </a:r>
            <a:r>
              <a:rPr dirty="0" u="none" spc="-50"/>
              <a:t> </a:t>
            </a:r>
            <a:r>
              <a:rPr dirty="0" u="none" spc="-10"/>
              <a:t>Services</a:t>
            </a:r>
          </a:p>
        </p:txBody>
      </p:sp>
      <p:grpSp>
        <p:nvGrpSpPr>
          <p:cNvPr id="17" name="object 17" descr=""/>
          <p:cNvGrpSpPr/>
          <p:nvPr/>
        </p:nvGrpSpPr>
        <p:grpSpPr>
          <a:xfrm>
            <a:off x="1596389" y="1525650"/>
            <a:ext cx="3744595" cy="485140"/>
            <a:chOff x="1596389" y="1525650"/>
            <a:chExt cx="3744595" cy="485140"/>
          </a:xfrm>
        </p:grpSpPr>
        <p:sp>
          <p:nvSpPr>
            <p:cNvPr id="18" name="object 18" descr=""/>
            <p:cNvSpPr/>
            <p:nvPr/>
          </p:nvSpPr>
          <p:spPr>
            <a:xfrm>
              <a:off x="1596389" y="1525650"/>
              <a:ext cx="3744595" cy="485140"/>
            </a:xfrm>
            <a:custGeom>
              <a:avLst/>
              <a:gdLst/>
              <a:ahLst/>
              <a:cxnLst/>
              <a:rect l="l" t="t" r="r" b="b"/>
              <a:pathLst>
                <a:path w="3744595" h="485139">
                  <a:moveTo>
                    <a:pt x="3708212" y="38919"/>
                  </a:moveTo>
                  <a:lnTo>
                    <a:pt x="0" y="472439"/>
                  </a:lnTo>
                  <a:lnTo>
                    <a:pt x="1523" y="485139"/>
                  </a:lnTo>
                  <a:lnTo>
                    <a:pt x="3709616" y="51506"/>
                  </a:lnTo>
                  <a:lnTo>
                    <a:pt x="3719708" y="43937"/>
                  </a:lnTo>
                  <a:lnTo>
                    <a:pt x="3708212" y="38919"/>
                  </a:lnTo>
                  <a:close/>
                </a:path>
                <a:path w="3744595" h="485139">
                  <a:moveTo>
                    <a:pt x="3733538" y="36195"/>
                  </a:moveTo>
                  <a:lnTo>
                    <a:pt x="3731514" y="36195"/>
                  </a:lnTo>
                  <a:lnTo>
                    <a:pt x="3732976" y="48260"/>
                  </a:lnTo>
                  <a:lnTo>
                    <a:pt x="3733038" y="48768"/>
                  </a:lnTo>
                  <a:lnTo>
                    <a:pt x="3709616" y="51506"/>
                  </a:lnTo>
                  <a:lnTo>
                    <a:pt x="3657727" y="90424"/>
                  </a:lnTo>
                  <a:lnTo>
                    <a:pt x="3654933" y="92456"/>
                  </a:lnTo>
                  <a:lnTo>
                    <a:pt x="3654425" y="96520"/>
                  </a:lnTo>
                  <a:lnTo>
                    <a:pt x="3656457" y="99313"/>
                  </a:lnTo>
                  <a:lnTo>
                    <a:pt x="3658616" y="102108"/>
                  </a:lnTo>
                  <a:lnTo>
                    <a:pt x="3662553" y="102615"/>
                  </a:lnTo>
                  <a:lnTo>
                    <a:pt x="3665347" y="100584"/>
                  </a:lnTo>
                  <a:lnTo>
                    <a:pt x="3744595" y="41021"/>
                  </a:lnTo>
                  <a:lnTo>
                    <a:pt x="3733538" y="36195"/>
                  </a:lnTo>
                  <a:close/>
                </a:path>
                <a:path w="3744595" h="485139">
                  <a:moveTo>
                    <a:pt x="3719708" y="43937"/>
                  </a:moveTo>
                  <a:lnTo>
                    <a:pt x="3709616" y="51506"/>
                  </a:lnTo>
                  <a:lnTo>
                    <a:pt x="3733038" y="48768"/>
                  </a:lnTo>
                  <a:lnTo>
                    <a:pt x="3732976" y="48260"/>
                  </a:lnTo>
                  <a:lnTo>
                    <a:pt x="3729609" y="48260"/>
                  </a:lnTo>
                  <a:lnTo>
                    <a:pt x="3719708" y="43937"/>
                  </a:lnTo>
                  <a:close/>
                </a:path>
                <a:path w="3744595" h="485139">
                  <a:moveTo>
                    <a:pt x="3728339" y="37464"/>
                  </a:moveTo>
                  <a:lnTo>
                    <a:pt x="3719708" y="43937"/>
                  </a:lnTo>
                  <a:lnTo>
                    <a:pt x="3729609" y="48260"/>
                  </a:lnTo>
                  <a:lnTo>
                    <a:pt x="3728339" y="37464"/>
                  </a:lnTo>
                  <a:close/>
                </a:path>
                <a:path w="3744595" h="485139">
                  <a:moveTo>
                    <a:pt x="3731667" y="37464"/>
                  </a:moveTo>
                  <a:lnTo>
                    <a:pt x="3728339" y="37464"/>
                  </a:lnTo>
                  <a:lnTo>
                    <a:pt x="3729609" y="48260"/>
                  </a:lnTo>
                  <a:lnTo>
                    <a:pt x="3732976" y="48260"/>
                  </a:lnTo>
                  <a:lnTo>
                    <a:pt x="3731667" y="37464"/>
                  </a:lnTo>
                  <a:close/>
                </a:path>
                <a:path w="3744595" h="485139">
                  <a:moveTo>
                    <a:pt x="3731514" y="36195"/>
                  </a:moveTo>
                  <a:lnTo>
                    <a:pt x="3708212" y="38919"/>
                  </a:lnTo>
                  <a:lnTo>
                    <a:pt x="3719708" y="43937"/>
                  </a:lnTo>
                  <a:lnTo>
                    <a:pt x="3728339" y="37464"/>
                  </a:lnTo>
                  <a:lnTo>
                    <a:pt x="3731667" y="37464"/>
                  </a:lnTo>
                  <a:lnTo>
                    <a:pt x="3731514" y="36195"/>
                  </a:lnTo>
                  <a:close/>
                </a:path>
                <a:path w="3744595" h="485139">
                  <a:moveTo>
                    <a:pt x="3650615" y="0"/>
                  </a:moveTo>
                  <a:lnTo>
                    <a:pt x="3646805" y="1397"/>
                  </a:lnTo>
                  <a:lnTo>
                    <a:pt x="3645408" y="4699"/>
                  </a:lnTo>
                  <a:lnTo>
                    <a:pt x="3644011" y="7874"/>
                  </a:lnTo>
                  <a:lnTo>
                    <a:pt x="3645535" y="11557"/>
                  </a:lnTo>
                  <a:lnTo>
                    <a:pt x="3708212" y="38919"/>
                  </a:lnTo>
                  <a:lnTo>
                    <a:pt x="3731514" y="36195"/>
                  </a:lnTo>
                  <a:lnTo>
                    <a:pt x="3733538" y="36195"/>
                  </a:lnTo>
                  <a:lnTo>
                    <a:pt x="3650615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131819" y="1641347"/>
              <a:ext cx="800100" cy="273050"/>
            </a:xfrm>
            <a:custGeom>
              <a:avLst/>
              <a:gdLst/>
              <a:ahLst/>
              <a:cxnLst/>
              <a:rect l="l" t="t" r="r" b="b"/>
              <a:pathLst>
                <a:path w="800100" h="273050">
                  <a:moveTo>
                    <a:pt x="400050" y="0"/>
                  </a:moveTo>
                  <a:lnTo>
                    <a:pt x="335150" y="1785"/>
                  </a:lnTo>
                  <a:lnTo>
                    <a:pt x="273588" y="6955"/>
                  </a:lnTo>
                  <a:lnTo>
                    <a:pt x="216187" y="15228"/>
                  </a:lnTo>
                  <a:lnTo>
                    <a:pt x="163769" y="26322"/>
                  </a:lnTo>
                  <a:lnTo>
                    <a:pt x="117157" y="39957"/>
                  </a:lnTo>
                  <a:lnTo>
                    <a:pt x="77175" y="55851"/>
                  </a:lnTo>
                  <a:lnTo>
                    <a:pt x="20391" y="93293"/>
                  </a:lnTo>
                  <a:lnTo>
                    <a:pt x="0" y="136398"/>
                  </a:lnTo>
                  <a:lnTo>
                    <a:pt x="5234" y="158517"/>
                  </a:lnTo>
                  <a:lnTo>
                    <a:pt x="44645" y="199072"/>
                  </a:lnTo>
                  <a:lnTo>
                    <a:pt x="117157" y="232838"/>
                  </a:lnTo>
                  <a:lnTo>
                    <a:pt x="163769" y="246473"/>
                  </a:lnTo>
                  <a:lnTo>
                    <a:pt x="216187" y="257567"/>
                  </a:lnTo>
                  <a:lnTo>
                    <a:pt x="273588" y="265840"/>
                  </a:lnTo>
                  <a:lnTo>
                    <a:pt x="335150" y="271010"/>
                  </a:lnTo>
                  <a:lnTo>
                    <a:pt x="400050" y="272796"/>
                  </a:lnTo>
                  <a:lnTo>
                    <a:pt x="464949" y="271010"/>
                  </a:lnTo>
                  <a:lnTo>
                    <a:pt x="526511" y="265840"/>
                  </a:lnTo>
                  <a:lnTo>
                    <a:pt x="583912" y="257567"/>
                  </a:lnTo>
                  <a:lnTo>
                    <a:pt x="636330" y="246473"/>
                  </a:lnTo>
                  <a:lnTo>
                    <a:pt x="682942" y="232838"/>
                  </a:lnTo>
                  <a:lnTo>
                    <a:pt x="722924" y="216944"/>
                  </a:lnTo>
                  <a:lnTo>
                    <a:pt x="779708" y="179502"/>
                  </a:lnTo>
                  <a:lnTo>
                    <a:pt x="800100" y="136398"/>
                  </a:lnTo>
                  <a:lnTo>
                    <a:pt x="794865" y="114278"/>
                  </a:lnTo>
                  <a:lnTo>
                    <a:pt x="755454" y="73723"/>
                  </a:lnTo>
                  <a:lnTo>
                    <a:pt x="682942" y="39957"/>
                  </a:lnTo>
                  <a:lnTo>
                    <a:pt x="636330" y="26322"/>
                  </a:lnTo>
                  <a:lnTo>
                    <a:pt x="583912" y="15228"/>
                  </a:lnTo>
                  <a:lnTo>
                    <a:pt x="526511" y="6955"/>
                  </a:lnTo>
                  <a:lnTo>
                    <a:pt x="464949" y="1785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131819" y="1641347"/>
              <a:ext cx="800100" cy="273050"/>
            </a:xfrm>
            <a:custGeom>
              <a:avLst/>
              <a:gdLst/>
              <a:ahLst/>
              <a:cxnLst/>
              <a:rect l="l" t="t" r="r" b="b"/>
              <a:pathLst>
                <a:path w="800100" h="273050">
                  <a:moveTo>
                    <a:pt x="0" y="136398"/>
                  </a:moveTo>
                  <a:lnTo>
                    <a:pt x="20391" y="93293"/>
                  </a:lnTo>
                  <a:lnTo>
                    <a:pt x="77175" y="55851"/>
                  </a:lnTo>
                  <a:lnTo>
                    <a:pt x="117157" y="39957"/>
                  </a:lnTo>
                  <a:lnTo>
                    <a:pt x="163769" y="26322"/>
                  </a:lnTo>
                  <a:lnTo>
                    <a:pt x="216187" y="15228"/>
                  </a:lnTo>
                  <a:lnTo>
                    <a:pt x="273588" y="6955"/>
                  </a:lnTo>
                  <a:lnTo>
                    <a:pt x="335150" y="1785"/>
                  </a:lnTo>
                  <a:lnTo>
                    <a:pt x="400050" y="0"/>
                  </a:lnTo>
                  <a:lnTo>
                    <a:pt x="464949" y="1785"/>
                  </a:lnTo>
                  <a:lnTo>
                    <a:pt x="526511" y="6955"/>
                  </a:lnTo>
                  <a:lnTo>
                    <a:pt x="583912" y="15228"/>
                  </a:lnTo>
                  <a:lnTo>
                    <a:pt x="636330" y="26322"/>
                  </a:lnTo>
                  <a:lnTo>
                    <a:pt x="682942" y="39957"/>
                  </a:lnTo>
                  <a:lnTo>
                    <a:pt x="722924" y="55851"/>
                  </a:lnTo>
                  <a:lnTo>
                    <a:pt x="779708" y="93293"/>
                  </a:lnTo>
                  <a:lnTo>
                    <a:pt x="800100" y="136398"/>
                  </a:lnTo>
                  <a:lnTo>
                    <a:pt x="794865" y="158517"/>
                  </a:lnTo>
                  <a:lnTo>
                    <a:pt x="755454" y="199072"/>
                  </a:lnTo>
                  <a:lnTo>
                    <a:pt x="682942" y="232838"/>
                  </a:lnTo>
                  <a:lnTo>
                    <a:pt x="636330" y="246473"/>
                  </a:lnTo>
                  <a:lnTo>
                    <a:pt x="583912" y="257567"/>
                  </a:lnTo>
                  <a:lnTo>
                    <a:pt x="526511" y="265840"/>
                  </a:lnTo>
                  <a:lnTo>
                    <a:pt x="464949" y="271010"/>
                  </a:lnTo>
                  <a:lnTo>
                    <a:pt x="400050" y="272796"/>
                  </a:lnTo>
                  <a:lnTo>
                    <a:pt x="335150" y="271010"/>
                  </a:lnTo>
                  <a:lnTo>
                    <a:pt x="273588" y="265840"/>
                  </a:lnTo>
                  <a:lnTo>
                    <a:pt x="216187" y="257567"/>
                  </a:lnTo>
                  <a:lnTo>
                    <a:pt x="163769" y="246473"/>
                  </a:lnTo>
                  <a:lnTo>
                    <a:pt x="117157" y="232838"/>
                  </a:lnTo>
                  <a:lnTo>
                    <a:pt x="77175" y="216944"/>
                  </a:lnTo>
                  <a:lnTo>
                    <a:pt x="20391" y="179502"/>
                  </a:lnTo>
                  <a:lnTo>
                    <a:pt x="0" y="136398"/>
                  </a:lnTo>
                  <a:close/>
                </a:path>
              </a:pathLst>
            </a:custGeom>
            <a:ln w="9143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56159" y="2530601"/>
            <a:ext cx="81851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Traditional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72923" y="3212338"/>
            <a:ext cx="7245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New-</a:t>
            </a:r>
            <a:r>
              <a:rPr dirty="0" sz="1400" spc="-25">
                <a:latin typeface="Corbel"/>
                <a:cs typeface="Corbel"/>
              </a:rPr>
              <a:t>Gen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312921" y="1636522"/>
            <a:ext cx="43878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latin typeface="Corbel"/>
                <a:cs typeface="Corbel"/>
              </a:rPr>
              <a:t>+13%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50368" y="4050919"/>
            <a:ext cx="88709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latin typeface="Corbel"/>
                <a:cs typeface="Corbel"/>
              </a:rPr>
              <a:t>%</a:t>
            </a:r>
            <a:r>
              <a:rPr dirty="0" sz="1400" spc="-5" i="1">
                <a:latin typeface="Corbel"/>
                <a:cs typeface="Corbel"/>
              </a:rPr>
              <a:t> </a:t>
            </a:r>
            <a:r>
              <a:rPr dirty="0" sz="1400" spc="-10" i="1">
                <a:latin typeface="Corbel"/>
                <a:cs typeface="Corbel"/>
              </a:rPr>
              <a:t>New-</a:t>
            </a:r>
            <a:r>
              <a:rPr dirty="0" sz="1400" spc="-25" i="1">
                <a:latin typeface="Corbel"/>
                <a:cs typeface="Corbel"/>
              </a:rPr>
              <a:t>Gen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232916" y="4066032"/>
            <a:ext cx="731520" cy="242570"/>
          </a:xfrm>
          <a:custGeom>
            <a:avLst/>
            <a:gdLst/>
            <a:ahLst/>
            <a:cxnLst/>
            <a:rect l="l" t="t" r="r" b="b"/>
            <a:pathLst>
              <a:path w="731519" h="242570">
                <a:moveTo>
                  <a:pt x="365759" y="0"/>
                </a:moveTo>
                <a:lnTo>
                  <a:pt x="300000" y="1951"/>
                </a:lnTo>
                <a:lnTo>
                  <a:pt x="238112" y="7578"/>
                </a:lnTo>
                <a:lnTo>
                  <a:pt x="181130" y="16538"/>
                </a:lnTo>
                <a:lnTo>
                  <a:pt x="130083" y="28489"/>
                </a:lnTo>
                <a:lnTo>
                  <a:pt x="86004" y="43091"/>
                </a:lnTo>
                <a:lnTo>
                  <a:pt x="49925" y="60000"/>
                </a:lnTo>
                <a:lnTo>
                  <a:pt x="5891" y="99375"/>
                </a:lnTo>
                <a:lnTo>
                  <a:pt x="0" y="121158"/>
                </a:lnTo>
                <a:lnTo>
                  <a:pt x="5891" y="142940"/>
                </a:lnTo>
                <a:lnTo>
                  <a:pt x="49925" y="182315"/>
                </a:lnTo>
                <a:lnTo>
                  <a:pt x="86004" y="199224"/>
                </a:lnTo>
                <a:lnTo>
                  <a:pt x="130083" y="213826"/>
                </a:lnTo>
                <a:lnTo>
                  <a:pt x="181130" y="225777"/>
                </a:lnTo>
                <a:lnTo>
                  <a:pt x="238112" y="234737"/>
                </a:lnTo>
                <a:lnTo>
                  <a:pt x="300000" y="240364"/>
                </a:lnTo>
                <a:lnTo>
                  <a:pt x="365759" y="242316"/>
                </a:lnTo>
                <a:lnTo>
                  <a:pt x="431519" y="240364"/>
                </a:lnTo>
                <a:lnTo>
                  <a:pt x="493407" y="234737"/>
                </a:lnTo>
                <a:lnTo>
                  <a:pt x="550389" y="225777"/>
                </a:lnTo>
                <a:lnTo>
                  <a:pt x="601436" y="213826"/>
                </a:lnTo>
                <a:lnTo>
                  <a:pt x="645515" y="199224"/>
                </a:lnTo>
                <a:lnTo>
                  <a:pt x="681594" y="182315"/>
                </a:lnTo>
                <a:lnTo>
                  <a:pt x="725628" y="142940"/>
                </a:lnTo>
                <a:lnTo>
                  <a:pt x="731520" y="121158"/>
                </a:lnTo>
                <a:lnTo>
                  <a:pt x="725628" y="99375"/>
                </a:lnTo>
                <a:lnTo>
                  <a:pt x="681594" y="60000"/>
                </a:lnTo>
                <a:lnTo>
                  <a:pt x="645515" y="43091"/>
                </a:lnTo>
                <a:lnTo>
                  <a:pt x="601436" y="28489"/>
                </a:lnTo>
                <a:lnTo>
                  <a:pt x="550389" y="16538"/>
                </a:lnTo>
                <a:lnTo>
                  <a:pt x="493407" y="7578"/>
                </a:lnTo>
                <a:lnTo>
                  <a:pt x="431519" y="1951"/>
                </a:lnTo>
                <a:lnTo>
                  <a:pt x="365759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441830" y="4075303"/>
            <a:ext cx="314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FFFFFF"/>
                </a:solidFill>
                <a:latin typeface="Corbel"/>
                <a:cs typeface="Corbel"/>
              </a:rPr>
              <a:t>19%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2471927" y="4066032"/>
            <a:ext cx="731520" cy="242570"/>
          </a:xfrm>
          <a:custGeom>
            <a:avLst/>
            <a:gdLst/>
            <a:ahLst/>
            <a:cxnLst/>
            <a:rect l="l" t="t" r="r" b="b"/>
            <a:pathLst>
              <a:path w="731519" h="242570">
                <a:moveTo>
                  <a:pt x="365760" y="0"/>
                </a:moveTo>
                <a:lnTo>
                  <a:pt x="300000" y="1951"/>
                </a:lnTo>
                <a:lnTo>
                  <a:pt x="238112" y="7578"/>
                </a:lnTo>
                <a:lnTo>
                  <a:pt x="181130" y="16538"/>
                </a:lnTo>
                <a:lnTo>
                  <a:pt x="130083" y="28489"/>
                </a:lnTo>
                <a:lnTo>
                  <a:pt x="86004" y="43091"/>
                </a:lnTo>
                <a:lnTo>
                  <a:pt x="49925" y="60000"/>
                </a:lnTo>
                <a:lnTo>
                  <a:pt x="5891" y="99375"/>
                </a:lnTo>
                <a:lnTo>
                  <a:pt x="0" y="121158"/>
                </a:lnTo>
                <a:lnTo>
                  <a:pt x="5891" y="142940"/>
                </a:lnTo>
                <a:lnTo>
                  <a:pt x="49925" y="182315"/>
                </a:lnTo>
                <a:lnTo>
                  <a:pt x="86004" y="199224"/>
                </a:lnTo>
                <a:lnTo>
                  <a:pt x="130083" y="213826"/>
                </a:lnTo>
                <a:lnTo>
                  <a:pt x="181130" y="225777"/>
                </a:lnTo>
                <a:lnTo>
                  <a:pt x="238112" y="234737"/>
                </a:lnTo>
                <a:lnTo>
                  <a:pt x="300000" y="240364"/>
                </a:lnTo>
                <a:lnTo>
                  <a:pt x="365760" y="242316"/>
                </a:lnTo>
                <a:lnTo>
                  <a:pt x="431519" y="240364"/>
                </a:lnTo>
                <a:lnTo>
                  <a:pt x="493407" y="234737"/>
                </a:lnTo>
                <a:lnTo>
                  <a:pt x="550389" y="225777"/>
                </a:lnTo>
                <a:lnTo>
                  <a:pt x="601436" y="213826"/>
                </a:lnTo>
                <a:lnTo>
                  <a:pt x="645515" y="199224"/>
                </a:lnTo>
                <a:lnTo>
                  <a:pt x="681594" y="182315"/>
                </a:lnTo>
                <a:lnTo>
                  <a:pt x="725628" y="142940"/>
                </a:lnTo>
                <a:lnTo>
                  <a:pt x="731520" y="121158"/>
                </a:lnTo>
                <a:lnTo>
                  <a:pt x="725628" y="99375"/>
                </a:lnTo>
                <a:lnTo>
                  <a:pt x="681594" y="60000"/>
                </a:lnTo>
                <a:lnTo>
                  <a:pt x="645515" y="43091"/>
                </a:lnTo>
                <a:lnTo>
                  <a:pt x="601436" y="28489"/>
                </a:lnTo>
                <a:lnTo>
                  <a:pt x="550389" y="16538"/>
                </a:lnTo>
                <a:lnTo>
                  <a:pt x="493407" y="7578"/>
                </a:lnTo>
                <a:lnTo>
                  <a:pt x="431519" y="1951"/>
                </a:lnTo>
                <a:lnTo>
                  <a:pt x="365760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2680842" y="4075303"/>
            <a:ext cx="315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FFFFFF"/>
                </a:solidFill>
                <a:latin typeface="Corbel"/>
                <a:cs typeface="Corbel"/>
              </a:rPr>
              <a:t>29%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5173979" y="4066032"/>
            <a:ext cx="731520" cy="242570"/>
          </a:xfrm>
          <a:custGeom>
            <a:avLst/>
            <a:gdLst/>
            <a:ahLst/>
            <a:cxnLst/>
            <a:rect l="l" t="t" r="r" b="b"/>
            <a:pathLst>
              <a:path w="731520" h="242570">
                <a:moveTo>
                  <a:pt x="365760" y="0"/>
                </a:moveTo>
                <a:lnTo>
                  <a:pt x="300000" y="1951"/>
                </a:lnTo>
                <a:lnTo>
                  <a:pt x="238112" y="7578"/>
                </a:lnTo>
                <a:lnTo>
                  <a:pt x="181130" y="16538"/>
                </a:lnTo>
                <a:lnTo>
                  <a:pt x="130083" y="28489"/>
                </a:lnTo>
                <a:lnTo>
                  <a:pt x="86004" y="43091"/>
                </a:lnTo>
                <a:lnTo>
                  <a:pt x="49925" y="60000"/>
                </a:lnTo>
                <a:lnTo>
                  <a:pt x="5891" y="99375"/>
                </a:lnTo>
                <a:lnTo>
                  <a:pt x="0" y="121158"/>
                </a:lnTo>
                <a:lnTo>
                  <a:pt x="5891" y="142940"/>
                </a:lnTo>
                <a:lnTo>
                  <a:pt x="49925" y="182315"/>
                </a:lnTo>
                <a:lnTo>
                  <a:pt x="86004" y="199224"/>
                </a:lnTo>
                <a:lnTo>
                  <a:pt x="130083" y="213826"/>
                </a:lnTo>
                <a:lnTo>
                  <a:pt x="181130" y="225777"/>
                </a:lnTo>
                <a:lnTo>
                  <a:pt x="238112" y="234737"/>
                </a:lnTo>
                <a:lnTo>
                  <a:pt x="300000" y="240364"/>
                </a:lnTo>
                <a:lnTo>
                  <a:pt x="365760" y="242316"/>
                </a:lnTo>
                <a:lnTo>
                  <a:pt x="431519" y="240364"/>
                </a:lnTo>
                <a:lnTo>
                  <a:pt x="493407" y="234737"/>
                </a:lnTo>
                <a:lnTo>
                  <a:pt x="550389" y="225777"/>
                </a:lnTo>
                <a:lnTo>
                  <a:pt x="601436" y="213826"/>
                </a:lnTo>
                <a:lnTo>
                  <a:pt x="645515" y="199224"/>
                </a:lnTo>
                <a:lnTo>
                  <a:pt x="681594" y="182315"/>
                </a:lnTo>
                <a:lnTo>
                  <a:pt x="725628" y="142940"/>
                </a:lnTo>
                <a:lnTo>
                  <a:pt x="731520" y="121158"/>
                </a:lnTo>
                <a:lnTo>
                  <a:pt x="725628" y="99375"/>
                </a:lnTo>
                <a:lnTo>
                  <a:pt x="681594" y="60000"/>
                </a:lnTo>
                <a:lnTo>
                  <a:pt x="645515" y="43091"/>
                </a:lnTo>
                <a:lnTo>
                  <a:pt x="601436" y="28489"/>
                </a:lnTo>
                <a:lnTo>
                  <a:pt x="550389" y="16538"/>
                </a:lnTo>
                <a:lnTo>
                  <a:pt x="493407" y="7578"/>
                </a:lnTo>
                <a:lnTo>
                  <a:pt x="431519" y="1951"/>
                </a:lnTo>
                <a:lnTo>
                  <a:pt x="365760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5383784" y="4075303"/>
            <a:ext cx="312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FFFFFF"/>
                </a:solidFill>
                <a:latin typeface="Corbel"/>
                <a:cs typeface="Corbel"/>
              </a:rPr>
              <a:t>40%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409191" y="2089530"/>
            <a:ext cx="439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rbel"/>
                <a:cs typeface="Corbel"/>
              </a:rPr>
              <a:t>24,143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702814" y="1832864"/>
            <a:ext cx="4387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rbel"/>
                <a:cs typeface="Corbel"/>
              </a:rPr>
              <a:t>28,795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982973" y="1673097"/>
            <a:ext cx="4330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rbel"/>
                <a:cs typeface="Corbel"/>
              </a:rPr>
              <a:t>32,156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63423" y="5877255"/>
            <a:ext cx="74453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latin typeface="Corbel"/>
                <a:cs typeface="Corbel"/>
              </a:rPr>
              <a:t>Note:</a:t>
            </a:r>
            <a:r>
              <a:rPr dirty="0" sz="1400" spc="-25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Direct</a:t>
            </a:r>
            <a:r>
              <a:rPr dirty="0" sz="1400" spc="-40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Core</a:t>
            </a:r>
            <a:r>
              <a:rPr dirty="0" sz="1400" spc="-15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constituted</a:t>
            </a:r>
            <a:r>
              <a:rPr dirty="0" sz="1400" spc="-60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78%</a:t>
            </a:r>
            <a:r>
              <a:rPr dirty="0" sz="1400" spc="-35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of</a:t>
            </a:r>
            <a:r>
              <a:rPr dirty="0" sz="1400" spc="-25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Direct</a:t>
            </a:r>
            <a:r>
              <a:rPr dirty="0" sz="1400" spc="-35" i="1">
                <a:latin typeface="Corbel"/>
                <a:cs typeface="Corbel"/>
              </a:rPr>
              <a:t> </a:t>
            </a:r>
            <a:r>
              <a:rPr dirty="0" sz="1400" spc="-10" i="1">
                <a:latin typeface="Corbel"/>
                <a:cs typeface="Corbel"/>
              </a:rPr>
              <a:t>International</a:t>
            </a:r>
            <a:r>
              <a:rPr dirty="0" sz="1400" spc="-40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Revenue</a:t>
            </a:r>
            <a:r>
              <a:rPr dirty="0" sz="1400" spc="-40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(and</a:t>
            </a:r>
            <a:r>
              <a:rPr dirty="0" sz="1400" spc="-35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55%</a:t>
            </a:r>
            <a:r>
              <a:rPr dirty="0" sz="1400" spc="-5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of</a:t>
            </a:r>
            <a:r>
              <a:rPr dirty="0" sz="1400" spc="-35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Mphasis</a:t>
            </a:r>
            <a:r>
              <a:rPr dirty="0" sz="1400" spc="-10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Revenue)</a:t>
            </a:r>
            <a:r>
              <a:rPr dirty="0" sz="1400" spc="-35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in</a:t>
            </a:r>
            <a:r>
              <a:rPr dirty="0" sz="1400" spc="-20" i="1">
                <a:latin typeface="Corbel"/>
                <a:cs typeface="Corbel"/>
              </a:rPr>
              <a:t> FY18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930019" y="2852292"/>
            <a:ext cx="3411220" cy="531495"/>
            <a:chOff x="1930019" y="2852292"/>
            <a:chExt cx="3411220" cy="531495"/>
          </a:xfrm>
        </p:grpSpPr>
        <p:sp>
          <p:nvSpPr>
            <p:cNvPr id="36" name="object 36" descr=""/>
            <p:cNvSpPr/>
            <p:nvPr/>
          </p:nvSpPr>
          <p:spPr>
            <a:xfrm>
              <a:off x="1930019" y="2852292"/>
              <a:ext cx="3411220" cy="531495"/>
            </a:xfrm>
            <a:custGeom>
              <a:avLst/>
              <a:gdLst/>
              <a:ahLst/>
              <a:cxnLst/>
              <a:rect l="l" t="t" r="r" b="b"/>
              <a:pathLst>
                <a:path w="3411220" h="531495">
                  <a:moveTo>
                    <a:pt x="3374309" y="37486"/>
                  </a:moveTo>
                  <a:lnTo>
                    <a:pt x="0" y="518414"/>
                  </a:lnTo>
                  <a:lnTo>
                    <a:pt x="1778" y="530987"/>
                  </a:lnTo>
                  <a:lnTo>
                    <a:pt x="3376169" y="50048"/>
                  </a:lnTo>
                  <a:lnTo>
                    <a:pt x="3386013" y="42248"/>
                  </a:lnTo>
                  <a:lnTo>
                    <a:pt x="3374309" y="37486"/>
                  </a:lnTo>
                  <a:close/>
                </a:path>
                <a:path w="3411220" h="531495">
                  <a:moveTo>
                    <a:pt x="3399722" y="34162"/>
                  </a:moveTo>
                  <a:lnTo>
                    <a:pt x="3397630" y="34162"/>
                  </a:lnTo>
                  <a:lnTo>
                    <a:pt x="3399355" y="46355"/>
                  </a:lnTo>
                  <a:lnTo>
                    <a:pt x="3399408" y="46736"/>
                  </a:lnTo>
                  <a:lnTo>
                    <a:pt x="3376169" y="50048"/>
                  </a:lnTo>
                  <a:lnTo>
                    <a:pt x="3325368" y="90297"/>
                  </a:lnTo>
                  <a:lnTo>
                    <a:pt x="3322574" y="92456"/>
                  </a:lnTo>
                  <a:lnTo>
                    <a:pt x="3322066" y="96393"/>
                  </a:lnTo>
                  <a:lnTo>
                    <a:pt x="3324352" y="99187"/>
                  </a:lnTo>
                  <a:lnTo>
                    <a:pt x="3326510" y="101981"/>
                  </a:lnTo>
                  <a:lnTo>
                    <a:pt x="3330448" y="102362"/>
                  </a:lnTo>
                  <a:lnTo>
                    <a:pt x="3333242" y="100203"/>
                  </a:lnTo>
                  <a:lnTo>
                    <a:pt x="3410966" y="38735"/>
                  </a:lnTo>
                  <a:lnTo>
                    <a:pt x="3399722" y="34162"/>
                  </a:lnTo>
                  <a:close/>
                </a:path>
                <a:path w="3411220" h="531495">
                  <a:moveTo>
                    <a:pt x="3386013" y="42248"/>
                  </a:moveTo>
                  <a:lnTo>
                    <a:pt x="3376169" y="50048"/>
                  </a:lnTo>
                  <a:lnTo>
                    <a:pt x="3399408" y="46736"/>
                  </a:lnTo>
                  <a:lnTo>
                    <a:pt x="3399355" y="46355"/>
                  </a:lnTo>
                  <a:lnTo>
                    <a:pt x="3396106" y="46355"/>
                  </a:lnTo>
                  <a:lnTo>
                    <a:pt x="3386013" y="42248"/>
                  </a:lnTo>
                  <a:close/>
                </a:path>
                <a:path w="3411220" h="531495">
                  <a:moveTo>
                    <a:pt x="3394455" y="35560"/>
                  </a:moveTo>
                  <a:lnTo>
                    <a:pt x="3386013" y="42248"/>
                  </a:lnTo>
                  <a:lnTo>
                    <a:pt x="3396106" y="46355"/>
                  </a:lnTo>
                  <a:lnTo>
                    <a:pt x="3394455" y="35560"/>
                  </a:lnTo>
                  <a:close/>
                </a:path>
                <a:path w="3411220" h="531495">
                  <a:moveTo>
                    <a:pt x="3397828" y="35560"/>
                  </a:moveTo>
                  <a:lnTo>
                    <a:pt x="3394455" y="35560"/>
                  </a:lnTo>
                  <a:lnTo>
                    <a:pt x="3396106" y="46355"/>
                  </a:lnTo>
                  <a:lnTo>
                    <a:pt x="3399355" y="46355"/>
                  </a:lnTo>
                  <a:lnTo>
                    <a:pt x="3397828" y="35560"/>
                  </a:lnTo>
                  <a:close/>
                </a:path>
                <a:path w="3411220" h="531495">
                  <a:moveTo>
                    <a:pt x="3397630" y="34162"/>
                  </a:moveTo>
                  <a:lnTo>
                    <a:pt x="3374309" y="37486"/>
                  </a:lnTo>
                  <a:lnTo>
                    <a:pt x="3386013" y="42248"/>
                  </a:lnTo>
                  <a:lnTo>
                    <a:pt x="3394455" y="35560"/>
                  </a:lnTo>
                  <a:lnTo>
                    <a:pt x="3397828" y="35560"/>
                  </a:lnTo>
                  <a:lnTo>
                    <a:pt x="3397630" y="34162"/>
                  </a:lnTo>
                  <a:close/>
                </a:path>
                <a:path w="3411220" h="531495">
                  <a:moveTo>
                    <a:pt x="3315843" y="0"/>
                  </a:moveTo>
                  <a:lnTo>
                    <a:pt x="3312159" y="1651"/>
                  </a:lnTo>
                  <a:lnTo>
                    <a:pt x="3310890" y="4826"/>
                  </a:lnTo>
                  <a:lnTo>
                    <a:pt x="3309493" y="8128"/>
                  </a:lnTo>
                  <a:lnTo>
                    <a:pt x="3311144" y="11811"/>
                  </a:lnTo>
                  <a:lnTo>
                    <a:pt x="3374309" y="37486"/>
                  </a:lnTo>
                  <a:lnTo>
                    <a:pt x="3397630" y="34162"/>
                  </a:lnTo>
                  <a:lnTo>
                    <a:pt x="3399722" y="34162"/>
                  </a:lnTo>
                  <a:lnTo>
                    <a:pt x="3319145" y="1397"/>
                  </a:lnTo>
                  <a:lnTo>
                    <a:pt x="3315843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166872" y="2974847"/>
              <a:ext cx="800100" cy="273050"/>
            </a:xfrm>
            <a:custGeom>
              <a:avLst/>
              <a:gdLst/>
              <a:ahLst/>
              <a:cxnLst/>
              <a:rect l="l" t="t" r="r" b="b"/>
              <a:pathLst>
                <a:path w="800100" h="273050">
                  <a:moveTo>
                    <a:pt x="400050" y="0"/>
                  </a:moveTo>
                  <a:lnTo>
                    <a:pt x="335150" y="1785"/>
                  </a:lnTo>
                  <a:lnTo>
                    <a:pt x="273588" y="6955"/>
                  </a:lnTo>
                  <a:lnTo>
                    <a:pt x="216187" y="15228"/>
                  </a:lnTo>
                  <a:lnTo>
                    <a:pt x="163769" y="26322"/>
                  </a:lnTo>
                  <a:lnTo>
                    <a:pt x="117157" y="39957"/>
                  </a:lnTo>
                  <a:lnTo>
                    <a:pt x="77175" y="55851"/>
                  </a:lnTo>
                  <a:lnTo>
                    <a:pt x="20391" y="93293"/>
                  </a:lnTo>
                  <a:lnTo>
                    <a:pt x="0" y="136398"/>
                  </a:lnTo>
                  <a:lnTo>
                    <a:pt x="5234" y="158517"/>
                  </a:lnTo>
                  <a:lnTo>
                    <a:pt x="44645" y="199072"/>
                  </a:lnTo>
                  <a:lnTo>
                    <a:pt x="117157" y="232838"/>
                  </a:lnTo>
                  <a:lnTo>
                    <a:pt x="163769" y="246473"/>
                  </a:lnTo>
                  <a:lnTo>
                    <a:pt x="216187" y="257567"/>
                  </a:lnTo>
                  <a:lnTo>
                    <a:pt x="273588" y="265840"/>
                  </a:lnTo>
                  <a:lnTo>
                    <a:pt x="335150" y="271010"/>
                  </a:lnTo>
                  <a:lnTo>
                    <a:pt x="400050" y="272796"/>
                  </a:lnTo>
                  <a:lnTo>
                    <a:pt x="464949" y="271010"/>
                  </a:lnTo>
                  <a:lnTo>
                    <a:pt x="526511" y="265840"/>
                  </a:lnTo>
                  <a:lnTo>
                    <a:pt x="583912" y="257567"/>
                  </a:lnTo>
                  <a:lnTo>
                    <a:pt x="636330" y="246473"/>
                  </a:lnTo>
                  <a:lnTo>
                    <a:pt x="682942" y="232838"/>
                  </a:lnTo>
                  <a:lnTo>
                    <a:pt x="722924" y="216944"/>
                  </a:lnTo>
                  <a:lnTo>
                    <a:pt x="779708" y="179502"/>
                  </a:lnTo>
                  <a:lnTo>
                    <a:pt x="800100" y="136398"/>
                  </a:lnTo>
                  <a:lnTo>
                    <a:pt x="794865" y="114278"/>
                  </a:lnTo>
                  <a:lnTo>
                    <a:pt x="755454" y="73723"/>
                  </a:lnTo>
                  <a:lnTo>
                    <a:pt x="682942" y="39957"/>
                  </a:lnTo>
                  <a:lnTo>
                    <a:pt x="636330" y="26322"/>
                  </a:lnTo>
                  <a:lnTo>
                    <a:pt x="583912" y="15228"/>
                  </a:lnTo>
                  <a:lnTo>
                    <a:pt x="526511" y="6955"/>
                  </a:lnTo>
                  <a:lnTo>
                    <a:pt x="464949" y="1785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166872" y="2974847"/>
              <a:ext cx="800100" cy="273050"/>
            </a:xfrm>
            <a:custGeom>
              <a:avLst/>
              <a:gdLst/>
              <a:ahLst/>
              <a:cxnLst/>
              <a:rect l="l" t="t" r="r" b="b"/>
              <a:pathLst>
                <a:path w="800100" h="273050">
                  <a:moveTo>
                    <a:pt x="0" y="136398"/>
                  </a:moveTo>
                  <a:lnTo>
                    <a:pt x="20391" y="93293"/>
                  </a:lnTo>
                  <a:lnTo>
                    <a:pt x="77175" y="55851"/>
                  </a:lnTo>
                  <a:lnTo>
                    <a:pt x="117157" y="39957"/>
                  </a:lnTo>
                  <a:lnTo>
                    <a:pt x="163769" y="26322"/>
                  </a:lnTo>
                  <a:lnTo>
                    <a:pt x="216187" y="15228"/>
                  </a:lnTo>
                  <a:lnTo>
                    <a:pt x="273588" y="6955"/>
                  </a:lnTo>
                  <a:lnTo>
                    <a:pt x="335150" y="1785"/>
                  </a:lnTo>
                  <a:lnTo>
                    <a:pt x="400050" y="0"/>
                  </a:lnTo>
                  <a:lnTo>
                    <a:pt x="464949" y="1785"/>
                  </a:lnTo>
                  <a:lnTo>
                    <a:pt x="526511" y="6955"/>
                  </a:lnTo>
                  <a:lnTo>
                    <a:pt x="583912" y="15228"/>
                  </a:lnTo>
                  <a:lnTo>
                    <a:pt x="636330" y="26322"/>
                  </a:lnTo>
                  <a:lnTo>
                    <a:pt x="682942" y="39957"/>
                  </a:lnTo>
                  <a:lnTo>
                    <a:pt x="722924" y="55851"/>
                  </a:lnTo>
                  <a:lnTo>
                    <a:pt x="779708" y="93293"/>
                  </a:lnTo>
                  <a:lnTo>
                    <a:pt x="800100" y="136398"/>
                  </a:lnTo>
                  <a:lnTo>
                    <a:pt x="794865" y="158517"/>
                  </a:lnTo>
                  <a:lnTo>
                    <a:pt x="755454" y="199072"/>
                  </a:lnTo>
                  <a:lnTo>
                    <a:pt x="682942" y="232838"/>
                  </a:lnTo>
                  <a:lnTo>
                    <a:pt x="636330" y="246473"/>
                  </a:lnTo>
                  <a:lnTo>
                    <a:pt x="583912" y="257567"/>
                  </a:lnTo>
                  <a:lnTo>
                    <a:pt x="526511" y="265840"/>
                  </a:lnTo>
                  <a:lnTo>
                    <a:pt x="464949" y="271010"/>
                  </a:lnTo>
                  <a:lnTo>
                    <a:pt x="400050" y="272796"/>
                  </a:lnTo>
                  <a:lnTo>
                    <a:pt x="335150" y="271010"/>
                  </a:lnTo>
                  <a:lnTo>
                    <a:pt x="273588" y="265840"/>
                  </a:lnTo>
                  <a:lnTo>
                    <a:pt x="216187" y="257567"/>
                  </a:lnTo>
                  <a:lnTo>
                    <a:pt x="163769" y="246473"/>
                  </a:lnTo>
                  <a:lnTo>
                    <a:pt x="117157" y="232838"/>
                  </a:lnTo>
                  <a:lnTo>
                    <a:pt x="77175" y="216944"/>
                  </a:lnTo>
                  <a:lnTo>
                    <a:pt x="20391" y="179502"/>
                  </a:lnTo>
                  <a:lnTo>
                    <a:pt x="0" y="136398"/>
                  </a:lnTo>
                  <a:close/>
                </a:path>
              </a:pathLst>
            </a:custGeom>
            <a:ln w="9144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3166872" y="2969513"/>
            <a:ext cx="21031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4785">
              <a:lnSpc>
                <a:spcPct val="100000"/>
              </a:lnSpc>
              <a:spcBef>
                <a:spcPts val="105"/>
              </a:spcBef>
            </a:pPr>
            <a:r>
              <a:rPr dirty="0" sz="1400" spc="-20" b="1">
                <a:latin typeface="Corbel"/>
                <a:cs typeface="Corbel"/>
              </a:rPr>
              <a:t>+44%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105404" y="1312545"/>
            <a:ext cx="860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latin typeface="Corbel"/>
                <a:cs typeface="Corbel"/>
              </a:rPr>
              <a:t>Overall</a:t>
            </a:r>
            <a:r>
              <a:rPr dirty="0" sz="1200" spc="-30" i="1">
                <a:latin typeface="Corbel"/>
                <a:cs typeface="Corbel"/>
              </a:rPr>
              <a:t> </a:t>
            </a:r>
            <a:r>
              <a:rPr dirty="0" sz="1200" spc="-20" i="1">
                <a:latin typeface="Corbel"/>
                <a:cs typeface="Corbel"/>
              </a:rPr>
              <a:t>CAGR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3071241" y="2742387"/>
            <a:ext cx="9956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latin typeface="Corbel"/>
                <a:cs typeface="Corbel"/>
              </a:rPr>
              <a:t>New-</a:t>
            </a:r>
            <a:r>
              <a:rPr dirty="0" sz="1200" i="1">
                <a:latin typeface="Corbel"/>
                <a:cs typeface="Corbel"/>
              </a:rPr>
              <a:t>Gen</a:t>
            </a:r>
            <a:r>
              <a:rPr dirty="0" sz="1200" spc="-45" i="1">
                <a:latin typeface="Corbel"/>
                <a:cs typeface="Corbel"/>
              </a:rPr>
              <a:t> </a:t>
            </a:r>
            <a:r>
              <a:rPr dirty="0" sz="1200" spc="-20" i="1">
                <a:latin typeface="Corbel"/>
                <a:cs typeface="Corbel"/>
              </a:rPr>
              <a:t>CAGR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005839" y="4837176"/>
            <a:ext cx="10180320" cy="338455"/>
          </a:xfrm>
          <a:prstGeom prst="rect">
            <a:avLst/>
          </a:prstGeom>
          <a:ln w="9144">
            <a:solidFill>
              <a:srgbClr val="B51E6A"/>
            </a:solidFill>
          </a:ln>
        </p:spPr>
        <p:txBody>
          <a:bodyPr wrap="square" lIns="0" tIns="34290" rIns="0" bIns="0" rtlCol="0" vert="horz">
            <a:spAutoFit/>
          </a:bodyPr>
          <a:lstStyle/>
          <a:p>
            <a:pPr marL="466725">
              <a:lnSpc>
                <a:spcPct val="100000"/>
              </a:lnSpc>
              <a:spcBef>
                <a:spcPts val="270"/>
              </a:spcBef>
            </a:pP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New-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Generation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Services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contributed</a:t>
            </a:r>
            <a:r>
              <a:rPr dirty="0" sz="1600" spc="-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to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83%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total</a:t>
            </a:r>
            <a:r>
              <a:rPr dirty="0" sz="1600" spc="-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deal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wins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(TCV)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in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FY18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40%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Revenues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 in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FY18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306948" y="1499108"/>
            <a:ext cx="4254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orbel"/>
                <a:cs typeface="Corbel"/>
              </a:rPr>
              <a:t>34,732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3825240" y="4091940"/>
            <a:ext cx="731520" cy="242570"/>
          </a:xfrm>
          <a:custGeom>
            <a:avLst/>
            <a:gdLst/>
            <a:ahLst/>
            <a:cxnLst/>
            <a:rect l="l" t="t" r="r" b="b"/>
            <a:pathLst>
              <a:path w="731520" h="242570">
                <a:moveTo>
                  <a:pt x="365760" y="0"/>
                </a:moveTo>
                <a:lnTo>
                  <a:pt x="300000" y="1951"/>
                </a:lnTo>
                <a:lnTo>
                  <a:pt x="238112" y="7578"/>
                </a:lnTo>
                <a:lnTo>
                  <a:pt x="181130" y="16538"/>
                </a:lnTo>
                <a:lnTo>
                  <a:pt x="130083" y="28489"/>
                </a:lnTo>
                <a:lnTo>
                  <a:pt x="86004" y="43091"/>
                </a:lnTo>
                <a:lnTo>
                  <a:pt x="49925" y="60000"/>
                </a:lnTo>
                <a:lnTo>
                  <a:pt x="5891" y="99375"/>
                </a:lnTo>
                <a:lnTo>
                  <a:pt x="0" y="121158"/>
                </a:lnTo>
                <a:lnTo>
                  <a:pt x="5891" y="142940"/>
                </a:lnTo>
                <a:lnTo>
                  <a:pt x="49925" y="182315"/>
                </a:lnTo>
                <a:lnTo>
                  <a:pt x="86004" y="199224"/>
                </a:lnTo>
                <a:lnTo>
                  <a:pt x="130083" y="213826"/>
                </a:lnTo>
                <a:lnTo>
                  <a:pt x="181130" y="225777"/>
                </a:lnTo>
                <a:lnTo>
                  <a:pt x="238112" y="234737"/>
                </a:lnTo>
                <a:lnTo>
                  <a:pt x="300000" y="240364"/>
                </a:lnTo>
                <a:lnTo>
                  <a:pt x="365760" y="242316"/>
                </a:lnTo>
                <a:lnTo>
                  <a:pt x="431519" y="240364"/>
                </a:lnTo>
                <a:lnTo>
                  <a:pt x="493407" y="234737"/>
                </a:lnTo>
                <a:lnTo>
                  <a:pt x="550389" y="225777"/>
                </a:lnTo>
                <a:lnTo>
                  <a:pt x="601436" y="213826"/>
                </a:lnTo>
                <a:lnTo>
                  <a:pt x="645515" y="199224"/>
                </a:lnTo>
                <a:lnTo>
                  <a:pt x="681594" y="182315"/>
                </a:lnTo>
                <a:lnTo>
                  <a:pt x="725628" y="142940"/>
                </a:lnTo>
                <a:lnTo>
                  <a:pt x="731520" y="121158"/>
                </a:lnTo>
                <a:lnTo>
                  <a:pt x="725628" y="99375"/>
                </a:lnTo>
                <a:lnTo>
                  <a:pt x="681594" y="60000"/>
                </a:lnTo>
                <a:lnTo>
                  <a:pt x="645515" y="43091"/>
                </a:lnTo>
                <a:lnTo>
                  <a:pt x="601436" y="28489"/>
                </a:lnTo>
                <a:lnTo>
                  <a:pt x="550389" y="16538"/>
                </a:lnTo>
                <a:lnTo>
                  <a:pt x="493407" y="7578"/>
                </a:lnTo>
                <a:lnTo>
                  <a:pt x="431519" y="1951"/>
                </a:lnTo>
                <a:lnTo>
                  <a:pt x="365760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4039870" y="4101210"/>
            <a:ext cx="303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 i="1">
                <a:solidFill>
                  <a:srgbClr val="FFFFFF"/>
                </a:solidFill>
                <a:latin typeface="Corbel"/>
                <a:cs typeface="Corbel"/>
              </a:rPr>
              <a:t>32%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284988" y="176784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25450" h="373380">
                <a:moveTo>
                  <a:pt x="212597" y="0"/>
                </a:moveTo>
                <a:lnTo>
                  <a:pt x="163852" y="4929"/>
                </a:lnTo>
                <a:lnTo>
                  <a:pt x="119104" y="18972"/>
                </a:lnTo>
                <a:lnTo>
                  <a:pt x="79630" y="41008"/>
                </a:lnTo>
                <a:lnTo>
                  <a:pt x="46706" y="69917"/>
                </a:lnTo>
                <a:lnTo>
                  <a:pt x="21609" y="104580"/>
                </a:lnTo>
                <a:lnTo>
                  <a:pt x="5615" y="143878"/>
                </a:lnTo>
                <a:lnTo>
                  <a:pt x="0" y="186690"/>
                </a:lnTo>
                <a:lnTo>
                  <a:pt x="5615" y="229501"/>
                </a:lnTo>
                <a:lnTo>
                  <a:pt x="21609" y="268799"/>
                </a:lnTo>
                <a:lnTo>
                  <a:pt x="46706" y="303462"/>
                </a:lnTo>
                <a:lnTo>
                  <a:pt x="79630" y="332371"/>
                </a:lnTo>
                <a:lnTo>
                  <a:pt x="119104" y="354407"/>
                </a:lnTo>
                <a:lnTo>
                  <a:pt x="163852" y="368450"/>
                </a:lnTo>
                <a:lnTo>
                  <a:pt x="212597" y="373380"/>
                </a:lnTo>
                <a:lnTo>
                  <a:pt x="261343" y="368450"/>
                </a:lnTo>
                <a:lnTo>
                  <a:pt x="306091" y="354407"/>
                </a:lnTo>
                <a:lnTo>
                  <a:pt x="345565" y="332371"/>
                </a:lnTo>
                <a:lnTo>
                  <a:pt x="378489" y="303462"/>
                </a:lnTo>
                <a:lnTo>
                  <a:pt x="403586" y="268799"/>
                </a:lnTo>
                <a:lnTo>
                  <a:pt x="419580" y="229501"/>
                </a:lnTo>
                <a:lnTo>
                  <a:pt x="425196" y="186690"/>
                </a:lnTo>
                <a:lnTo>
                  <a:pt x="419580" y="143878"/>
                </a:lnTo>
                <a:lnTo>
                  <a:pt x="403586" y="104580"/>
                </a:lnTo>
                <a:lnTo>
                  <a:pt x="378489" y="69917"/>
                </a:lnTo>
                <a:lnTo>
                  <a:pt x="345565" y="41008"/>
                </a:lnTo>
                <a:lnTo>
                  <a:pt x="306091" y="18972"/>
                </a:lnTo>
                <a:lnTo>
                  <a:pt x="261343" y="4929"/>
                </a:lnTo>
                <a:lnTo>
                  <a:pt x="21259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407923" y="14820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 i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679704" y="716280"/>
            <a:ext cx="5547360" cy="381000"/>
            <a:chOff x="679704" y="716280"/>
            <a:chExt cx="5547360" cy="381000"/>
          </a:xfrm>
        </p:grpSpPr>
        <p:pic>
          <p:nvPicPr>
            <p:cNvPr id="49" name="object 4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612" y="742188"/>
              <a:ext cx="5495544" cy="355091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679704" y="716280"/>
              <a:ext cx="5547360" cy="355600"/>
            </a:xfrm>
            <a:custGeom>
              <a:avLst/>
              <a:gdLst/>
              <a:ahLst/>
              <a:cxnLst/>
              <a:rect l="l" t="t" r="r" b="b"/>
              <a:pathLst>
                <a:path w="5547360" h="355600">
                  <a:moveTo>
                    <a:pt x="5547360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547360" y="355091"/>
                  </a:lnTo>
                  <a:lnTo>
                    <a:pt x="55473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6821423" y="711708"/>
            <a:ext cx="5005070" cy="381000"/>
            <a:chOff x="6821423" y="711708"/>
            <a:chExt cx="5005070" cy="381000"/>
          </a:xfrm>
        </p:grpSpPr>
        <p:pic>
          <p:nvPicPr>
            <p:cNvPr id="52" name="object 5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4283" y="737616"/>
              <a:ext cx="4959096" cy="355091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6821423" y="711708"/>
              <a:ext cx="5005070" cy="355600"/>
            </a:xfrm>
            <a:custGeom>
              <a:avLst/>
              <a:gdLst/>
              <a:ahLst/>
              <a:cxnLst/>
              <a:rect l="l" t="t" r="r" b="b"/>
              <a:pathLst>
                <a:path w="5005070" h="355600">
                  <a:moveTo>
                    <a:pt x="5004816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004816" y="355091"/>
                  </a:lnTo>
                  <a:lnTo>
                    <a:pt x="50048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2190750" y="766317"/>
            <a:ext cx="89420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40350" algn="l"/>
              </a:tabLst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Strong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 Direct</a:t>
            </a:r>
            <a:r>
              <a:rPr dirty="0" sz="1600" spc="-7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Core</a:t>
            </a:r>
            <a:r>
              <a:rPr dirty="0" sz="1600" spc="-1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Revenues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	</a:t>
            </a:r>
            <a:r>
              <a:rPr dirty="0" baseline="1736" sz="2400" spc="-15" b="1">
                <a:solidFill>
                  <a:srgbClr val="2A2F3B"/>
                </a:solidFill>
                <a:latin typeface="Corbel"/>
                <a:cs typeface="Corbel"/>
              </a:rPr>
              <a:t>Supported</a:t>
            </a:r>
            <a:r>
              <a:rPr dirty="0" baseline="1736" sz="2400" b="1">
                <a:solidFill>
                  <a:srgbClr val="2A2F3B"/>
                </a:solidFill>
                <a:latin typeface="Corbel"/>
                <a:cs typeface="Corbel"/>
              </a:rPr>
              <a:t> by</a:t>
            </a:r>
            <a:r>
              <a:rPr dirty="0" baseline="1736" sz="2400" spc="-15" b="1">
                <a:solidFill>
                  <a:srgbClr val="2A2F3B"/>
                </a:solidFill>
                <a:latin typeface="Corbel"/>
                <a:cs typeface="Corbel"/>
              </a:rPr>
              <a:t> significant</a:t>
            </a:r>
            <a:r>
              <a:rPr dirty="0" baseline="1736" sz="2400" b="1">
                <a:solidFill>
                  <a:srgbClr val="2A2F3B"/>
                </a:solidFill>
                <a:latin typeface="Corbel"/>
                <a:cs typeface="Corbel"/>
              </a:rPr>
              <a:t> wins</a:t>
            </a:r>
            <a:r>
              <a:rPr dirty="0" baseline="1736" sz="2400" spc="-22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1736" sz="2400" b="1">
                <a:solidFill>
                  <a:srgbClr val="2A2F3B"/>
                </a:solidFill>
                <a:latin typeface="Corbel"/>
                <a:cs typeface="Corbel"/>
              </a:rPr>
              <a:t>in </a:t>
            </a:r>
            <a:r>
              <a:rPr dirty="0" baseline="1736" sz="2400" spc="-15" b="1">
                <a:solidFill>
                  <a:srgbClr val="2A2F3B"/>
                </a:solidFill>
                <a:latin typeface="Corbel"/>
                <a:cs typeface="Corbel"/>
              </a:rPr>
              <a:t>NewGen</a:t>
            </a:r>
            <a:endParaRPr baseline="1736" sz="2400">
              <a:latin typeface="Corbel"/>
              <a:cs typeface="Corbel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6531864" y="858011"/>
            <a:ext cx="0" cy="3830320"/>
          </a:xfrm>
          <a:custGeom>
            <a:avLst/>
            <a:gdLst/>
            <a:ahLst/>
            <a:cxnLst/>
            <a:rect l="l" t="t" r="r" b="b"/>
            <a:pathLst>
              <a:path w="0" h="3830320">
                <a:moveTo>
                  <a:pt x="0" y="0"/>
                </a:moveTo>
                <a:lnTo>
                  <a:pt x="0" y="3830320"/>
                </a:lnTo>
              </a:path>
            </a:pathLst>
          </a:custGeom>
          <a:ln w="9144">
            <a:solidFill>
              <a:srgbClr val="B51E6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1005839" y="5327903"/>
            <a:ext cx="10521950" cy="338455"/>
          </a:xfrm>
          <a:prstGeom prst="rect">
            <a:avLst/>
          </a:prstGeom>
          <a:ln w="9144">
            <a:solidFill>
              <a:srgbClr val="B51E6A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267970">
              <a:lnSpc>
                <a:spcPct val="100000"/>
              </a:lnSpc>
              <a:spcBef>
                <a:spcPts val="265"/>
              </a:spcBef>
            </a:pP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New-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Generation</a:t>
            </a:r>
            <a:r>
              <a:rPr dirty="0" sz="1600" spc="-5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Services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contributed 45.6%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Direct</a:t>
            </a:r>
            <a:r>
              <a:rPr dirty="0" sz="1600" spc="-7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Core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revenues</a:t>
            </a:r>
            <a:r>
              <a:rPr dirty="0" sz="1600" spc="1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in</a:t>
            </a:r>
            <a:r>
              <a:rPr dirty="0" sz="1600" spc="-18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YTD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FY19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representing</a:t>
            </a:r>
            <a:r>
              <a:rPr dirty="0" sz="1600" spc="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a</a:t>
            </a:r>
            <a:r>
              <a:rPr dirty="0" sz="1600" spc="-18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YoY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growth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51%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7929371" y="3659123"/>
            <a:ext cx="3514725" cy="0"/>
          </a:xfrm>
          <a:custGeom>
            <a:avLst/>
            <a:gdLst/>
            <a:ahLst/>
            <a:cxnLst/>
            <a:rect l="l" t="t" r="r" b="b"/>
            <a:pathLst>
              <a:path w="3514725" h="0">
                <a:moveTo>
                  <a:pt x="0" y="0"/>
                </a:moveTo>
                <a:lnTo>
                  <a:pt x="351434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8189976" y="2249423"/>
            <a:ext cx="650875" cy="1409700"/>
          </a:xfrm>
          <a:prstGeom prst="rect">
            <a:avLst/>
          </a:prstGeom>
          <a:solidFill>
            <a:srgbClr val="9FB4D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400">
              <a:latin typeface="Times New Roman"/>
              <a:cs typeface="Times New Roman"/>
            </a:endParaRPr>
          </a:p>
          <a:p>
            <a:pPr marL="197485">
              <a:lnSpc>
                <a:spcPct val="100000"/>
              </a:lnSpc>
            </a:pPr>
            <a:r>
              <a:rPr dirty="0" sz="1400" spc="-25">
                <a:latin typeface="Corbel"/>
                <a:cs typeface="Corbel"/>
              </a:rPr>
              <a:t>358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0532364" y="2165604"/>
            <a:ext cx="652780" cy="1493520"/>
          </a:xfrm>
          <a:prstGeom prst="rect">
            <a:avLst/>
          </a:prstGeom>
          <a:solidFill>
            <a:srgbClr val="9FB4D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Times New Roman"/>
              <a:cs typeface="Times New Roman"/>
            </a:endParaRPr>
          </a:p>
          <a:p>
            <a:pPr marL="201930">
              <a:lnSpc>
                <a:spcPct val="100000"/>
              </a:lnSpc>
              <a:spcBef>
                <a:spcPts val="5"/>
              </a:spcBef>
            </a:pPr>
            <a:r>
              <a:rPr dirty="0" sz="1400" spc="-25">
                <a:latin typeface="Corbel"/>
                <a:cs typeface="Corbel"/>
              </a:rPr>
              <a:t>379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8189976" y="1943100"/>
            <a:ext cx="650875" cy="3067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3111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245"/>
              </a:spcBef>
            </a:pPr>
            <a:r>
              <a:rPr dirty="0" sz="1400" spc="-25">
                <a:latin typeface="Corbel"/>
                <a:cs typeface="Corbel"/>
              </a:rPr>
              <a:t>78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10532364" y="1751076"/>
            <a:ext cx="652780" cy="41465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8572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675"/>
              </a:spcBef>
            </a:pPr>
            <a:r>
              <a:rPr dirty="0" sz="1400" spc="-25">
                <a:latin typeface="Corbel"/>
                <a:cs typeface="Corbel"/>
              </a:rPr>
              <a:t>105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8509761" y="1336294"/>
            <a:ext cx="2386965" cy="357505"/>
            <a:chOff x="8509761" y="1336294"/>
            <a:chExt cx="2386965" cy="357505"/>
          </a:xfrm>
        </p:grpSpPr>
        <p:sp>
          <p:nvSpPr>
            <p:cNvPr id="63" name="object 63" descr=""/>
            <p:cNvSpPr/>
            <p:nvPr/>
          </p:nvSpPr>
          <p:spPr>
            <a:xfrm>
              <a:off x="8516111" y="1342644"/>
              <a:ext cx="0" cy="344805"/>
            </a:xfrm>
            <a:custGeom>
              <a:avLst/>
              <a:gdLst/>
              <a:ahLst/>
              <a:cxnLst/>
              <a:rect l="l" t="t" r="r" b="b"/>
              <a:pathLst>
                <a:path w="0" h="344805">
                  <a:moveTo>
                    <a:pt x="0" y="34455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0400" y="1342644"/>
              <a:ext cx="76200" cy="152400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8516111" y="1342644"/>
              <a:ext cx="2343150" cy="0"/>
            </a:xfrm>
            <a:custGeom>
              <a:avLst/>
              <a:gdLst/>
              <a:ahLst/>
              <a:cxnLst/>
              <a:rect l="l" t="t" r="r" b="b"/>
              <a:pathLst>
                <a:path w="2343150" h="0">
                  <a:moveTo>
                    <a:pt x="0" y="0"/>
                  </a:moveTo>
                  <a:lnTo>
                    <a:pt x="234315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10708893" y="1487805"/>
            <a:ext cx="3009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Corbel"/>
                <a:cs typeface="Corbel"/>
              </a:rPr>
              <a:t>484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8141334" y="3693921"/>
            <a:ext cx="751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orbel"/>
                <a:cs typeface="Corbel"/>
              </a:rPr>
              <a:t>YTD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FY18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10483342" y="3693921"/>
            <a:ext cx="7524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orbel"/>
                <a:cs typeface="Corbel"/>
              </a:rPr>
              <a:t>YTD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FY19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8375142" y="1679829"/>
            <a:ext cx="2838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Corbel"/>
                <a:cs typeface="Corbel"/>
              </a:rPr>
              <a:t>435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9290304" y="1187196"/>
            <a:ext cx="795655" cy="311150"/>
            <a:chOff x="9290304" y="1187196"/>
            <a:chExt cx="795655" cy="311150"/>
          </a:xfrm>
        </p:grpSpPr>
        <p:sp>
          <p:nvSpPr>
            <p:cNvPr id="71" name="object 71" descr=""/>
            <p:cNvSpPr/>
            <p:nvPr/>
          </p:nvSpPr>
          <p:spPr>
            <a:xfrm>
              <a:off x="9294876" y="1191768"/>
              <a:ext cx="786765" cy="302260"/>
            </a:xfrm>
            <a:custGeom>
              <a:avLst/>
              <a:gdLst/>
              <a:ahLst/>
              <a:cxnLst/>
              <a:rect l="l" t="t" r="r" b="b"/>
              <a:pathLst>
                <a:path w="786765" h="302259">
                  <a:moveTo>
                    <a:pt x="393192" y="0"/>
                  </a:moveTo>
                  <a:lnTo>
                    <a:pt x="329410" y="1975"/>
                  </a:lnTo>
                  <a:lnTo>
                    <a:pt x="268906" y="7693"/>
                  </a:lnTo>
                  <a:lnTo>
                    <a:pt x="212490" y="16843"/>
                  </a:lnTo>
                  <a:lnTo>
                    <a:pt x="160970" y="29114"/>
                  </a:lnTo>
                  <a:lnTo>
                    <a:pt x="115157" y="44196"/>
                  </a:lnTo>
                  <a:lnTo>
                    <a:pt x="75858" y="61776"/>
                  </a:lnTo>
                  <a:lnTo>
                    <a:pt x="20043" y="103193"/>
                  </a:lnTo>
                  <a:lnTo>
                    <a:pt x="0" y="150876"/>
                  </a:lnTo>
                  <a:lnTo>
                    <a:pt x="5145" y="175345"/>
                  </a:lnTo>
                  <a:lnTo>
                    <a:pt x="43884" y="220205"/>
                  </a:lnTo>
                  <a:lnTo>
                    <a:pt x="115157" y="257555"/>
                  </a:lnTo>
                  <a:lnTo>
                    <a:pt x="160970" y="272637"/>
                  </a:lnTo>
                  <a:lnTo>
                    <a:pt x="212490" y="284908"/>
                  </a:lnTo>
                  <a:lnTo>
                    <a:pt x="268906" y="294058"/>
                  </a:lnTo>
                  <a:lnTo>
                    <a:pt x="329410" y="299776"/>
                  </a:lnTo>
                  <a:lnTo>
                    <a:pt x="393192" y="301752"/>
                  </a:lnTo>
                  <a:lnTo>
                    <a:pt x="456973" y="299776"/>
                  </a:lnTo>
                  <a:lnTo>
                    <a:pt x="517477" y="294058"/>
                  </a:lnTo>
                  <a:lnTo>
                    <a:pt x="573893" y="284908"/>
                  </a:lnTo>
                  <a:lnTo>
                    <a:pt x="625413" y="272637"/>
                  </a:lnTo>
                  <a:lnTo>
                    <a:pt x="671226" y="257556"/>
                  </a:lnTo>
                  <a:lnTo>
                    <a:pt x="710525" y="239975"/>
                  </a:lnTo>
                  <a:lnTo>
                    <a:pt x="766340" y="198558"/>
                  </a:lnTo>
                  <a:lnTo>
                    <a:pt x="786383" y="150876"/>
                  </a:lnTo>
                  <a:lnTo>
                    <a:pt x="781238" y="126406"/>
                  </a:lnTo>
                  <a:lnTo>
                    <a:pt x="742499" y="81546"/>
                  </a:lnTo>
                  <a:lnTo>
                    <a:pt x="671226" y="44196"/>
                  </a:lnTo>
                  <a:lnTo>
                    <a:pt x="625413" y="29114"/>
                  </a:lnTo>
                  <a:lnTo>
                    <a:pt x="573893" y="16843"/>
                  </a:lnTo>
                  <a:lnTo>
                    <a:pt x="517477" y="7693"/>
                  </a:lnTo>
                  <a:lnTo>
                    <a:pt x="456973" y="1975"/>
                  </a:lnTo>
                  <a:lnTo>
                    <a:pt x="3931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9294876" y="1191768"/>
              <a:ext cx="786765" cy="302260"/>
            </a:xfrm>
            <a:custGeom>
              <a:avLst/>
              <a:gdLst/>
              <a:ahLst/>
              <a:cxnLst/>
              <a:rect l="l" t="t" r="r" b="b"/>
              <a:pathLst>
                <a:path w="786765" h="302259">
                  <a:moveTo>
                    <a:pt x="0" y="150876"/>
                  </a:moveTo>
                  <a:lnTo>
                    <a:pt x="20043" y="103193"/>
                  </a:lnTo>
                  <a:lnTo>
                    <a:pt x="75858" y="61776"/>
                  </a:lnTo>
                  <a:lnTo>
                    <a:pt x="115157" y="44196"/>
                  </a:lnTo>
                  <a:lnTo>
                    <a:pt x="160970" y="29114"/>
                  </a:lnTo>
                  <a:lnTo>
                    <a:pt x="212490" y="16843"/>
                  </a:lnTo>
                  <a:lnTo>
                    <a:pt x="268906" y="7693"/>
                  </a:lnTo>
                  <a:lnTo>
                    <a:pt x="329410" y="1975"/>
                  </a:lnTo>
                  <a:lnTo>
                    <a:pt x="393192" y="0"/>
                  </a:lnTo>
                  <a:lnTo>
                    <a:pt x="456973" y="1975"/>
                  </a:lnTo>
                  <a:lnTo>
                    <a:pt x="517477" y="7693"/>
                  </a:lnTo>
                  <a:lnTo>
                    <a:pt x="573893" y="16843"/>
                  </a:lnTo>
                  <a:lnTo>
                    <a:pt x="625413" y="29114"/>
                  </a:lnTo>
                  <a:lnTo>
                    <a:pt x="671226" y="44196"/>
                  </a:lnTo>
                  <a:lnTo>
                    <a:pt x="710525" y="61776"/>
                  </a:lnTo>
                  <a:lnTo>
                    <a:pt x="766340" y="103193"/>
                  </a:lnTo>
                  <a:lnTo>
                    <a:pt x="786383" y="150876"/>
                  </a:lnTo>
                  <a:lnTo>
                    <a:pt x="781238" y="175345"/>
                  </a:lnTo>
                  <a:lnTo>
                    <a:pt x="742499" y="220205"/>
                  </a:lnTo>
                  <a:lnTo>
                    <a:pt x="671226" y="257556"/>
                  </a:lnTo>
                  <a:lnTo>
                    <a:pt x="625413" y="272637"/>
                  </a:lnTo>
                  <a:lnTo>
                    <a:pt x="573893" y="284908"/>
                  </a:lnTo>
                  <a:lnTo>
                    <a:pt x="517477" y="294058"/>
                  </a:lnTo>
                  <a:lnTo>
                    <a:pt x="456973" y="299776"/>
                  </a:lnTo>
                  <a:lnTo>
                    <a:pt x="393192" y="301752"/>
                  </a:lnTo>
                  <a:lnTo>
                    <a:pt x="329410" y="299776"/>
                  </a:lnTo>
                  <a:lnTo>
                    <a:pt x="268906" y="294058"/>
                  </a:lnTo>
                  <a:lnTo>
                    <a:pt x="212490" y="284908"/>
                  </a:lnTo>
                  <a:lnTo>
                    <a:pt x="160970" y="272637"/>
                  </a:lnTo>
                  <a:lnTo>
                    <a:pt x="115157" y="257555"/>
                  </a:lnTo>
                  <a:lnTo>
                    <a:pt x="75858" y="239975"/>
                  </a:lnTo>
                  <a:lnTo>
                    <a:pt x="20043" y="198558"/>
                  </a:lnTo>
                  <a:lnTo>
                    <a:pt x="0" y="15087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/>
          <p:nvPr/>
        </p:nvSpPr>
        <p:spPr>
          <a:xfrm>
            <a:off x="9396730" y="1211402"/>
            <a:ext cx="5848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Corbel"/>
                <a:cs typeface="Corbel"/>
              </a:rPr>
              <a:t>+11.1%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7" name="object 7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78" name="object 7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4" name="object 74" descr=""/>
          <p:cNvSpPr txBox="1"/>
          <p:nvPr/>
        </p:nvSpPr>
        <p:spPr>
          <a:xfrm>
            <a:off x="6696836" y="2108073"/>
            <a:ext cx="8197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Traditional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6713601" y="3155695"/>
            <a:ext cx="7251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orbel"/>
                <a:cs typeface="Corbel"/>
              </a:rPr>
              <a:t>New-</a:t>
            </a:r>
            <a:r>
              <a:rPr dirty="0" sz="1400" spc="-25">
                <a:latin typeface="Corbel"/>
                <a:cs typeface="Corbel"/>
              </a:rPr>
              <a:t>Gen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6870572" y="4113657"/>
            <a:ext cx="114744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i="1">
                <a:latin typeface="Corbel"/>
                <a:cs typeface="Corbel"/>
              </a:rPr>
              <a:t>New</a:t>
            </a:r>
            <a:r>
              <a:rPr dirty="0" sz="1050" spc="-5" i="1">
                <a:latin typeface="Corbel"/>
                <a:cs typeface="Corbel"/>
              </a:rPr>
              <a:t> </a:t>
            </a:r>
            <a:r>
              <a:rPr dirty="0" sz="1050" i="1">
                <a:latin typeface="Corbel"/>
                <a:cs typeface="Corbel"/>
              </a:rPr>
              <a:t>TCV</a:t>
            </a:r>
            <a:r>
              <a:rPr dirty="0" sz="1050" spc="-25" i="1">
                <a:latin typeface="Corbel"/>
                <a:cs typeface="Corbel"/>
              </a:rPr>
              <a:t> </a:t>
            </a:r>
            <a:r>
              <a:rPr dirty="0" sz="1050" i="1">
                <a:latin typeface="Corbel"/>
                <a:cs typeface="Corbel"/>
              </a:rPr>
              <a:t>won</a:t>
            </a:r>
            <a:r>
              <a:rPr dirty="0" sz="1050" spc="-25" i="1">
                <a:latin typeface="Corbel"/>
                <a:cs typeface="Corbel"/>
              </a:rPr>
              <a:t> </a:t>
            </a:r>
            <a:r>
              <a:rPr dirty="0" sz="1050" i="1">
                <a:latin typeface="Corbel"/>
                <a:cs typeface="Corbel"/>
              </a:rPr>
              <a:t>($</a:t>
            </a:r>
            <a:r>
              <a:rPr dirty="0" sz="1050" spc="5" i="1">
                <a:latin typeface="Corbel"/>
                <a:cs typeface="Corbel"/>
              </a:rPr>
              <a:t> </a:t>
            </a:r>
            <a:r>
              <a:rPr dirty="0" sz="1050" spc="-25" i="1">
                <a:latin typeface="Corbel"/>
                <a:cs typeface="Corbel"/>
              </a:rPr>
              <a:t>Mn)</a:t>
            </a:r>
            <a:endParaRPr sz="105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49140" y="629412"/>
            <a:ext cx="2950210" cy="0"/>
          </a:xfrm>
          <a:custGeom>
            <a:avLst/>
            <a:gdLst/>
            <a:ahLst/>
            <a:cxnLst/>
            <a:rect l="l" t="t" r="r" b="b"/>
            <a:pathLst>
              <a:path w="2950209" h="0">
                <a:moveTo>
                  <a:pt x="0" y="0"/>
                </a:moveTo>
                <a:lnTo>
                  <a:pt x="2949702" y="0"/>
                </a:lnTo>
              </a:path>
            </a:pathLst>
          </a:custGeom>
          <a:ln w="9144">
            <a:solidFill>
              <a:srgbClr val="C7252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193911" y="1368552"/>
            <a:ext cx="1771014" cy="1771014"/>
            <a:chOff x="1193911" y="1368552"/>
            <a:chExt cx="1771014" cy="1771014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9244" y="1373124"/>
              <a:ext cx="840867" cy="88074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079244" y="1373124"/>
              <a:ext cx="841375" cy="880744"/>
            </a:xfrm>
            <a:custGeom>
              <a:avLst/>
              <a:gdLst/>
              <a:ahLst/>
              <a:cxnLst/>
              <a:rect l="l" t="t" r="r" b="b"/>
              <a:pathLst>
                <a:path w="841375" h="880744">
                  <a:moveTo>
                    <a:pt x="0" y="0"/>
                  </a:moveTo>
                  <a:lnTo>
                    <a:pt x="50006" y="1410"/>
                  </a:lnTo>
                  <a:lnTo>
                    <a:pt x="99414" y="5596"/>
                  </a:lnTo>
                  <a:lnTo>
                    <a:pt x="148136" y="12493"/>
                  </a:lnTo>
                  <a:lnTo>
                    <a:pt x="196081" y="22035"/>
                  </a:lnTo>
                  <a:lnTo>
                    <a:pt x="243161" y="34156"/>
                  </a:lnTo>
                  <a:lnTo>
                    <a:pt x="289287" y="48791"/>
                  </a:lnTo>
                  <a:lnTo>
                    <a:pt x="334368" y="65873"/>
                  </a:lnTo>
                  <a:lnTo>
                    <a:pt x="378316" y="85338"/>
                  </a:lnTo>
                  <a:lnTo>
                    <a:pt x="421042" y="107119"/>
                  </a:lnTo>
                  <a:lnTo>
                    <a:pt x="462456" y="131151"/>
                  </a:lnTo>
                  <a:lnTo>
                    <a:pt x="502469" y="157368"/>
                  </a:lnTo>
                  <a:lnTo>
                    <a:pt x="540991" y="185704"/>
                  </a:lnTo>
                  <a:lnTo>
                    <a:pt x="577935" y="216094"/>
                  </a:lnTo>
                  <a:lnTo>
                    <a:pt x="613210" y="248471"/>
                  </a:lnTo>
                  <a:lnTo>
                    <a:pt x="646726" y="282772"/>
                  </a:lnTo>
                  <a:lnTo>
                    <a:pt x="678396" y="318928"/>
                  </a:lnTo>
                  <a:lnTo>
                    <a:pt x="708129" y="356876"/>
                  </a:lnTo>
                  <a:lnTo>
                    <a:pt x="735837" y="396548"/>
                  </a:lnTo>
                  <a:lnTo>
                    <a:pt x="761430" y="437880"/>
                  </a:lnTo>
                  <a:lnTo>
                    <a:pt x="784818" y="480806"/>
                  </a:lnTo>
                  <a:lnTo>
                    <a:pt x="805913" y="525260"/>
                  </a:lnTo>
                  <a:lnTo>
                    <a:pt x="824626" y="571177"/>
                  </a:lnTo>
                  <a:lnTo>
                    <a:pt x="840867" y="618489"/>
                  </a:lnTo>
                  <a:lnTo>
                    <a:pt x="0" y="880745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426E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9244" y="1991614"/>
              <a:ext cx="880489" cy="88912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079244" y="1991614"/>
              <a:ext cx="880744" cy="889635"/>
            </a:xfrm>
            <a:custGeom>
              <a:avLst/>
              <a:gdLst/>
              <a:ahLst/>
              <a:cxnLst/>
              <a:rect l="l" t="t" r="r" b="b"/>
              <a:pathLst>
                <a:path w="880744" h="889635">
                  <a:moveTo>
                    <a:pt x="840867" y="0"/>
                  </a:moveTo>
                  <a:lnTo>
                    <a:pt x="854199" y="47382"/>
                  </a:lnTo>
                  <a:lnTo>
                    <a:pt x="864802" y="95087"/>
                  </a:lnTo>
                  <a:lnTo>
                    <a:pt x="872700" y="143008"/>
                  </a:lnTo>
                  <a:lnTo>
                    <a:pt x="877920" y="191041"/>
                  </a:lnTo>
                  <a:lnTo>
                    <a:pt x="880489" y="239081"/>
                  </a:lnTo>
                  <a:lnTo>
                    <a:pt x="880431" y="287023"/>
                  </a:lnTo>
                  <a:lnTo>
                    <a:pt x="877775" y="334762"/>
                  </a:lnTo>
                  <a:lnTo>
                    <a:pt x="872545" y="382192"/>
                  </a:lnTo>
                  <a:lnTo>
                    <a:pt x="864769" y="429210"/>
                  </a:lnTo>
                  <a:lnTo>
                    <a:pt x="854471" y="475710"/>
                  </a:lnTo>
                  <a:lnTo>
                    <a:pt x="841679" y="521587"/>
                  </a:lnTo>
                  <a:lnTo>
                    <a:pt x="826419" y="566735"/>
                  </a:lnTo>
                  <a:lnTo>
                    <a:pt x="808716" y="611052"/>
                  </a:lnTo>
                  <a:lnTo>
                    <a:pt x="788598" y="654430"/>
                  </a:lnTo>
                  <a:lnTo>
                    <a:pt x="766089" y="696765"/>
                  </a:lnTo>
                  <a:lnTo>
                    <a:pt x="741217" y="737953"/>
                  </a:lnTo>
                  <a:lnTo>
                    <a:pt x="714008" y="777888"/>
                  </a:lnTo>
                  <a:lnTo>
                    <a:pt x="684487" y="816465"/>
                  </a:lnTo>
                  <a:lnTo>
                    <a:pt x="652681" y="853580"/>
                  </a:lnTo>
                  <a:lnTo>
                    <a:pt x="618617" y="889126"/>
                  </a:lnTo>
                  <a:lnTo>
                    <a:pt x="0" y="262255"/>
                  </a:lnTo>
                  <a:lnTo>
                    <a:pt x="840867" y="0"/>
                  </a:lnTo>
                  <a:close/>
                </a:path>
              </a:pathLst>
            </a:custGeom>
            <a:ln w="9144">
              <a:solidFill>
                <a:srgbClr val="A0A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9244" y="2253869"/>
              <a:ext cx="618617" cy="87426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079244" y="2253869"/>
              <a:ext cx="619125" cy="874394"/>
            </a:xfrm>
            <a:custGeom>
              <a:avLst/>
              <a:gdLst/>
              <a:ahLst/>
              <a:cxnLst/>
              <a:rect l="l" t="t" r="r" b="b"/>
              <a:pathLst>
                <a:path w="619125" h="874394">
                  <a:moveTo>
                    <a:pt x="618617" y="626871"/>
                  </a:moveTo>
                  <a:lnTo>
                    <a:pt x="583097" y="660050"/>
                  </a:lnTo>
                  <a:lnTo>
                    <a:pt x="545945" y="691102"/>
                  </a:lnTo>
                  <a:lnTo>
                    <a:pt x="507259" y="719980"/>
                  </a:lnTo>
                  <a:lnTo>
                    <a:pt x="467138" y="746637"/>
                  </a:lnTo>
                  <a:lnTo>
                    <a:pt x="425680" y="771026"/>
                  </a:lnTo>
                  <a:lnTo>
                    <a:pt x="382984" y="793099"/>
                  </a:lnTo>
                  <a:lnTo>
                    <a:pt x="339147" y="812809"/>
                  </a:lnTo>
                  <a:lnTo>
                    <a:pt x="294268" y="830109"/>
                  </a:lnTo>
                  <a:lnTo>
                    <a:pt x="248445" y="844952"/>
                  </a:lnTo>
                  <a:lnTo>
                    <a:pt x="201777" y="857291"/>
                  </a:lnTo>
                  <a:lnTo>
                    <a:pt x="154362" y="867079"/>
                  </a:lnTo>
                  <a:lnTo>
                    <a:pt x="106299" y="874267"/>
                  </a:lnTo>
                  <a:lnTo>
                    <a:pt x="0" y="0"/>
                  </a:lnTo>
                  <a:lnTo>
                    <a:pt x="618617" y="626871"/>
                  </a:lnTo>
                  <a:close/>
                </a:path>
              </a:pathLst>
            </a:custGeom>
            <a:ln w="9144">
              <a:solidFill>
                <a:srgbClr val="5896D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5064" y="2253869"/>
              <a:ext cx="980478" cy="88072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05064" y="2253869"/>
              <a:ext cx="981075" cy="880744"/>
            </a:xfrm>
            <a:custGeom>
              <a:avLst/>
              <a:gdLst/>
              <a:ahLst/>
              <a:cxnLst/>
              <a:rect l="l" t="t" r="r" b="b"/>
              <a:pathLst>
                <a:path w="981075" h="880744">
                  <a:moveTo>
                    <a:pt x="980478" y="874267"/>
                  </a:moveTo>
                  <a:lnTo>
                    <a:pt x="932389" y="878805"/>
                  </a:lnTo>
                  <a:lnTo>
                    <a:pt x="884666" y="880722"/>
                  </a:lnTo>
                  <a:lnTo>
                    <a:pt x="837385" y="880077"/>
                  </a:lnTo>
                  <a:lnTo>
                    <a:pt x="790619" y="876929"/>
                  </a:lnTo>
                  <a:lnTo>
                    <a:pt x="744443" y="871335"/>
                  </a:lnTo>
                  <a:lnTo>
                    <a:pt x="698932" y="863354"/>
                  </a:lnTo>
                  <a:lnTo>
                    <a:pt x="654160" y="853044"/>
                  </a:lnTo>
                  <a:lnTo>
                    <a:pt x="610202" y="840464"/>
                  </a:lnTo>
                  <a:lnTo>
                    <a:pt x="567133" y="825672"/>
                  </a:lnTo>
                  <a:lnTo>
                    <a:pt x="525027" y="808726"/>
                  </a:lnTo>
                  <a:lnTo>
                    <a:pt x="483958" y="789685"/>
                  </a:lnTo>
                  <a:lnTo>
                    <a:pt x="444002" y="768608"/>
                  </a:lnTo>
                  <a:lnTo>
                    <a:pt x="405232" y="745551"/>
                  </a:lnTo>
                  <a:lnTo>
                    <a:pt x="367724" y="720575"/>
                  </a:lnTo>
                  <a:lnTo>
                    <a:pt x="331552" y="693737"/>
                  </a:lnTo>
                  <a:lnTo>
                    <a:pt x="296790" y="665096"/>
                  </a:lnTo>
                  <a:lnTo>
                    <a:pt x="263514" y="634709"/>
                  </a:lnTo>
                  <a:lnTo>
                    <a:pt x="231797" y="602636"/>
                  </a:lnTo>
                  <a:lnTo>
                    <a:pt x="201715" y="568934"/>
                  </a:lnTo>
                  <a:lnTo>
                    <a:pt x="173341" y="533663"/>
                  </a:lnTo>
                  <a:lnTo>
                    <a:pt x="146751" y="496880"/>
                  </a:lnTo>
                  <a:lnTo>
                    <a:pt x="122018" y="458644"/>
                  </a:lnTo>
                  <a:lnTo>
                    <a:pt x="99219" y="419013"/>
                  </a:lnTo>
                  <a:lnTo>
                    <a:pt x="78426" y="378045"/>
                  </a:lnTo>
                  <a:lnTo>
                    <a:pt x="59716" y="335799"/>
                  </a:lnTo>
                  <a:lnTo>
                    <a:pt x="43162" y="292334"/>
                  </a:lnTo>
                  <a:lnTo>
                    <a:pt x="28838" y="247707"/>
                  </a:lnTo>
                  <a:lnTo>
                    <a:pt x="16820" y="201977"/>
                  </a:lnTo>
                  <a:lnTo>
                    <a:pt x="7183" y="155202"/>
                  </a:lnTo>
                  <a:lnTo>
                    <a:pt x="0" y="107441"/>
                  </a:lnTo>
                  <a:lnTo>
                    <a:pt x="874179" y="0"/>
                  </a:lnTo>
                  <a:lnTo>
                    <a:pt x="980478" y="874267"/>
                  </a:lnTo>
                  <a:close/>
                </a:path>
              </a:pathLst>
            </a:custGeom>
            <a:ln w="9144">
              <a:solidFill>
                <a:srgbClr val="24427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8483" y="1373124"/>
              <a:ext cx="880760" cy="988187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198483" y="1373124"/>
              <a:ext cx="881380" cy="988694"/>
            </a:xfrm>
            <a:custGeom>
              <a:avLst/>
              <a:gdLst/>
              <a:ahLst/>
              <a:cxnLst/>
              <a:rect l="l" t="t" r="r" b="b"/>
              <a:pathLst>
                <a:path w="881380" h="988694">
                  <a:moveTo>
                    <a:pt x="6581" y="988187"/>
                  </a:moveTo>
                  <a:lnTo>
                    <a:pt x="1978" y="940070"/>
                  </a:lnTo>
                  <a:lnTo>
                    <a:pt x="0" y="892317"/>
                  </a:lnTo>
                  <a:lnTo>
                    <a:pt x="588" y="845001"/>
                  </a:lnTo>
                  <a:lnTo>
                    <a:pt x="3686" y="798197"/>
                  </a:lnTo>
                  <a:lnTo>
                    <a:pt x="9234" y="751981"/>
                  </a:lnTo>
                  <a:lnTo>
                    <a:pt x="17174" y="706427"/>
                  </a:lnTo>
                  <a:lnTo>
                    <a:pt x="27447" y="661611"/>
                  </a:lnTo>
                  <a:lnTo>
                    <a:pt x="39995" y="617606"/>
                  </a:lnTo>
                  <a:lnTo>
                    <a:pt x="54759" y="574488"/>
                  </a:lnTo>
                  <a:lnTo>
                    <a:pt x="71682" y="532332"/>
                  </a:lnTo>
                  <a:lnTo>
                    <a:pt x="90704" y="491212"/>
                  </a:lnTo>
                  <a:lnTo>
                    <a:pt x="111767" y="451204"/>
                  </a:lnTo>
                  <a:lnTo>
                    <a:pt x="134813" y="412382"/>
                  </a:lnTo>
                  <a:lnTo>
                    <a:pt x="159784" y="374822"/>
                  </a:lnTo>
                  <a:lnTo>
                    <a:pt x="186620" y="338597"/>
                  </a:lnTo>
                  <a:lnTo>
                    <a:pt x="215263" y="303784"/>
                  </a:lnTo>
                  <a:lnTo>
                    <a:pt x="245656" y="270456"/>
                  </a:lnTo>
                  <a:lnTo>
                    <a:pt x="277738" y="238689"/>
                  </a:lnTo>
                  <a:lnTo>
                    <a:pt x="311453" y="208558"/>
                  </a:lnTo>
                  <a:lnTo>
                    <a:pt x="346742" y="180137"/>
                  </a:lnTo>
                  <a:lnTo>
                    <a:pt x="383546" y="153502"/>
                  </a:lnTo>
                  <a:lnTo>
                    <a:pt x="421806" y="128726"/>
                  </a:lnTo>
                  <a:lnTo>
                    <a:pt x="461465" y="105886"/>
                  </a:lnTo>
                  <a:lnTo>
                    <a:pt x="502463" y="85056"/>
                  </a:lnTo>
                  <a:lnTo>
                    <a:pt x="544743" y="66311"/>
                  </a:lnTo>
                  <a:lnTo>
                    <a:pt x="588246" y="49725"/>
                  </a:lnTo>
                  <a:lnTo>
                    <a:pt x="632914" y="35374"/>
                  </a:lnTo>
                  <a:lnTo>
                    <a:pt x="678687" y="23332"/>
                  </a:lnTo>
                  <a:lnTo>
                    <a:pt x="725508" y="13675"/>
                  </a:lnTo>
                  <a:lnTo>
                    <a:pt x="773318" y="6476"/>
                  </a:lnTo>
                  <a:lnTo>
                    <a:pt x="826897" y="1619"/>
                  </a:lnTo>
                  <a:lnTo>
                    <a:pt x="880760" y="0"/>
                  </a:lnTo>
                  <a:lnTo>
                    <a:pt x="880760" y="880745"/>
                  </a:lnTo>
                  <a:lnTo>
                    <a:pt x="6581" y="988187"/>
                  </a:lnTo>
                  <a:close/>
                </a:path>
              </a:pathLst>
            </a:custGeom>
            <a:ln w="9144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355342" y="1569846"/>
            <a:ext cx="290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20%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49804" y="2792933"/>
            <a:ext cx="29083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10%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99997" y="2697607"/>
            <a:ext cx="290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25%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25955" y="1691132"/>
            <a:ext cx="290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libri"/>
                <a:cs typeface="Calibri"/>
              </a:rPr>
              <a:t>27%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14475">
              <a:lnSpc>
                <a:spcPct val="100000"/>
              </a:lnSpc>
              <a:spcBef>
                <a:spcPts val="100"/>
              </a:spcBef>
            </a:pPr>
            <a:r>
              <a:rPr dirty="0" u="none" spc="-10"/>
              <a:t>Accelerate</a:t>
            </a:r>
            <a:r>
              <a:rPr dirty="0" u="none" spc="-65"/>
              <a:t> </a:t>
            </a:r>
            <a:r>
              <a:rPr dirty="0" u="none"/>
              <a:t>Direct</a:t>
            </a:r>
            <a:r>
              <a:rPr dirty="0" u="none" spc="-50"/>
              <a:t> </a:t>
            </a:r>
            <a:r>
              <a:rPr dirty="0" u="none"/>
              <a:t>Core</a:t>
            </a:r>
            <a:r>
              <a:rPr dirty="0" u="none" spc="-50"/>
              <a:t> </a:t>
            </a:r>
            <a:r>
              <a:rPr dirty="0" u="none"/>
              <a:t>:</a:t>
            </a:r>
            <a:r>
              <a:rPr dirty="0" u="none" spc="-40"/>
              <a:t> </a:t>
            </a:r>
            <a:r>
              <a:rPr dirty="0" u="none"/>
              <a:t>The</a:t>
            </a:r>
            <a:r>
              <a:rPr dirty="0" u="none" spc="-45"/>
              <a:t> </a:t>
            </a:r>
            <a:r>
              <a:rPr dirty="0" u="none"/>
              <a:t>Secret</a:t>
            </a:r>
            <a:r>
              <a:rPr dirty="0" u="none" spc="-55"/>
              <a:t> </a:t>
            </a:r>
            <a:r>
              <a:rPr dirty="0" u="none"/>
              <a:t>Sauce</a:t>
            </a:r>
            <a:r>
              <a:rPr dirty="0" u="none" spc="-55"/>
              <a:t> </a:t>
            </a:r>
            <a:r>
              <a:rPr dirty="0" u="none"/>
              <a:t>Fueling</a:t>
            </a:r>
            <a:r>
              <a:rPr dirty="0" u="none" spc="-45"/>
              <a:t> </a:t>
            </a:r>
            <a:r>
              <a:rPr dirty="0" u="none"/>
              <a:t>the</a:t>
            </a:r>
            <a:r>
              <a:rPr dirty="0" u="none" spc="-30"/>
              <a:t> </a:t>
            </a:r>
            <a:r>
              <a:rPr dirty="0" u="none" spc="-10"/>
              <a:t>Engine</a:t>
            </a:r>
          </a:p>
        </p:txBody>
      </p:sp>
      <p:grpSp>
        <p:nvGrpSpPr>
          <p:cNvPr id="19" name="object 19" descr=""/>
          <p:cNvGrpSpPr/>
          <p:nvPr/>
        </p:nvGrpSpPr>
        <p:grpSpPr>
          <a:xfrm>
            <a:off x="248221" y="693419"/>
            <a:ext cx="11774805" cy="5515610"/>
            <a:chOff x="248221" y="693419"/>
            <a:chExt cx="11774805" cy="5515610"/>
          </a:xfrm>
        </p:grpSpPr>
        <p:sp>
          <p:nvSpPr>
            <p:cNvPr id="20" name="object 20" descr=""/>
            <p:cNvSpPr/>
            <p:nvPr/>
          </p:nvSpPr>
          <p:spPr>
            <a:xfrm>
              <a:off x="252984" y="780287"/>
              <a:ext cx="11581765" cy="5424170"/>
            </a:xfrm>
            <a:custGeom>
              <a:avLst/>
              <a:gdLst/>
              <a:ahLst/>
              <a:cxnLst/>
              <a:rect l="l" t="t" r="r" b="b"/>
              <a:pathLst>
                <a:path w="11581765" h="5424170">
                  <a:moveTo>
                    <a:pt x="5573268" y="0"/>
                  </a:moveTo>
                  <a:lnTo>
                    <a:pt x="5573268" y="5423979"/>
                  </a:lnTo>
                </a:path>
                <a:path w="11581765" h="5424170">
                  <a:moveTo>
                    <a:pt x="0" y="2610612"/>
                  </a:moveTo>
                  <a:lnTo>
                    <a:pt x="11581384" y="2610612"/>
                  </a:lnTo>
                </a:path>
              </a:pathLst>
            </a:custGeom>
            <a:ln w="9144">
              <a:solidFill>
                <a:srgbClr val="B51E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54851" y="719327"/>
              <a:ext cx="5939028" cy="355091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025895" y="693419"/>
              <a:ext cx="5996940" cy="355600"/>
            </a:xfrm>
            <a:custGeom>
              <a:avLst/>
              <a:gdLst/>
              <a:ahLst/>
              <a:cxnLst/>
              <a:rect l="l" t="t" r="r" b="b"/>
              <a:pathLst>
                <a:path w="5996940" h="355600">
                  <a:moveTo>
                    <a:pt x="5996940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996940" y="355091"/>
                  </a:lnTo>
                  <a:lnTo>
                    <a:pt x="59969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192012" y="1674875"/>
              <a:ext cx="1912620" cy="1409700"/>
            </a:xfrm>
            <a:custGeom>
              <a:avLst/>
              <a:gdLst/>
              <a:ahLst/>
              <a:cxnLst/>
              <a:rect l="l" t="t" r="r" b="b"/>
              <a:pathLst>
                <a:path w="1912620" h="1409700">
                  <a:moveTo>
                    <a:pt x="365760" y="1120152"/>
                  </a:moveTo>
                  <a:lnTo>
                    <a:pt x="0" y="1120152"/>
                  </a:lnTo>
                  <a:lnTo>
                    <a:pt x="0" y="1400556"/>
                  </a:lnTo>
                  <a:lnTo>
                    <a:pt x="365760" y="1400556"/>
                  </a:lnTo>
                  <a:lnTo>
                    <a:pt x="365760" y="1120152"/>
                  </a:lnTo>
                  <a:close/>
                </a:path>
                <a:path w="1912620" h="1409700">
                  <a:moveTo>
                    <a:pt x="1130795" y="641604"/>
                  </a:moveTo>
                  <a:lnTo>
                    <a:pt x="765048" y="641604"/>
                  </a:lnTo>
                  <a:lnTo>
                    <a:pt x="765048" y="1409700"/>
                  </a:lnTo>
                  <a:lnTo>
                    <a:pt x="1130795" y="1409700"/>
                  </a:lnTo>
                  <a:lnTo>
                    <a:pt x="1130795" y="641604"/>
                  </a:lnTo>
                  <a:close/>
                </a:path>
                <a:path w="1912620" h="1409700">
                  <a:moveTo>
                    <a:pt x="1912620" y="0"/>
                  </a:moveTo>
                  <a:lnTo>
                    <a:pt x="1546860" y="0"/>
                  </a:lnTo>
                  <a:lnTo>
                    <a:pt x="1546860" y="1400556"/>
                  </a:lnTo>
                  <a:lnTo>
                    <a:pt x="1912620" y="1400556"/>
                  </a:lnTo>
                  <a:lnTo>
                    <a:pt x="1912620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006084" y="3067812"/>
              <a:ext cx="2296795" cy="67310"/>
            </a:xfrm>
            <a:custGeom>
              <a:avLst/>
              <a:gdLst/>
              <a:ahLst/>
              <a:cxnLst/>
              <a:rect l="l" t="t" r="r" b="b"/>
              <a:pathLst>
                <a:path w="2296795" h="67310">
                  <a:moveTo>
                    <a:pt x="10667" y="3048"/>
                  </a:moveTo>
                  <a:lnTo>
                    <a:pt x="2296667" y="3048"/>
                  </a:lnTo>
                </a:path>
                <a:path w="2296795" h="67310">
                  <a:moveTo>
                    <a:pt x="2276856" y="3048"/>
                  </a:moveTo>
                  <a:lnTo>
                    <a:pt x="2276856" y="66928"/>
                  </a:lnTo>
                </a:path>
                <a:path w="2296795" h="67310">
                  <a:moveTo>
                    <a:pt x="1523999" y="0"/>
                  </a:moveTo>
                  <a:lnTo>
                    <a:pt x="1523999" y="63880"/>
                  </a:lnTo>
                </a:path>
                <a:path w="2296795" h="67310">
                  <a:moveTo>
                    <a:pt x="761999" y="0"/>
                  </a:moveTo>
                  <a:lnTo>
                    <a:pt x="761999" y="63880"/>
                  </a:lnTo>
                </a:path>
                <a:path w="2296795" h="67310">
                  <a:moveTo>
                    <a:pt x="0" y="0"/>
                  </a:moveTo>
                  <a:lnTo>
                    <a:pt x="0" y="6388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692008" y="3124961"/>
            <a:ext cx="466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A2F3B"/>
                </a:solidFill>
                <a:latin typeface="Corbel"/>
                <a:cs typeface="Corbel"/>
              </a:rPr>
              <a:t>10+</a:t>
            </a:r>
            <a:r>
              <a:rPr dirty="0" sz="1200" spc="-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spc="-25">
                <a:solidFill>
                  <a:srgbClr val="2A2F3B"/>
                </a:solidFill>
                <a:latin typeface="Corbel"/>
                <a:cs typeface="Corbel"/>
              </a:rPr>
              <a:t>yrs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907783" y="3124961"/>
            <a:ext cx="5124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A2F3B"/>
                </a:solidFill>
                <a:latin typeface="Corbel"/>
                <a:cs typeface="Corbel"/>
              </a:rPr>
              <a:t>5-</a:t>
            </a:r>
            <a:r>
              <a:rPr dirty="0" sz="1200">
                <a:solidFill>
                  <a:srgbClr val="2A2F3B"/>
                </a:solidFill>
                <a:latin typeface="Corbel"/>
                <a:cs typeface="Corbel"/>
              </a:rPr>
              <a:t>10</a:t>
            </a:r>
            <a:r>
              <a:rPr dirty="0" sz="1200" spc="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spc="-25">
                <a:solidFill>
                  <a:srgbClr val="2A2F3B"/>
                </a:solidFill>
                <a:latin typeface="Corbel"/>
                <a:cs typeface="Corbel"/>
              </a:rPr>
              <a:t>yrs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179946" y="3124961"/>
            <a:ext cx="443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A2F3B"/>
                </a:solidFill>
                <a:latin typeface="Corbel"/>
                <a:cs typeface="Corbel"/>
              </a:rPr>
              <a:t>0-</a:t>
            </a:r>
            <a:r>
              <a:rPr dirty="0" sz="1200">
                <a:solidFill>
                  <a:srgbClr val="2A2F3B"/>
                </a:solidFill>
                <a:latin typeface="Corbel"/>
                <a:cs typeface="Corbel"/>
              </a:rPr>
              <a:t>5 </a:t>
            </a:r>
            <a:r>
              <a:rPr dirty="0" sz="1200" spc="-25">
                <a:solidFill>
                  <a:srgbClr val="2A2F3B"/>
                </a:solidFill>
                <a:latin typeface="Corbel"/>
                <a:cs typeface="Corbel"/>
              </a:rPr>
              <a:t>yrs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8497951" y="1437258"/>
            <a:ext cx="33921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Customer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base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include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many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industry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leaders: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613775" y="1689938"/>
            <a:ext cx="3390265" cy="1016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Largest</a:t>
            </a:r>
            <a:r>
              <a:rPr dirty="0" sz="13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Bank in</a:t>
            </a:r>
            <a:r>
              <a:rPr dirty="0" sz="1300" spc="-10">
                <a:solidFill>
                  <a:srgbClr val="2A2F3B"/>
                </a:solidFill>
                <a:latin typeface="Corbel"/>
                <a:cs typeface="Corbel"/>
              </a:rPr>
              <a:t> North</a:t>
            </a:r>
            <a:r>
              <a:rPr dirty="0" sz="1300" spc="-7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 spc="-10">
                <a:solidFill>
                  <a:srgbClr val="2A2F3B"/>
                </a:solidFill>
                <a:latin typeface="Corbel"/>
                <a:cs typeface="Corbel"/>
              </a:rPr>
              <a:t>America</a:t>
            </a:r>
            <a:endParaRPr sz="13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Largest</a:t>
            </a:r>
            <a:r>
              <a:rPr dirty="0" sz="13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 spc="-10">
                <a:solidFill>
                  <a:srgbClr val="2A2F3B"/>
                </a:solidFill>
                <a:latin typeface="Corbel"/>
                <a:cs typeface="Corbel"/>
              </a:rPr>
              <a:t>Insurance</a:t>
            </a:r>
            <a:r>
              <a:rPr dirty="0" sz="13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Company</a:t>
            </a:r>
            <a:r>
              <a:rPr dirty="0" sz="13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in </a:t>
            </a:r>
            <a:r>
              <a:rPr dirty="0" sz="1300" spc="-10">
                <a:solidFill>
                  <a:srgbClr val="2A2F3B"/>
                </a:solidFill>
                <a:latin typeface="Corbel"/>
                <a:cs typeface="Corbel"/>
              </a:rPr>
              <a:t>North</a:t>
            </a:r>
            <a:r>
              <a:rPr dirty="0" sz="1300" spc="-7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 spc="-10">
                <a:solidFill>
                  <a:srgbClr val="2A2F3B"/>
                </a:solidFill>
                <a:latin typeface="Corbel"/>
                <a:cs typeface="Corbel"/>
              </a:rPr>
              <a:t>America</a:t>
            </a:r>
            <a:endParaRPr sz="13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Largest</a:t>
            </a:r>
            <a:r>
              <a:rPr dirty="0" sz="13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publicly</a:t>
            </a:r>
            <a:r>
              <a:rPr dirty="0" sz="13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traded</a:t>
            </a:r>
            <a:r>
              <a:rPr dirty="0" sz="1300" spc="229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 spc="-10">
                <a:solidFill>
                  <a:srgbClr val="2A2F3B"/>
                </a:solidFill>
                <a:latin typeface="Corbel"/>
                <a:cs typeface="Corbel"/>
              </a:rPr>
              <a:t>Invest.</a:t>
            </a:r>
            <a:r>
              <a:rPr dirty="0" sz="1300" spc="-5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Services</a:t>
            </a:r>
            <a:r>
              <a:rPr dirty="0" sz="1300" spc="-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 spc="-20">
                <a:solidFill>
                  <a:srgbClr val="2A2F3B"/>
                </a:solidFill>
                <a:latin typeface="Corbel"/>
                <a:cs typeface="Corbel"/>
              </a:rPr>
              <a:t>Firm</a:t>
            </a:r>
            <a:endParaRPr sz="13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Largest</a:t>
            </a:r>
            <a:r>
              <a:rPr dirty="0" sz="1300" spc="-4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Logistics</a:t>
            </a:r>
            <a:r>
              <a:rPr dirty="0" sz="13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 spc="-10">
                <a:solidFill>
                  <a:srgbClr val="2A2F3B"/>
                </a:solidFill>
                <a:latin typeface="Corbel"/>
                <a:cs typeface="Corbel"/>
              </a:rPr>
              <a:t>Provider</a:t>
            </a:r>
            <a:endParaRPr sz="13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dirty="0" sz="1300" spc="-10">
                <a:solidFill>
                  <a:srgbClr val="2A2F3B"/>
                </a:solidFill>
                <a:latin typeface="Corbel"/>
                <a:cs typeface="Corbel"/>
              </a:rPr>
              <a:t>Largest</a:t>
            </a:r>
            <a:r>
              <a:rPr dirty="0" sz="1300" spc="-6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Commercial</a:t>
            </a:r>
            <a:r>
              <a:rPr dirty="0" sz="13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>
                <a:solidFill>
                  <a:srgbClr val="2A2F3B"/>
                </a:solidFill>
                <a:latin typeface="Corbel"/>
                <a:cs typeface="Corbel"/>
              </a:rPr>
              <a:t>RE</a:t>
            </a:r>
            <a:r>
              <a:rPr dirty="0" sz="13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300" spc="-10">
                <a:solidFill>
                  <a:srgbClr val="2A2F3B"/>
                </a:solidFill>
                <a:latin typeface="Corbel"/>
                <a:cs typeface="Corbel"/>
              </a:rPr>
              <a:t>player</a:t>
            </a:r>
            <a:endParaRPr sz="1300">
              <a:latin typeface="Corbel"/>
              <a:cs typeface="Corbe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613775" y="2755773"/>
            <a:ext cx="340106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Well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entrenched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across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multiple</a:t>
            </a:r>
            <a:r>
              <a:rPr dirty="0" sz="1400" spc="-5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business</a:t>
            </a:r>
            <a:r>
              <a:rPr dirty="0" sz="1400" spc="-5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lines</a:t>
            </a:r>
            <a:endParaRPr sz="14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at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 customers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315202" y="2534488"/>
            <a:ext cx="996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solidFill>
                  <a:srgbClr val="2A2F3B"/>
                </a:solidFill>
                <a:latin typeface="Corbel"/>
                <a:cs typeface="Corbel"/>
              </a:rPr>
              <a:t>1</a:t>
            </a:r>
            <a:endParaRPr sz="1300">
              <a:latin typeface="Corbel"/>
              <a:cs typeface="Corbe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106539" y="2084069"/>
            <a:ext cx="1047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>
                <a:solidFill>
                  <a:srgbClr val="2A2F3B"/>
                </a:solidFill>
                <a:latin typeface="Corbel"/>
                <a:cs typeface="Corbel"/>
              </a:rPr>
              <a:t>5</a:t>
            </a:r>
            <a:endParaRPr sz="1300">
              <a:latin typeface="Corbel"/>
              <a:cs typeface="Corbe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875269" y="1375029"/>
            <a:ext cx="18288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>
                <a:solidFill>
                  <a:srgbClr val="2A2F3B"/>
                </a:solidFill>
                <a:latin typeface="Corbel"/>
                <a:cs typeface="Corbel"/>
              </a:rPr>
              <a:t>10</a:t>
            </a:r>
            <a:endParaRPr sz="1300">
              <a:latin typeface="Corbel"/>
              <a:cs typeface="Corbe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51815" y="704087"/>
            <a:ext cx="5663565" cy="381000"/>
            <a:chOff x="51815" y="704087"/>
            <a:chExt cx="5663565" cy="381000"/>
          </a:xfrm>
        </p:grpSpPr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248" y="729995"/>
              <a:ext cx="5608320" cy="35509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51815" y="704087"/>
              <a:ext cx="5663565" cy="355600"/>
            </a:xfrm>
            <a:custGeom>
              <a:avLst/>
              <a:gdLst/>
              <a:ahLst/>
              <a:cxnLst/>
              <a:rect l="l" t="t" r="r" b="b"/>
              <a:pathLst>
                <a:path w="5663565" h="355600">
                  <a:moveTo>
                    <a:pt x="5663184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663184" y="355091"/>
                  </a:lnTo>
                  <a:lnTo>
                    <a:pt x="566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676145" y="755142"/>
            <a:ext cx="10102215" cy="638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02580" algn="l"/>
              </a:tabLst>
            </a:pP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Domain</a:t>
            </a:r>
            <a:r>
              <a:rPr dirty="0" sz="16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Strength</a:t>
            </a:r>
            <a:r>
              <a:rPr dirty="0" sz="1600" spc="-1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built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by…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	</a:t>
            </a:r>
            <a:r>
              <a:rPr dirty="0" baseline="3472" sz="2400" b="1">
                <a:solidFill>
                  <a:srgbClr val="2A2F3B"/>
                </a:solidFill>
                <a:latin typeface="Corbel"/>
                <a:cs typeface="Corbel"/>
              </a:rPr>
              <a:t>…</a:t>
            </a:r>
            <a:r>
              <a:rPr dirty="0" baseline="3472" sz="2400" spc="-44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3472" sz="2400" b="1">
                <a:solidFill>
                  <a:srgbClr val="2A2F3B"/>
                </a:solidFill>
                <a:latin typeface="Corbel"/>
                <a:cs typeface="Corbel"/>
              </a:rPr>
              <a:t>years</a:t>
            </a:r>
            <a:r>
              <a:rPr dirty="0" baseline="3472" sz="2400" spc="-22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3472" sz="24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baseline="3472" sz="24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3472" sz="2400" b="1">
                <a:solidFill>
                  <a:srgbClr val="2A2F3B"/>
                </a:solidFill>
                <a:latin typeface="Corbel"/>
                <a:cs typeface="Corbel"/>
              </a:rPr>
              <a:t>working</a:t>
            </a:r>
            <a:r>
              <a:rPr dirty="0" baseline="3472" sz="2400" spc="-44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3472" sz="2400" b="1">
                <a:solidFill>
                  <a:srgbClr val="2A2F3B"/>
                </a:solidFill>
                <a:latin typeface="Corbel"/>
                <a:cs typeface="Corbel"/>
              </a:rPr>
              <a:t>with</a:t>
            </a:r>
            <a:r>
              <a:rPr dirty="0" baseline="3472" sz="24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3472" sz="2400" spc="-15" b="1">
                <a:solidFill>
                  <a:srgbClr val="2A2F3B"/>
                </a:solidFill>
                <a:latin typeface="Corbel"/>
                <a:cs typeface="Corbel"/>
              </a:rPr>
              <a:t>Marquee</a:t>
            </a:r>
            <a:r>
              <a:rPr dirty="0" baseline="3472" sz="2400" spc="-67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3472" sz="2400" spc="-15" b="1">
                <a:solidFill>
                  <a:srgbClr val="2A2F3B"/>
                </a:solidFill>
                <a:latin typeface="Corbel"/>
                <a:cs typeface="Corbel"/>
              </a:rPr>
              <a:t>Customers</a:t>
            </a:r>
            <a:endParaRPr baseline="3472" sz="2400">
              <a:latin typeface="Corbel"/>
              <a:cs typeface="Corbel"/>
            </a:endParaRPr>
          </a:p>
          <a:p>
            <a:pPr marL="4268470">
              <a:lnSpc>
                <a:spcPct val="100000"/>
              </a:lnSpc>
              <a:spcBef>
                <a:spcPts val="1225"/>
              </a:spcBef>
            </a:pPr>
            <a:r>
              <a:rPr dirty="0" sz="1200">
                <a:solidFill>
                  <a:srgbClr val="2A2F3B"/>
                </a:solidFill>
                <a:latin typeface="Corbel"/>
                <a:cs typeface="Corbel"/>
              </a:rPr>
              <a:t>Strategic</a:t>
            </a:r>
            <a:r>
              <a:rPr dirty="0" sz="1200" spc="-8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2A2F3B"/>
                </a:solidFill>
                <a:latin typeface="Corbel"/>
                <a:cs typeface="Corbel"/>
              </a:rPr>
              <a:t>Accounts:</a:t>
            </a:r>
            <a:r>
              <a:rPr dirty="0" sz="1200" spc="-5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2A2F3B"/>
                </a:solidFill>
                <a:latin typeface="Corbel"/>
                <a:cs typeface="Corbel"/>
              </a:rPr>
              <a:t>Relationship</a:t>
            </a:r>
            <a:r>
              <a:rPr dirty="0" sz="1200" spc="-8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>
                <a:solidFill>
                  <a:srgbClr val="2A2F3B"/>
                </a:solidFill>
                <a:latin typeface="Corbel"/>
                <a:cs typeface="Corbel"/>
              </a:rPr>
              <a:t>Tenure</a:t>
            </a:r>
            <a:r>
              <a:rPr dirty="0" sz="1200" spc="28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1984" sz="2100">
                <a:solidFill>
                  <a:srgbClr val="2A2F3B"/>
                </a:solidFill>
                <a:latin typeface="Corbel"/>
                <a:cs typeface="Corbel"/>
              </a:rPr>
              <a:t>11/16</a:t>
            </a:r>
            <a:r>
              <a:rPr dirty="0" baseline="1984" sz="2100" spc="-44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1984" sz="2100">
                <a:solidFill>
                  <a:srgbClr val="2A2F3B"/>
                </a:solidFill>
                <a:latin typeface="Corbel"/>
                <a:cs typeface="Corbel"/>
              </a:rPr>
              <a:t>strategic</a:t>
            </a:r>
            <a:r>
              <a:rPr dirty="0" baseline="1984" sz="2100" spc="-44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1984" sz="2100">
                <a:solidFill>
                  <a:srgbClr val="2A2F3B"/>
                </a:solidFill>
                <a:latin typeface="Corbel"/>
                <a:cs typeface="Corbel"/>
              </a:rPr>
              <a:t>clients</a:t>
            </a:r>
            <a:r>
              <a:rPr dirty="0" baseline="1984" sz="2100" spc="-67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1984" sz="2100">
                <a:solidFill>
                  <a:srgbClr val="2A2F3B"/>
                </a:solidFill>
                <a:latin typeface="Corbel"/>
                <a:cs typeface="Corbel"/>
              </a:rPr>
              <a:t>are</a:t>
            </a:r>
            <a:r>
              <a:rPr dirty="0" baseline="1984" sz="2100" spc="-37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1984" sz="2100">
                <a:solidFill>
                  <a:srgbClr val="2A2F3B"/>
                </a:solidFill>
                <a:latin typeface="Corbel"/>
                <a:cs typeface="Corbel"/>
              </a:rPr>
              <a:t>from</a:t>
            </a:r>
            <a:r>
              <a:rPr dirty="0" baseline="1984" sz="21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1984" sz="2100">
                <a:solidFill>
                  <a:srgbClr val="2A2F3B"/>
                </a:solidFill>
                <a:latin typeface="Corbel"/>
                <a:cs typeface="Corbel"/>
              </a:rPr>
              <a:t>BFSI</a:t>
            </a:r>
            <a:r>
              <a:rPr dirty="0" baseline="1984" sz="2100" spc="-7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1984" sz="2100" spc="-15">
                <a:solidFill>
                  <a:srgbClr val="2A2F3B"/>
                </a:solidFill>
                <a:latin typeface="Corbel"/>
                <a:cs typeface="Corbel"/>
              </a:rPr>
              <a:t>verticals</a:t>
            </a:r>
            <a:endParaRPr baseline="1984" sz="2100">
              <a:latin typeface="Corbel"/>
              <a:cs typeface="Corbe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641473" y="2994405"/>
            <a:ext cx="101790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Corbel"/>
                <a:cs typeface="Corbel"/>
              </a:rPr>
              <a:t>P&amp;C</a:t>
            </a:r>
            <a:r>
              <a:rPr dirty="0" sz="1300" spc="-25">
                <a:latin typeface="Corbel"/>
                <a:cs typeface="Corbel"/>
              </a:rPr>
              <a:t> </a:t>
            </a:r>
            <a:r>
              <a:rPr dirty="0" sz="1300" spc="-10">
                <a:latin typeface="Corbel"/>
                <a:cs typeface="Corbel"/>
              </a:rPr>
              <a:t>Insurance</a:t>
            </a:r>
            <a:endParaRPr sz="1300">
              <a:latin typeface="Corbel"/>
              <a:cs typeface="Corbe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2588514" y="2293366"/>
            <a:ext cx="133921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1480" algn="l"/>
              </a:tabLst>
            </a:pPr>
            <a:r>
              <a:rPr dirty="0" sz="1200" spc="-25">
                <a:latin typeface="Calibri"/>
                <a:cs typeface="Calibri"/>
              </a:rPr>
              <a:t>17%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300" spc="-10">
                <a:latin typeface="Corbel"/>
                <a:cs typeface="Corbel"/>
              </a:rPr>
              <a:t>Wealth</a:t>
            </a:r>
            <a:endParaRPr sz="1300">
              <a:latin typeface="Corbel"/>
              <a:cs typeface="Corbel"/>
            </a:endParaRPr>
          </a:p>
          <a:p>
            <a:pPr marL="411480">
              <a:lnSpc>
                <a:spcPct val="100000"/>
              </a:lnSpc>
            </a:pPr>
            <a:r>
              <a:rPr dirty="0" sz="1300" spc="-10">
                <a:latin typeface="Corbel"/>
                <a:cs typeface="Corbel"/>
              </a:rPr>
              <a:t>Management</a:t>
            </a:r>
            <a:endParaRPr sz="1300">
              <a:latin typeface="Corbel"/>
              <a:cs typeface="Corbe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2562860" y="1305560"/>
            <a:ext cx="14611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Corbel"/>
                <a:cs typeface="Corbel"/>
              </a:rPr>
              <a:t>Consumer</a:t>
            </a:r>
            <a:r>
              <a:rPr dirty="0" sz="1300" spc="-45">
                <a:latin typeface="Corbel"/>
                <a:cs typeface="Corbel"/>
              </a:rPr>
              <a:t> </a:t>
            </a:r>
            <a:r>
              <a:rPr dirty="0" sz="1300">
                <a:latin typeface="Corbel"/>
                <a:cs typeface="Corbel"/>
              </a:rPr>
              <a:t>Banking</a:t>
            </a:r>
            <a:r>
              <a:rPr dirty="0" sz="1300" spc="-25">
                <a:latin typeface="Corbel"/>
                <a:cs typeface="Corbel"/>
              </a:rPr>
              <a:t> </a:t>
            </a:r>
            <a:r>
              <a:rPr dirty="0" sz="1300" spc="-50">
                <a:latin typeface="Corbel"/>
                <a:cs typeface="Corbel"/>
              </a:rPr>
              <a:t>&amp;</a:t>
            </a:r>
            <a:endParaRPr sz="1300">
              <a:latin typeface="Corbel"/>
              <a:cs typeface="Corbe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2943860" y="1503679"/>
            <a:ext cx="6991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Corbel"/>
                <a:cs typeface="Corbel"/>
              </a:rPr>
              <a:t>Mortgage</a:t>
            </a:r>
            <a:endParaRPr sz="1300">
              <a:latin typeface="Corbel"/>
              <a:cs typeface="Corbe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02716" y="1420444"/>
            <a:ext cx="715010" cy="422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Corbel"/>
                <a:cs typeface="Corbel"/>
              </a:rPr>
              <a:t>Non-</a:t>
            </a:r>
            <a:r>
              <a:rPr dirty="0" sz="1300" spc="-20">
                <a:latin typeface="Corbel"/>
                <a:cs typeface="Corbel"/>
              </a:rPr>
              <a:t>BFSI</a:t>
            </a:r>
            <a:endParaRPr sz="1300">
              <a:latin typeface="Corbel"/>
              <a:cs typeface="Corbel"/>
            </a:endParaRPr>
          </a:p>
          <a:p>
            <a:pPr marL="117475">
              <a:lnSpc>
                <a:spcPct val="100000"/>
              </a:lnSpc>
              <a:spcBef>
                <a:spcPts val="5"/>
              </a:spcBef>
            </a:pPr>
            <a:r>
              <a:rPr dirty="0" sz="1300" spc="-10">
                <a:latin typeface="Corbel"/>
                <a:cs typeface="Corbel"/>
              </a:rPr>
              <a:t>Verticals</a:t>
            </a:r>
            <a:endParaRPr sz="1300">
              <a:latin typeface="Corbel"/>
              <a:cs typeface="Corbe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21919" y="2732912"/>
            <a:ext cx="7727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latin typeface="Corbel"/>
                <a:cs typeface="Corbel"/>
              </a:rPr>
              <a:t>Other</a:t>
            </a:r>
            <a:r>
              <a:rPr dirty="0" sz="1300" spc="-35">
                <a:latin typeface="Corbel"/>
                <a:cs typeface="Corbel"/>
              </a:rPr>
              <a:t> </a:t>
            </a:r>
            <a:r>
              <a:rPr dirty="0" sz="1300" spc="-20">
                <a:latin typeface="Corbel"/>
                <a:cs typeface="Corbel"/>
              </a:rPr>
              <a:t>BFSI</a:t>
            </a:r>
            <a:endParaRPr sz="1300">
              <a:latin typeface="Corbel"/>
              <a:cs typeface="Corbe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4030217" y="1543050"/>
            <a:ext cx="1641475" cy="1195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80340" marR="5080" indent="-16764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0340" algn="l"/>
              </a:tabLst>
            </a:pPr>
            <a:r>
              <a:rPr dirty="0" sz="1400">
                <a:latin typeface="Corbel"/>
                <a:cs typeface="Corbel"/>
              </a:rPr>
              <a:t>Select</a:t>
            </a:r>
            <a:r>
              <a:rPr dirty="0" sz="1400" spc="26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chosen</a:t>
            </a:r>
            <a:r>
              <a:rPr dirty="0" sz="1400" spc="254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sub- </a:t>
            </a:r>
            <a:r>
              <a:rPr dirty="0" sz="1400">
                <a:latin typeface="Corbel"/>
                <a:cs typeface="Corbel"/>
              </a:rPr>
              <a:t>verticals</a:t>
            </a:r>
            <a:r>
              <a:rPr dirty="0" sz="1400" spc="17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within</a:t>
            </a:r>
            <a:r>
              <a:rPr dirty="0" sz="1400" spc="180">
                <a:latin typeface="Corbel"/>
                <a:cs typeface="Corbel"/>
              </a:rPr>
              <a:t> </a:t>
            </a:r>
            <a:r>
              <a:rPr dirty="0" sz="1400" spc="-25">
                <a:latin typeface="Corbel"/>
                <a:cs typeface="Corbel"/>
              </a:rPr>
              <a:t>the </a:t>
            </a:r>
            <a:r>
              <a:rPr dirty="0" sz="1400">
                <a:latin typeface="Corbel"/>
                <a:cs typeface="Corbel"/>
              </a:rPr>
              <a:t>BFSI</a:t>
            </a:r>
            <a:r>
              <a:rPr dirty="0" sz="1400" spc="-3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sector</a:t>
            </a:r>
            <a:endParaRPr sz="1400">
              <a:latin typeface="Corbel"/>
              <a:cs typeface="Corbel"/>
            </a:endParaRPr>
          </a:p>
          <a:p>
            <a:pPr algn="r" marL="166370" marR="5080" indent="-16637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166370" algn="l"/>
              </a:tabLst>
            </a:pPr>
            <a:r>
              <a:rPr dirty="0" sz="1400">
                <a:latin typeface="Corbel"/>
                <a:cs typeface="Corbel"/>
              </a:rPr>
              <a:t>Invested</a:t>
            </a:r>
            <a:r>
              <a:rPr dirty="0" sz="1400" spc="18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in</a:t>
            </a:r>
            <a:r>
              <a:rPr dirty="0" sz="1400" spc="17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domain</a:t>
            </a:r>
            <a:endParaRPr sz="1400">
              <a:latin typeface="Corbel"/>
              <a:cs typeface="Corbel"/>
            </a:endParaRPr>
          </a:p>
          <a:p>
            <a:pPr algn="r" marR="6985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Corbel"/>
                <a:cs typeface="Corbel"/>
              </a:rPr>
              <a:t>experts</a:t>
            </a:r>
            <a:r>
              <a:rPr dirty="0" sz="1400" spc="49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with</a:t>
            </a:r>
            <a:r>
              <a:rPr dirty="0" sz="1400" spc="495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deep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4197858" y="2712212"/>
            <a:ext cx="14719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82320" algn="l"/>
              </a:tabLst>
            </a:pPr>
            <a:r>
              <a:rPr dirty="0" sz="1400" spc="-10">
                <a:latin typeface="Corbel"/>
                <a:cs typeface="Corbel"/>
              </a:rPr>
              <a:t>industry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10">
                <a:latin typeface="Corbel"/>
                <a:cs typeface="Corbel"/>
              </a:rPr>
              <a:t>expertise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4197858" y="2925572"/>
            <a:ext cx="11468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orbel"/>
                <a:cs typeface="Corbel"/>
              </a:rPr>
              <a:t>in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chosen</a:t>
            </a:r>
            <a:r>
              <a:rPr dirty="0" sz="1400" spc="-10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areas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26237" y="3766159"/>
            <a:ext cx="5311140" cy="86995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179705" algn="l"/>
              </a:tabLst>
            </a:pP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Institutionalized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Early</a:t>
            </a:r>
            <a:r>
              <a:rPr dirty="0" sz="1400" spc="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Engagement</a:t>
            </a:r>
            <a:r>
              <a:rPr dirty="0" sz="1400" spc="-1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sales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process</a:t>
            </a:r>
            <a:endParaRPr sz="1400">
              <a:latin typeface="Corbel"/>
              <a:cs typeface="Corbel"/>
            </a:endParaRPr>
          </a:p>
          <a:p>
            <a:pPr marL="180340" marR="5080" indent="-16764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180340" algn="l"/>
              </a:tabLst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Robust</a:t>
            </a:r>
            <a:r>
              <a:rPr dirty="0" sz="1400" spc="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account</a:t>
            </a:r>
            <a:r>
              <a:rPr dirty="0" sz="1400" spc="5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planning</a:t>
            </a:r>
            <a:r>
              <a:rPr dirty="0" sz="1400" spc="5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for</a:t>
            </a:r>
            <a:r>
              <a:rPr dirty="0" sz="1400" spc="5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selecting</a:t>
            </a:r>
            <a:r>
              <a:rPr dirty="0" sz="1400" spc="4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early</a:t>
            </a:r>
            <a:r>
              <a:rPr dirty="0" sz="1400" spc="4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engagement</a:t>
            </a:r>
            <a:r>
              <a:rPr dirty="0" sz="1400" spc="4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areas</a:t>
            </a:r>
            <a:r>
              <a:rPr dirty="0" sz="1400" spc="5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based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on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spend,</a:t>
            </a:r>
            <a:r>
              <a:rPr dirty="0" sz="1400" spc="-3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competition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ability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to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win</a:t>
            </a:r>
            <a:endParaRPr sz="1400">
              <a:latin typeface="Corbel"/>
              <a:cs typeface="Corbel"/>
            </a:endParaRPr>
          </a:p>
        </p:txBody>
      </p:sp>
      <p:graphicFrame>
        <p:nvGraphicFramePr>
          <p:cNvPr id="48" name="object 48" descr=""/>
          <p:cNvGraphicFramePr>
            <a:graphicFrameLocks noGrp="1"/>
          </p:cNvGraphicFramePr>
          <p:nvPr/>
        </p:nvGraphicFramePr>
        <p:xfrm>
          <a:off x="6251575" y="4823333"/>
          <a:ext cx="4164965" cy="958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4880"/>
                <a:gridCol w="1860549"/>
              </a:tblGrid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200" spc="-10" b="1">
                          <a:latin typeface="Corbel"/>
                          <a:cs typeface="Corbel"/>
                        </a:rPr>
                        <a:t>Account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200" spc="-10" b="1">
                          <a:latin typeface="Corbel"/>
                          <a:cs typeface="Corbel"/>
                        </a:rPr>
                        <a:t>Ranking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0504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Large</a:t>
                      </a:r>
                      <a:r>
                        <a:rPr dirty="0" sz="1200" spc="-3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North</a:t>
                      </a:r>
                      <a:r>
                        <a:rPr dirty="0" sz="1200" spc="-7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>
                          <a:latin typeface="Corbel"/>
                          <a:cs typeface="Corbel"/>
                        </a:rPr>
                        <a:t>American</a:t>
                      </a:r>
                      <a:r>
                        <a:rPr dirty="0" sz="120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20">
                          <a:latin typeface="Corbel"/>
                          <a:cs typeface="Corbel"/>
                        </a:rPr>
                        <a:t>Bank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#</a:t>
                      </a:r>
                      <a:r>
                        <a:rPr dirty="0" sz="12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50">
                          <a:latin typeface="Corbel"/>
                          <a:cs typeface="Corbel"/>
                        </a:rPr>
                        <a:t>1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0504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Leading</a:t>
                      </a:r>
                      <a:r>
                        <a:rPr dirty="0" sz="12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Investment</a:t>
                      </a:r>
                      <a:r>
                        <a:rPr dirty="0" sz="1200" spc="-4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>
                          <a:latin typeface="Corbel"/>
                          <a:cs typeface="Corbel"/>
                        </a:rPr>
                        <a:t>Services</a:t>
                      </a:r>
                      <a:r>
                        <a:rPr dirty="0" sz="1200" spc="2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20">
                          <a:latin typeface="Corbel"/>
                          <a:cs typeface="Corbel"/>
                        </a:rPr>
                        <a:t>Firm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#</a:t>
                      </a:r>
                      <a:r>
                        <a:rPr dirty="0" sz="12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50">
                          <a:latin typeface="Corbel"/>
                          <a:cs typeface="Corbel"/>
                        </a:rPr>
                        <a:t>1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0504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Global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 Logistics</a:t>
                      </a:r>
                      <a:r>
                        <a:rPr dirty="0" sz="12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25">
                          <a:latin typeface="Corbel"/>
                          <a:cs typeface="Corbel"/>
                        </a:rPr>
                        <a:t>Co.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#</a:t>
                      </a:r>
                      <a:r>
                        <a:rPr dirty="0" sz="12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50">
                          <a:latin typeface="Corbel"/>
                          <a:cs typeface="Corbel"/>
                        </a:rPr>
                        <a:t>1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9" name="object 49" descr=""/>
          <p:cNvSpPr txBox="1"/>
          <p:nvPr/>
        </p:nvSpPr>
        <p:spPr>
          <a:xfrm>
            <a:off x="5967221" y="3860419"/>
            <a:ext cx="5787390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marR="5080" indent="-1676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79705" algn="l"/>
              </a:tabLst>
            </a:pPr>
            <a:r>
              <a:rPr dirty="0" sz="1400" b="1">
                <a:latin typeface="Corbel"/>
                <a:cs typeface="Corbel"/>
              </a:rPr>
              <a:t>Onsite</a:t>
            </a:r>
            <a:r>
              <a:rPr dirty="0" sz="1400" spc="4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Global</a:t>
            </a:r>
            <a:r>
              <a:rPr dirty="0" sz="1400" spc="5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Delivery</a:t>
            </a:r>
            <a:r>
              <a:rPr dirty="0" sz="1400" spc="5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Account</a:t>
            </a:r>
            <a:r>
              <a:rPr dirty="0" sz="1400" spc="4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Leader</a:t>
            </a:r>
            <a:r>
              <a:rPr dirty="0" sz="1400" spc="55" b="1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(GDAL)</a:t>
            </a:r>
            <a:r>
              <a:rPr dirty="0" sz="1400" spc="6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works</a:t>
            </a:r>
            <a:r>
              <a:rPr dirty="0" sz="1400" spc="6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proactively</a:t>
            </a:r>
            <a:r>
              <a:rPr dirty="0" sz="1400" spc="6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with</a:t>
            </a:r>
            <a:r>
              <a:rPr dirty="0" sz="1400" spc="60">
                <a:latin typeface="Corbel"/>
                <a:cs typeface="Corbel"/>
              </a:rPr>
              <a:t> </a:t>
            </a:r>
            <a:r>
              <a:rPr dirty="0" sz="1400" spc="-25">
                <a:latin typeface="Corbel"/>
                <a:cs typeface="Corbel"/>
              </a:rPr>
              <a:t>the </a:t>
            </a:r>
            <a:r>
              <a:rPr dirty="0" sz="1400">
                <a:latin typeface="Corbel"/>
                <a:cs typeface="Corbel"/>
              </a:rPr>
              <a:t>customer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to</a:t>
            </a:r>
            <a:r>
              <a:rPr dirty="0" sz="1400" spc="-2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address</a:t>
            </a:r>
            <a:r>
              <a:rPr dirty="0" sz="1400" spc="-2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issues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in</a:t>
            </a:r>
            <a:r>
              <a:rPr dirty="0" sz="1400" spc="-2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real</a:t>
            </a:r>
            <a:r>
              <a:rPr dirty="0" sz="1400" spc="-15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time</a:t>
            </a:r>
            <a:endParaRPr sz="1400">
              <a:latin typeface="Corbel"/>
              <a:cs typeface="Corbel"/>
            </a:endParaRPr>
          </a:p>
          <a:p>
            <a:pPr marL="179705" indent="-16700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179705" algn="l"/>
              </a:tabLst>
            </a:pPr>
            <a:r>
              <a:rPr dirty="0" sz="1400">
                <a:latin typeface="Corbel"/>
                <a:cs typeface="Corbel"/>
              </a:rPr>
              <a:t>Service</a:t>
            </a:r>
            <a:r>
              <a:rPr dirty="0" sz="1400" spc="-7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Delivery</a:t>
            </a:r>
            <a:r>
              <a:rPr dirty="0" sz="1400" spc="-3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Excellence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and</a:t>
            </a:r>
            <a:r>
              <a:rPr dirty="0" sz="1400" spc="-65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CSAT</a:t>
            </a:r>
            <a:r>
              <a:rPr dirty="0" sz="1400" spc="-50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focus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6062471" y="3447288"/>
            <a:ext cx="5996940" cy="381000"/>
            <a:chOff x="6062471" y="3447288"/>
            <a:chExt cx="5996940" cy="381000"/>
          </a:xfrm>
        </p:grpSpPr>
        <p:pic>
          <p:nvPicPr>
            <p:cNvPr id="51" name="object 5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1427" y="3473196"/>
              <a:ext cx="5939028" cy="355091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6062471" y="3447288"/>
              <a:ext cx="5996940" cy="355600"/>
            </a:xfrm>
            <a:custGeom>
              <a:avLst/>
              <a:gdLst/>
              <a:ahLst/>
              <a:cxnLst/>
              <a:rect l="l" t="t" r="r" b="b"/>
              <a:pathLst>
                <a:path w="5996940" h="355600">
                  <a:moveTo>
                    <a:pt x="5996939" y="0"/>
                  </a:moveTo>
                  <a:lnTo>
                    <a:pt x="0" y="0"/>
                  </a:lnTo>
                  <a:lnTo>
                    <a:pt x="0" y="355092"/>
                  </a:lnTo>
                  <a:lnTo>
                    <a:pt x="5996939" y="355092"/>
                  </a:lnTo>
                  <a:lnTo>
                    <a:pt x="59969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7584440" y="3498037"/>
            <a:ext cx="29565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Proactive</a:t>
            </a:r>
            <a:r>
              <a:rPr dirty="0" sz="1600" spc="-7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Customer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Management</a:t>
            </a:r>
            <a:endParaRPr sz="1600">
              <a:latin typeface="Corbel"/>
              <a:cs typeface="Corbel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88392" y="3457955"/>
            <a:ext cx="5663565" cy="381000"/>
            <a:chOff x="88392" y="3457955"/>
            <a:chExt cx="5663565" cy="381000"/>
          </a:xfrm>
        </p:grpSpPr>
        <p:pic>
          <p:nvPicPr>
            <p:cNvPr id="55" name="object 5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824" y="3483863"/>
              <a:ext cx="5608320" cy="355092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88392" y="3457955"/>
              <a:ext cx="5663565" cy="355600"/>
            </a:xfrm>
            <a:custGeom>
              <a:avLst/>
              <a:gdLst/>
              <a:ahLst/>
              <a:cxnLst/>
              <a:rect l="l" t="t" r="r" b="b"/>
              <a:pathLst>
                <a:path w="5663565" h="355600">
                  <a:moveTo>
                    <a:pt x="5663184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663184" y="355091"/>
                  </a:lnTo>
                  <a:lnTo>
                    <a:pt x="566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584708" y="3509898"/>
            <a:ext cx="46691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Go-to-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Market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optimized</a:t>
            </a:r>
            <a:r>
              <a:rPr dirty="0" sz="1600" spc="-1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for</a:t>
            </a:r>
            <a:r>
              <a:rPr dirty="0" sz="16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catching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Deals</a:t>
            </a:r>
            <a:r>
              <a:rPr dirty="0" sz="1600" spc="-7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Upstream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284988" y="176784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25450" h="373380">
                <a:moveTo>
                  <a:pt x="212597" y="0"/>
                </a:moveTo>
                <a:lnTo>
                  <a:pt x="163852" y="4929"/>
                </a:lnTo>
                <a:lnTo>
                  <a:pt x="119104" y="18972"/>
                </a:lnTo>
                <a:lnTo>
                  <a:pt x="79630" y="41008"/>
                </a:lnTo>
                <a:lnTo>
                  <a:pt x="46706" y="69917"/>
                </a:lnTo>
                <a:lnTo>
                  <a:pt x="21609" y="104580"/>
                </a:lnTo>
                <a:lnTo>
                  <a:pt x="5615" y="143878"/>
                </a:lnTo>
                <a:lnTo>
                  <a:pt x="0" y="186690"/>
                </a:lnTo>
                <a:lnTo>
                  <a:pt x="5615" y="229501"/>
                </a:lnTo>
                <a:lnTo>
                  <a:pt x="21609" y="268799"/>
                </a:lnTo>
                <a:lnTo>
                  <a:pt x="46706" y="303462"/>
                </a:lnTo>
                <a:lnTo>
                  <a:pt x="79630" y="332371"/>
                </a:lnTo>
                <a:lnTo>
                  <a:pt x="119104" y="354407"/>
                </a:lnTo>
                <a:lnTo>
                  <a:pt x="163852" y="368450"/>
                </a:lnTo>
                <a:lnTo>
                  <a:pt x="212597" y="373380"/>
                </a:lnTo>
                <a:lnTo>
                  <a:pt x="261343" y="368450"/>
                </a:lnTo>
                <a:lnTo>
                  <a:pt x="306091" y="354407"/>
                </a:lnTo>
                <a:lnTo>
                  <a:pt x="345565" y="332371"/>
                </a:lnTo>
                <a:lnTo>
                  <a:pt x="378489" y="303462"/>
                </a:lnTo>
                <a:lnTo>
                  <a:pt x="403586" y="268799"/>
                </a:lnTo>
                <a:lnTo>
                  <a:pt x="419580" y="229501"/>
                </a:lnTo>
                <a:lnTo>
                  <a:pt x="425196" y="186690"/>
                </a:lnTo>
                <a:lnTo>
                  <a:pt x="419580" y="143878"/>
                </a:lnTo>
                <a:lnTo>
                  <a:pt x="403586" y="104580"/>
                </a:lnTo>
                <a:lnTo>
                  <a:pt x="378489" y="69917"/>
                </a:lnTo>
                <a:lnTo>
                  <a:pt x="345565" y="41008"/>
                </a:lnTo>
                <a:lnTo>
                  <a:pt x="306091" y="18972"/>
                </a:lnTo>
                <a:lnTo>
                  <a:pt x="261343" y="4929"/>
                </a:lnTo>
                <a:lnTo>
                  <a:pt x="21259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/>
          <p:nvPr/>
        </p:nvSpPr>
        <p:spPr>
          <a:xfrm>
            <a:off x="407923" y="14820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 i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1106233" y="4869179"/>
            <a:ext cx="2747010" cy="829310"/>
            <a:chOff x="1106233" y="4869179"/>
            <a:chExt cx="2747010" cy="829310"/>
          </a:xfrm>
        </p:grpSpPr>
        <p:pic>
          <p:nvPicPr>
            <p:cNvPr id="61" name="object 6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0952" y="5181599"/>
              <a:ext cx="548640" cy="512063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1520952" y="5181599"/>
              <a:ext cx="548640" cy="512445"/>
            </a:xfrm>
            <a:custGeom>
              <a:avLst/>
              <a:gdLst/>
              <a:ahLst/>
              <a:cxnLst/>
              <a:rect l="l" t="t" r="r" b="b"/>
              <a:pathLst>
                <a:path w="548639" h="512445">
                  <a:moveTo>
                    <a:pt x="0" y="512063"/>
                  </a:moveTo>
                  <a:lnTo>
                    <a:pt x="548640" y="512063"/>
                  </a:lnTo>
                  <a:lnTo>
                    <a:pt x="548640" y="0"/>
                  </a:lnTo>
                  <a:lnTo>
                    <a:pt x="0" y="0"/>
                  </a:lnTo>
                  <a:lnTo>
                    <a:pt x="0" y="512063"/>
                  </a:lnTo>
                  <a:close/>
                </a:path>
              </a:pathLst>
            </a:custGeom>
            <a:ln w="9144">
              <a:solidFill>
                <a:srgbClr val="426E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89503" y="5024627"/>
              <a:ext cx="548640" cy="669036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2889503" y="5024627"/>
              <a:ext cx="548640" cy="669290"/>
            </a:xfrm>
            <a:custGeom>
              <a:avLst/>
              <a:gdLst/>
              <a:ahLst/>
              <a:cxnLst/>
              <a:rect l="l" t="t" r="r" b="b"/>
              <a:pathLst>
                <a:path w="548639" h="669289">
                  <a:moveTo>
                    <a:pt x="0" y="669036"/>
                  </a:moveTo>
                  <a:lnTo>
                    <a:pt x="548640" y="669036"/>
                  </a:lnTo>
                  <a:lnTo>
                    <a:pt x="548640" y="0"/>
                  </a:lnTo>
                  <a:lnTo>
                    <a:pt x="0" y="0"/>
                  </a:lnTo>
                  <a:lnTo>
                    <a:pt x="0" y="669036"/>
                  </a:lnTo>
                  <a:close/>
                </a:path>
              </a:pathLst>
            </a:custGeom>
            <a:ln w="9144">
              <a:solidFill>
                <a:srgbClr val="426E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20952" y="4869179"/>
              <a:ext cx="548640" cy="312419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89503" y="4869179"/>
              <a:ext cx="548640" cy="155448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110996" y="5693663"/>
              <a:ext cx="2737485" cy="0"/>
            </a:xfrm>
            <a:custGeom>
              <a:avLst/>
              <a:gdLst/>
              <a:ahLst/>
              <a:cxnLst/>
              <a:rect l="l" t="t" r="r" b="b"/>
              <a:pathLst>
                <a:path w="2737485" h="0">
                  <a:moveTo>
                    <a:pt x="0" y="0"/>
                  </a:moveTo>
                  <a:lnTo>
                    <a:pt x="2737104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1525524" y="5325871"/>
            <a:ext cx="539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Corbel"/>
                <a:cs typeface="Corbel"/>
              </a:rPr>
              <a:t>62%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2894076" y="5247513"/>
            <a:ext cx="539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Corbel"/>
                <a:cs typeface="Corbel"/>
              </a:rPr>
              <a:t>81%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520952" y="4869179"/>
            <a:ext cx="548640" cy="312420"/>
          </a:xfrm>
          <a:prstGeom prst="rect">
            <a:avLst/>
          </a:prstGeom>
          <a:ln w="9144">
            <a:solidFill>
              <a:srgbClr val="A0A0A0"/>
            </a:solidFill>
          </a:ln>
        </p:spPr>
        <p:txBody>
          <a:bodyPr wrap="square" lIns="0" tIns="56515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445"/>
              </a:spcBef>
            </a:pPr>
            <a:r>
              <a:rPr dirty="0" sz="1200" spc="-25" b="1">
                <a:latin typeface="Corbel"/>
                <a:cs typeface="Corbel"/>
              </a:rPr>
              <a:t>38%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2889504" y="4869179"/>
            <a:ext cx="548640" cy="155575"/>
          </a:xfrm>
          <a:prstGeom prst="rect">
            <a:avLst/>
          </a:prstGeom>
          <a:ln w="9144">
            <a:solidFill>
              <a:srgbClr val="A0A0A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30810">
              <a:lnSpc>
                <a:spcPts val="1225"/>
              </a:lnSpc>
            </a:pPr>
            <a:r>
              <a:rPr dirty="0" sz="1200" spc="-25" b="1">
                <a:latin typeface="Corbel"/>
                <a:cs typeface="Corbel"/>
              </a:rPr>
              <a:t>19%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070863" y="5770575"/>
            <a:ext cx="3423920" cy="380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1975">
              <a:lnSpc>
                <a:spcPts val="1275"/>
              </a:lnSpc>
              <a:spcBef>
                <a:spcPts val="100"/>
              </a:spcBef>
              <a:tabLst>
                <a:tab pos="1925320" algn="l"/>
              </a:tabLst>
            </a:pPr>
            <a:r>
              <a:rPr dirty="0" sz="1200" spc="-20" b="1">
                <a:latin typeface="Corbel"/>
                <a:cs typeface="Corbel"/>
              </a:rPr>
              <a:t>FY17</a:t>
            </a:r>
            <a:r>
              <a:rPr dirty="0" sz="1200" b="1">
                <a:latin typeface="Corbel"/>
                <a:cs typeface="Corbel"/>
              </a:rPr>
              <a:t>	</a:t>
            </a:r>
            <a:r>
              <a:rPr dirty="0" sz="1200" spc="-20" b="1">
                <a:latin typeface="Corbel"/>
                <a:cs typeface="Corbel"/>
              </a:rPr>
              <a:t>FY18</a:t>
            </a:r>
            <a:endParaRPr sz="1200">
              <a:latin typeface="Corbel"/>
              <a:cs typeface="Corbel"/>
            </a:endParaRPr>
          </a:p>
          <a:p>
            <a:pPr marL="12700">
              <a:lnSpc>
                <a:spcPts val="1515"/>
              </a:lnSpc>
            </a:pPr>
            <a:r>
              <a:rPr dirty="0" sz="1400" i="1">
                <a:solidFill>
                  <a:srgbClr val="2A2F3B"/>
                </a:solidFill>
                <a:latin typeface="Corbel"/>
                <a:cs typeface="Corbel"/>
              </a:rPr>
              <a:t>Majority</a:t>
            </a:r>
            <a:r>
              <a:rPr dirty="0" sz="1400" spc="-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i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400" spc="-2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 i="1">
                <a:solidFill>
                  <a:srgbClr val="2A2F3B"/>
                </a:solidFill>
                <a:latin typeface="Corbel"/>
                <a:cs typeface="Corbel"/>
              </a:rPr>
              <a:t>proactive</a:t>
            </a:r>
            <a:r>
              <a:rPr dirty="0" sz="1400" spc="-3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i="1">
                <a:solidFill>
                  <a:srgbClr val="2A2F3B"/>
                </a:solidFill>
                <a:latin typeface="Corbel"/>
                <a:cs typeface="Corbel"/>
              </a:rPr>
              <a:t>wins</a:t>
            </a:r>
            <a:r>
              <a:rPr dirty="0" sz="1400" spc="-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i="1">
                <a:solidFill>
                  <a:srgbClr val="2A2F3B"/>
                </a:solidFill>
                <a:latin typeface="Corbel"/>
                <a:cs typeface="Corbel"/>
              </a:rPr>
              <a:t>are</a:t>
            </a:r>
            <a:r>
              <a:rPr dirty="0" sz="1400" spc="-1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i="1">
                <a:solidFill>
                  <a:srgbClr val="2A2F3B"/>
                </a:solidFill>
                <a:latin typeface="Corbel"/>
                <a:cs typeface="Corbel"/>
              </a:rPr>
              <a:t>in</a:t>
            </a:r>
            <a:r>
              <a:rPr dirty="0" sz="1400" spc="-2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 i="1">
                <a:solidFill>
                  <a:srgbClr val="2A2F3B"/>
                </a:solidFill>
                <a:latin typeface="Corbel"/>
                <a:cs typeface="Corbel"/>
              </a:rPr>
              <a:t>New-</a:t>
            </a:r>
            <a:r>
              <a:rPr dirty="0" sz="1400" i="1">
                <a:solidFill>
                  <a:srgbClr val="2A2F3B"/>
                </a:solidFill>
                <a:latin typeface="Corbel"/>
                <a:cs typeface="Corbel"/>
              </a:rPr>
              <a:t>Gen</a:t>
            </a:r>
            <a:r>
              <a:rPr dirty="0" sz="1400" spc="-2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 i="1">
                <a:solidFill>
                  <a:srgbClr val="2A2F3B"/>
                </a:solidFill>
                <a:latin typeface="Corbel"/>
                <a:cs typeface="Corbel"/>
              </a:rPr>
              <a:t>areas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4006596" y="5027676"/>
            <a:ext cx="93345" cy="342900"/>
            <a:chOff x="4006596" y="5027676"/>
            <a:chExt cx="93345" cy="342900"/>
          </a:xfrm>
        </p:grpSpPr>
        <p:pic>
          <p:nvPicPr>
            <p:cNvPr id="74" name="object 7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11168" y="5032248"/>
              <a:ext cx="83820" cy="83819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4011168" y="5032248"/>
              <a:ext cx="83820" cy="83820"/>
            </a:xfrm>
            <a:custGeom>
              <a:avLst/>
              <a:gdLst/>
              <a:ahLst/>
              <a:cxnLst/>
              <a:rect l="l" t="t" r="r" b="b"/>
              <a:pathLst>
                <a:path w="83820" h="83820">
                  <a:moveTo>
                    <a:pt x="0" y="83819"/>
                  </a:moveTo>
                  <a:lnTo>
                    <a:pt x="83820" y="83819"/>
                  </a:lnTo>
                  <a:lnTo>
                    <a:pt x="83820" y="0"/>
                  </a:lnTo>
                  <a:lnTo>
                    <a:pt x="0" y="0"/>
                  </a:lnTo>
                  <a:lnTo>
                    <a:pt x="0" y="83819"/>
                  </a:lnTo>
                  <a:close/>
                </a:path>
              </a:pathLst>
            </a:custGeom>
            <a:ln w="9143">
              <a:solidFill>
                <a:srgbClr val="A0A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11168" y="5283708"/>
              <a:ext cx="83820" cy="82296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4011168" y="5283708"/>
              <a:ext cx="83820" cy="82550"/>
            </a:xfrm>
            <a:custGeom>
              <a:avLst/>
              <a:gdLst/>
              <a:ahLst/>
              <a:cxnLst/>
              <a:rect l="l" t="t" r="r" b="b"/>
              <a:pathLst>
                <a:path w="83820" h="82550">
                  <a:moveTo>
                    <a:pt x="0" y="82296"/>
                  </a:moveTo>
                  <a:lnTo>
                    <a:pt x="83820" y="82296"/>
                  </a:lnTo>
                  <a:lnTo>
                    <a:pt x="83820" y="0"/>
                  </a:ln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ln w="9144">
              <a:solidFill>
                <a:srgbClr val="426E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 txBox="1"/>
          <p:nvPr/>
        </p:nvSpPr>
        <p:spPr>
          <a:xfrm>
            <a:off x="4120134" y="4885816"/>
            <a:ext cx="746760" cy="527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7200"/>
              </a:lnSpc>
              <a:spcBef>
                <a:spcPts val="100"/>
              </a:spcBef>
            </a:pPr>
            <a:r>
              <a:rPr dirty="0" sz="1200" spc="-10" b="1">
                <a:latin typeface="Corbel"/>
                <a:cs typeface="Corbel"/>
              </a:rPr>
              <a:t>Traditional </a:t>
            </a:r>
            <a:r>
              <a:rPr dirty="0" sz="1200" b="1">
                <a:latin typeface="Corbel"/>
                <a:cs typeface="Corbel"/>
              </a:rPr>
              <a:t>New</a:t>
            </a:r>
            <a:r>
              <a:rPr dirty="0" sz="1200" spc="-35" b="1">
                <a:latin typeface="Corbel"/>
                <a:cs typeface="Corbel"/>
              </a:rPr>
              <a:t> </a:t>
            </a:r>
            <a:r>
              <a:rPr dirty="0" sz="1200" spc="-25" b="1">
                <a:latin typeface="Corbel"/>
                <a:cs typeface="Corbel"/>
              </a:rPr>
              <a:t>Gen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79" name="object 7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80" name="object 8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80820">
              <a:lnSpc>
                <a:spcPct val="100000"/>
              </a:lnSpc>
              <a:spcBef>
                <a:spcPts val="100"/>
              </a:spcBef>
            </a:pPr>
            <a:r>
              <a:rPr dirty="0" u="none" spc="-10"/>
              <a:t>Accelerate</a:t>
            </a:r>
            <a:r>
              <a:rPr dirty="0" u="none" spc="-75"/>
              <a:t> </a:t>
            </a:r>
            <a:r>
              <a:rPr dirty="0" u="none"/>
              <a:t>Direct</a:t>
            </a:r>
            <a:r>
              <a:rPr dirty="0" u="none" spc="-40"/>
              <a:t> </a:t>
            </a:r>
            <a:r>
              <a:rPr dirty="0"/>
              <a:t>Core</a:t>
            </a:r>
            <a:r>
              <a:rPr dirty="0" spc="-45"/>
              <a:t> </a:t>
            </a:r>
            <a:r>
              <a:rPr dirty="0"/>
              <a:t>:</a:t>
            </a:r>
            <a:r>
              <a:rPr dirty="0" spc="-25"/>
              <a:t> </a:t>
            </a:r>
            <a:r>
              <a:rPr dirty="0"/>
              <a:t>Focused</a:t>
            </a:r>
            <a:r>
              <a:rPr dirty="0" spc="-60"/>
              <a:t> </a:t>
            </a:r>
            <a:r>
              <a:rPr dirty="0" spc="-35"/>
              <a:t>Strategy</a:t>
            </a:r>
            <a:r>
              <a:rPr dirty="0" spc="-145"/>
              <a:t> </a:t>
            </a:r>
            <a:r>
              <a:rPr dirty="0" u="none"/>
              <a:t>for</a:t>
            </a:r>
            <a:r>
              <a:rPr dirty="0" u="none" spc="-35"/>
              <a:t> </a:t>
            </a:r>
            <a:r>
              <a:rPr dirty="0" u="none"/>
              <a:t>New</a:t>
            </a:r>
            <a:r>
              <a:rPr dirty="0" u="none" spc="-45"/>
              <a:t> </a:t>
            </a:r>
            <a:r>
              <a:rPr dirty="0" u="none"/>
              <a:t>Logo</a:t>
            </a:r>
            <a:r>
              <a:rPr dirty="0" u="none" spc="-65"/>
              <a:t> </a:t>
            </a:r>
            <a:r>
              <a:rPr dirty="0" u="none" spc="-20"/>
              <a:t>Wins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641092" y="982980"/>
            <a:ext cx="8618220" cy="4113529"/>
            <a:chOff x="2641092" y="982980"/>
            <a:chExt cx="8618220" cy="4113529"/>
          </a:xfrm>
        </p:grpSpPr>
        <p:sp>
          <p:nvSpPr>
            <p:cNvPr id="4" name="object 4" descr=""/>
            <p:cNvSpPr/>
            <p:nvPr/>
          </p:nvSpPr>
          <p:spPr>
            <a:xfrm>
              <a:off x="2641092" y="982980"/>
              <a:ext cx="8618220" cy="4113529"/>
            </a:xfrm>
            <a:custGeom>
              <a:avLst/>
              <a:gdLst/>
              <a:ahLst/>
              <a:cxnLst/>
              <a:rect l="l" t="t" r="r" b="b"/>
              <a:pathLst>
                <a:path w="8618220" h="4113529">
                  <a:moveTo>
                    <a:pt x="8206866" y="0"/>
                  </a:moveTo>
                  <a:lnTo>
                    <a:pt x="411352" y="0"/>
                  </a:lnTo>
                  <a:lnTo>
                    <a:pt x="363377" y="2767"/>
                  </a:lnTo>
                  <a:lnTo>
                    <a:pt x="317027" y="10863"/>
                  </a:lnTo>
                  <a:lnTo>
                    <a:pt x="272613" y="23979"/>
                  </a:lnTo>
                  <a:lnTo>
                    <a:pt x="230442" y="41807"/>
                  </a:lnTo>
                  <a:lnTo>
                    <a:pt x="190823" y="64038"/>
                  </a:lnTo>
                  <a:lnTo>
                    <a:pt x="154064" y="90363"/>
                  </a:lnTo>
                  <a:lnTo>
                    <a:pt x="120475" y="120475"/>
                  </a:lnTo>
                  <a:lnTo>
                    <a:pt x="90363" y="154064"/>
                  </a:lnTo>
                  <a:lnTo>
                    <a:pt x="64038" y="190823"/>
                  </a:lnTo>
                  <a:lnTo>
                    <a:pt x="41807" y="230442"/>
                  </a:lnTo>
                  <a:lnTo>
                    <a:pt x="23979" y="272613"/>
                  </a:lnTo>
                  <a:lnTo>
                    <a:pt x="10863" y="317027"/>
                  </a:lnTo>
                  <a:lnTo>
                    <a:pt x="2767" y="363377"/>
                  </a:lnTo>
                  <a:lnTo>
                    <a:pt x="0" y="411353"/>
                  </a:lnTo>
                  <a:lnTo>
                    <a:pt x="0" y="3701923"/>
                  </a:lnTo>
                  <a:lnTo>
                    <a:pt x="2767" y="3749898"/>
                  </a:lnTo>
                  <a:lnTo>
                    <a:pt x="10863" y="3796248"/>
                  </a:lnTo>
                  <a:lnTo>
                    <a:pt x="23979" y="3840662"/>
                  </a:lnTo>
                  <a:lnTo>
                    <a:pt x="41807" y="3882833"/>
                  </a:lnTo>
                  <a:lnTo>
                    <a:pt x="64038" y="3922452"/>
                  </a:lnTo>
                  <a:lnTo>
                    <a:pt x="90363" y="3959211"/>
                  </a:lnTo>
                  <a:lnTo>
                    <a:pt x="120475" y="3992800"/>
                  </a:lnTo>
                  <a:lnTo>
                    <a:pt x="154064" y="4022912"/>
                  </a:lnTo>
                  <a:lnTo>
                    <a:pt x="190823" y="4049237"/>
                  </a:lnTo>
                  <a:lnTo>
                    <a:pt x="230442" y="4071468"/>
                  </a:lnTo>
                  <a:lnTo>
                    <a:pt x="272613" y="4089296"/>
                  </a:lnTo>
                  <a:lnTo>
                    <a:pt x="317027" y="4102412"/>
                  </a:lnTo>
                  <a:lnTo>
                    <a:pt x="363377" y="4110508"/>
                  </a:lnTo>
                  <a:lnTo>
                    <a:pt x="411352" y="4113276"/>
                  </a:lnTo>
                  <a:lnTo>
                    <a:pt x="8206866" y="4113276"/>
                  </a:lnTo>
                  <a:lnTo>
                    <a:pt x="8254842" y="4110508"/>
                  </a:lnTo>
                  <a:lnTo>
                    <a:pt x="8301192" y="4102412"/>
                  </a:lnTo>
                  <a:lnTo>
                    <a:pt x="8345606" y="4089296"/>
                  </a:lnTo>
                  <a:lnTo>
                    <a:pt x="8387777" y="4071468"/>
                  </a:lnTo>
                  <a:lnTo>
                    <a:pt x="8427396" y="4049237"/>
                  </a:lnTo>
                  <a:lnTo>
                    <a:pt x="8464155" y="4022912"/>
                  </a:lnTo>
                  <a:lnTo>
                    <a:pt x="8497744" y="3992800"/>
                  </a:lnTo>
                  <a:lnTo>
                    <a:pt x="8527856" y="3959211"/>
                  </a:lnTo>
                  <a:lnTo>
                    <a:pt x="8554181" y="3922452"/>
                  </a:lnTo>
                  <a:lnTo>
                    <a:pt x="8576412" y="3882833"/>
                  </a:lnTo>
                  <a:lnTo>
                    <a:pt x="8594240" y="3840662"/>
                  </a:lnTo>
                  <a:lnTo>
                    <a:pt x="8607356" y="3796248"/>
                  </a:lnTo>
                  <a:lnTo>
                    <a:pt x="8615452" y="3749898"/>
                  </a:lnTo>
                  <a:lnTo>
                    <a:pt x="8618219" y="3701923"/>
                  </a:lnTo>
                  <a:lnTo>
                    <a:pt x="8618219" y="411353"/>
                  </a:lnTo>
                  <a:lnTo>
                    <a:pt x="8615452" y="363377"/>
                  </a:lnTo>
                  <a:lnTo>
                    <a:pt x="8607356" y="317027"/>
                  </a:lnTo>
                  <a:lnTo>
                    <a:pt x="8594240" y="272613"/>
                  </a:lnTo>
                  <a:lnTo>
                    <a:pt x="8576412" y="230442"/>
                  </a:lnTo>
                  <a:lnTo>
                    <a:pt x="8554181" y="190823"/>
                  </a:lnTo>
                  <a:lnTo>
                    <a:pt x="8527856" y="154064"/>
                  </a:lnTo>
                  <a:lnTo>
                    <a:pt x="8497744" y="120475"/>
                  </a:lnTo>
                  <a:lnTo>
                    <a:pt x="8464155" y="90363"/>
                  </a:lnTo>
                  <a:lnTo>
                    <a:pt x="8427396" y="64038"/>
                  </a:lnTo>
                  <a:lnTo>
                    <a:pt x="8387777" y="41807"/>
                  </a:lnTo>
                  <a:lnTo>
                    <a:pt x="8345606" y="23979"/>
                  </a:lnTo>
                  <a:lnTo>
                    <a:pt x="8301192" y="10863"/>
                  </a:lnTo>
                  <a:lnTo>
                    <a:pt x="8254842" y="2767"/>
                  </a:lnTo>
                  <a:lnTo>
                    <a:pt x="8206866" y="0"/>
                  </a:lnTo>
                  <a:close/>
                </a:path>
              </a:pathLst>
            </a:custGeom>
            <a:solidFill>
              <a:srgbClr val="DEF3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49880" y="3461003"/>
              <a:ext cx="8168640" cy="276225"/>
            </a:xfrm>
            <a:custGeom>
              <a:avLst/>
              <a:gdLst/>
              <a:ahLst/>
              <a:cxnLst/>
              <a:rect l="l" t="t" r="r" b="b"/>
              <a:pathLst>
                <a:path w="8168640" h="276225">
                  <a:moveTo>
                    <a:pt x="8141081" y="0"/>
                  </a:moveTo>
                  <a:lnTo>
                    <a:pt x="27558" y="0"/>
                  </a:lnTo>
                  <a:lnTo>
                    <a:pt x="16823" y="2162"/>
                  </a:lnTo>
                  <a:lnTo>
                    <a:pt x="8064" y="8064"/>
                  </a:lnTo>
                  <a:lnTo>
                    <a:pt x="2162" y="16823"/>
                  </a:lnTo>
                  <a:lnTo>
                    <a:pt x="0" y="27559"/>
                  </a:lnTo>
                  <a:lnTo>
                    <a:pt x="0" y="248285"/>
                  </a:lnTo>
                  <a:lnTo>
                    <a:pt x="2162" y="259020"/>
                  </a:lnTo>
                  <a:lnTo>
                    <a:pt x="8064" y="267779"/>
                  </a:lnTo>
                  <a:lnTo>
                    <a:pt x="16823" y="273681"/>
                  </a:lnTo>
                  <a:lnTo>
                    <a:pt x="27558" y="275844"/>
                  </a:lnTo>
                  <a:lnTo>
                    <a:pt x="8141081" y="275844"/>
                  </a:lnTo>
                  <a:lnTo>
                    <a:pt x="8151816" y="273681"/>
                  </a:lnTo>
                  <a:lnTo>
                    <a:pt x="8160575" y="267779"/>
                  </a:lnTo>
                  <a:lnTo>
                    <a:pt x="8166477" y="259020"/>
                  </a:lnTo>
                  <a:lnTo>
                    <a:pt x="8168640" y="248285"/>
                  </a:lnTo>
                  <a:lnTo>
                    <a:pt x="8168640" y="27559"/>
                  </a:lnTo>
                  <a:lnTo>
                    <a:pt x="8166477" y="16823"/>
                  </a:lnTo>
                  <a:lnTo>
                    <a:pt x="8160575" y="8064"/>
                  </a:lnTo>
                  <a:lnTo>
                    <a:pt x="8151816" y="2162"/>
                  </a:lnTo>
                  <a:lnTo>
                    <a:pt x="8141081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849880" y="3461003"/>
              <a:ext cx="8168640" cy="276225"/>
            </a:xfrm>
            <a:custGeom>
              <a:avLst/>
              <a:gdLst/>
              <a:ahLst/>
              <a:cxnLst/>
              <a:rect l="l" t="t" r="r" b="b"/>
              <a:pathLst>
                <a:path w="8168640" h="276225">
                  <a:moveTo>
                    <a:pt x="0" y="27559"/>
                  </a:moveTo>
                  <a:lnTo>
                    <a:pt x="2162" y="16823"/>
                  </a:lnTo>
                  <a:lnTo>
                    <a:pt x="8064" y="8064"/>
                  </a:lnTo>
                  <a:lnTo>
                    <a:pt x="16823" y="2162"/>
                  </a:lnTo>
                  <a:lnTo>
                    <a:pt x="27558" y="0"/>
                  </a:lnTo>
                  <a:lnTo>
                    <a:pt x="8141081" y="0"/>
                  </a:lnTo>
                  <a:lnTo>
                    <a:pt x="8151816" y="2162"/>
                  </a:lnTo>
                  <a:lnTo>
                    <a:pt x="8160575" y="8064"/>
                  </a:lnTo>
                  <a:lnTo>
                    <a:pt x="8166477" y="16823"/>
                  </a:lnTo>
                  <a:lnTo>
                    <a:pt x="8168640" y="27559"/>
                  </a:lnTo>
                  <a:lnTo>
                    <a:pt x="8168640" y="248285"/>
                  </a:lnTo>
                  <a:lnTo>
                    <a:pt x="8166477" y="259020"/>
                  </a:lnTo>
                  <a:lnTo>
                    <a:pt x="8160575" y="267779"/>
                  </a:lnTo>
                  <a:lnTo>
                    <a:pt x="8151816" y="273681"/>
                  </a:lnTo>
                  <a:lnTo>
                    <a:pt x="8141081" y="275844"/>
                  </a:lnTo>
                  <a:lnTo>
                    <a:pt x="27558" y="275844"/>
                  </a:lnTo>
                  <a:lnTo>
                    <a:pt x="16823" y="273681"/>
                  </a:lnTo>
                  <a:lnTo>
                    <a:pt x="8064" y="267779"/>
                  </a:lnTo>
                  <a:lnTo>
                    <a:pt x="2162" y="259020"/>
                  </a:lnTo>
                  <a:lnTo>
                    <a:pt x="0" y="248285"/>
                  </a:lnTo>
                  <a:lnTo>
                    <a:pt x="0" y="2755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778500" y="3442208"/>
            <a:ext cx="23094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orbel"/>
                <a:cs typeface="Corbel"/>
              </a:rPr>
              <a:t>Digital</a:t>
            </a:r>
            <a:r>
              <a:rPr dirty="0" sz="1600" spc="-90">
                <a:latin typeface="Corbel"/>
                <a:cs typeface="Corbel"/>
              </a:rPr>
              <a:t> </a:t>
            </a:r>
            <a:r>
              <a:rPr dirty="0" sz="1600" spc="-20">
                <a:latin typeface="Corbel"/>
                <a:cs typeface="Corbel"/>
              </a:rPr>
              <a:t>Technology</a:t>
            </a:r>
            <a:r>
              <a:rPr dirty="0" sz="1600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Services</a:t>
            </a:r>
            <a:endParaRPr sz="1600">
              <a:latin typeface="Corbel"/>
              <a:cs typeface="Corbe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848101" y="3846321"/>
            <a:ext cx="8181340" cy="290195"/>
            <a:chOff x="2848101" y="3846321"/>
            <a:chExt cx="8181340" cy="290195"/>
          </a:xfrm>
        </p:grpSpPr>
        <p:sp>
          <p:nvSpPr>
            <p:cNvPr id="9" name="object 9" descr=""/>
            <p:cNvSpPr/>
            <p:nvPr/>
          </p:nvSpPr>
          <p:spPr>
            <a:xfrm>
              <a:off x="2854451" y="3852671"/>
              <a:ext cx="8168640" cy="277495"/>
            </a:xfrm>
            <a:custGeom>
              <a:avLst/>
              <a:gdLst/>
              <a:ahLst/>
              <a:cxnLst/>
              <a:rect l="l" t="t" r="r" b="b"/>
              <a:pathLst>
                <a:path w="8168640" h="277495">
                  <a:moveTo>
                    <a:pt x="8140954" y="0"/>
                  </a:moveTo>
                  <a:lnTo>
                    <a:pt x="27686" y="0"/>
                  </a:lnTo>
                  <a:lnTo>
                    <a:pt x="16930" y="2182"/>
                  </a:lnTo>
                  <a:lnTo>
                    <a:pt x="8128" y="8128"/>
                  </a:lnTo>
                  <a:lnTo>
                    <a:pt x="2182" y="16930"/>
                  </a:lnTo>
                  <a:lnTo>
                    <a:pt x="0" y="27685"/>
                  </a:lnTo>
                  <a:lnTo>
                    <a:pt x="0" y="249681"/>
                  </a:lnTo>
                  <a:lnTo>
                    <a:pt x="2182" y="260437"/>
                  </a:lnTo>
                  <a:lnTo>
                    <a:pt x="8128" y="269239"/>
                  </a:lnTo>
                  <a:lnTo>
                    <a:pt x="16930" y="275185"/>
                  </a:lnTo>
                  <a:lnTo>
                    <a:pt x="27686" y="277367"/>
                  </a:lnTo>
                  <a:lnTo>
                    <a:pt x="8140954" y="277367"/>
                  </a:lnTo>
                  <a:lnTo>
                    <a:pt x="8151709" y="275185"/>
                  </a:lnTo>
                  <a:lnTo>
                    <a:pt x="8160512" y="269239"/>
                  </a:lnTo>
                  <a:lnTo>
                    <a:pt x="8166457" y="260437"/>
                  </a:lnTo>
                  <a:lnTo>
                    <a:pt x="8168640" y="249681"/>
                  </a:lnTo>
                  <a:lnTo>
                    <a:pt x="8168640" y="27685"/>
                  </a:lnTo>
                  <a:lnTo>
                    <a:pt x="8166457" y="16930"/>
                  </a:lnTo>
                  <a:lnTo>
                    <a:pt x="8160512" y="8127"/>
                  </a:lnTo>
                  <a:lnTo>
                    <a:pt x="8151709" y="2182"/>
                  </a:lnTo>
                  <a:lnTo>
                    <a:pt x="814095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854451" y="3852671"/>
              <a:ext cx="8168640" cy="277495"/>
            </a:xfrm>
            <a:custGeom>
              <a:avLst/>
              <a:gdLst/>
              <a:ahLst/>
              <a:cxnLst/>
              <a:rect l="l" t="t" r="r" b="b"/>
              <a:pathLst>
                <a:path w="8168640" h="277495">
                  <a:moveTo>
                    <a:pt x="0" y="27685"/>
                  </a:moveTo>
                  <a:lnTo>
                    <a:pt x="2182" y="16930"/>
                  </a:lnTo>
                  <a:lnTo>
                    <a:pt x="8128" y="8128"/>
                  </a:lnTo>
                  <a:lnTo>
                    <a:pt x="16930" y="2182"/>
                  </a:lnTo>
                  <a:lnTo>
                    <a:pt x="27686" y="0"/>
                  </a:lnTo>
                  <a:lnTo>
                    <a:pt x="8140954" y="0"/>
                  </a:lnTo>
                  <a:lnTo>
                    <a:pt x="8151709" y="2182"/>
                  </a:lnTo>
                  <a:lnTo>
                    <a:pt x="8160512" y="8127"/>
                  </a:lnTo>
                  <a:lnTo>
                    <a:pt x="8166457" y="16930"/>
                  </a:lnTo>
                  <a:lnTo>
                    <a:pt x="8168640" y="27685"/>
                  </a:lnTo>
                  <a:lnTo>
                    <a:pt x="8168640" y="249681"/>
                  </a:lnTo>
                  <a:lnTo>
                    <a:pt x="8166457" y="260437"/>
                  </a:lnTo>
                  <a:lnTo>
                    <a:pt x="8160512" y="269239"/>
                  </a:lnTo>
                  <a:lnTo>
                    <a:pt x="8151709" y="275185"/>
                  </a:lnTo>
                  <a:lnTo>
                    <a:pt x="8140954" y="277367"/>
                  </a:lnTo>
                  <a:lnTo>
                    <a:pt x="27686" y="277367"/>
                  </a:lnTo>
                  <a:lnTo>
                    <a:pt x="16930" y="275185"/>
                  </a:lnTo>
                  <a:lnTo>
                    <a:pt x="8128" y="269239"/>
                  </a:lnTo>
                  <a:lnTo>
                    <a:pt x="2182" y="260437"/>
                  </a:lnTo>
                  <a:lnTo>
                    <a:pt x="0" y="249681"/>
                  </a:lnTo>
                  <a:lnTo>
                    <a:pt x="0" y="27685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038600" y="3835146"/>
            <a:ext cx="58280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orbel"/>
                <a:cs typeface="Corbel"/>
              </a:rPr>
              <a:t>Automation</a:t>
            </a:r>
            <a:r>
              <a:rPr dirty="0" sz="1600" spc="-15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Led</a:t>
            </a:r>
            <a:r>
              <a:rPr dirty="0" sz="1600" spc="-70">
                <a:latin typeface="Corbel"/>
                <a:cs typeface="Corbel"/>
              </a:rPr>
              <a:t> </a:t>
            </a:r>
            <a:r>
              <a:rPr dirty="0" sz="1600" spc="-20">
                <a:latin typeface="Corbel"/>
                <a:cs typeface="Corbel"/>
              </a:rPr>
              <a:t>Ops</a:t>
            </a:r>
            <a:r>
              <a:rPr dirty="0" sz="1600" spc="-105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Transformation</a:t>
            </a:r>
            <a:endParaRPr sz="1600">
              <a:latin typeface="Corbel"/>
              <a:cs typeface="Corbe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848101" y="4233417"/>
            <a:ext cx="8181340" cy="290195"/>
            <a:chOff x="2848101" y="4233417"/>
            <a:chExt cx="8181340" cy="290195"/>
          </a:xfrm>
        </p:grpSpPr>
        <p:sp>
          <p:nvSpPr>
            <p:cNvPr id="13" name="object 13" descr=""/>
            <p:cNvSpPr/>
            <p:nvPr/>
          </p:nvSpPr>
          <p:spPr>
            <a:xfrm>
              <a:off x="2854451" y="4239767"/>
              <a:ext cx="8168640" cy="277495"/>
            </a:xfrm>
            <a:custGeom>
              <a:avLst/>
              <a:gdLst/>
              <a:ahLst/>
              <a:cxnLst/>
              <a:rect l="l" t="t" r="r" b="b"/>
              <a:pathLst>
                <a:path w="8168640" h="277495">
                  <a:moveTo>
                    <a:pt x="8140954" y="0"/>
                  </a:moveTo>
                  <a:lnTo>
                    <a:pt x="27686" y="0"/>
                  </a:lnTo>
                  <a:lnTo>
                    <a:pt x="16930" y="2182"/>
                  </a:lnTo>
                  <a:lnTo>
                    <a:pt x="8128" y="8127"/>
                  </a:lnTo>
                  <a:lnTo>
                    <a:pt x="2182" y="16930"/>
                  </a:lnTo>
                  <a:lnTo>
                    <a:pt x="0" y="27685"/>
                  </a:lnTo>
                  <a:lnTo>
                    <a:pt x="0" y="249681"/>
                  </a:lnTo>
                  <a:lnTo>
                    <a:pt x="2182" y="260437"/>
                  </a:lnTo>
                  <a:lnTo>
                    <a:pt x="8128" y="269239"/>
                  </a:lnTo>
                  <a:lnTo>
                    <a:pt x="16930" y="275185"/>
                  </a:lnTo>
                  <a:lnTo>
                    <a:pt x="27686" y="277367"/>
                  </a:lnTo>
                  <a:lnTo>
                    <a:pt x="8140954" y="277367"/>
                  </a:lnTo>
                  <a:lnTo>
                    <a:pt x="8151709" y="275185"/>
                  </a:lnTo>
                  <a:lnTo>
                    <a:pt x="8160512" y="269239"/>
                  </a:lnTo>
                  <a:lnTo>
                    <a:pt x="8166457" y="260437"/>
                  </a:lnTo>
                  <a:lnTo>
                    <a:pt x="8168640" y="249681"/>
                  </a:lnTo>
                  <a:lnTo>
                    <a:pt x="8168640" y="27685"/>
                  </a:lnTo>
                  <a:lnTo>
                    <a:pt x="8166457" y="16930"/>
                  </a:lnTo>
                  <a:lnTo>
                    <a:pt x="8160512" y="8127"/>
                  </a:lnTo>
                  <a:lnTo>
                    <a:pt x="8151709" y="2182"/>
                  </a:lnTo>
                  <a:lnTo>
                    <a:pt x="814095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854451" y="4239767"/>
              <a:ext cx="8168640" cy="277495"/>
            </a:xfrm>
            <a:custGeom>
              <a:avLst/>
              <a:gdLst/>
              <a:ahLst/>
              <a:cxnLst/>
              <a:rect l="l" t="t" r="r" b="b"/>
              <a:pathLst>
                <a:path w="8168640" h="277495">
                  <a:moveTo>
                    <a:pt x="0" y="27685"/>
                  </a:moveTo>
                  <a:lnTo>
                    <a:pt x="2182" y="16930"/>
                  </a:lnTo>
                  <a:lnTo>
                    <a:pt x="8128" y="8127"/>
                  </a:lnTo>
                  <a:lnTo>
                    <a:pt x="16930" y="2182"/>
                  </a:lnTo>
                  <a:lnTo>
                    <a:pt x="27686" y="0"/>
                  </a:lnTo>
                  <a:lnTo>
                    <a:pt x="8140954" y="0"/>
                  </a:lnTo>
                  <a:lnTo>
                    <a:pt x="8151709" y="2182"/>
                  </a:lnTo>
                  <a:lnTo>
                    <a:pt x="8160512" y="8127"/>
                  </a:lnTo>
                  <a:lnTo>
                    <a:pt x="8166457" y="16930"/>
                  </a:lnTo>
                  <a:lnTo>
                    <a:pt x="8168640" y="27685"/>
                  </a:lnTo>
                  <a:lnTo>
                    <a:pt x="8168640" y="249681"/>
                  </a:lnTo>
                  <a:lnTo>
                    <a:pt x="8166457" y="260437"/>
                  </a:lnTo>
                  <a:lnTo>
                    <a:pt x="8160512" y="269239"/>
                  </a:lnTo>
                  <a:lnTo>
                    <a:pt x="8151709" y="275185"/>
                  </a:lnTo>
                  <a:lnTo>
                    <a:pt x="8140954" y="277367"/>
                  </a:lnTo>
                  <a:lnTo>
                    <a:pt x="27686" y="277367"/>
                  </a:lnTo>
                  <a:lnTo>
                    <a:pt x="16930" y="275185"/>
                  </a:lnTo>
                  <a:lnTo>
                    <a:pt x="8128" y="269239"/>
                  </a:lnTo>
                  <a:lnTo>
                    <a:pt x="2182" y="260437"/>
                  </a:lnTo>
                  <a:lnTo>
                    <a:pt x="0" y="249681"/>
                  </a:lnTo>
                  <a:lnTo>
                    <a:pt x="0" y="27685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038600" y="4222241"/>
            <a:ext cx="58280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159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orbel"/>
                <a:cs typeface="Corbel"/>
              </a:rPr>
              <a:t>Classic</a:t>
            </a:r>
            <a:r>
              <a:rPr dirty="0" sz="1600" spc="-50">
                <a:latin typeface="Corbel"/>
                <a:cs typeface="Corbel"/>
              </a:rPr>
              <a:t> </a:t>
            </a:r>
            <a:r>
              <a:rPr dirty="0" sz="1600" spc="-20">
                <a:latin typeface="Corbel"/>
                <a:cs typeface="Corbel"/>
              </a:rPr>
              <a:t>AMS</a:t>
            </a:r>
            <a:r>
              <a:rPr dirty="0" sz="1600" spc="-95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Transformation</a:t>
            </a:r>
            <a:endParaRPr sz="1600">
              <a:latin typeface="Corbel"/>
              <a:cs typeface="Corbe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848101" y="4635753"/>
            <a:ext cx="8181340" cy="290195"/>
            <a:chOff x="2848101" y="4635753"/>
            <a:chExt cx="8181340" cy="290195"/>
          </a:xfrm>
        </p:grpSpPr>
        <p:sp>
          <p:nvSpPr>
            <p:cNvPr id="17" name="object 17" descr=""/>
            <p:cNvSpPr/>
            <p:nvPr/>
          </p:nvSpPr>
          <p:spPr>
            <a:xfrm>
              <a:off x="2854451" y="4642103"/>
              <a:ext cx="8168640" cy="277495"/>
            </a:xfrm>
            <a:custGeom>
              <a:avLst/>
              <a:gdLst/>
              <a:ahLst/>
              <a:cxnLst/>
              <a:rect l="l" t="t" r="r" b="b"/>
              <a:pathLst>
                <a:path w="8168640" h="277495">
                  <a:moveTo>
                    <a:pt x="8140954" y="0"/>
                  </a:moveTo>
                  <a:lnTo>
                    <a:pt x="27686" y="0"/>
                  </a:lnTo>
                  <a:lnTo>
                    <a:pt x="16930" y="2182"/>
                  </a:lnTo>
                  <a:lnTo>
                    <a:pt x="8128" y="8128"/>
                  </a:lnTo>
                  <a:lnTo>
                    <a:pt x="2182" y="16930"/>
                  </a:lnTo>
                  <a:lnTo>
                    <a:pt x="0" y="27686"/>
                  </a:lnTo>
                  <a:lnTo>
                    <a:pt x="0" y="249682"/>
                  </a:lnTo>
                  <a:lnTo>
                    <a:pt x="2182" y="260437"/>
                  </a:lnTo>
                  <a:lnTo>
                    <a:pt x="8128" y="269240"/>
                  </a:lnTo>
                  <a:lnTo>
                    <a:pt x="16930" y="275185"/>
                  </a:lnTo>
                  <a:lnTo>
                    <a:pt x="27686" y="277368"/>
                  </a:lnTo>
                  <a:lnTo>
                    <a:pt x="8140954" y="277368"/>
                  </a:lnTo>
                  <a:lnTo>
                    <a:pt x="8151709" y="275185"/>
                  </a:lnTo>
                  <a:lnTo>
                    <a:pt x="8160512" y="269240"/>
                  </a:lnTo>
                  <a:lnTo>
                    <a:pt x="8166457" y="260437"/>
                  </a:lnTo>
                  <a:lnTo>
                    <a:pt x="8168640" y="249682"/>
                  </a:lnTo>
                  <a:lnTo>
                    <a:pt x="8168640" y="27686"/>
                  </a:lnTo>
                  <a:lnTo>
                    <a:pt x="8166457" y="16930"/>
                  </a:lnTo>
                  <a:lnTo>
                    <a:pt x="8160512" y="8128"/>
                  </a:lnTo>
                  <a:lnTo>
                    <a:pt x="8151709" y="2182"/>
                  </a:lnTo>
                  <a:lnTo>
                    <a:pt x="814095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854451" y="4642103"/>
              <a:ext cx="8168640" cy="277495"/>
            </a:xfrm>
            <a:custGeom>
              <a:avLst/>
              <a:gdLst/>
              <a:ahLst/>
              <a:cxnLst/>
              <a:rect l="l" t="t" r="r" b="b"/>
              <a:pathLst>
                <a:path w="8168640" h="277495">
                  <a:moveTo>
                    <a:pt x="0" y="27686"/>
                  </a:moveTo>
                  <a:lnTo>
                    <a:pt x="2182" y="16930"/>
                  </a:lnTo>
                  <a:lnTo>
                    <a:pt x="8128" y="8128"/>
                  </a:lnTo>
                  <a:lnTo>
                    <a:pt x="16930" y="2182"/>
                  </a:lnTo>
                  <a:lnTo>
                    <a:pt x="27686" y="0"/>
                  </a:lnTo>
                  <a:lnTo>
                    <a:pt x="8140954" y="0"/>
                  </a:lnTo>
                  <a:lnTo>
                    <a:pt x="8151709" y="2182"/>
                  </a:lnTo>
                  <a:lnTo>
                    <a:pt x="8160512" y="8128"/>
                  </a:lnTo>
                  <a:lnTo>
                    <a:pt x="8166457" y="16930"/>
                  </a:lnTo>
                  <a:lnTo>
                    <a:pt x="8168640" y="27686"/>
                  </a:lnTo>
                  <a:lnTo>
                    <a:pt x="8168640" y="249682"/>
                  </a:lnTo>
                  <a:lnTo>
                    <a:pt x="8166457" y="260437"/>
                  </a:lnTo>
                  <a:lnTo>
                    <a:pt x="8160512" y="269240"/>
                  </a:lnTo>
                  <a:lnTo>
                    <a:pt x="8151709" y="275185"/>
                  </a:lnTo>
                  <a:lnTo>
                    <a:pt x="8140954" y="277368"/>
                  </a:lnTo>
                  <a:lnTo>
                    <a:pt x="27686" y="277368"/>
                  </a:lnTo>
                  <a:lnTo>
                    <a:pt x="16930" y="275185"/>
                  </a:lnTo>
                  <a:lnTo>
                    <a:pt x="8128" y="269240"/>
                  </a:lnTo>
                  <a:lnTo>
                    <a:pt x="2182" y="260437"/>
                  </a:lnTo>
                  <a:lnTo>
                    <a:pt x="0" y="249682"/>
                  </a:lnTo>
                  <a:lnTo>
                    <a:pt x="0" y="27686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038600" y="4623942"/>
            <a:ext cx="58280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032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orbel"/>
                <a:cs typeface="Corbel"/>
              </a:rPr>
              <a:t>Next</a:t>
            </a:r>
            <a:r>
              <a:rPr dirty="0" sz="1600" spc="-65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Generation</a:t>
            </a:r>
            <a:r>
              <a:rPr dirty="0" sz="1600" spc="10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Infrastructure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653527" y="745235"/>
            <a:ext cx="10516235" cy="2651760"/>
          </a:xfrm>
          <a:custGeom>
            <a:avLst/>
            <a:gdLst/>
            <a:ahLst/>
            <a:cxnLst/>
            <a:rect l="l" t="t" r="r" b="b"/>
            <a:pathLst>
              <a:path w="10516235" h="2651760">
                <a:moveTo>
                  <a:pt x="4343412" y="21336"/>
                </a:moveTo>
                <a:lnTo>
                  <a:pt x="0" y="21336"/>
                </a:lnTo>
                <a:lnTo>
                  <a:pt x="0" y="2651760"/>
                </a:lnTo>
                <a:lnTo>
                  <a:pt x="4096397" y="2651760"/>
                </a:lnTo>
                <a:lnTo>
                  <a:pt x="4343412" y="2404745"/>
                </a:lnTo>
                <a:lnTo>
                  <a:pt x="4343412" y="21336"/>
                </a:lnTo>
                <a:close/>
              </a:path>
              <a:path w="10516235" h="2651760">
                <a:moveTo>
                  <a:pt x="10515613" y="0"/>
                </a:moveTo>
                <a:lnTo>
                  <a:pt x="6248412" y="0"/>
                </a:lnTo>
                <a:lnTo>
                  <a:pt x="6248412" y="2363470"/>
                </a:lnTo>
                <a:lnTo>
                  <a:pt x="6516891" y="2631948"/>
                </a:lnTo>
                <a:lnTo>
                  <a:pt x="10515613" y="2631948"/>
                </a:lnTo>
                <a:lnTo>
                  <a:pt x="105156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3794759" y="1066800"/>
            <a:ext cx="1472565" cy="878205"/>
          </a:xfrm>
          <a:prstGeom prst="rect">
            <a:avLst/>
          </a:prstGeom>
          <a:solidFill>
            <a:srgbClr val="9FB4D3"/>
          </a:solidFill>
        </p:spPr>
        <p:txBody>
          <a:bodyPr wrap="square" lIns="0" tIns="182245" rIns="0" bIns="0" rtlCol="0" vert="horz">
            <a:spAutoFit/>
          </a:bodyPr>
          <a:lstStyle/>
          <a:p>
            <a:pPr marL="375285" marR="284480" indent="-82550">
              <a:lnSpc>
                <a:spcPct val="100000"/>
              </a:lnSpc>
              <a:spcBef>
                <a:spcPts val="1435"/>
              </a:spcBef>
            </a:pPr>
            <a:r>
              <a:rPr dirty="0" sz="1600" spc="-10" b="1">
                <a:latin typeface="Corbel"/>
                <a:cs typeface="Corbel"/>
              </a:rPr>
              <a:t>Consumer Banking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387340" y="1066800"/>
            <a:ext cx="1511935" cy="878205"/>
          </a:xfrm>
          <a:prstGeom prst="rect">
            <a:avLst/>
          </a:prstGeom>
          <a:solidFill>
            <a:srgbClr val="9FB4D3"/>
          </a:solidFill>
        </p:spPr>
        <p:txBody>
          <a:bodyPr wrap="square" lIns="0" tIns="60325" rIns="0" bIns="0" rtlCol="0" vert="horz">
            <a:spAutoFit/>
          </a:bodyPr>
          <a:lstStyle/>
          <a:p>
            <a:pPr algn="ctr" marL="116839" marR="109855" indent="635">
              <a:lnSpc>
                <a:spcPct val="100000"/>
              </a:lnSpc>
              <a:spcBef>
                <a:spcPts val="475"/>
              </a:spcBef>
            </a:pPr>
            <a:r>
              <a:rPr dirty="0" sz="1600" spc="-10" b="1">
                <a:latin typeface="Corbel"/>
                <a:cs typeface="Corbel"/>
              </a:rPr>
              <a:t>Wealth Management </a:t>
            </a:r>
            <a:r>
              <a:rPr dirty="0" sz="1600" b="1">
                <a:latin typeface="Corbel"/>
                <a:cs typeface="Corbel"/>
              </a:rPr>
              <a:t>and</a:t>
            </a:r>
            <a:r>
              <a:rPr dirty="0" sz="1600" spc="-20" b="1">
                <a:latin typeface="Corbel"/>
                <a:cs typeface="Corbel"/>
              </a:rPr>
              <a:t> </a:t>
            </a:r>
            <a:r>
              <a:rPr dirty="0" sz="1600" spc="-10" b="1">
                <a:latin typeface="Corbel"/>
                <a:cs typeface="Corbel"/>
              </a:rPr>
              <a:t>Brokerage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008876" y="1066800"/>
            <a:ext cx="1510665" cy="878205"/>
          </a:xfrm>
          <a:prstGeom prst="rect">
            <a:avLst/>
          </a:prstGeom>
          <a:solidFill>
            <a:srgbClr val="9FB4D3"/>
          </a:solidFill>
        </p:spPr>
        <p:txBody>
          <a:bodyPr wrap="square" lIns="0" tIns="60325" rIns="0" bIns="0" rtlCol="0" vert="horz">
            <a:spAutoFit/>
          </a:bodyPr>
          <a:lstStyle/>
          <a:p>
            <a:pPr algn="ctr" marL="182245" marR="173990">
              <a:lnSpc>
                <a:spcPct val="100000"/>
              </a:lnSpc>
              <a:spcBef>
                <a:spcPts val="475"/>
              </a:spcBef>
            </a:pPr>
            <a:r>
              <a:rPr dirty="0" sz="1600" b="1">
                <a:latin typeface="Corbel"/>
                <a:cs typeface="Corbel"/>
              </a:rPr>
              <a:t>Property</a:t>
            </a:r>
            <a:r>
              <a:rPr dirty="0" sz="1600" spc="-50" b="1">
                <a:latin typeface="Corbel"/>
                <a:cs typeface="Corbel"/>
              </a:rPr>
              <a:t> </a:t>
            </a:r>
            <a:r>
              <a:rPr dirty="0" sz="1600" spc="-25" b="1">
                <a:latin typeface="Corbel"/>
                <a:cs typeface="Corbel"/>
              </a:rPr>
              <a:t>and </a:t>
            </a:r>
            <a:r>
              <a:rPr dirty="0" sz="1600" spc="-10" b="1">
                <a:latin typeface="Corbel"/>
                <a:cs typeface="Corbel"/>
              </a:rPr>
              <a:t>Casualty Insurance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774947" y="2031492"/>
            <a:ext cx="1511935" cy="878205"/>
          </a:xfrm>
          <a:prstGeom prst="rect">
            <a:avLst/>
          </a:prstGeom>
          <a:solidFill>
            <a:srgbClr val="9FB4D3"/>
          </a:solidFill>
        </p:spPr>
        <p:txBody>
          <a:bodyPr wrap="square" lIns="0" tIns="182880" rIns="0" bIns="0" rtlCol="0" vert="horz">
            <a:spAutoFit/>
          </a:bodyPr>
          <a:lstStyle/>
          <a:p>
            <a:pPr marL="394335" marR="247650" indent="-137160">
              <a:lnSpc>
                <a:spcPct val="100000"/>
              </a:lnSpc>
              <a:spcBef>
                <a:spcPts val="1440"/>
              </a:spcBef>
            </a:pPr>
            <a:r>
              <a:rPr dirty="0" sz="1600" spc="-10" b="1">
                <a:latin typeface="Corbel"/>
                <a:cs typeface="Corbel"/>
              </a:rPr>
              <a:t>Investment Banking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396484" y="2031492"/>
            <a:ext cx="1510665" cy="878205"/>
          </a:xfrm>
          <a:prstGeom prst="rect">
            <a:avLst/>
          </a:prstGeom>
          <a:solidFill>
            <a:srgbClr val="9FB4D3"/>
          </a:solidFill>
        </p:spPr>
        <p:txBody>
          <a:bodyPr wrap="square" lIns="0" tIns="182880" rIns="0" bIns="0" rtlCol="0" vert="horz">
            <a:spAutoFit/>
          </a:bodyPr>
          <a:lstStyle/>
          <a:p>
            <a:pPr marL="393700" marR="318135" indent="-67310">
              <a:lnSpc>
                <a:spcPct val="100000"/>
              </a:lnSpc>
              <a:spcBef>
                <a:spcPts val="1440"/>
              </a:spcBef>
            </a:pPr>
            <a:r>
              <a:rPr dirty="0" sz="1600" spc="-10" b="1">
                <a:latin typeface="Corbel"/>
                <a:cs typeface="Corbel"/>
              </a:rPr>
              <a:t>Mortgage Banking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839211" y="3442715"/>
            <a:ext cx="1199515" cy="1493520"/>
          </a:xfrm>
          <a:prstGeom prst="rect">
            <a:avLst/>
          </a:prstGeom>
          <a:solidFill>
            <a:srgbClr val="A895A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60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</a:pPr>
            <a:r>
              <a:rPr dirty="0" sz="1600" spc="-10" b="1">
                <a:solidFill>
                  <a:srgbClr val="FFFFFF"/>
                </a:solidFill>
                <a:latin typeface="Corbel"/>
                <a:cs typeface="Corbel"/>
              </a:rPr>
              <a:t>Cloud</a:t>
            </a:r>
            <a:endParaRPr sz="1600">
              <a:latin typeface="Corbel"/>
              <a:cs typeface="Corbe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278638" y="853186"/>
            <a:ext cx="11619865" cy="5142230"/>
            <a:chOff x="278638" y="853186"/>
            <a:chExt cx="11619865" cy="5142230"/>
          </a:xfrm>
        </p:grpSpPr>
        <p:sp>
          <p:nvSpPr>
            <p:cNvPr id="28" name="object 28" descr=""/>
            <p:cNvSpPr/>
            <p:nvPr/>
          </p:nvSpPr>
          <p:spPr>
            <a:xfrm>
              <a:off x="4209288" y="3467099"/>
              <a:ext cx="5477510" cy="1432560"/>
            </a:xfrm>
            <a:custGeom>
              <a:avLst/>
              <a:gdLst/>
              <a:ahLst/>
              <a:cxnLst/>
              <a:rect l="l" t="t" r="r" b="b"/>
              <a:pathLst>
                <a:path w="5477509" h="1432560">
                  <a:moveTo>
                    <a:pt x="259080" y="1293876"/>
                  </a:moveTo>
                  <a:lnTo>
                    <a:pt x="0" y="1167384"/>
                  </a:lnTo>
                  <a:lnTo>
                    <a:pt x="0" y="1420368"/>
                  </a:lnTo>
                  <a:lnTo>
                    <a:pt x="259080" y="1293876"/>
                  </a:lnTo>
                  <a:close/>
                </a:path>
                <a:path w="5477509" h="1432560">
                  <a:moveTo>
                    <a:pt x="259080" y="906780"/>
                  </a:moveTo>
                  <a:lnTo>
                    <a:pt x="0" y="780288"/>
                  </a:lnTo>
                  <a:lnTo>
                    <a:pt x="0" y="1033272"/>
                  </a:lnTo>
                  <a:lnTo>
                    <a:pt x="259080" y="906780"/>
                  </a:lnTo>
                  <a:close/>
                </a:path>
                <a:path w="5477509" h="1432560">
                  <a:moveTo>
                    <a:pt x="259080" y="131064"/>
                  </a:moveTo>
                  <a:lnTo>
                    <a:pt x="0" y="4572"/>
                  </a:lnTo>
                  <a:lnTo>
                    <a:pt x="0" y="257556"/>
                  </a:lnTo>
                  <a:lnTo>
                    <a:pt x="259080" y="131064"/>
                  </a:lnTo>
                  <a:close/>
                </a:path>
                <a:path w="5477509" h="1432560">
                  <a:moveTo>
                    <a:pt x="262128" y="518922"/>
                  </a:moveTo>
                  <a:lnTo>
                    <a:pt x="1524" y="391668"/>
                  </a:lnTo>
                  <a:lnTo>
                    <a:pt x="1524" y="646176"/>
                  </a:lnTo>
                  <a:lnTo>
                    <a:pt x="262128" y="518922"/>
                  </a:lnTo>
                  <a:close/>
                </a:path>
                <a:path w="5477509" h="1432560">
                  <a:moveTo>
                    <a:pt x="5475732" y="1179576"/>
                  </a:moveTo>
                  <a:lnTo>
                    <a:pt x="5215128" y="1306068"/>
                  </a:lnTo>
                  <a:lnTo>
                    <a:pt x="5475732" y="1432560"/>
                  </a:lnTo>
                  <a:lnTo>
                    <a:pt x="5475732" y="1179576"/>
                  </a:lnTo>
                  <a:close/>
                </a:path>
                <a:path w="5477509" h="1432560">
                  <a:moveTo>
                    <a:pt x="5475732" y="786384"/>
                  </a:moveTo>
                  <a:lnTo>
                    <a:pt x="5215128" y="912876"/>
                  </a:lnTo>
                  <a:lnTo>
                    <a:pt x="5475732" y="1039368"/>
                  </a:lnTo>
                  <a:lnTo>
                    <a:pt x="5475732" y="786384"/>
                  </a:lnTo>
                  <a:close/>
                </a:path>
                <a:path w="5477509" h="1432560">
                  <a:moveTo>
                    <a:pt x="5475732" y="0"/>
                  </a:moveTo>
                  <a:lnTo>
                    <a:pt x="5215128" y="126492"/>
                  </a:lnTo>
                  <a:lnTo>
                    <a:pt x="5475732" y="252984"/>
                  </a:lnTo>
                  <a:lnTo>
                    <a:pt x="5475732" y="0"/>
                  </a:lnTo>
                  <a:close/>
                </a:path>
                <a:path w="5477509" h="1432560">
                  <a:moveTo>
                    <a:pt x="5477256" y="393192"/>
                  </a:moveTo>
                  <a:lnTo>
                    <a:pt x="5216652" y="519684"/>
                  </a:lnTo>
                  <a:lnTo>
                    <a:pt x="5477256" y="646176"/>
                  </a:lnTo>
                  <a:lnTo>
                    <a:pt x="5477256" y="393192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84988" y="859536"/>
              <a:ext cx="11607165" cy="5129530"/>
            </a:xfrm>
            <a:custGeom>
              <a:avLst/>
              <a:gdLst/>
              <a:ahLst/>
              <a:cxnLst/>
              <a:rect l="l" t="t" r="r" b="b"/>
              <a:pathLst>
                <a:path w="11607165" h="5129530">
                  <a:moveTo>
                    <a:pt x="4571" y="2278379"/>
                  </a:moveTo>
                  <a:lnTo>
                    <a:pt x="11607165" y="2278379"/>
                  </a:lnTo>
                </a:path>
                <a:path w="11607165" h="5129530">
                  <a:moveTo>
                    <a:pt x="4571" y="4322064"/>
                  </a:moveTo>
                  <a:lnTo>
                    <a:pt x="11607165" y="4322064"/>
                  </a:lnTo>
                </a:path>
                <a:path w="11607165" h="5129530">
                  <a:moveTo>
                    <a:pt x="0" y="5128260"/>
                  </a:moveTo>
                  <a:lnTo>
                    <a:pt x="11602592" y="5128260"/>
                  </a:lnTo>
                </a:path>
                <a:path w="11607165" h="5129530">
                  <a:moveTo>
                    <a:pt x="1927860" y="0"/>
                  </a:moveTo>
                  <a:lnTo>
                    <a:pt x="1927860" y="5129136"/>
                  </a:lnTo>
                </a:path>
              </a:pathLst>
            </a:custGeom>
            <a:ln w="12192">
              <a:solidFill>
                <a:srgbClr val="B51E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439667" y="5352288"/>
              <a:ext cx="2138680" cy="494030"/>
            </a:xfrm>
            <a:custGeom>
              <a:avLst/>
              <a:gdLst/>
              <a:ahLst/>
              <a:cxnLst/>
              <a:rect l="l" t="t" r="r" b="b"/>
              <a:pathLst>
                <a:path w="2138679" h="494029">
                  <a:moveTo>
                    <a:pt x="2055876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411480"/>
                  </a:lnTo>
                  <a:lnTo>
                    <a:pt x="6465" y="443514"/>
                  </a:lnTo>
                  <a:lnTo>
                    <a:pt x="24098" y="469672"/>
                  </a:lnTo>
                  <a:lnTo>
                    <a:pt x="50256" y="487309"/>
                  </a:lnTo>
                  <a:lnTo>
                    <a:pt x="82296" y="493775"/>
                  </a:lnTo>
                  <a:lnTo>
                    <a:pt x="2055876" y="493775"/>
                  </a:lnTo>
                  <a:lnTo>
                    <a:pt x="2087915" y="487309"/>
                  </a:lnTo>
                  <a:lnTo>
                    <a:pt x="2114073" y="469672"/>
                  </a:lnTo>
                  <a:lnTo>
                    <a:pt x="2131706" y="443514"/>
                  </a:lnTo>
                  <a:lnTo>
                    <a:pt x="2138172" y="411480"/>
                  </a:lnTo>
                  <a:lnTo>
                    <a:pt x="2138172" y="82296"/>
                  </a:lnTo>
                  <a:lnTo>
                    <a:pt x="2131706" y="50256"/>
                  </a:lnTo>
                  <a:lnTo>
                    <a:pt x="2114073" y="24098"/>
                  </a:lnTo>
                  <a:lnTo>
                    <a:pt x="2087915" y="6465"/>
                  </a:lnTo>
                  <a:lnTo>
                    <a:pt x="2055876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9866376" y="3442715"/>
            <a:ext cx="1205865" cy="1493520"/>
          </a:xfrm>
          <a:prstGeom prst="rect">
            <a:avLst/>
          </a:prstGeom>
          <a:solidFill>
            <a:srgbClr val="A895A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600">
              <a:latin typeface="Times New Roman"/>
              <a:cs typeface="Times New Roman"/>
            </a:endParaRPr>
          </a:p>
          <a:p>
            <a:pPr marL="186055">
              <a:lnSpc>
                <a:spcPct val="100000"/>
              </a:lnSpc>
            </a:pPr>
            <a:r>
              <a:rPr dirty="0" sz="1600" spc="-10" b="1">
                <a:solidFill>
                  <a:srgbClr val="FFFFFF"/>
                </a:solidFill>
                <a:latin typeface="Corbel"/>
                <a:cs typeface="Corbel"/>
              </a:rPr>
              <a:t>Cognitive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628888" y="1066800"/>
            <a:ext cx="1511935" cy="878205"/>
          </a:xfrm>
          <a:prstGeom prst="rect">
            <a:avLst/>
          </a:prstGeom>
          <a:solidFill>
            <a:srgbClr val="9FB4D3"/>
          </a:solidFill>
        </p:spPr>
        <p:txBody>
          <a:bodyPr wrap="square" lIns="0" tIns="60325" rIns="0" bIns="0" rtlCol="0" vert="horz">
            <a:spAutoFit/>
          </a:bodyPr>
          <a:lstStyle/>
          <a:p>
            <a:pPr algn="ctr" marL="201930" marR="192405">
              <a:lnSpc>
                <a:spcPct val="100000"/>
              </a:lnSpc>
              <a:spcBef>
                <a:spcPts val="475"/>
              </a:spcBef>
            </a:pPr>
            <a:r>
              <a:rPr dirty="0" sz="1600" spc="-10" b="1">
                <a:latin typeface="Corbel"/>
                <a:cs typeface="Corbel"/>
              </a:rPr>
              <a:t>Governance, </a:t>
            </a:r>
            <a:r>
              <a:rPr dirty="0" sz="1600" b="1">
                <a:latin typeface="Corbel"/>
                <a:cs typeface="Corbel"/>
              </a:rPr>
              <a:t>Risk</a:t>
            </a:r>
            <a:r>
              <a:rPr dirty="0" sz="1600" spc="-35" b="1">
                <a:latin typeface="Corbel"/>
                <a:cs typeface="Corbel"/>
              </a:rPr>
              <a:t> </a:t>
            </a:r>
            <a:r>
              <a:rPr dirty="0" sz="1600" spc="-25" b="1">
                <a:latin typeface="Corbel"/>
                <a:cs typeface="Corbel"/>
              </a:rPr>
              <a:t>and </a:t>
            </a:r>
            <a:r>
              <a:rPr dirty="0" sz="1600" spc="-10" b="1">
                <a:latin typeface="Corbel"/>
                <a:cs typeface="Corbel"/>
              </a:rPr>
              <a:t>Compliance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016495" y="2031492"/>
            <a:ext cx="1511935" cy="878205"/>
          </a:xfrm>
          <a:prstGeom prst="rect">
            <a:avLst/>
          </a:prstGeom>
          <a:solidFill>
            <a:srgbClr val="9FB4D3"/>
          </a:solidFill>
        </p:spPr>
        <p:txBody>
          <a:bodyPr wrap="square" lIns="0" tIns="711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60"/>
              </a:spcBef>
            </a:pPr>
            <a:endParaRPr sz="16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</a:pPr>
            <a:r>
              <a:rPr dirty="0" sz="1600" b="1">
                <a:latin typeface="Corbel"/>
                <a:cs typeface="Corbel"/>
              </a:rPr>
              <a:t>Life</a:t>
            </a:r>
            <a:r>
              <a:rPr dirty="0" sz="1600" spc="-25" b="1">
                <a:latin typeface="Corbel"/>
                <a:cs typeface="Corbel"/>
              </a:rPr>
              <a:t> </a:t>
            </a:r>
            <a:r>
              <a:rPr dirty="0" sz="1600" spc="-10" b="1">
                <a:latin typeface="Corbel"/>
                <a:cs typeface="Corbel"/>
              </a:rPr>
              <a:t>Insurance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8638031" y="2031492"/>
            <a:ext cx="1510665" cy="878205"/>
          </a:xfrm>
          <a:prstGeom prst="rect">
            <a:avLst/>
          </a:prstGeom>
          <a:solidFill>
            <a:srgbClr val="9FB4D3"/>
          </a:solidFill>
        </p:spPr>
        <p:txBody>
          <a:bodyPr wrap="square" lIns="0" tIns="182880" rIns="0" bIns="0" rtlCol="0" vert="horz">
            <a:spAutoFit/>
          </a:bodyPr>
          <a:lstStyle/>
          <a:p>
            <a:pPr marL="316230" marR="306070" indent="101600">
              <a:lnSpc>
                <a:spcPct val="100000"/>
              </a:lnSpc>
              <a:spcBef>
                <a:spcPts val="1440"/>
              </a:spcBef>
            </a:pPr>
            <a:r>
              <a:rPr dirty="0" sz="1600" b="1">
                <a:latin typeface="Corbel"/>
                <a:cs typeface="Corbel"/>
              </a:rPr>
              <a:t>Cards</a:t>
            </a:r>
            <a:r>
              <a:rPr dirty="0" sz="1600" spc="-45" b="1">
                <a:latin typeface="Corbel"/>
                <a:cs typeface="Corbel"/>
              </a:rPr>
              <a:t> </a:t>
            </a:r>
            <a:r>
              <a:rPr dirty="0" sz="1600" spc="-50" b="1">
                <a:latin typeface="Corbel"/>
                <a:cs typeface="Corbel"/>
              </a:rPr>
              <a:t>&amp; </a:t>
            </a:r>
            <a:r>
              <a:rPr dirty="0" sz="1600" spc="-20" b="1">
                <a:latin typeface="Corbel"/>
                <a:cs typeface="Corbel"/>
              </a:rPr>
              <a:t>Payments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81380" y="1550288"/>
            <a:ext cx="155448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rbel"/>
                <a:cs typeface="Corbel"/>
              </a:rPr>
              <a:t>Identified</a:t>
            </a:r>
            <a:r>
              <a:rPr dirty="0" sz="1600" spc="-75" b="1">
                <a:latin typeface="Corbel"/>
                <a:cs typeface="Corbel"/>
              </a:rPr>
              <a:t> </a:t>
            </a:r>
            <a:r>
              <a:rPr dirty="0" sz="1600" spc="-25" b="1">
                <a:latin typeface="Corbel"/>
                <a:cs typeface="Corbel"/>
              </a:rPr>
              <a:t>Targets </a:t>
            </a:r>
            <a:r>
              <a:rPr dirty="0" sz="1600" b="1">
                <a:latin typeface="Corbel"/>
                <a:cs typeface="Corbel"/>
              </a:rPr>
              <a:t>in</a:t>
            </a:r>
            <a:r>
              <a:rPr dirty="0" sz="1600" spc="-45" b="1">
                <a:latin typeface="Corbel"/>
                <a:cs typeface="Corbel"/>
              </a:rPr>
              <a:t> </a:t>
            </a:r>
            <a:r>
              <a:rPr dirty="0" sz="1600" b="1">
                <a:latin typeface="Corbel"/>
                <a:cs typeface="Corbel"/>
              </a:rPr>
              <a:t>select</a:t>
            </a:r>
            <a:r>
              <a:rPr dirty="0" sz="1600" spc="-25" b="1">
                <a:latin typeface="Corbel"/>
                <a:cs typeface="Corbel"/>
              </a:rPr>
              <a:t> </a:t>
            </a:r>
            <a:r>
              <a:rPr dirty="0" sz="1600" spc="-20" b="1">
                <a:latin typeface="Corbel"/>
                <a:cs typeface="Corbel"/>
              </a:rPr>
              <a:t>BFSI </a:t>
            </a:r>
            <a:r>
              <a:rPr dirty="0" sz="1600" spc="-10" b="1">
                <a:latin typeface="Corbel"/>
                <a:cs typeface="Corbel"/>
              </a:rPr>
              <a:t>Micro-verticals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24992" y="3610178"/>
            <a:ext cx="1666875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rbel"/>
                <a:cs typeface="Corbel"/>
              </a:rPr>
              <a:t>Horizontal </a:t>
            </a:r>
            <a:r>
              <a:rPr dirty="0" sz="1600" b="1">
                <a:latin typeface="Corbel"/>
                <a:cs typeface="Corbel"/>
              </a:rPr>
              <a:t>Capabilities</a:t>
            </a:r>
            <a:r>
              <a:rPr dirty="0" sz="1600" spc="-45" b="1">
                <a:latin typeface="Corbel"/>
                <a:cs typeface="Corbel"/>
              </a:rPr>
              <a:t> </a:t>
            </a:r>
            <a:r>
              <a:rPr dirty="0" sz="1600" b="1">
                <a:latin typeface="Corbel"/>
                <a:cs typeface="Corbel"/>
              </a:rPr>
              <a:t>with</a:t>
            </a:r>
            <a:r>
              <a:rPr dirty="0" sz="1600" spc="-50" b="1">
                <a:latin typeface="Corbel"/>
                <a:cs typeface="Corbel"/>
              </a:rPr>
              <a:t> </a:t>
            </a:r>
            <a:r>
              <a:rPr dirty="0" sz="1600" spc="-60" b="1">
                <a:latin typeface="Corbel"/>
                <a:cs typeface="Corbel"/>
              </a:rPr>
              <a:t>a </a:t>
            </a:r>
            <a:r>
              <a:rPr dirty="0" sz="1600" b="1">
                <a:latin typeface="Corbel"/>
                <a:cs typeface="Corbel"/>
              </a:rPr>
              <a:t>focus</a:t>
            </a:r>
            <a:r>
              <a:rPr dirty="0" sz="1600" spc="-55" b="1">
                <a:latin typeface="Corbel"/>
                <a:cs typeface="Corbel"/>
              </a:rPr>
              <a:t> </a:t>
            </a:r>
            <a:r>
              <a:rPr dirty="0" sz="1600" spc="-10" b="1">
                <a:latin typeface="Corbel"/>
                <a:cs typeface="Corbel"/>
              </a:rPr>
              <a:t>on</a:t>
            </a:r>
            <a:r>
              <a:rPr dirty="0" sz="1600" spc="-70" b="1">
                <a:latin typeface="Corbel"/>
                <a:cs typeface="Corbel"/>
              </a:rPr>
              <a:t> </a:t>
            </a:r>
            <a:r>
              <a:rPr dirty="0" sz="1600" b="1">
                <a:latin typeface="Corbel"/>
                <a:cs typeface="Corbel"/>
              </a:rPr>
              <a:t>Cloud</a:t>
            </a:r>
            <a:r>
              <a:rPr dirty="0" sz="1600" spc="-35" b="1">
                <a:latin typeface="Corbel"/>
                <a:cs typeface="Corbel"/>
              </a:rPr>
              <a:t> </a:t>
            </a:r>
            <a:r>
              <a:rPr dirty="0" sz="1600" spc="-25" b="1">
                <a:latin typeface="Corbel"/>
                <a:cs typeface="Corbel"/>
              </a:rPr>
              <a:t>and </a:t>
            </a:r>
            <a:r>
              <a:rPr dirty="0" sz="1600" spc="-10" b="1">
                <a:latin typeface="Corbel"/>
                <a:cs typeface="Corbel"/>
              </a:rPr>
              <a:t>Cognitive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83488" y="5304535"/>
            <a:ext cx="134810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orbel"/>
                <a:cs typeface="Corbel"/>
              </a:rPr>
              <a:t>Focus</a:t>
            </a:r>
            <a:r>
              <a:rPr dirty="0" sz="1600" spc="-35" b="1">
                <a:latin typeface="Corbel"/>
                <a:cs typeface="Corbel"/>
              </a:rPr>
              <a:t> </a:t>
            </a:r>
            <a:r>
              <a:rPr dirty="0" sz="1600" b="1">
                <a:latin typeface="Corbel"/>
                <a:cs typeface="Corbel"/>
              </a:rPr>
              <a:t>on</a:t>
            </a:r>
            <a:r>
              <a:rPr dirty="0" sz="1600" spc="-30" b="1">
                <a:latin typeface="Corbel"/>
                <a:cs typeface="Corbel"/>
              </a:rPr>
              <a:t> </a:t>
            </a:r>
            <a:r>
              <a:rPr dirty="0" sz="1600" spc="-10" b="1">
                <a:latin typeface="Corbel"/>
                <a:cs typeface="Corbel"/>
              </a:rPr>
              <a:t>select Geographies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300220" y="5453278"/>
            <a:ext cx="4184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Corbel"/>
                <a:cs typeface="Corbel"/>
              </a:rPr>
              <a:t>USA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6051803" y="5352288"/>
            <a:ext cx="2138680" cy="494030"/>
          </a:xfrm>
          <a:custGeom>
            <a:avLst/>
            <a:gdLst/>
            <a:ahLst/>
            <a:cxnLst/>
            <a:rect l="l" t="t" r="r" b="b"/>
            <a:pathLst>
              <a:path w="2138679" h="494029">
                <a:moveTo>
                  <a:pt x="2055876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5" y="443514"/>
                </a:lnTo>
                <a:lnTo>
                  <a:pt x="24098" y="469672"/>
                </a:lnTo>
                <a:lnTo>
                  <a:pt x="50256" y="487309"/>
                </a:lnTo>
                <a:lnTo>
                  <a:pt x="82296" y="493775"/>
                </a:lnTo>
                <a:lnTo>
                  <a:pt x="2055876" y="493775"/>
                </a:lnTo>
                <a:lnTo>
                  <a:pt x="2087915" y="487309"/>
                </a:lnTo>
                <a:lnTo>
                  <a:pt x="2114073" y="469672"/>
                </a:lnTo>
                <a:lnTo>
                  <a:pt x="2131706" y="443514"/>
                </a:lnTo>
                <a:lnTo>
                  <a:pt x="2138172" y="411480"/>
                </a:lnTo>
                <a:lnTo>
                  <a:pt x="2138172" y="82296"/>
                </a:lnTo>
                <a:lnTo>
                  <a:pt x="2131706" y="50256"/>
                </a:lnTo>
                <a:lnTo>
                  <a:pt x="2114073" y="24098"/>
                </a:lnTo>
                <a:lnTo>
                  <a:pt x="2087915" y="6465"/>
                </a:lnTo>
                <a:lnTo>
                  <a:pt x="2055876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6974585" y="5453278"/>
            <a:ext cx="295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FFFFFF"/>
                </a:solidFill>
                <a:latin typeface="Corbel"/>
                <a:cs typeface="Corbel"/>
              </a:rPr>
              <a:t>UK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8610600" y="5352288"/>
            <a:ext cx="2138680" cy="494030"/>
          </a:xfrm>
          <a:custGeom>
            <a:avLst/>
            <a:gdLst/>
            <a:ahLst/>
            <a:cxnLst/>
            <a:rect l="l" t="t" r="r" b="b"/>
            <a:pathLst>
              <a:path w="2138679" h="494029">
                <a:moveTo>
                  <a:pt x="2055876" y="0"/>
                </a:moveTo>
                <a:lnTo>
                  <a:pt x="82296" y="0"/>
                </a:lnTo>
                <a:lnTo>
                  <a:pt x="50256" y="6465"/>
                </a:lnTo>
                <a:lnTo>
                  <a:pt x="24098" y="24098"/>
                </a:lnTo>
                <a:lnTo>
                  <a:pt x="6465" y="50256"/>
                </a:lnTo>
                <a:lnTo>
                  <a:pt x="0" y="82296"/>
                </a:lnTo>
                <a:lnTo>
                  <a:pt x="0" y="411480"/>
                </a:lnTo>
                <a:lnTo>
                  <a:pt x="6465" y="443514"/>
                </a:lnTo>
                <a:lnTo>
                  <a:pt x="24098" y="469672"/>
                </a:lnTo>
                <a:lnTo>
                  <a:pt x="50256" y="487309"/>
                </a:lnTo>
                <a:lnTo>
                  <a:pt x="82296" y="493775"/>
                </a:lnTo>
                <a:lnTo>
                  <a:pt x="2055876" y="493775"/>
                </a:lnTo>
                <a:lnTo>
                  <a:pt x="2087915" y="487309"/>
                </a:lnTo>
                <a:lnTo>
                  <a:pt x="2114073" y="469672"/>
                </a:lnTo>
                <a:lnTo>
                  <a:pt x="2131706" y="443514"/>
                </a:lnTo>
                <a:lnTo>
                  <a:pt x="2138172" y="411480"/>
                </a:lnTo>
                <a:lnTo>
                  <a:pt x="2138172" y="82296"/>
                </a:lnTo>
                <a:lnTo>
                  <a:pt x="2131706" y="50256"/>
                </a:lnTo>
                <a:lnTo>
                  <a:pt x="2114073" y="24098"/>
                </a:lnTo>
                <a:lnTo>
                  <a:pt x="2087915" y="6465"/>
                </a:lnTo>
                <a:lnTo>
                  <a:pt x="2055876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9355073" y="5453278"/>
            <a:ext cx="6508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Corbel"/>
                <a:cs typeface="Corbel"/>
              </a:rPr>
              <a:t>Europe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284988" y="176784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25450" h="373380">
                <a:moveTo>
                  <a:pt x="212597" y="0"/>
                </a:moveTo>
                <a:lnTo>
                  <a:pt x="163852" y="4929"/>
                </a:lnTo>
                <a:lnTo>
                  <a:pt x="119104" y="18972"/>
                </a:lnTo>
                <a:lnTo>
                  <a:pt x="79630" y="41008"/>
                </a:lnTo>
                <a:lnTo>
                  <a:pt x="46706" y="69917"/>
                </a:lnTo>
                <a:lnTo>
                  <a:pt x="21609" y="104580"/>
                </a:lnTo>
                <a:lnTo>
                  <a:pt x="5615" y="143878"/>
                </a:lnTo>
                <a:lnTo>
                  <a:pt x="0" y="186690"/>
                </a:lnTo>
                <a:lnTo>
                  <a:pt x="5615" y="229501"/>
                </a:lnTo>
                <a:lnTo>
                  <a:pt x="21609" y="268799"/>
                </a:lnTo>
                <a:lnTo>
                  <a:pt x="46706" y="303462"/>
                </a:lnTo>
                <a:lnTo>
                  <a:pt x="79630" y="332371"/>
                </a:lnTo>
                <a:lnTo>
                  <a:pt x="119104" y="354407"/>
                </a:lnTo>
                <a:lnTo>
                  <a:pt x="163852" y="368450"/>
                </a:lnTo>
                <a:lnTo>
                  <a:pt x="212597" y="373380"/>
                </a:lnTo>
                <a:lnTo>
                  <a:pt x="261343" y="368450"/>
                </a:lnTo>
                <a:lnTo>
                  <a:pt x="306091" y="354407"/>
                </a:lnTo>
                <a:lnTo>
                  <a:pt x="345565" y="332371"/>
                </a:lnTo>
                <a:lnTo>
                  <a:pt x="378489" y="303462"/>
                </a:lnTo>
                <a:lnTo>
                  <a:pt x="403586" y="268799"/>
                </a:lnTo>
                <a:lnTo>
                  <a:pt x="419580" y="229501"/>
                </a:lnTo>
                <a:lnTo>
                  <a:pt x="425196" y="186690"/>
                </a:lnTo>
                <a:lnTo>
                  <a:pt x="419580" y="143878"/>
                </a:lnTo>
                <a:lnTo>
                  <a:pt x="403586" y="104580"/>
                </a:lnTo>
                <a:lnTo>
                  <a:pt x="378489" y="69917"/>
                </a:lnTo>
                <a:lnTo>
                  <a:pt x="345565" y="41008"/>
                </a:lnTo>
                <a:lnTo>
                  <a:pt x="306091" y="18972"/>
                </a:lnTo>
                <a:lnTo>
                  <a:pt x="261343" y="4929"/>
                </a:lnTo>
                <a:lnTo>
                  <a:pt x="21259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407923" y="14820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 i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46" name="object 4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59685" y="218313"/>
            <a:ext cx="8063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B51E6A"/>
                </a:solidFill>
                <a:latin typeface="Calibri"/>
                <a:cs typeface="Calibri"/>
              </a:rPr>
              <a:t>Accelerate</a:t>
            </a:r>
            <a:r>
              <a:rPr dirty="0" sz="2400" spc="-60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51E6A"/>
                </a:solidFill>
                <a:latin typeface="Calibri"/>
                <a:cs typeface="Calibri"/>
              </a:rPr>
              <a:t>Direct</a:t>
            </a:r>
            <a:r>
              <a:rPr dirty="0" sz="2400" spc="-45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51E6A"/>
                </a:solidFill>
                <a:latin typeface="Calibri"/>
                <a:cs typeface="Calibri"/>
              </a:rPr>
              <a:t>Core</a:t>
            </a:r>
            <a:r>
              <a:rPr dirty="0" sz="2400" spc="-50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51E6A"/>
                </a:solidFill>
                <a:latin typeface="Calibri"/>
                <a:cs typeface="Calibri"/>
              </a:rPr>
              <a:t>:</a:t>
            </a:r>
            <a:r>
              <a:rPr dirty="0" sz="2400" spc="-40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51E6A"/>
                </a:solidFill>
                <a:latin typeface="Calibri"/>
                <a:cs typeface="Calibri"/>
              </a:rPr>
              <a:t>Mphasis</a:t>
            </a:r>
            <a:r>
              <a:rPr dirty="0" sz="2400" spc="-35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51E6A"/>
                </a:solidFill>
                <a:latin typeface="Calibri"/>
                <a:cs typeface="Calibri"/>
              </a:rPr>
              <a:t>X2C2</a:t>
            </a:r>
            <a:r>
              <a:rPr dirty="0" sz="2400" spc="-35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51E6A"/>
                </a:solidFill>
                <a:latin typeface="Calibri"/>
                <a:cs typeface="Calibri"/>
              </a:rPr>
              <a:t>TM</a:t>
            </a:r>
            <a:r>
              <a:rPr dirty="0" sz="2400" spc="-25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51E6A"/>
                </a:solidFill>
                <a:latin typeface="Calibri"/>
                <a:cs typeface="Calibri"/>
              </a:rPr>
              <a:t>-</a:t>
            </a:r>
            <a:r>
              <a:rPr dirty="0" sz="2400" spc="-45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51E6A"/>
                </a:solidFill>
                <a:latin typeface="Calibri"/>
                <a:cs typeface="Calibri"/>
              </a:rPr>
              <a:t>Cloud</a:t>
            </a:r>
            <a:r>
              <a:rPr dirty="0" sz="2400" spc="-45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B51E6A"/>
                </a:solidFill>
                <a:latin typeface="Calibri"/>
                <a:cs typeface="Calibri"/>
              </a:rPr>
              <a:t>and</a:t>
            </a:r>
            <a:r>
              <a:rPr dirty="0" sz="2400" spc="-45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B51E6A"/>
                </a:solidFill>
                <a:latin typeface="Calibri"/>
                <a:cs typeface="Calibri"/>
              </a:rPr>
              <a:t>Cognitive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pc="-10"/>
              <a:t>Cloud</a:t>
            </a:r>
            <a:r>
              <a:rPr dirty="0" spc="-75"/>
              <a:t> </a:t>
            </a:r>
            <a:r>
              <a:rPr dirty="0"/>
              <a:t>CoE</a:t>
            </a:r>
            <a:r>
              <a:rPr dirty="0" spc="-55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/>
              <a:t>Investing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building</a:t>
            </a:r>
            <a:r>
              <a:rPr dirty="0" spc="-20"/>
              <a:t> </a:t>
            </a:r>
            <a:r>
              <a:rPr dirty="0"/>
              <a:t>IP</a:t>
            </a:r>
            <a:r>
              <a:rPr dirty="0" spc="-40"/>
              <a:t> </a:t>
            </a:r>
            <a:r>
              <a:rPr dirty="0"/>
              <a:t>/</a:t>
            </a:r>
            <a:r>
              <a:rPr dirty="0" spc="-85"/>
              <a:t> </a:t>
            </a:r>
            <a:r>
              <a:rPr dirty="0" spc="-10"/>
              <a:t>Accelerators</a:t>
            </a:r>
          </a:p>
          <a:p>
            <a:pPr lvl="1" marL="756285" marR="83820" indent="-28702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End</a:t>
            </a:r>
            <a:r>
              <a:rPr dirty="0" sz="1400" spc="1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to</a:t>
            </a:r>
            <a:r>
              <a:rPr dirty="0" sz="1400" spc="-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end</a:t>
            </a:r>
            <a:r>
              <a:rPr dirty="0" sz="14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Services</a:t>
            </a:r>
            <a:r>
              <a:rPr dirty="0" sz="14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-</a:t>
            </a:r>
            <a:r>
              <a:rPr dirty="0" sz="1400" spc="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incl</a:t>
            </a:r>
            <a:r>
              <a:rPr dirty="0" sz="1400" spc="-6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Cloud</a:t>
            </a:r>
            <a:r>
              <a:rPr dirty="0" sz="1400" spc="-6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Consulting,</a:t>
            </a:r>
            <a:r>
              <a:rPr dirty="0" sz="1400" spc="-7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Cloud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Migration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(re-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host,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re-factor,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re-purchase),</a:t>
            </a:r>
            <a:r>
              <a:rPr dirty="0" sz="1400" spc="-6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Cloud</a:t>
            </a:r>
            <a:r>
              <a:rPr dirty="0" sz="1400" spc="-4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Native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App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Dev,</a:t>
            </a:r>
            <a:r>
              <a:rPr dirty="0" sz="14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DevOps,</a:t>
            </a:r>
            <a:r>
              <a:rPr dirty="0" sz="1400" spc="-6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Cloud</a:t>
            </a:r>
            <a:r>
              <a:rPr dirty="0" sz="1400" spc="-6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Ops</a:t>
            </a:r>
            <a:endParaRPr sz="1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Strong</a:t>
            </a:r>
            <a:r>
              <a:rPr dirty="0" spc="-85"/>
              <a:t> </a:t>
            </a:r>
            <a:r>
              <a:rPr dirty="0"/>
              <a:t>Cloud</a:t>
            </a:r>
            <a:r>
              <a:rPr dirty="0" spc="-40"/>
              <a:t> </a:t>
            </a:r>
            <a:r>
              <a:rPr dirty="0" spc="-10"/>
              <a:t>Partnership</a:t>
            </a:r>
            <a:r>
              <a:rPr dirty="0"/>
              <a:t> Network</a:t>
            </a:r>
            <a:r>
              <a:rPr dirty="0" spc="-15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 spc="-10"/>
              <a:t>Pivotal</a:t>
            </a:r>
          </a:p>
          <a:p>
            <a:pPr lvl="1" marL="756285" marR="701675" indent="-28702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Setting</a:t>
            </a:r>
            <a:r>
              <a:rPr dirty="0" sz="1400" spc="-4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up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Pivotal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Lab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to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build</a:t>
            </a:r>
            <a:r>
              <a:rPr dirty="0" sz="1400" spc="-4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skillset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for 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next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generation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 cloud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 services</a:t>
            </a:r>
            <a:endParaRPr sz="1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Case</a:t>
            </a:r>
            <a:r>
              <a:rPr dirty="0" spc="-65"/>
              <a:t> </a:t>
            </a:r>
            <a:r>
              <a:rPr dirty="0"/>
              <a:t>Study</a:t>
            </a:r>
            <a:r>
              <a:rPr dirty="0" spc="-20"/>
              <a:t> </a:t>
            </a:r>
            <a:r>
              <a:rPr dirty="0"/>
              <a:t>1</a:t>
            </a:r>
            <a:r>
              <a:rPr dirty="0" spc="-50"/>
              <a:t> </a:t>
            </a:r>
            <a:r>
              <a:rPr dirty="0"/>
              <a:t>-</a:t>
            </a:r>
            <a:r>
              <a:rPr dirty="0" spc="-85"/>
              <a:t> </a:t>
            </a:r>
            <a:r>
              <a:rPr dirty="0"/>
              <a:t>One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Largest</a:t>
            </a:r>
            <a:r>
              <a:rPr dirty="0" spc="-15"/>
              <a:t> </a:t>
            </a:r>
            <a:r>
              <a:rPr dirty="0" spc="-10"/>
              <a:t>Brokerage</a:t>
            </a:r>
            <a:r>
              <a:rPr dirty="0" spc="-25"/>
              <a:t> </a:t>
            </a:r>
            <a:r>
              <a:rPr dirty="0" spc="-10"/>
              <a:t>Firms</a:t>
            </a:r>
          </a:p>
          <a:p>
            <a:pPr lvl="1" marL="756285" marR="274955" indent="-28702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Application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development</a:t>
            </a:r>
            <a:r>
              <a:rPr dirty="0" sz="14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migration</a:t>
            </a:r>
            <a:r>
              <a:rPr dirty="0" sz="14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using</a:t>
            </a:r>
            <a:r>
              <a:rPr dirty="0" sz="1400" spc="-4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Pivotal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Cloud</a:t>
            </a:r>
            <a:r>
              <a:rPr dirty="0" sz="1400" spc="-5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Foundry;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development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leading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Robo</a:t>
            </a:r>
            <a:r>
              <a:rPr dirty="0" sz="1400" spc="-7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Advisor</a:t>
            </a:r>
            <a:endParaRPr sz="1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Case</a:t>
            </a:r>
            <a:r>
              <a:rPr dirty="0" spc="-65"/>
              <a:t> </a:t>
            </a:r>
            <a:r>
              <a:rPr dirty="0"/>
              <a:t>Study</a:t>
            </a:r>
            <a:r>
              <a:rPr dirty="0" spc="-25"/>
              <a:t> </a:t>
            </a:r>
            <a:r>
              <a:rPr dirty="0"/>
              <a:t>2</a:t>
            </a:r>
            <a:r>
              <a:rPr dirty="0" spc="-60"/>
              <a:t> </a:t>
            </a:r>
            <a:r>
              <a:rPr dirty="0"/>
              <a:t>-</a:t>
            </a:r>
            <a:r>
              <a:rPr dirty="0" spc="-40"/>
              <a:t> </a:t>
            </a:r>
            <a:r>
              <a:rPr dirty="0"/>
              <a:t>Largest</a:t>
            </a:r>
            <a:r>
              <a:rPr dirty="0" spc="-30"/>
              <a:t> </a:t>
            </a:r>
            <a:r>
              <a:rPr dirty="0"/>
              <a:t>Retail</a:t>
            </a:r>
            <a:r>
              <a:rPr dirty="0" spc="-25"/>
              <a:t> </a:t>
            </a:r>
            <a:r>
              <a:rPr dirty="0"/>
              <a:t>Banks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 spc="-25"/>
              <a:t>US</a:t>
            </a:r>
          </a:p>
          <a:p>
            <a:pPr lvl="1" marL="756285" indent="-28638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Successfully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transitioned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middleware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into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micro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services,</a:t>
            </a:r>
            <a:endParaRPr sz="1400">
              <a:latin typeface="Corbel"/>
              <a:cs typeface="Corbel"/>
            </a:endParaRPr>
          </a:p>
          <a:p>
            <a:pPr marL="756285">
              <a:lnSpc>
                <a:spcPct val="100000"/>
              </a:lnSpc>
            </a:pPr>
            <a:r>
              <a:rPr dirty="0" sz="1400" b="0">
                <a:latin typeface="Corbel"/>
                <a:cs typeface="Corbel"/>
              </a:rPr>
              <a:t>enabling</a:t>
            </a:r>
            <a:r>
              <a:rPr dirty="0" sz="1400" spc="-40" b="0">
                <a:latin typeface="Corbel"/>
                <a:cs typeface="Corbel"/>
              </a:rPr>
              <a:t> </a:t>
            </a:r>
            <a:r>
              <a:rPr dirty="0" sz="1400" b="0">
                <a:latin typeface="Corbel"/>
                <a:cs typeface="Corbel"/>
              </a:rPr>
              <a:t>a</a:t>
            </a:r>
            <a:r>
              <a:rPr dirty="0" sz="1400" spc="-30" b="0">
                <a:latin typeface="Corbel"/>
                <a:cs typeface="Corbel"/>
              </a:rPr>
              <a:t> </a:t>
            </a:r>
            <a:r>
              <a:rPr dirty="0" sz="1400" b="0">
                <a:latin typeface="Corbel"/>
                <a:cs typeface="Corbel"/>
              </a:rPr>
              <a:t>faster</a:t>
            </a:r>
            <a:r>
              <a:rPr dirty="0" sz="1400" spc="-20" b="0">
                <a:latin typeface="Corbel"/>
                <a:cs typeface="Corbel"/>
              </a:rPr>
              <a:t> </a:t>
            </a:r>
            <a:r>
              <a:rPr dirty="0" sz="1400" b="0">
                <a:latin typeface="Corbel"/>
                <a:cs typeface="Corbel"/>
              </a:rPr>
              <a:t>front</a:t>
            </a:r>
            <a:r>
              <a:rPr dirty="0" sz="1400" spc="-10" b="0">
                <a:latin typeface="Corbel"/>
                <a:cs typeface="Corbel"/>
              </a:rPr>
              <a:t> </a:t>
            </a:r>
            <a:r>
              <a:rPr dirty="0" sz="1400" b="0">
                <a:latin typeface="Corbel"/>
                <a:cs typeface="Corbel"/>
              </a:rPr>
              <a:t>end</a:t>
            </a:r>
            <a:r>
              <a:rPr dirty="0" sz="1400" spc="-35" b="0">
                <a:latin typeface="Corbel"/>
                <a:cs typeface="Corbel"/>
              </a:rPr>
              <a:t> </a:t>
            </a:r>
            <a:r>
              <a:rPr dirty="0" sz="1400" b="0">
                <a:latin typeface="Corbel"/>
                <a:cs typeface="Corbel"/>
              </a:rPr>
              <a:t>at</a:t>
            </a:r>
            <a:r>
              <a:rPr dirty="0" sz="1400" spc="-15" b="0">
                <a:latin typeface="Corbel"/>
                <a:cs typeface="Corbel"/>
              </a:rPr>
              <a:t> </a:t>
            </a:r>
            <a:r>
              <a:rPr dirty="0" sz="1400" b="0">
                <a:latin typeface="Corbel"/>
                <a:cs typeface="Corbel"/>
              </a:rPr>
              <a:t>a</a:t>
            </a:r>
            <a:r>
              <a:rPr dirty="0" sz="1400" spc="-35" b="0">
                <a:latin typeface="Corbel"/>
                <a:cs typeface="Corbel"/>
              </a:rPr>
              <a:t> </a:t>
            </a:r>
            <a:r>
              <a:rPr dirty="0" sz="1400" b="0">
                <a:latin typeface="Corbel"/>
                <a:cs typeface="Corbel"/>
              </a:rPr>
              <a:t>lower</a:t>
            </a:r>
            <a:r>
              <a:rPr dirty="0" sz="1400" spc="-5" b="0">
                <a:latin typeface="Corbel"/>
                <a:cs typeface="Corbel"/>
              </a:rPr>
              <a:t> </a:t>
            </a:r>
            <a:r>
              <a:rPr dirty="0" sz="1400" spc="-20" b="0">
                <a:latin typeface="Corbel"/>
                <a:cs typeface="Corbel"/>
              </a:rPr>
              <a:t>cost</a:t>
            </a:r>
            <a:endParaRPr sz="1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Case</a:t>
            </a:r>
            <a:r>
              <a:rPr dirty="0" spc="-50"/>
              <a:t> </a:t>
            </a:r>
            <a:r>
              <a:rPr dirty="0"/>
              <a:t>Study</a:t>
            </a:r>
            <a:r>
              <a:rPr dirty="0" spc="-5"/>
              <a:t> </a:t>
            </a:r>
            <a:r>
              <a:rPr dirty="0"/>
              <a:t>3</a:t>
            </a:r>
            <a:r>
              <a:rPr dirty="0" spc="-45"/>
              <a:t> </a:t>
            </a:r>
            <a:r>
              <a:rPr dirty="0"/>
              <a:t>-</a:t>
            </a:r>
            <a:r>
              <a:rPr dirty="0" spc="-80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/>
              <a:t>Step</a:t>
            </a:r>
            <a:r>
              <a:rPr dirty="0" spc="-30"/>
              <a:t> </a:t>
            </a:r>
            <a:r>
              <a:rPr dirty="0" spc="-10"/>
              <a:t>towards</a:t>
            </a:r>
            <a:r>
              <a:rPr dirty="0" spc="-60"/>
              <a:t> </a:t>
            </a:r>
            <a:r>
              <a:rPr dirty="0"/>
              <a:t>Zero</a:t>
            </a:r>
            <a:r>
              <a:rPr dirty="0" spc="-60"/>
              <a:t> </a:t>
            </a:r>
            <a:r>
              <a:rPr dirty="0" spc="-25"/>
              <a:t>UI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219606" y="951687"/>
            <a:ext cx="201422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B51E6A"/>
                </a:solidFill>
                <a:latin typeface="Corbel"/>
                <a:cs typeface="Corbel"/>
              </a:rPr>
              <a:t>C</a:t>
            </a:r>
            <a:r>
              <a:rPr dirty="0" sz="2400" b="1">
                <a:solidFill>
                  <a:srgbClr val="2A2F3B"/>
                </a:solidFill>
                <a:latin typeface="Corbel"/>
                <a:cs typeface="Corbel"/>
              </a:rPr>
              <a:t>loud</a:t>
            </a:r>
            <a:r>
              <a:rPr dirty="0" sz="2400" spc="-7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2400" spc="-10" b="1">
                <a:solidFill>
                  <a:srgbClr val="2A2F3B"/>
                </a:solidFill>
                <a:latin typeface="Corbel"/>
                <a:cs typeface="Corbel"/>
              </a:rPr>
              <a:t>Services</a:t>
            </a:r>
            <a:endParaRPr sz="2400">
              <a:latin typeface="Corbel"/>
              <a:cs typeface="Corbe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20979" y="943355"/>
            <a:ext cx="797560" cy="725805"/>
            <a:chOff x="220979" y="943355"/>
            <a:chExt cx="797560" cy="725805"/>
          </a:xfrm>
        </p:grpSpPr>
        <p:sp>
          <p:nvSpPr>
            <p:cNvPr id="6" name="object 6" descr=""/>
            <p:cNvSpPr/>
            <p:nvPr/>
          </p:nvSpPr>
          <p:spPr>
            <a:xfrm>
              <a:off x="240029" y="962405"/>
              <a:ext cx="759460" cy="687705"/>
            </a:xfrm>
            <a:custGeom>
              <a:avLst/>
              <a:gdLst/>
              <a:ahLst/>
              <a:cxnLst/>
              <a:rect l="l" t="t" r="r" b="b"/>
              <a:pathLst>
                <a:path w="759460" h="687705">
                  <a:moveTo>
                    <a:pt x="0" y="343662"/>
                  </a:moveTo>
                  <a:lnTo>
                    <a:pt x="3464" y="297041"/>
                  </a:lnTo>
                  <a:lnTo>
                    <a:pt x="13555" y="252324"/>
                  </a:lnTo>
                  <a:lnTo>
                    <a:pt x="29821" y="209919"/>
                  </a:lnTo>
                  <a:lnTo>
                    <a:pt x="51810" y="170236"/>
                  </a:lnTo>
                  <a:lnTo>
                    <a:pt x="79069" y="133686"/>
                  </a:lnTo>
                  <a:lnTo>
                    <a:pt x="111147" y="100679"/>
                  </a:lnTo>
                  <a:lnTo>
                    <a:pt x="147590" y="71624"/>
                  </a:lnTo>
                  <a:lnTo>
                    <a:pt x="187948" y="46933"/>
                  </a:lnTo>
                  <a:lnTo>
                    <a:pt x="231768" y="27015"/>
                  </a:lnTo>
                  <a:lnTo>
                    <a:pt x="278597" y="12280"/>
                  </a:lnTo>
                  <a:lnTo>
                    <a:pt x="327984" y="3138"/>
                  </a:lnTo>
                  <a:lnTo>
                    <a:pt x="379476" y="0"/>
                  </a:lnTo>
                  <a:lnTo>
                    <a:pt x="430967" y="3138"/>
                  </a:lnTo>
                  <a:lnTo>
                    <a:pt x="480354" y="12280"/>
                  </a:lnTo>
                  <a:lnTo>
                    <a:pt x="527183" y="27015"/>
                  </a:lnTo>
                  <a:lnTo>
                    <a:pt x="571003" y="46933"/>
                  </a:lnTo>
                  <a:lnTo>
                    <a:pt x="611361" y="71624"/>
                  </a:lnTo>
                  <a:lnTo>
                    <a:pt x="647804" y="100679"/>
                  </a:lnTo>
                  <a:lnTo>
                    <a:pt x="679882" y="133686"/>
                  </a:lnTo>
                  <a:lnTo>
                    <a:pt x="707141" y="170236"/>
                  </a:lnTo>
                  <a:lnTo>
                    <a:pt x="729130" y="209919"/>
                  </a:lnTo>
                  <a:lnTo>
                    <a:pt x="745396" y="252324"/>
                  </a:lnTo>
                  <a:lnTo>
                    <a:pt x="755487" y="297041"/>
                  </a:lnTo>
                  <a:lnTo>
                    <a:pt x="758952" y="343662"/>
                  </a:lnTo>
                  <a:lnTo>
                    <a:pt x="755487" y="390282"/>
                  </a:lnTo>
                  <a:lnTo>
                    <a:pt x="745396" y="434999"/>
                  </a:lnTo>
                  <a:lnTo>
                    <a:pt x="729130" y="477404"/>
                  </a:lnTo>
                  <a:lnTo>
                    <a:pt x="707141" y="517087"/>
                  </a:lnTo>
                  <a:lnTo>
                    <a:pt x="679882" y="553637"/>
                  </a:lnTo>
                  <a:lnTo>
                    <a:pt x="647804" y="586644"/>
                  </a:lnTo>
                  <a:lnTo>
                    <a:pt x="611361" y="615699"/>
                  </a:lnTo>
                  <a:lnTo>
                    <a:pt x="571003" y="640390"/>
                  </a:lnTo>
                  <a:lnTo>
                    <a:pt x="527183" y="660308"/>
                  </a:lnTo>
                  <a:lnTo>
                    <a:pt x="480354" y="675043"/>
                  </a:lnTo>
                  <a:lnTo>
                    <a:pt x="430967" y="684185"/>
                  </a:lnTo>
                  <a:lnTo>
                    <a:pt x="379476" y="687324"/>
                  </a:lnTo>
                  <a:lnTo>
                    <a:pt x="327984" y="684185"/>
                  </a:lnTo>
                  <a:lnTo>
                    <a:pt x="278597" y="675043"/>
                  </a:lnTo>
                  <a:lnTo>
                    <a:pt x="231768" y="660308"/>
                  </a:lnTo>
                  <a:lnTo>
                    <a:pt x="187948" y="640390"/>
                  </a:lnTo>
                  <a:lnTo>
                    <a:pt x="147590" y="615699"/>
                  </a:lnTo>
                  <a:lnTo>
                    <a:pt x="111147" y="586644"/>
                  </a:lnTo>
                  <a:lnTo>
                    <a:pt x="79069" y="553637"/>
                  </a:lnTo>
                  <a:lnTo>
                    <a:pt x="51810" y="517087"/>
                  </a:lnTo>
                  <a:lnTo>
                    <a:pt x="29821" y="477404"/>
                  </a:lnTo>
                  <a:lnTo>
                    <a:pt x="13555" y="434999"/>
                  </a:lnTo>
                  <a:lnTo>
                    <a:pt x="3464" y="390282"/>
                  </a:lnTo>
                  <a:lnTo>
                    <a:pt x="0" y="343662"/>
                  </a:lnTo>
                  <a:close/>
                </a:path>
              </a:pathLst>
            </a:custGeom>
            <a:ln w="38100">
              <a:solidFill>
                <a:srgbClr val="2A2F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757" y="1168065"/>
              <a:ext cx="466449" cy="294713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554736" y="1757172"/>
            <a:ext cx="129539" cy="3983990"/>
            <a:chOff x="554736" y="1757172"/>
            <a:chExt cx="129539" cy="3983990"/>
          </a:xfrm>
        </p:grpSpPr>
        <p:sp>
          <p:nvSpPr>
            <p:cNvPr id="9" name="object 9" descr=""/>
            <p:cNvSpPr/>
            <p:nvPr/>
          </p:nvSpPr>
          <p:spPr>
            <a:xfrm>
              <a:off x="618744" y="1757172"/>
              <a:ext cx="0" cy="3872229"/>
            </a:xfrm>
            <a:custGeom>
              <a:avLst/>
              <a:gdLst/>
              <a:ahLst/>
              <a:cxnLst/>
              <a:rect l="l" t="t" r="r" b="b"/>
              <a:pathLst>
                <a:path w="0" h="3872229">
                  <a:moveTo>
                    <a:pt x="0" y="0"/>
                  </a:moveTo>
                  <a:lnTo>
                    <a:pt x="0" y="3872229"/>
                  </a:lnTo>
                </a:path>
              </a:pathLst>
            </a:custGeom>
            <a:ln w="9144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736" y="2083308"/>
              <a:ext cx="129540" cy="12953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736" y="3162300"/>
              <a:ext cx="129540" cy="12953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736" y="3988307"/>
              <a:ext cx="129540" cy="12954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736" y="4791455"/>
              <a:ext cx="129540" cy="12953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736" y="5611368"/>
              <a:ext cx="129540" cy="12954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970014" y="918159"/>
            <a:ext cx="29229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4000" spc="-10">
                <a:latin typeface="Corbel"/>
                <a:cs typeface="Corbel"/>
              </a:rPr>
              <a:t>C</a:t>
            </a:r>
            <a:r>
              <a:rPr dirty="0" u="none" spc="-10">
                <a:solidFill>
                  <a:srgbClr val="2A2F3B"/>
                </a:solidFill>
                <a:latin typeface="Corbel"/>
                <a:cs typeface="Corbel"/>
              </a:rPr>
              <a:t>ognitive</a:t>
            </a:r>
            <a:r>
              <a:rPr dirty="0" u="none" spc="-9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u="none" spc="-10">
                <a:solidFill>
                  <a:srgbClr val="2A2F3B"/>
                </a:solidFill>
                <a:latin typeface="Corbel"/>
                <a:cs typeface="Corbel"/>
              </a:rPr>
              <a:t>Computing</a:t>
            </a:r>
            <a:endParaRPr sz="4000">
              <a:latin typeface="Corbel"/>
              <a:cs typeface="Corbe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031991" y="935736"/>
            <a:ext cx="795655" cy="725805"/>
            <a:chOff x="6031991" y="935736"/>
            <a:chExt cx="795655" cy="725805"/>
          </a:xfrm>
        </p:grpSpPr>
        <p:sp>
          <p:nvSpPr>
            <p:cNvPr id="17" name="object 17" descr=""/>
            <p:cNvSpPr/>
            <p:nvPr/>
          </p:nvSpPr>
          <p:spPr>
            <a:xfrm>
              <a:off x="6051041" y="954786"/>
              <a:ext cx="757555" cy="687705"/>
            </a:xfrm>
            <a:custGeom>
              <a:avLst/>
              <a:gdLst/>
              <a:ahLst/>
              <a:cxnLst/>
              <a:rect l="l" t="t" r="r" b="b"/>
              <a:pathLst>
                <a:path w="757554" h="687705">
                  <a:moveTo>
                    <a:pt x="0" y="343662"/>
                  </a:moveTo>
                  <a:lnTo>
                    <a:pt x="3457" y="297041"/>
                  </a:lnTo>
                  <a:lnTo>
                    <a:pt x="13527" y="252324"/>
                  </a:lnTo>
                  <a:lnTo>
                    <a:pt x="29759" y="209919"/>
                  </a:lnTo>
                  <a:lnTo>
                    <a:pt x="51703" y="170236"/>
                  </a:lnTo>
                  <a:lnTo>
                    <a:pt x="78906" y="133686"/>
                  </a:lnTo>
                  <a:lnTo>
                    <a:pt x="110918" y="100679"/>
                  </a:lnTo>
                  <a:lnTo>
                    <a:pt x="147288" y="71624"/>
                  </a:lnTo>
                  <a:lnTo>
                    <a:pt x="187564" y="46933"/>
                  </a:lnTo>
                  <a:lnTo>
                    <a:pt x="231296" y="27015"/>
                  </a:lnTo>
                  <a:lnTo>
                    <a:pt x="278032" y="12280"/>
                  </a:lnTo>
                  <a:lnTo>
                    <a:pt x="327322" y="3138"/>
                  </a:lnTo>
                  <a:lnTo>
                    <a:pt x="378713" y="0"/>
                  </a:lnTo>
                  <a:lnTo>
                    <a:pt x="430105" y="3138"/>
                  </a:lnTo>
                  <a:lnTo>
                    <a:pt x="479395" y="12280"/>
                  </a:lnTo>
                  <a:lnTo>
                    <a:pt x="526131" y="27015"/>
                  </a:lnTo>
                  <a:lnTo>
                    <a:pt x="569863" y="46933"/>
                  </a:lnTo>
                  <a:lnTo>
                    <a:pt x="610139" y="71624"/>
                  </a:lnTo>
                  <a:lnTo>
                    <a:pt x="646509" y="100679"/>
                  </a:lnTo>
                  <a:lnTo>
                    <a:pt x="678521" y="133686"/>
                  </a:lnTo>
                  <a:lnTo>
                    <a:pt x="705724" y="170236"/>
                  </a:lnTo>
                  <a:lnTo>
                    <a:pt x="727668" y="209919"/>
                  </a:lnTo>
                  <a:lnTo>
                    <a:pt x="743900" y="252324"/>
                  </a:lnTo>
                  <a:lnTo>
                    <a:pt x="753970" y="297041"/>
                  </a:lnTo>
                  <a:lnTo>
                    <a:pt x="757428" y="343662"/>
                  </a:lnTo>
                  <a:lnTo>
                    <a:pt x="753970" y="390282"/>
                  </a:lnTo>
                  <a:lnTo>
                    <a:pt x="743900" y="434999"/>
                  </a:lnTo>
                  <a:lnTo>
                    <a:pt x="727668" y="477404"/>
                  </a:lnTo>
                  <a:lnTo>
                    <a:pt x="705724" y="517087"/>
                  </a:lnTo>
                  <a:lnTo>
                    <a:pt x="678521" y="553637"/>
                  </a:lnTo>
                  <a:lnTo>
                    <a:pt x="646509" y="586644"/>
                  </a:lnTo>
                  <a:lnTo>
                    <a:pt x="610139" y="615699"/>
                  </a:lnTo>
                  <a:lnTo>
                    <a:pt x="569863" y="640390"/>
                  </a:lnTo>
                  <a:lnTo>
                    <a:pt x="526131" y="660308"/>
                  </a:lnTo>
                  <a:lnTo>
                    <a:pt x="479395" y="675043"/>
                  </a:lnTo>
                  <a:lnTo>
                    <a:pt x="430105" y="684185"/>
                  </a:lnTo>
                  <a:lnTo>
                    <a:pt x="378713" y="687324"/>
                  </a:lnTo>
                  <a:lnTo>
                    <a:pt x="327322" y="684185"/>
                  </a:lnTo>
                  <a:lnTo>
                    <a:pt x="278032" y="675043"/>
                  </a:lnTo>
                  <a:lnTo>
                    <a:pt x="231296" y="660308"/>
                  </a:lnTo>
                  <a:lnTo>
                    <a:pt x="187564" y="640390"/>
                  </a:lnTo>
                  <a:lnTo>
                    <a:pt x="147288" y="615699"/>
                  </a:lnTo>
                  <a:lnTo>
                    <a:pt x="110918" y="586644"/>
                  </a:lnTo>
                  <a:lnTo>
                    <a:pt x="78906" y="553637"/>
                  </a:lnTo>
                  <a:lnTo>
                    <a:pt x="51703" y="517087"/>
                  </a:lnTo>
                  <a:lnTo>
                    <a:pt x="29759" y="477404"/>
                  </a:lnTo>
                  <a:lnTo>
                    <a:pt x="13527" y="434999"/>
                  </a:lnTo>
                  <a:lnTo>
                    <a:pt x="3457" y="390282"/>
                  </a:lnTo>
                  <a:lnTo>
                    <a:pt x="0" y="343662"/>
                  </a:lnTo>
                  <a:close/>
                </a:path>
              </a:pathLst>
            </a:custGeom>
            <a:ln w="38099">
              <a:solidFill>
                <a:srgbClr val="2A2F3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22491" y="1089660"/>
              <a:ext cx="403167" cy="432815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6360414" y="3837178"/>
            <a:ext cx="176148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Set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up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NextLabs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360414" y="2007565"/>
            <a:ext cx="5511800" cy="4302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Digital</a:t>
            </a:r>
            <a:r>
              <a:rPr dirty="0" sz="1600" spc="-6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Partner</a:t>
            </a:r>
            <a:r>
              <a:rPr dirty="0" sz="1600" spc="-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7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Choice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5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Fortune</a:t>
            </a:r>
            <a:r>
              <a:rPr dirty="0" sz="1600" spc="-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500</a:t>
            </a:r>
            <a:r>
              <a:rPr dirty="0" sz="16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Companies</a:t>
            </a:r>
            <a:endParaRPr sz="16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One</a:t>
            </a:r>
            <a:r>
              <a:rPr dirty="0" sz="16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the</a:t>
            </a:r>
            <a:r>
              <a:rPr dirty="0" sz="1600" spc="-1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first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applications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on</a:t>
            </a:r>
            <a:r>
              <a:rPr dirty="0" sz="1600" spc="-7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Apple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Pay</a:t>
            </a:r>
            <a:endParaRPr sz="16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First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to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introduce</a:t>
            </a:r>
            <a:r>
              <a:rPr dirty="0" sz="16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Semantic</a:t>
            </a:r>
            <a:r>
              <a:rPr dirty="0" sz="1600" spc="-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technology</a:t>
            </a:r>
            <a:r>
              <a:rPr dirty="0" sz="1600" spc="-1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to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a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Large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NA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bank</a:t>
            </a:r>
            <a:endParaRPr sz="16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Pioneer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integrating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Natural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Language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Interaction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with</a:t>
            </a:r>
            <a:endParaRPr sz="1600">
              <a:latin typeface="Corbel"/>
              <a:cs typeface="Corbel"/>
            </a:endParaRPr>
          </a:p>
          <a:p>
            <a:pPr marL="299085">
              <a:lnSpc>
                <a:spcPct val="100000"/>
              </a:lnSpc>
            </a:pP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Salesforce.com</a:t>
            </a:r>
            <a:endParaRPr sz="1600"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 sz="16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600">
              <a:latin typeface="Corbel"/>
              <a:cs typeface="Corbel"/>
            </a:endParaRPr>
          </a:p>
          <a:p>
            <a:pPr lvl="1" marL="7562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Next</a:t>
            </a:r>
            <a:r>
              <a:rPr dirty="0" sz="1400" spc="-9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Angles</a:t>
            </a:r>
            <a:r>
              <a:rPr dirty="0" sz="14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–</a:t>
            </a:r>
            <a:r>
              <a:rPr dirty="0" sz="1400" spc="1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AI</a:t>
            </a:r>
            <a:r>
              <a:rPr dirty="0" sz="14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NLP</a:t>
            </a:r>
            <a:r>
              <a:rPr dirty="0" sz="14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based</a:t>
            </a:r>
            <a:r>
              <a:rPr dirty="0" sz="1400" spc="-6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GRC</a:t>
            </a:r>
            <a:r>
              <a:rPr dirty="0" sz="1400" spc="-8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Automation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platform</a:t>
            </a:r>
            <a:endParaRPr sz="1400">
              <a:latin typeface="Corbel"/>
              <a:cs typeface="Corbel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Deep</a:t>
            </a:r>
            <a:r>
              <a:rPr dirty="0" sz="14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Insights</a:t>
            </a:r>
            <a:r>
              <a:rPr dirty="0" sz="14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-</a:t>
            </a:r>
            <a:r>
              <a:rPr dirty="0" sz="1400" spc="-7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Cognitive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computing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platform,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which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transforms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enterprise</a:t>
            </a:r>
            <a:r>
              <a:rPr dirty="0" sz="1400" spc="-3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decision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by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depth</a:t>
            </a:r>
            <a:r>
              <a:rPr dirty="0" sz="1400" spc="-4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analysis</a:t>
            </a:r>
            <a:r>
              <a:rPr dirty="0" sz="1400" spc="-2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of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structured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 spc="-25">
                <a:latin typeface="Corbel"/>
                <a:cs typeface="Corbel"/>
              </a:rPr>
              <a:t>and </a:t>
            </a:r>
            <a:r>
              <a:rPr dirty="0" sz="1400">
                <a:latin typeface="Corbel"/>
                <a:cs typeface="Corbel"/>
              </a:rPr>
              <a:t>unstructured</a:t>
            </a:r>
            <a:r>
              <a:rPr dirty="0" sz="1400" spc="-5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data</a:t>
            </a:r>
            <a:r>
              <a:rPr dirty="0" sz="1400" spc="-5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sources</a:t>
            </a:r>
            <a:endParaRPr sz="1400">
              <a:latin typeface="Corbel"/>
              <a:cs typeface="Corbel"/>
            </a:endParaRPr>
          </a:p>
          <a:p>
            <a:pPr lvl="1" marL="756285" marR="128270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Infragenie</a:t>
            </a:r>
            <a:r>
              <a:rPr dirty="0" sz="14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-</a:t>
            </a:r>
            <a:r>
              <a:rPr dirty="0" sz="1400" spc="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Intelligent infrastructure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 automation</a:t>
            </a:r>
            <a:r>
              <a:rPr dirty="0" sz="14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platform</a:t>
            </a:r>
            <a:r>
              <a:rPr dirty="0" sz="1400" spc="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that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predicts,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diagnoses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resolves</a:t>
            </a:r>
            <a:r>
              <a:rPr dirty="0" sz="1400" spc="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infrastructure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issues</a:t>
            </a:r>
            <a:endParaRPr sz="1400">
              <a:latin typeface="Corbel"/>
              <a:cs typeface="Corbel"/>
            </a:endParaRPr>
          </a:p>
          <a:p>
            <a:pPr lvl="1" marL="756285" indent="-28638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756285" algn="l"/>
              </a:tabLst>
            </a:pP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Hypergraph</a:t>
            </a:r>
            <a:r>
              <a:rPr dirty="0" sz="14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-</a:t>
            </a:r>
            <a:r>
              <a:rPr dirty="0" sz="1400" spc="-8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Actionable</a:t>
            </a:r>
            <a:r>
              <a:rPr dirty="0" sz="1400" spc="-3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insights</a:t>
            </a:r>
            <a:r>
              <a:rPr dirty="0" sz="1400" spc="-3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by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bridging</a:t>
            </a:r>
            <a:r>
              <a:rPr dirty="0" sz="1400" spc="-5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the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gap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between</a:t>
            </a:r>
            <a:endParaRPr sz="1400">
              <a:latin typeface="Corbel"/>
              <a:cs typeface="Corbel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enterprise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data</a:t>
            </a:r>
            <a:r>
              <a:rPr dirty="0" sz="1400" spc="-5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400" spc="-3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external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data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364223" y="1731264"/>
            <a:ext cx="129539" cy="2299970"/>
            <a:chOff x="6364223" y="1731264"/>
            <a:chExt cx="129539" cy="2299970"/>
          </a:xfrm>
        </p:grpSpPr>
        <p:sp>
          <p:nvSpPr>
            <p:cNvPr id="22" name="object 22" descr=""/>
            <p:cNvSpPr/>
            <p:nvPr/>
          </p:nvSpPr>
          <p:spPr>
            <a:xfrm>
              <a:off x="6422135" y="1735836"/>
              <a:ext cx="13335" cy="2194560"/>
            </a:xfrm>
            <a:custGeom>
              <a:avLst/>
              <a:gdLst/>
              <a:ahLst/>
              <a:cxnLst/>
              <a:rect l="l" t="t" r="r" b="b"/>
              <a:pathLst>
                <a:path w="13335" h="2194560">
                  <a:moveTo>
                    <a:pt x="12953" y="0"/>
                  </a:moveTo>
                  <a:lnTo>
                    <a:pt x="0" y="2194560"/>
                  </a:lnTo>
                </a:path>
              </a:pathLst>
            </a:custGeom>
            <a:ln w="9144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64223" y="2080260"/>
              <a:ext cx="129539" cy="12953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64223" y="2478024"/>
              <a:ext cx="129539" cy="12953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64223" y="2848356"/>
              <a:ext cx="129539" cy="12954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64223" y="3270504"/>
              <a:ext cx="129539" cy="12954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64223" y="3901440"/>
              <a:ext cx="129539" cy="129540"/>
            </a:xfrm>
            <a:prstGeom prst="rect">
              <a:avLst/>
            </a:prstGeom>
          </p:spPr>
        </p:pic>
      </p:grpSp>
      <p:sp>
        <p:nvSpPr>
          <p:cNvPr id="28" name="object 28" descr=""/>
          <p:cNvSpPr/>
          <p:nvPr/>
        </p:nvSpPr>
        <p:spPr>
          <a:xfrm>
            <a:off x="5849111" y="858011"/>
            <a:ext cx="0" cy="5346065"/>
          </a:xfrm>
          <a:custGeom>
            <a:avLst/>
            <a:gdLst/>
            <a:ahLst/>
            <a:cxnLst/>
            <a:rect l="l" t="t" r="r" b="b"/>
            <a:pathLst>
              <a:path w="0" h="5346065">
                <a:moveTo>
                  <a:pt x="0" y="0"/>
                </a:moveTo>
                <a:lnTo>
                  <a:pt x="0" y="5345887"/>
                </a:lnTo>
              </a:path>
            </a:pathLst>
          </a:custGeom>
          <a:ln w="9144">
            <a:solidFill>
              <a:srgbClr val="B51E6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84988" y="176784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25450" h="373380">
                <a:moveTo>
                  <a:pt x="212597" y="0"/>
                </a:moveTo>
                <a:lnTo>
                  <a:pt x="163852" y="4929"/>
                </a:lnTo>
                <a:lnTo>
                  <a:pt x="119104" y="18972"/>
                </a:lnTo>
                <a:lnTo>
                  <a:pt x="79630" y="41008"/>
                </a:lnTo>
                <a:lnTo>
                  <a:pt x="46706" y="69917"/>
                </a:lnTo>
                <a:lnTo>
                  <a:pt x="21609" y="104580"/>
                </a:lnTo>
                <a:lnTo>
                  <a:pt x="5615" y="143878"/>
                </a:lnTo>
                <a:lnTo>
                  <a:pt x="0" y="186690"/>
                </a:lnTo>
                <a:lnTo>
                  <a:pt x="5615" y="229501"/>
                </a:lnTo>
                <a:lnTo>
                  <a:pt x="21609" y="268799"/>
                </a:lnTo>
                <a:lnTo>
                  <a:pt x="46706" y="303462"/>
                </a:lnTo>
                <a:lnTo>
                  <a:pt x="79630" y="332371"/>
                </a:lnTo>
                <a:lnTo>
                  <a:pt x="119104" y="354407"/>
                </a:lnTo>
                <a:lnTo>
                  <a:pt x="163852" y="368450"/>
                </a:lnTo>
                <a:lnTo>
                  <a:pt x="212597" y="373380"/>
                </a:lnTo>
                <a:lnTo>
                  <a:pt x="261343" y="368450"/>
                </a:lnTo>
                <a:lnTo>
                  <a:pt x="306091" y="354407"/>
                </a:lnTo>
                <a:lnTo>
                  <a:pt x="345565" y="332371"/>
                </a:lnTo>
                <a:lnTo>
                  <a:pt x="378489" y="303462"/>
                </a:lnTo>
                <a:lnTo>
                  <a:pt x="403586" y="268799"/>
                </a:lnTo>
                <a:lnTo>
                  <a:pt x="419580" y="229501"/>
                </a:lnTo>
                <a:lnTo>
                  <a:pt x="425196" y="186690"/>
                </a:lnTo>
                <a:lnTo>
                  <a:pt x="419580" y="143878"/>
                </a:lnTo>
                <a:lnTo>
                  <a:pt x="403586" y="104580"/>
                </a:lnTo>
                <a:lnTo>
                  <a:pt x="378489" y="69917"/>
                </a:lnTo>
                <a:lnTo>
                  <a:pt x="345565" y="41008"/>
                </a:lnTo>
                <a:lnTo>
                  <a:pt x="306091" y="18972"/>
                </a:lnTo>
                <a:lnTo>
                  <a:pt x="261343" y="4929"/>
                </a:lnTo>
                <a:lnTo>
                  <a:pt x="21259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407923" y="14820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 i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94055">
              <a:lnSpc>
                <a:spcPct val="100000"/>
              </a:lnSpc>
              <a:spcBef>
                <a:spcPts val="100"/>
              </a:spcBef>
            </a:pPr>
            <a:r>
              <a:rPr dirty="0" u="none" spc="-10"/>
              <a:t>Accelerate</a:t>
            </a:r>
            <a:r>
              <a:rPr dirty="0" u="none" spc="-70"/>
              <a:t> </a:t>
            </a:r>
            <a:r>
              <a:rPr dirty="0" u="none"/>
              <a:t>Direct</a:t>
            </a:r>
            <a:r>
              <a:rPr dirty="0" u="none" spc="-55"/>
              <a:t> </a:t>
            </a:r>
            <a:r>
              <a:rPr dirty="0" u="none"/>
              <a:t>Core</a:t>
            </a:r>
            <a:r>
              <a:rPr dirty="0" u="none" spc="-55"/>
              <a:t> </a:t>
            </a:r>
            <a:r>
              <a:rPr dirty="0" u="none"/>
              <a:t>:</a:t>
            </a:r>
            <a:r>
              <a:rPr dirty="0" u="none" spc="-45"/>
              <a:t> </a:t>
            </a:r>
            <a:r>
              <a:rPr dirty="0"/>
              <a:t>Mphasis</a:t>
            </a:r>
            <a:r>
              <a:rPr dirty="0" spc="-45"/>
              <a:t> </a:t>
            </a:r>
            <a:r>
              <a:rPr dirty="0"/>
              <a:t>X2C2</a:t>
            </a:r>
            <a:r>
              <a:rPr dirty="0" spc="-45"/>
              <a:t> </a:t>
            </a:r>
            <a:r>
              <a:rPr dirty="0"/>
              <a:t>TM</a:t>
            </a:r>
            <a:r>
              <a:rPr dirty="0" spc="-30"/>
              <a:t> </a:t>
            </a:r>
            <a:r>
              <a:rPr dirty="0"/>
              <a:t>-</a:t>
            </a:r>
            <a:r>
              <a:rPr dirty="0" spc="-55"/>
              <a:t> </a:t>
            </a:r>
            <a:r>
              <a:rPr dirty="0"/>
              <a:t>Fron</a:t>
            </a:r>
            <a:r>
              <a:rPr dirty="0" u="none"/>
              <a:t>t</a:t>
            </a:r>
            <a:r>
              <a:rPr dirty="0" u="none" spc="-60"/>
              <a:t> </a:t>
            </a:r>
            <a:r>
              <a:rPr dirty="0" u="none"/>
              <a:t>to</a:t>
            </a:r>
            <a:r>
              <a:rPr dirty="0" u="none" spc="-40"/>
              <a:t> </a:t>
            </a:r>
            <a:r>
              <a:rPr dirty="0" u="none"/>
              <a:t>Back</a:t>
            </a:r>
            <a:r>
              <a:rPr dirty="0" u="none" spc="-50"/>
              <a:t> </a:t>
            </a:r>
            <a:r>
              <a:rPr dirty="0" u="none" spc="-10"/>
              <a:t>Transformation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84988" y="176784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25450" h="373380">
                <a:moveTo>
                  <a:pt x="212597" y="0"/>
                </a:moveTo>
                <a:lnTo>
                  <a:pt x="163852" y="4929"/>
                </a:lnTo>
                <a:lnTo>
                  <a:pt x="119104" y="18972"/>
                </a:lnTo>
                <a:lnTo>
                  <a:pt x="79630" y="41008"/>
                </a:lnTo>
                <a:lnTo>
                  <a:pt x="46706" y="69917"/>
                </a:lnTo>
                <a:lnTo>
                  <a:pt x="21609" y="104580"/>
                </a:lnTo>
                <a:lnTo>
                  <a:pt x="5615" y="143878"/>
                </a:lnTo>
                <a:lnTo>
                  <a:pt x="0" y="186690"/>
                </a:lnTo>
                <a:lnTo>
                  <a:pt x="5615" y="229501"/>
                </a:lnTo>
                <a:lnTo>
                  <a:pt x="21609" y="268799"/>
                </a:lnTo>
                <a:lnTo>
                  <a:pt x="46706" y="303462"/>
                </a:lnTo>
                <a:lnTo>
                  <a:pt x="79630" y="332371"/>
                </a:lnTo>
                <a:lnTo>
                  <a:pt x="119104" y="354407"/>
                </a:lnTo>
                <a:lnTo>
                  <a:pt x="163852" y="368450"/>
                </a:lnTo>
                <a:lnTo>
                  <a:pt x="212597" y="373380"/>
                </a:lnTo>
                <a:lnTo>
                  <a:pt x="261343" y="368450"/>
                </a:lnTo>
                <a:lnTo>
                  <a:pt x="306091" y="354407"/>
                </a:lnTo>
                <a:lnTo>
                  <a:pt x="345565" y="332371"/>
                </a:lnTo>
                <a:lnTo>
                  <a:pt x="378489" y="303462"/>
                </a:lnTo>
                <a:lnTo>
                  <a:pt x="403586" y="268799"/>
                </a:lnTo>
                <a:lnTo>
                  <a:pt x="419580" y="229501"/>
                </a:lnTo>
                <a:lnTo>
                  <a:pt x="425196" y="186690"/>
                </a:lnTo>
                <a:lnTo>
                  <a:pt x="419580" y="143878"/>
                </a:lnTo>
                <a:lnTo>
                  <a:pt x="403586" y="104580"/>
                </a:lnTo>
                <a:lnTo>
                  <a:pt x="378489" y="69917"/>
                </a:lnTo>
                <a:lnTo>
                  <a:pt x="345565" y="41008"/>
                </a:lnTo>
                <a:lnTo>
                  <a:pt x="306091" y="18972"/>
                </a:lnTo>
                <a:lnTo>
                  <a:pt x="261343" y="4929"/>
                </a:lnTo>
                <a:lnTo>
                  <a:pt x="21259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07923" y="14820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 i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9280143" y="4759578"/>
            <a:ext cx="2051685" cy="1221105"/>
            <a:chOff x="9280143" y="4759578"/>
            <a:chExt cx="2051685" cy="1221105"/>
          </a:xfrm>
        </p:grpSpPr>
        <p:sp>
          <p:nvSpPr>
            <p:cNvPr id="6" name="object 6" descr=""/>
            <p:cNvSpPr/>
            <p:nvPr/>
          </p:nvSpPr>
          <p:spPr>
            <a:xfrm>
              <a:off x="9286493" y="5528690"/>
              <a:ext cx="2038985" cy="0"/>
            </a:xfrm>
            <a:custGeom>
              <a:avLst/>
              <a:gdLst/>
              <a:ahLst/>
              <a:cxnLst/>
              <a:rect l="l" t="t" r="r" b="b"/>
              <a:pathLst>
                <a:path w="2038984" h="0">
                  <a:moveTo>
                    <a:pt x="0" y="0"/>
                  </a:moveTo>
                  <a:lnTo>
                    <a:pt x="2038984" y="0"/>
                  </a:lnTo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286493" y="4765928"/>
              <a:ext cx="2038985" cy="1208405"/>
            </a:xfrm>
            <a:custGeom>
              <a:avLst/>
              <a:gdLst/>
              <a:ahLst/>
              <a:cxnLst/>
              <a:rect l="l" t="t" r="r" b="b"/>
              <a:pathLst>
                <a:path w="2038984" h="1208404">
                  <a:moveTo>
                    <a:pt x="6350" y="0"/>
                  </a:moveTo>
                  <a:lnTo>
                    <a:pt x="6350" y="1207795"/>
                  </a:lnTo>
                </a:path>
                <a:path w="2038984" h="1208404">
                  <a:moveTo>
                    <a:pt x="2032634" y="0"/>
                  </a:moveTo>
                  <a:lnTo>
                    <a:pt x="2032634" y="1207795"/>
                  </a:lnTo>
                </a:path>
                <a:path w="2038984" h="1208404">
                  <a:moveTo>
                    <a:pt x="0" y="6350"/>
                  </a:moveTo>
                  <a:lnTo>
                    <a:pt x="2038984" y="6350"/>
                  </a:lnTo>
                </a:path>
                <a:path w="2038984" h="1208404">
                  <a:moveTo>
                    <a:pt x="0" y="1201445"/>
                  </a:moveTo>
                  <a:lnTo>
                    <a:pt x="2038984" y="120144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9299067" y="5267199"/>
          <a:ext cx="835025" cy="564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8190"/>
              </a:tblGrid>
              <a:tr h="260985">
                <a:tc>
                  <a:txBody>
                    <a:bodyPr/>
                    <a:lstStyle/>
                    <a:p>
                      <a:pPr marL="63500">
                        <a:lnSpc>
                          <a:spcPts val="1040"/>
                        </a:lnSpc>
                      </a:pPr>
                      <a:r>
                        <a:rPr dirty="0" sz="1100" spc="-10" b="1">
                          <a:latin typeface="Corbel"/>
                          <a:cs typeface="Corbel"/>
                        </a:rPr>
                        <a:t>Traditional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/>
                </a:tc>
              </a:tr>
              <a:tr h="303530">
                <a:tc>
                  <a:txBody>
                    <a:bodyPr/>
                    <a:lstStyle/>
                    <a:p>
                      <a:pPr marL="63500">
                        <a:lnSpc>
                          <a:spcPts val="1285"/>
                        </a:lnSpc>
                        <a:spcBef>
                          <a:spcPts val="1010"/>
                        </a:spcBef>
                      </a:pPr>
                      <a:r>
                        <a:rPr dirty="0" sz="1100" spc="-25" b="1">
                          <a:latin typeface="Corbel"/>
                          <a:cs typeface="Corbel"/>
                        </a:rPr>
                        <a:t>F2B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128270"/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664768" y="5176520"/>
            <a:ext cx="7640955" cy="849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2729" indent="-214629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52729" algn="l"/>
              </a:tabLst>
            </a:pPr>
            <a:r>
              <a:rPr dirty="0" sz="1350">
                <a:latin typeface="Corbel"/>
                <a:cs typeface="Corbel"/>
              </a:rPr>
              <a:t>Right</a:t>
            </a:r>
            <a:r>
              <a:rPr dirty="0" sz="1350" spc="-20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sized </a:t>
            </a:r>
            <a:r>
              <a:rPr dirty="0" sz="1350" spc="-10">
                <a:latin typeface="Corbel"/>
                <a:cs typeface="Corbel"/>
              </a:rPr>
              <a:t>transformations</a:t>
            </a:r>
            <a:r>
              <a:rPr dirty="0" sz="1350" spc="-20">
                <a:latin typeface="Corbel"/>
                <a:cs typeface="Corbel"/>
              </a:rPr>
              <a:t> </a:t>
            </a:r>
            <a:r>
              <a:rPr dirty="0" sz="1350" b="1">
                <a:latin typeface="Corbel"/>
                <a:cs typeface="Corbel"/>
              </a:rPr>
              <a:t>delivering</a:t>
            </a:r>
            <a:r>
              <a:rPr dirty="0" sz="1350" spc="-50" b="1">
                <a:latin typeface="Corbel"/>
                <a:cs typeface="Corbel"/>
              </a:rPr>
              <a:t> </a:t>
            </a:r>
            <a:r>
              <a:rPr dirty="0" sz="1350" b="1">
                <a:latin typeface="Corbel"/>
                <a:cs typeface="Corbel"/>
              </a:rPr>
              <a:t>chunks</a:t>
            </a:r>
            <a:r>
              <a:rPr dirty="0" sz="1350" spc="-15" b="1">
                <a:latin typeface="Corbel"/>
                <a:cs typeface="Corbel"/>
              </a:rPr>
              <a:t> </a:t>
            </a:r>
            <a:r>
              <a:rPr dirty="0" sz="1350" b="1">
                <a:latin typeface="Corbel"/>
                <a:cs typeface="Corbel"/>
              </a:rPr>
              <a:t>of</a:t>
            </a:r>
            <a:r>
              <a:rPr dirty="0" sz="1350" spc="-15" b="1">
                <a:latin typeface="Corbel"/>
                <a:cs typeface="Corbel"/>
              </a:rPr>
              <a:t> </a:t>
            </a:r>
            <a:r>
              <a:rPr dirty="0" sz="1350" b="1">
                <a:latin typeface="Corbel"/>
                <a:cs typeface="Corbel"/>
              </a:rPr>
              <a:t>business</a:t>
            </a:r>
            <a:r>
              <a:rPr dirty="0" sz="1350" spc="-35" b="1">
                <a:latin typeface="Corbel"/>
                <a:cs typeface="Corbel"/>
              </a:rPr>
              <a:t> </a:t>
            </a:r>
            <a:r>
              <a:rPr dirty="0" sz="1350" b="1">
                <a:latin typeface="Corbel"/>
                <a:cs typeface="Corbel"/>
              </a:rPr>
              <a:t>value</a:t>
            </a:r>
            <a:r>
              <a:rPr dirty="0" sz="1350" spc="-5" b="1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in</a:t>
            </a:r>
            <a:r>
              <a:rPr dirty="0" sz="1350" spc="5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a</a:t>
            </a:r>
            <a:r>
              <a:rPr dirty="0" sz="1350" spc="5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timely</a:t>
            </a:r>
            <a:r>
              <a:rPr dirty="0" sz="1350" spc="-10">
                <a:latin typeface="Corbel"/>
                <a:cs typeface="Corbel"/>
              </a:rPr>
              <a:t> manner</a:t>
            </a:r>
            <a:endParaRPr sz="1350">
              <a:latin typeface="Corbel"/>
              <a:cs typeface="Corbel"/>
            </a:endParaRPr>
          </a:p>
          <a:p>
            <a:pPr marL="252729" indent="-214629">
              <a:lnSpc>
                <a:spcPct val="100000"/>
              </a:lnSpc>
              <a:buFont typeface="Arial MT"/>
              <a:buChar char="•"/>
              <a:tabLst>
                <a:tab pos="252729" algn="l"/>
              </a:tabLst>
            </a:pPr>
            <a:r>
              <a:rPr dirty="0" sz="1350">
                <a:latin typeface="Corbel"/>
                <a:cs typeface="Corbel"/>
              </a:rPr>
              <a:t>Best</a:t>
            </a:r>
            <a:r>
              <a:rPr dirty="0" sz="1350" spc="-20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way to</a:t>
            </a:r>
            <a:r>
              <a:rPr dirty="0" sz="1350" spc="-15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introduce</a:t>
            </a:r>
            <a:r>
              <a:rPr dirty="0" sz="1350" spc="-40">
                <a:latin typeface="Corbel"/>
                <a:cs typeface="Corbel"/>
              </a:rPr>
              <a:t> </a:t>
            </a:r>
            <a:r>
              <a:rPr dirty="0" sz="1350" b="1">
                <a:latin typeface="Corbel"/>
                <a:cs typeface="Corbel"/>
              </a:rPr>
              <a:t>disruptive</a:t>
            </a:r>
            <a:r>
              <a:rPr dirty="0" sz="1350" spc="-45" b="1">
                <a:latin typeface="Corbel"/>
                <a:cs typeface="Corbel"/>
              </a:rPr>
              <a:t> </a:t>
            </a:r>
            <a:r>
              <a:rPr dirty="0" sz="1350" b="1">
                <a:latin typeface="Corbel"/>
                <a:cs typeface="Corbel"/>
              </a:rPr>
              <a:t>technology</a:t>
            </a:r>
            <a:r>
              <a:rPr dirty="0" sz="1350" spc="-55" b="1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(X2C</a:t>
            </a:r>
            <a:r>
              <a:rPr dirty="0" baseline="24691" sz="1350">
                <a:latin typeface="Corbel"/>
                <a:cs typeface="Corbel"/>
              </a:rPr>
              <a:t>2</a:t>
            </a:r>
            <a:r>
              <a:rPr dirty="0" sz="1350">
                <a:latin typeface="Corbel"/>
                <a:cs typeface="Corbel"/>
              </a:rPr>
              <a:t>)</a:t>
            </a:r>
            <a:r>
              <a:rPr dirty="0" sz="1350" spc="-30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to</a:t>
            </a:r>
            <a:r>
              <a:rPr dirty="0" sz="1350" spc="-15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legacy</a:t>
            </a:r>
            <a:r>
              <a:rPr dirty="0" sz="1350" spc="-15">
                <a:latin typeface="Corbel"/>
                <a:cs typeface="Corbel"/>
              </a:rPr>
              <a:t> </a:t>
            </a:r>
            <a:r>
              <a:rPr dirty="0" sz="1350" spc="-10">
                <a:latin typeface="Corbel"/>
                <a:cs typeface="Corbel"/>
              </a:rPr>
              <a:t>environments</a:t>
            </a:r>
            <a:endParaRPr sz="1350">
              <a:latin typeface="Corbel"/>
              <a:cs typeface="Corbel"/>
            </a:endParaRPr>
          </a:p>
          <a:p>
            <a:pPr marL="252729" marR="43180" indent="-215265">
              <a:lnSpc>
                <a:spcPct val="100000"/>
              </a:lnSpc>
              <a:buFont typeface="Arial MT"/>
              <a:buChar char="•"/>
              <a:tabLst>
                <a:tab pos="252729" algn="l"/>
              </a:tabLst>
            </a:pPr>
            <a:r>
              <a:rPr dirty="0" sz="1350" spc="-10" b="1">
                <a:latin typeface="Corbel"/>
                <a:cs typeface="Corbel"/>
              </a:rPr>
              <a:t>Reference</a:t>
            </a:r>
            <a:r>
              <a:rPr dirty="0" sz="1350" spc="-60" b="1">
                <a:latin typeface="Corbel"/>
                <a:cs typeface="Corbel"/>
              </a:rPr>
              <a:t> </a:t>
            </a:r>
            <a:r>
              <a:rPr dirty="0" sz="1350" b="1">
                <a:latin typeface="Corbel"/>
                <a:cs typeface="Corbel"/>
              </a:rPr>
              <a:t>architecture</a:t>
            </a:r>
            <a:r>
              <a:rPr dirty="0" sz="1350" spc="-55" b="1">
                <a:latin typeface="Corbel"/>
                <a:cs typeface="Corbel"/>
              </a:rPr>
              <a:t> </a:t>
            </a:r>
            <a:r>
              <a:rPr dirty="0" sz="1350" b="1">
                <a:latin typeface="Corbel"/>
                <a:cs typeface="Corbel"/>
              </a:rPr>
              <a:t>based</a:t>
            </a:r>
            <a:r>
              <a:rPr dirty="0" sz="1350" spc="-40" b="1">
                <a:latin typeface="Corbel"/>
                <a:cs typeface="Corbel"/>
              </a:rPr>
              <a:t> </a:t>
            </a:r>
            <a:r>
              <a:rPr dirty="0" sz="1350" b="1">
                <a:latin typeface="Corbel"/>
                <a:cs typeface="Corbel"/>
              </a:rPr>
              <a:t>transformation</a:t>
            </a:r>
            <a:r>
              <a:rPr dirty="0" sz="1350">
                <a:latin typeface="Corbel"/>
                <a:cs typeface="Corbel"/>
              </a:rPr>
              <a:t>:</a:t>
            </a:r>
            <a:r>
              <a:rPr dirty="0" sz="1350" spc="-45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leverages</a:t>
            </a:r>
            <a:r>
              <a:rPr dirty="0" sz="1350" spc="-10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technology</a:t>
            </a:r>
            <a:r>
              <a:rPr dirty="0" sz="1350" spc="-35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from</a:t>
            </a:r>
            <a:r>
              <a:rPr dirty="0" sz="1350" spc="-30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previous</a:t>
            </a:r>
            <a:r>
              <a:rPr dirty="0" sz="1350" spc="-5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iterations</a:t>
            </a:r>
            <a:r>
              <a:rPr dirty="0" sz="1350" spc="-20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to</a:t>
            </a:r>
            <a:r>
              <a:rPr dirty="0" sz="1350" spc="-20">
                <a:latin typeface="Corbel"/>
                <a:cs typeface="Corbel"/>
              </a:rPr>
              <a:t> </a:t>
            </a:r>
            <a:r>
              <a:rPr dirty="0" sz="1350" spc="-10">
                <a:latin typeface="Corbel"/>
                <a:cs typeface="Corbel"/>
              </a:rPr>
              <a:t>reduce </a:t>
            </a:r>
            <a:r>
              <a:rPr dirty="0" sz="1350">
                <a:latin typeface="Corbel"/>
                <a:cs typeface="Corbel"/>
              </a:rPr>
              <a:t>marginal</a:t>
            </a:r>
            <a:r>
              <a:rPr dirty="0" sz="1350" spc="-40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cost</a:t>
            </a:r>
            <a:r>
              <a:rPr dirty="0" sz="1350" spc="-10">
                <a:latin typeface="Corbel"/>
                <a:cs typeface="Corbel"/>
              </a:rPr>
              <a:t> </a:t>
            </a:r>
            <a:r>
              <a:rPr dirty="0" sz="1350">
                <a:latin typeface="Corbel"/>
                <a:cs typeface="Corbel"/>
              </a:rPr>
              <a:t>of </a:t>
            </a:r>
            <a:r>
              <a:rPr dirty="0" sz="1350" spc="-10">
                <a:latin typeface="Corbel"/>
                <a:cs typeface="Corbel"/>
              </a:rPr>
              <a:t>implementation</a:t>
            </a:r>
            <a:endParaRPr sz="1350">
              <a:latin typeface="Corbel"/>
              <a:cs typeface="Corbe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0186416" y="5132832"/>
            <a:ext cx="1077595" cy="228600"/>
          </a:xfrm>
          <a:custGeom>
            <a:avLst/>
            <a:gdLst/>
            <a:ahLst/>
            <a:cxnLst/>
            <a:rect l="l" t="t" r="r" b="b"/>
            <a:pathLst>
              <a:path w="1077595" h="228600">
                <a:moveTo>
                  <a:pt x="1077467" y="0"/>
                </a:moveTo>
                <a:lnTo>
                  <a:pt x="0" y="228600"/>
                </a:lnTo>
                <a:lnTo>
                  <a:pt x="1077467" y="228600"/>
                </a:lnTo>
                <a:lnTo>
                  <a:pt x="107746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0258425" y="5880303"/>
            <a:ext cx="71691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solidFill>
                  <a:srgbClr val="404040"/>
                </a:solidFill>
                <a:latin typeface="Calibri"/>
                <a:cs typeface="Calibri"/>
              </a:rPr>
              <a:t>Q1</a:t>
            </a:r>
            <a:r>
              <a:rPr dirty="0" sz="750" spc="175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dirty="0" sz="750">
                <a:solidFill>
                  <a:srgbClr val="404040"/>
                </a:solidFill>
                <a:latin typeface="Calibri"/>
                <a:cs typeface="Calibri"/>
              </a:rPr>
              <a:t>Q2</a:t>
            </a:r>
            <a:r>
              <a:rPr dirty="0" sz="750" spc="185">
                <a:solidFill>
                  <a:srgbClr val="404040"/>
                </a:solidFill>
                <a:latin typeface="Calibri"/>
                <a:cs typeface="Calibri"/>
              </a:rPr>
              <a:t>  </a:t>
            </a:r>
            <a:r>
              <a:rPr dirty="0" sz="750">
                <a:solidFill>
                  <a:srgbClr val="404040"/>
                </a:solidFill>
                <a:latin typeface="Calibri"/>
                <a:cs typeface="Calibri"/>
              </a:rPr>
              <a:t>Q3.</a:t>
            </a:r>
            <a:r>
              <a:rPr dirty="0" sz="750" spc="1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404040"/>
                </a:solidFill>
                <a:latin typeface="Calibri"/>
                <a:cs typeface="Calibri"/>
              </a:rPr>
              <a:t>Q4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944623" y="4916423"/>
            <a:ext cx="9029700" cy="958850"/>
            <a:chOff x="1944623" y="4916423"/>
            <a:chExt cx="9029700" cy="958850"/>
          </a:xfrm>
        </p:grpSpPr>
        <p:sp>
          <p:nvSpPr>
            <p:cNvPr id="13" name="object 13" descr=""/>
            <p:cNvSpPr/>
            <p:nvPr/>
          </p:nvSpPr>
          <p:spPr>
            <a:xfrm>
              <a:off x="10236708" y="5583935"/>
              <a:ext cx="737870" cy="291465"/>
            </a:xfrm>
            <a:custGeom>
              <a:avLst/>
              <a:gdLst/>
              <a:ahLst/>
              <a:cxnLst/>
              <a:rect l="l" t="t" r="r" b="b"/>
              <a:pathLst>
                <a:path w="737870" h="291464">
                  <a:moveTo>
                    <a:pt x="737616" y="0"/>
                  </a:moveTo>
                  <a:lnTo>
                    <a:pt x="528828" y="0"/>
                  </a:lnTo>
                  <a:lnTo>
                    <a:pt x="528828" y="65532"/>
                  </a:lnTo>
                  <a:lnTo>
                    <a:pt x="281940" y="65532"/>
                  </a:lnTo>
                  <a:lnTo>
                    <a:pt x="281940" y="140208"/>
                  </a:lnTo>
                  <a:lnTo>
                    <a:pt x="138684" y="140208"/>
                  </a:lnTo>
                  <a:lnTo>
                    <a:pt x="138684" y="220980"/>
                  </a:lnTo>
                  <a:lnTo>
                    <a:pt x="0" y="220980"/>
                  </a:lnTo>
                  <a:lnTo>
                    <a:pt x="0" y="291084"/>
                  </a:lnTo>
                  <a:lnTo>
                    <a:pt x="192024" y="291084"/>
                  </a:lnTo>
                  <a:lnTo>
                    <a:pt x="192024" y="220980"/>
                  </a:lnTo>
                  <a:lnTo>
                    <a:pt x="379476" y="220980"/>
                  </a:lnTo>
                  <a:lnTo>
                    <a:pt x="379476" y="149352"/>
                  </a:lnTo>
                  <a:lnTo>
                    <a:pt x="542544" y="149352"/>
                  </a:lnTo>
                  <a:lnTo>
                    <a:pt x="542544" y="79248"/>
                  </a:lnTo>
                  <a:lnTo>
                    <a:pt x="737616" y="79248"/>
                  </a:lnTo>
                  <a:lnTo>
                    <a:pt x="737616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44623" y="4920995"/>
              <a:ext cx="8409305" cy="0"/>
            </a:xfrm>
            <a:custGeom>
              <a:avLst/>
              <a:gdLst/>
              <a:ahLst/>
              <a:cxnLst/>
              <a:rect l="l" t="t" r="r" b="b"/>
              <a:pathLst>
                <a:path w="8409305" h="0">
                  <a:moveTo>
                    <a:pt x="0" y="0"/>
                  </a:moveTo>
                  <a:lnTo>
                    <a:pt x="8409305" y="0"/>
                  </a:lnTo>
                </a:path>
              </a:pathLst>
            </a:custGeom>
            <a:ln w="9144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201158" y="4568190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 b="1">
                <a:latin typeface="Corbel"/>
                <a:cs typeface="Corbel"/>
              </a:rPr>
              <a:t>2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913632" y="4584319"/>
            <a:ext cx="45396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rbel"/>
                <a:cs typeface="Corbel"/>
              </a:rPr>
              <a:t>Mphasis</a:t>
            </a:r>
            <a:r>
              <a:rPr dirty="0" sz="1800" spc="-75" b="1">
                <a:latin typeface="Corbel"/>
                <a:cs typeface="Corbel"/>
              </a:rPr>
              <a:t> </a:t>
            </a:r>
            <a:r>
              <a:rPr dirty="0" sz="1800" spc="-20" b="1">
                <a:latin typeface="Corbel"/>
                <a:cs typeface="Corbel"/>
              </a:rPr>
              <a:t>X2C</a:t>
            </a:r>
            <a:r>
              <a:rPr dirty="0" sz="1800" spc="-225" b="1">
                <a:latin typeface="Corbel"/>
                <a:cs typeface="Corbel"/>
              </a:rPr>
              <a:t> </a:t>
            </a:r>
            <a:r>
              <a:rPr dirty="0" baseline="-18518" sz="900" b="1">
                <a:latin typeface="Corbel"/>
                <a:cs typeface="Corbel"/>
              </a:rPr>
              <a:t>TM</a:t>
            </a:r>
            <a:r>
              <a:rPr dirty="0" baseline="-18518" sz="900" spc="7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- </a:t>
            </a:r>
            <a:r>
              <a:rPr dirty="0" sz="1800" spc="-10" b="1">
                <a:latin typeface="Corbel"/>
                <a:cs typeface="Corbel"/>
              </a:rPr>
              <a:t>Powered </a:t>
            </a:r>
            <a:r>
              <a:rPr dirty="0" sz="1800" b="1">
                <a:latin typeface="Corbel"/>
                <a:cs typeface="Corbel"/>
              </a:rPr>
              <a:t>by</a:t>
            </a:r>
            <a:r>
              <a:rPr dirty="0" sz="1800" spc="-85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Cloud</a:t>
            </a:r>
            <a:r>
              <a:rPr dirty="0" sz="1800" spc="-3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&amp;</a:t>
            </a:r>
            <a:r>
              <a:rPr dirty="0" sz="1800" spc="-70" b="1">
                <a:latin typeface="Corbel"/>
                <a:cs typeface="Corbel"/>
              </a:rPr>
              <a:t> </a:t>
            </a:r>
            <a:r>
              <a:rPr dirty="0" sz="1800" spc="-10" b="1">
                <a:latin typeface="Corbel"/>
                <a:cs typeface="Corbel"/>
              </a:rPr>
              <a:t>Cognitive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385297" y="5371591"/>
            <a:ext cx="10985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25">
                <a:solidFill>
                  <a:srgbClr val="2A2F3B"/>
                </a:solidFill>
                <a:latin typeface="Calibri"/>
                <a:cs typeface="Calibri"/>
              </a:rPr>
              <a:t>Y1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640732" y="5371591"/>
            <a:ext cx="58166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8285" algn="l"/>
                <a:tab pos="483870" algn="l"/>
              </a:tabLst>
            </a:pPr>
            <a:r>
              <a:rPr dirty="0" sz="650" spc="-25">
                <a:solidFill>
                  <a:srgbClr val="2A2F3B"/>
                </a:solidFill>
                <a:latin typeface="Calibri"/>
                <a:cs typeface="Calibri"/>
              </a:rPr>
              <a:t>Y2</a:t>
            </a:r>
            <a:r>
              <a:rPr dirty="0" sz="650">
                <a:solidFill>
                  <a:srgbClr val="2A2F3B"/>
                </a:solidFill>
                <a:latin typeface="Calibri"/>
                <a:cs typeface="Calibri"/>
              </a:rPr>
              <a:t>	</a:t>
            </a:r>
            <a:r>
              <a:rPr dirty="0" sz="650" spc="-25">
                <a:solidFill>
                  <a:srgbClr val="2A2F3B"/>
                </a:solidFill>
                <a:latin typeface="Calibri"/>
                <a:cs typeface="Calibri"/>
              </a:rPr>
              <a:t>Y3</a:t>
            </a:r>
            <a:r>
              <a:rPr dirty="0" sz="650">
                <a:solidFill>
                  <a:srgbClr val="2A2F3B"/>
                </a:solidFill>
                <a:latin typeface="Calibri"/>
                <a:cs typeface="Calibri"/>
              </a:rPr>
              <a:t>	</a:t>
            </a:r>
            <a:r>
              <a:rPr dirty="0" sz="650" spc="-25">
                <a:solidFill>
                  <a:srgbClr val="2A2F3B"/>
                </a:solidFill>
                <a:latin typeface="Calibri"/>
                <a:cs typeface="Calibri"/>
              </a:rPr>
              <a:t>Y4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467470" y="2360802"/>
            <a:ext cx="10623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756F6F"/>
                </a:solidFill>
                <a:latin typeface="Corbel"/>
                <a:cs typeface="Corbel"/>
              </a:rPr>
              <a:t>Microservices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10946" y="3277615"/>
            <a:ext cx="1477010" cy="911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127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2A2F3B"/>
                </a:solidFill>
                <a:latin typeface="Corbel"/>
                <a:cs typeface="Corbel"/>
              </a:rPr>
              <a:t>Customers</a:t>
            </a:r>
            <a:r>
              <a:rPr dirty="0" sz="20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2000" spc="-50" b="1">
                <a:solidFill>
                  <a:srgbClr val="2A2F3B"/>
                </a:solidFill>
                <a:latin typeface="Corbel"/>
                <a:cs typeface="Corbel"/>
              </a:rPr>
              <a:t>/ </a:t>
            </a:r>
            <a:r>
              <a:rPr dirty="0" sz="2000" spc="-10" b="1">
                <a:solidFill>
                  <a:srgbClr val="2A2F3B"/>
                </a:solidFill>
                <a:latin typeface="Corbel"/>
                <a:cs typeface="Corbel"/>
              </a:rPr>
              <a:t>Stakeholders </a:t>
            </a:r>
            <a:r>
              <a:rPr dirty="0" sz="1800" b="1">
                <a:solidFill>
                  <a:srgbClr val="2A2F3B"/>
                </a:solidFill>
                <a:latin typeface="Corbel"/>
                <a:cs typeface="Corbel"/>
              </a:rPr>
              <a:t>KPI</a:t>
            </a:r>
            <a:r>
              <a:rPr dirty="0" sz="1800" spc="-10" b="1">
                <a:solidFill>
                  <a:srgbClr val="2A2F3B"/>
                </a:solidFill>
                <a:latin typeface="Corbel"/>
                <a:cs typeface="Corbel"/>
              </a:rPr>
              <a:t> Driven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8040" y="1822704"/>
            <a:ext cx="824484" cy="2348484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8657081" y="3232785"/>
            <a:ext cx="7004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756F6F"/>
                </a:solidFill>
                <a:latin typeface="Corbel"/>
                <a:cs typeface="Corbel"/>
              </a:rPr>
              <a:t>and</a:t>
            </a:r>
            <a:r>
              <a:rPr dirty="0" sz="1400" spc="-15" b="1">
                <a:solidFill>
                  <a:srgbClr val="756F6F"/>
                </a:solidFill>
                <a:latin typeface="Corbel"/>
                <a:cs typeface="Corbel"/>
              </a:rPr>
              <a:t> </a:t>
            </a:r>
            <a:r>
              <a:rPr dirty="0" sz="1400" spc="-20" b="1">
                <a:solidFill>
                  <a:srgbClr val="756F6F"/>
                </a:solidFill>
                <a:latin typeface="Corbel"/>
                <a:cs typeface="Corbel"/>
              </a:rPr>
              <a:t>APIs</a:t>
            </a:r>
            <a:endParaRPr sz="1400">
              <a:latin typeface="Corbel"/>
              <a:cs typeface="Corbel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8400" y="3659113"/>
            <a:ext cx="585216" cy="370353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9827514" y="2175510"/>
            <a:ext cx="1106805" cy="1115695"/>
          </a:xfrm>
          <a:custGeom>
            <a:avLst/>
            <a:gdLst/>
            <a:ahLst/>
            <a:cxnLst/>
            <a:rect l="l" t="t" r="r" b="b"/>
            <a:pathLst>
              <a:path w="1106804" h="1115695">
                <a:moveTo>
                  <a:pt x="0" y="557784"/>
                </a:moveTo>
                <a:lnTo>
                  <a:pt x="2030" y="509649"/>
                </a:lnTo>
                <a:lnTo>
                  <a:pt x="8010" y="462653"/>
                </a:lnTo>
                <a:lnTo>
                  <a:pt x="17775" y="416963"/>
                </a:lnTo>
                <a:lnTo>
                  <a:pt x="31158" y="372745"/>
                </a:lnTo>
                <a:lnTo>
                  <a:pt x="47993" y="330168"/>
                </a:lnTo>
                <a:lnTo>
                  <a:pt x="68114" y="289398"/>
                </a:lnTo>
                <a:lnTo>
                  <a:pt x="91355" y="250603"/>
                </a:lnTo>
                <a:lnTo>
                  <a:pt x="117550" y="213950"/>
                </a:lnTo>
                <a:lnTo>
                  <a:pt x="146534" y="179607"/>
                </a:lnTo>
                <a:lnTo>
                  <a:pt x="178140" y="147740"/>
                </a:lnTo>
                <a:lnTo>
                  <a:pt x="212203" y="118517"/>
                </a:lnTo>
                <a:lnTo>
                  <a:pt x="248555" y="92106"/>
                </a:lnTo>
                <a:lnTo>
                  <a:pt x="287032" y="68673"/>
                </a:lnTo>
                <a:lnTo>
                  <a:pt x="327468" y="48387"/>
                </a:lnTo>
                <a:lnTo>
                  <a:pt x="369696" y="31414"/>
                </a:lnTo>
                <a:lnTo>
                  <a:pt x="413550" y="17921"/>
                </a:lnTo>
                <a:lnTo>
                  <a:pt x="458865" y="8076"/>
                </a:lnTo>
                <a:lnTo>
                  <a:pt x="505474" y="2047"/>
                </a:lnTo>
                <a:lnTo>
                  <a:pt x="553211" y="0"/>
                </a:lnTo>
                <a:lnTo>
                  <a:pt x="600949" y="2047"/>
                </a:lnTo>
                <a:lnTo>
                  <a:pt x="647558" y="8076"/>
                </a:lnTo>
                <a:lnTo>
                  <a:pt x="692873" y="17921"/>
                </a:lnTo>
                <a:lnTo>
                  <a:pt x="736727" y="31414"/>
                </a:lnTo>
                <a:lnTo>
                  <a:pt x="778955" y="48387"/>
                </a:lnTo>
                <a:lnTo>
                  <a:pt x="819391" y="68673"/>
                </a:lnTo>
                <a:lnTo>
                  <a:pt x="857868" y="92106"/>
                </a:lnTo>
                <a:lnTo>
                  <a:pt x="894220" y="118517"/>
                </a:lnTo>
                <a:lnTo>
                  <a:pt x="928283" y="147740"/>
                </a:lnTo>
                <a:lnTo>
                  <a:pt x="959889" y="179607"/>
                </a:lnTo>
                <a:lnTo>
                  <a:pt x="988873" y="213950"/>
                </a:lnTo>
                <a:lnTo>
                  <a:pt x="1015068" y="250603"/>
                </a:lnTo>
                <a:lnTo>
                  <a:pt x="1038309" y="289398"/>
                </a:lnTo>
                <a:lnTo>
                  <a:pt x="1058430" y="330168"/>
                </a:lnTo>
                <a:lnTo>
                  <a:pt x="1075265" y="372745"/>
                </a:lnTo>
                <a:lnTo>
                  <a:pt x="1088648" y="416963"/>
                </a:lnTo>
                <a:lnTo>
                  <a:pt x="1098413" y="462653"/>
                </a:lnTo>
                <a:lnTo>
                  <a:pt x="1104393" y="509649"/>
                </a:lnTo>
                <a:lnTo>
                  <a:pt x="1106424" y="557784"/>
                </a:lnTo>
                <a:lnTo>
                  <a:pt x="1104393" y="605918"/>
                </a:lnTo>
                <a:lnTo>
                  <a:pt x="1098413" y="652914"/>
                </a:lnTo>
                <a:lnTo>
                  <a:pt x="1088648" y="698604"/>
                </a:lnTo>
                <a:lnTo>
                  <a:pt x="1075265" y="742822"/>
                </a:lnTo>
                <a:lnTo>
                  <a:pt x="1058430" y="785399"/>
                </a:lnTo>
                <a:lnTo>
                  <a:pt x="1038309" y="826169"/>
                </a:lnTo>
                <a:lnTo>
                  <a:pt x="1015068" y="864964"/>
                </a:lnTo>
                <a:lnTo>
                  <a:pt x="988873" y="901617"/>
                </a:lnTo>
                <a:lnTo>
                  <a:pt x="959889" y="935960"/>
                </a:lnTo>
                <a:lnTo>
                  <a:pt x="928283" y="967827"/>
                </a:lnTo>
                <a:lnTo>
                  <a:pt x="894220" y="997050"/>
                </a:lnTo>
                <a:lnTo>
                  <a:pt x="857868" y="1023461"/>
                </a:lnTo>
                <a:lnTo>
                  <a:pt x="819391" y="1046894"/>
                </a:lnTo>
                <a:lnTo>
                  <a:pt x="778955" y="1067180"/>
                </a:lnTo>
                <a:lnTo>
                  <a:pt x="736727" y="1084153"/>
                </a:lnTo>
                <a:lnTo>
                  <a:pt x="692873" y="1097646"/>
                </a:lnTo>
                <a:lnTo>
                  <a:pt x="647558" y="1107491"/>
                </a:lnTo>
                <a:lnTo>
                  <a:pt x="600949" y="1113520"/>
                </a:lnTo>
                <a:lnTo>
                  <a:pt x="553211" y="1115567"/>
                </a:lnTo>
                <a:lnTo>
                  <a:pt x="505474" y="1113520"/>
                </a:lnTo>
                <a:lnTo>
                  <a:pt x="458865" y="1107491"/>
                </a:lnTo>
                <a:lnTo>
                  <a:pt x="413550" y="1097646"/>
                </a:lnTo>
                <a:lnTo>
                  <a:pt x="369696" y="1084153"/>
                </a:lnTo>
                <a:lnTo>
                  <a:pt x="327468" y="1067180"/>
                </a:lnTo>
                <a:lnTo>
                  <a:pt x="287032" y="1046894"/>
                </a:lnTo>
                <a:lnTo>
                  <a:pt x="248555" y="1023461"/>
                </a:lnTo>
                <a:lnTo>
                  <a:pt x="212203" y="997050"/>
                </a:lnTo>
                <a:lnTo>
                  <a:pt x="178140" y="967827"/>
                </a:lnTo>
                <a:lnTo>
                  <a:pt x="146534" y="935960"/>
                </a:lnTo>
                <a:lnTo>
                  <a:pt x="117550" y="901617"/>
                </a:lnTo>
                <a:lnTo>
                  <a:pt x="91355" y="864964"/>
                </a:lnTo>
                <a:lnTo>
                  <a:pt x="68114" y="826169"/>
                </a:lnTo>
                <a:lnTo>
                  <a:pt x="47993" y="785399"/>
                </a:lnTo>
                <a:lnTo>
                  <a:pt x="31158" y="742822"/>
                </a:lnTo>
                <a:lnTo>
                  <a:pt x="17775" y="698604"/>
                </a:lnTo>
                <a:lnTo>
                  <a:pt x="8010" y="652914"/>
                </a:lnTo>
                <a:lnTo>
                  <a:pt x="2030" y="605918"/>
                </a:lnTo>
                <a:lnTo>
                  <a:pt x="0" y="557784"/>
                </a:lnTo>
                <a:close/>
              </a:path>
            </a:pathLst>
          </a:custGeom>
          <a:ln w="38100">
            <a:solidFill>
              <a:srgbClr val="2A2F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0088626" y="2459863"/>
            <a:ext cx="585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635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756F6F"/>
                </a:solidFill>
                <a:latin typeface="Corbel"/>
                <a:cs typeface="Corbel"/>
              </a:rPr>
              <a:t>Core </a:t>
            </a:r>
            <a:r>
              <a:rPr dirty="0" sz="1200" spc="-10" b="1">
                <a:solidFill>
                  <a:srgbClr val="756F6F"/>
                </a:solidFill>
                <a:latin typeface="Corbel"/>
                <a:cs typeface="Corbel"/>
              </a:rPr>
              <a:t>Systems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9909936" y="2333244"/>
            <a:ext cx="931544" cy="1243965"/>
            <a:chOff x="9909936" y="2333244"/>
            <a:chExt cx="931544" cy="1243965"/>
          </a:xfrm>
        </p:grpSpPr>
        <p:sp>
          <p:nvSpPr>
            <p:cNvPr id="27" name="object 27" descr=""/>
            <p:cNvSpPr/>
            <p:nvPr/>
          </p:nvSpPr>
          <p:spPr>
            <a:xfrm>
              <a:off x="10246613" y="3245358"/>
              <a:ext cx="277495" cy="312420"/>
            </a:xfrm>
            <a:custGeom>
              <a:avLst/>
              <a:gdLst/>
              <a:ahLst/>
              <a:cxnLst/>
              <a:rect l="l" t="t" r="r" b="b"/>
              <a:pathLst>
                <a:path w="277495" h="312420">
                  <a:moveTo>
                    <a:pt x="208025" y="0"/>
                  </a:moveTo>
                  <a:lnTo>
                    <a:pt x="69341" y="0"/>
                  </a:lnTo>
                  <a:lnTo>
                    <a:pt x="69341" y="173736"/>
                  </a:lnTo>
                  <a:lnTo>
                    <a:pt x="0" y="173736"/>
                  </a:lnTo>
                  <a:lnTo>
                    <a:pt x="138683" y="312419"/>
                  </a:lnTo>
                  <a:lnTo>
                    <a:pt x="277367" y="173736"/>
                  </a:lnTo>
                  <a:lnTo>
                    <a:pt x="208025" y="173736"/>
                  </a:lnTo>
                  <a:lnTo>
                    <a:pt x="208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246613" y="3245358"/>
              <a:ext cx="277495" cy="312420"/>
            </a:xfrm>
            <a:custGeom>
              <a:avLst/>
              <a:gdLst/>
              <a:ahLst/>
              <a:cxnLst/>
              <a:rect l="l" t="t" r="r" b="b"/>
              <a:pathLst>
                <a:path w="277495" h="312420">
                  <a:moveTo>
                    <a:pt x="0" y="173736"/>
                  </a:moveTo>
                  <a:lnTo>
                    <a:pt x="69341" y="173736"/>
                  </a:lnTo>
                  <a:lnTo>
                    <a:pt x="69341" y="0"/>
                  </a:lnTo>
                  <a:lnTo>
                    <a:pt x="208025" y="0"/>
                  </a:lnTo>
                  <a:lnTo>
                    <a:pt x="208025" y="173736"/>
                  </a:lnTo>
                  <a:lnTo>
                    <a:pt x="277367" y="173736"/>
                  </a:lnTo>
                  <a:lnTo>
                    <a:pt x="138683" y="312419"/>
                  </a:lnTo>
                  <a:lnTo>
                    <a:pt x="0" y="173736"/>
                  </a:lnTo>
                  <a:close/>
                </a:path>
              </a:pathLst>
            </a:custGeom>
            <a:ln w="38100">
              <a:solidFill>
                <a:srgbClr val="2A2F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172699" y="3084576"/>
              <a:ext cx="416559" cy="190500"/>
            </a:xfrm>
            <a:custGeom>
              <a:avLst/>
              <a:gdLst/>
              <a:ahLst/>
              <a:cxnLst/>
              <a:rect l="l" t="t" r="r" b="b"/>
              <a:pathLst>
                <a:path w="416559" h="190500">
                  <a:moveTo>
                    <a:pt x="208025" y="0"/>
                  </a:moveTo>
                  <a:lnTo>
                    <a:pt x="142256" y="4858"/>
                  </a:lnTo>
                  <a:lnTo>
                    <a:pt x="85148" y="18385"/>
                  </a:lnTo>
                  <a:lnTo>
                    <a:pt x="40123" y="39008"/>
                  </a:lnTo>
                  <a:lnTo>
                    <a:pt x="10600" y="65154"/>
                  </a:lnTo>
                  <a:lnTo>
                    <a:pt x="0" y="95250"/>
                  </a:lnTo>
                  <a:lnTo>
                    <a:pt x="10600" y="125345"/>
                  </a:lnTo>
                  <a:lnTo>
                    <a:pt x="40123" y="151491"/>
                  </a:lnTo>
                  <a:lnTo>
                    <a:pt x="85148" y="172114"/>
                  </a:lnTo>
                  <a:lnTo>
                    <a:pt x="142256" y="185641"/>
                  </a:lnTo>
                  <a:lnTo>
                    <a:pt x="208025" y="190500"/>
                  </a:lnTo>
                  <a:lnTo>
                    <a:pt x="273795" y="185641"/>
                  </a:lnTo>
                  <a:lnTo>
                    <a:pt x="330903" y="172114"/>
                  </a:lnTo>
                  <a:lnTo>
                    <a:pt x="375928" y="151491"/>
                  </a:lnTo>
                  <a:lnTo>
                    <a:pt x="405451" y="125345"/>
                  </a:lnTo>
                  <a:lnTo>
                    <a:pt x="416051" y="95250"/>
                  </a:lnTo>
                  <a:lnTo>
                    <a:pt x="405451" y="65154"/>
                  </a:lnTo>
                  <a:lnTo>
                    <a:pt x="375928" y="39008"/>
                  </a:lnTo>
                  <a:lnTo>
                    <a:pt x="330903" y="18385"/>
                  </a:lnTo>
                  <a:lnTo>
                    <a:pt x="273795" y="4858"/>
                  </a:lnTo>
                  <a:lnTo>
                    <a:pt x="208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172699" y="3084576"/>
              <a:ext cx="416559" cy="190500"/>
            </a:xfrm>
            <a:custGeom>
              <a:avLst/>
              <a:gdLst/>
              <a:ahLst/>
              <a:cxnLst/>
              <a:rect l="l" t="t" r="r" b="b"/>
              <a:pathLst>
                <a:path w="416559" h="190500">
                  <a:moveTo>
                    <a:pt x="0" y="95250"/>
                  </a:moveTo>
                  <a:lnTo>
                    <a:pt x="40123" y="39008"/>
                  </a:lnTo>
                  <a:lnTo>
                    <a:pt x="85148" y="18385"/>
                  </a:lnTo>
                  <a:lnTo>
                    <a:pt x="142256" y="4858"/>
                  </a:lnTo>
                  <a:lnTo>
                    <a:pt x="208025" y="0"/>
                  </a:lnTo>
                  <a:lnTo>
                    <a:pt x="273795" y="4858"/>
                  </a:lnTo>
                  <a:lnTo>
                    <a:pt x="330903" y="18385"/>
                  </a:lnTo>
                  <a:lnTo>
                    <a:pt x="375928" y="39008"/>
                  </a:lnTo>
                  <a:lnTo>
                    <a:pt x="405451" y="65154"/>
                  </a:lnTo>
                  <a:lnTo>
                    <a:pt x="416051" y="95250"/>
                  </a:lnTo>
                  <a:lnTo>
                    <a:pt x="405451" y="125345"/>
                  </a:lnTo>
                  <a:lnTo>
                    <a:pt x="375928" y="151491"/>
                  </a:lnTo>
                  <a:lnTo>
                    <a:pt x="330903" y="172114"/>
                  </a:lnTo>
                  <a:lnTo>
                    <a:pt x="273795" y="185641"/>
                  </a:lnTo>
                  <a:lnTo>
                    <a:pt x="208025" y="190500"/>
                  </a:lnTo>
                  <a:lnTo>
                    <a:pt x="142256" y="185641"/>
                  </a:lnTo>
                  <a:lnTo>
                    <a:pt x="85148" y="172114"/>
                  </a:lnTo>
                  <a:lnTo>
                    <a:pt x="40123" y="151491"/>
                  </a:lnTo>
                  <a:lnTo>
                    <a:pt x="10600" y="125345"/>
                  </a:lnTo>
                  <a:lnTo>
                    <a:pt x="0" y="9525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996677" y="2347722"/>
              <a:ext cx="767080" cy="771525"/>
            </a:xfrm>
            <a:custGeom>
              <a:avLst/>
              <a:gdLst/>
              <a:ahLst/>
              <a:cxnLst/>
              <a:rect l="l" t="t" r="r" b="b"/>
              <a:pathLst>
                <a:path w="767079" h="771525">
                  <a:moveTo>
                    <a:pt x="0" y="385572"/>
                  </a:moveTo>
                  <a:lnTo>
                    <a:pt x="2985" y="337200"/>
                  </a:lnTo>
                  <a:lnTo>
                    <a:pt x="11704" y="290623"/>
                  </a:lnTo>
                  <a:lnTo>
                    <a:pt x="25796" y="246201"/>
                  </a:lnTo>
                  <a:lnTo>
                    <a:pt x="44902" y="204297"/>
                  </a:lnTo>
                  <a:lnTo>
                    <a:pt x="68664" y="165271"/>
                  </a:lnTo>
                  <a:lnTo>
                    <a:pt x="96723" y="129484"/>
                  </a:lnTo>
                  <a:lnTo>
                    <a:pt x="128720" y="97298"/>
                  </a:lnTo>
                  <a:lnTo>
                    <a:pt x="164295" y="69072"/>
                  </a:lnTo>
                  <a:lnTo>
                    <a:pt x="203089" y="45169"/>
                  </a:lnTo>
                  <a:lnTo>
                    <a:pt x="244745" y="25949"/>
                  </a:lnTo>
                  <a:lnTo>
                    <a:pt x="288902" y="11773"/>
                  </a:lnTo>
                  <a:lnTo>
                    <a:pt x="335202" y="3003"/>
                  </a:lnTo>
                  <a:lnTo>
                    <a:pt x="383286" y="0"/>
                  </a:lnTo>
                  <a:lnTo>
                    <a:pt x="431369" y="3003"/>
                  </a:lnTo>
                  <a:lnTo>
                    <a:pt x="477669" y="11773"/>
                  </a:lnTo>
                  <a:lnTo>
                    <a:pt x="521826" y="25949"/>
                  </a:lnTo>
                  <a:lnTo>
                    <a:pt x="563482" y="45169"/>
                  </a:lnTo>
                  <a:lnTo>
                    <a:pt x="602276" y="69072"/>
                  </a:lnTo>
                  <a:lnTo>
                    <a:pt x="637851" y="97298"/>
                  </a:lnTo>
                  <a:lnTo>
                    <a:pt x="669848" y="129484"/>
                  </a:lnTo>
                  <a:lnTo>
                    <a:pt x="697907" y="165271"/>
                  </a:lnTo>
                  <a:lnTo>
                    <a:pt x="721669" y="204297"/>
                  </a:lnTo>
                  <a:lnTo>
                    <a:pt x="740775" y="246201"/>
                  </a:lnTo>
                  <a:lnTo>
                    <a:pt x="754867" y="290623"/>
                  </a:lnTo>
                  <a:lnTo>
                    <a:pt x="763586" y="337200"/>
                  </a:lnTo>
                  <a:lnTo>
                    <a:pt x="766572" y="385572"/>
                  </a:lnTo>
                  <a:lnTo>
                    <a:pt x="763586" y="433943"/>
                  </a:lnTo>
                  <a:lnTo>
                    <a:pt x="754867" y="480520"/>
                  </a:lnTo>
                  <a:lnTo>
                    <a:pt x="740775" y="524942"/>
                  </a:lnTo>
                  <a:lnTo>
                    <a:pt x="721669" y="566846"/>
                  </a:lnTo>
                  <a:lnTo>
                    <a:pt x="697907" y="605872"/>
                  </a:lnTo>
                  <a:lnTo>
                    <a:pt x="669848" y="641659"/>
                  </a:lnTo>
                  <a:lnTo>
                    <a:pt x="637851" y="673845"/>
                  </a:lnTo>
                  <a:lnTo>
                    <a:pt x="602276" y="702071"/>
                  </a:lnTo>
                  <a:lnTo>
                    <a:pt x="563482" y="725974"/>
                  </a:lnTo>
                  <a:lnTo>
                    <a:pt x="521826" y="745194"/>
                  </a:lnTo>
                  <a:lnTo>
                    <a:pt x="477669" y="759370"/>
                  </a:lnTo>
                  <a:lnTo>
                    <a:pt x="431369" y="768140"/>
                  </a:lnTo>
                  <a:lnTo>
                    <a:pt x="383286" y="771143"/>
                  </a:lnTo>
                  <a:lnTo>
                    <a:pt x="335202" y="768140"/>
                  </a:lnTo>
                  <a:lnTo>
                    <a:pt x="288902" y="759370"/>
                  </a:lnTo>
                  <a:lnTo>
                    <a:pt x="244745" y="745194"/>
                  </a:lnTo>
                  <a:lnTo>
                    <a:pt x="203089" y="725974"/>
                  </a:lnTo>
                  <a:lnTo>
                    <a:pt x="164295" y="702071"/>
                  </a:lnTo>
                  <a:lnTo>
                    <a:pt x="128720" y="673845"/>
                  </a:lnTo>
                  <a:lnTo>
                    <a:pt x="96723" y="641659"/>
                  </a:lnTo>
                  <a:lnTo>
                    <a:pt x="68664" y="605872"/>
                  </a:lnTo>
                  <a:lnTo>
                    <a:pt x="44902" y="566846"/>
                  </a:lnTo>
                  <a:lnTo>
                    <a:pt x="25796" y="524942"/>
                  </a:lnTo>
                  <a:lnTo>
                    <a:pt x="11704" y="480520"/>
                  </a:lnTo>
                  <a:lnTo>
                    <a:pt x="2985" y="433943"/>
                  </a:lnTo>
                  <a:lnTo>
                    <a:pt x="0" y="385572"/>
                  </a:lnTo>
                  <a:close/>
                </a:path>
              </a:pathLst>
            </a:custGeom>
            <a:ln w="28956">
              <a:solidFill>
                <a:srgbClr val="87827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8761" y="2396109"/>
              <a:ext cx="170688" cy="104775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9936" y="2428367"/>
              <a:ext cx="158496" cy="10414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35971" y="2946654"/>
              <a:ext cx="147700" cy="119507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94669" y="2940558"/>
              <a:ext cx="146811" cy="110236"/>
            </a:xfrm>
            <a:prstGeom prst="rect">
              <a:avLst/>
            </a:prstGeom>
          </p:spPr>
        </p:pic>
      </p:grpSp>
      <p:pic>
        <p:nvPicPr>
          <p:cNvPr id="36" name="object 3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81671" y="1812035"/>
            <a:ext cx="824483" cy="2366772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6575297" y="1920620"/>
            <a:ext cx="7308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756F6F"/>
                </a:solidFill>
                <a:latin typeface="Corbel"/>
                <a:cs typeface="Corbel"/>
              </a:rPr>
              <a:t>Cognitive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650229" y="3386708"/>
            <a:ext cx="154051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756F6F"/>
                </a:solidFill>
                <a:latin typeface="Corbel"/>
                <a:cs typeface="Corbel"/>
              </a:rPr>
              <a:t>Process</a:t>
            </a:r>
            <a:r>
              <a:rPr dirty="0" sz="1400" spc="-35">
                <a:solidFill>
                  <a:srgbClr val="756F6F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756F6F"/>
                </a:solidFill>
                <a:latin typeface="Corbel"/>
                <a:cs typeface="Corbel"/>
              </a:rPr>
              <a:t>&amp;</a:t>
            </a:r>
            <a:r>
              <a:rPr dirty="0" sz="1400" spc="-40">
                <a:solidFill>
                  <a:srgbClr val="756F6F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756F6F"/>
                </a:solidFill>
                <a:latin typeface="Corbel"/>
                <a:cs typeface="Corbel"/>
              </a:rPr>
              <a:t>Enterprise</a:t>
            </a:r>
            <a:endParaRPr sz="1400">
              <a:latin typeface="Corbel"/>
              <a:cs typeface="Corbel"/>
            </a:endParaRPr>
          </a:p>
          <a:p>
            <a:pPr algn="r" marR="5715">
              <a:lnSpc>
                <a:spcPct val="100000"/>
              </a:lnSpc>
            </a:pPr>
            <a:r>
              <a:rPr dirty="0" sz="1400" spc="-10">
                <a:solidFill>
                  <a:srgbClr val="756F6F"/>
                </a:solidFill>
                <a:latin typeface="Corbel"/>
                <a:cs typeface="Corbel"/>
              </a:rPr>
              <a:t>Context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561835" y="3946652"/>
            <a:ext cx="8032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56F6F"/>
                </a:solidFill>
                <a:latin typeface="Corbel"/>
                <a:cs typeface="Corbel"/>
              </a:rPr>
              <a:t>Sentiment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762371" y="2836291"/>
            <a:ext cx="129286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756F6F"/>
                </a:solidFill>
                <a:latin typeface="Corbel"/>
                <a:cs typeface="Corbel"/>
              </a:rPr>
              <a:t>Business</a:t>
            </a:r>
            <a:r>
              <a:rPr dirty="0" sz="1400" spc="-40">
                <a:solidFill>
                  <a:srgbClr val="756F6F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756F6F"/>
                </a:solidFill>
                <a:latin typeface="Corbel"/>
                <a:cs typeface="Corbel"/>
              </a:rPr>
              <a:t>&amp;</a:t>
            </a:r>
            <a:r>
              <a:rPr dirty="0" sz="1400" spc="-25">
                <a:solidFill>
                  <a:srgbClr val="756F6F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756F6F"/>
                </a:solidFill>
                <a:latin typeface="Corbel"/>
                <a:cs typeface="Corbel"/>
              </a:rPr>
              <a:t>Policy</a:t>
            </a:r>
            <a:endParaRPr sz="1400">
              <a:latin typeface="Corbel"/>
              <a:cs typeface="Corbel"/>
            </a:endParaRPr>
          </a:p>
          <a:p>
            <a:pPr algn="r" marR="5080">
              <a:lnSpc>
                <a:spcPct val="100000"/>
              </a:lnSpc>
            </a:pPr>
            <a:r>
              <a:rPr dirty="0" sz="1400" spc="-10">
                <a:solidFill>
                  <a:srgbClr val="756F6F"/>
                </a:solidFill>
                <a:latin typeface="Corbel"/>
                <a:cs typeface="Corbel"/>
              </a:rPr>
              <a:t>Knowledge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6429883" y="2258060"/>
            <a:ext cx="69977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756F6F"/>
                </a:solidFill>
                <a:latin typeface="Corbel"/>
                <a:cs typeface="Corbel"/>
              </a:rPr>
              <a:t>Data</a:t>
            </a:r>
            <a:r>
              <a:rPr dirty="0" sz="1400" spc="-20">
                <a:solidFill>
                  <a:srgbClr val="756F6F"/>
                </a:solidFill>
                <a:latin typeface="Corbel"/>
                <a:cs typeface="Corbel"/>
              </a:rPr>
              <a:t> </a:t>
            </a:r>
            <a:r>
              <a:rPr dirty="0" sz="1400" spc="-50">
                <a:solidFill>
                  <a:srgbClr val="756F6F"/>
                </a:solidFill>
                <a:latin typeface="Corbel"/>
                <a:cs typeface="Corbel"/>
              </a:rPr>
              <a:t>&amp;</a:t>
            </a:r>
            <a:endParaRPr sz="1400">
              <a:latin typeface="Corbel"/>
              <a:cs typeface="Corbel"/>
            </a:endParaRPr>
          </a:p>
          <a:p>
            <a:pPr algn="r" marR="5080">
              <a:lnSpc>
                <a:spcPct val="100000"/>
              </a:lnSpc>
            </a:pPr>
            <a:r>
              <a:rPr dirty="0" sz="1400" spc="-10">
                <a:solidFill>
                  <a:srgbClr val="756F6F"/>
                </a:solidFill>
                <a:latin typeface="Corbel"/>
                <a:cs typeface="Corbel"/>
              </a:rPr>
              <a:t>Analytics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4779264" y="2615183"/>
            <a:ext cx="535305" cy="312420"/>
          </a:xfrm>
          <a:custGeom>
            <a:avLst/>
            <a:gdLst/>
            <a:ahLst/>
            <a:cxnLst/>
            <a:rect l="l" t="t" r="r" b="b"/>
            <a:pathLst>
              <a:path w="535304" h="312419">
                <a:moveTo>
                  <a:pt x="156210" y="0"/>
                </a:moveTo>
                <a:lnTo>
                  <a:pt x="0" y="156210"/>
                </a:lnTo>
                <a:lnTo>
                  <a:pt x="156210" y="312419"/>
                </a:lnTo>
                <a:lnTo>
                  <a:pt x="156210" y="234314"/>
                </a:lnTo>
                <a:lnTo>
                  <a:pt x="534924" y="234314"/>
                </a:lnTo>
                <a:lnTo>
                  <a:pt x="456819" y="156210"/>
                </a:lnTo>
                <a:lnTo>
                  <a:pt x="534924" y="78104"/>
                </a:lnTo>
                <a:lnTo>
                  <a:pt x="156210" y="78104"/>
                </a:lnTo>
                <a:lnTo>
                  <a:pt x="156210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4786884" y="2979420"/>
            <a:ext cx="548640" cy="312420"/>
          </a:xfrm>
          <a:custGeom>
            <a:avLst/>
            <a:gdLst/>
            <a:ahLst/>
            <a:cxnLst/>
            <a:rect l="l" t="t" r="r" b="b"/>
            <a:pathLst>
              <a:path w="548639" h="312420">
                <a:moveTo>
                  <a:pt x="392429" y="0"/>
                </a:moveTo>
                <a:lnTo>
                  <a:pt x="392429" y="78104"/>
                </a:lnTo>
                <a:lnTo>
                  <a:pt x="0" y="78104"/>
                </a:lnTo>
                <a:lnTo>
                  <a:pt x="78104" y="156209"/>
                </a:lnTo>
                <a:lnTo>
                  <a:pt x="0" y="234314"/>
                </a:lnTo>
                <a:lnTo>
                  <a:pt x="392429" y="234314"/>
                </a:lnTo>
                <a:lnTo>
                  <a:pt x="392429" y="312419"/>
                </a:lnTo>
                <a:lnTo>
                  <a:pt x="548639" y="156209"/>
                </a:lnTo>
                <a:lnTo>
                  <a:pt x="392429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8717280" y="2615183"/>
            <a:ext cx="535305" cy="312420"/>
          </a:xfrm>
          <a:custGeom>
            <a:avLst/>
            <a:gdLst/>
            <a:ahLst/>
            <a:cxnLst/>
            <a:rect l="l" t="t" r="r" b="b"/>
            <a:pathLst>
              <a:path w="535304" h="312419">
                <a:moveTo>
                  <a:pt x="156210" y="0"/>
                </a:moveTo>
                <a:lnTo>
                  <a:pt x="0" y="156210"/>
                </a:lnTo>
                <a:lnTo>
                  <a:pt x="156210" y="312419"/>
                </a:lnTo>
                <a:lnTo>
                  <a:pt x="156210" y="234314"/>
                </a:lnTo>
                <a:lnTo>
                  <a:pt x="534924" y="234314"/>
                </a:lnTo>
                <a:lnTo>
                  <a:pt x="456819" y="156210"/>
                </a:lnTo>
                <a:lnTo>
                  <a:pt x="534924" y="78104"/>
                </a:lnTo>
                <a:lnTo>
                  <a:pt x="156210" y="78104"/>
                </a:lnTo>
                <a:lnTo>
                  <a:pt x="156210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8726423" y="2979420"/>
            <a:ext cx="547370" cy="312420"/>
          </a:xfrm>
          <a:custGeom>
            <a:avLst/>
            <a:gdLst/>
            <a:ahLst/>
            <a:cxnLst/>
            <a:rect l="l" t="t" r="r" b="b"/>
            <a:pathLst>
              <a:path w="547370" h="312420">
                <a:moveTo>
                  <a:pt x="390905" y="0"/>
                </a:moveTo>
                <a:lnTo>
                  <a:pt x="390905" y="78104"/>
                </a:lnTo>
                <a:lnTo>
                  <a:pt x="0" y="78104"/>
                </a:lnTo>
                <a:lnTo>
                  <a:pt x="78104" y="156209"/>
                </a:lnTo>
                <a:lnTo>
                  <a:pt x="0" y="234314"/>
                </a:lnTo>
                <a:lnTo>
                  <a:pt x="390905" y="234314"/>
                </a:lnTo>
                <a:lnTo>
                  <a:pt x="390905" y="312419"/>
                </a:lnTo>
                <a:lnTo>
                  <a:pt x="547116" y="156209"/>
                </a:lnTo>
                <a:lnTo>
                  <a:pt x="390905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813816" y="2465832"/>
            <a:ext cx="843280" cy="784860"/>
            <a:chOff x="813816" y="2465832"/>
            <a:chExt cx="843280" cy="784860"/>
          </a:xfrm>
        </p:grpSpPr>
        <p:sp>
          <p:nvSpPr>
            <p:cNvPr id="47" name="object 47" descr=""/>
            <p:cNvSpPr/>
            <p:nvPr/>
          </p:nvSpPr>
          <p:spPr>
            <a:xfrm>
              <a:off x="1007364" y="2618232"/>
              <a:ext cx="445134" cy="459105"/>
            </a:xfrm>
            <a:custGeom>
              <a:avLst/>
              <a:gdLst/>
              <a:ahLst/>
              <a:cxnLst/>
              <a:rect l="l" t="t" r="r" b="b"/>
              <a:pathLst>
                <a:path w="445134" h="459105">
                  <a:moveTo>
                    <a:pt x="222897" y="0"/>
                  </a:moveTo>
                  <a:lnTo>
                    <a:pt x="178984" y="9854"/>
                  </a:lnTo>
                  <a:lnTo>
                    <a:pt x="145886" y="38068"/>
                  </a:lnTo>
                  <a:lnTo>
                    <a:pt x="125001" y="82617"/>
                  </a:lnTo>
                  <a:lnTo>
                    <a:pt x="117729" y="141477"/>
                  </a:lnTo>
                  <a:lnTo>
                    <a:pt x="120896" y="173783"/>
                  </a:lnTo>
                  <a:lnTo>
                    <a:pt x="120953" y="174361"/>
                  </a:lnTo>
                  <a:lnTo>
                    <a:pt x="129990" y="205089"/>
                  </a:lnTo>
                  <a:lnTo>
                    <a:pt x="143885" y="232364"/>
                  </a:lnTo>
                  <a:lnTo>
                    <a:pt x="161683" y="254888"/>
                  </a:lnTo>
                  <a:lnTo>
                    <a:pt x="159718" y="280767"/>
                  </a:lnTo>
                  <a:lnTo>
                    <a:pt x="141479" y="328523"/>
                  </a:lnTo>
                  <a:lnTo>
                    <a:pt x="70524" y="357391"/>
                  </a:lnTo>
                  <a:lnTo>
                    <a:pt x="31688" y="381619"/>
                  </a:lnTo>
                  <a:lnTo>
                    <a:pt x="8007" y="413633"/>
                  </a:lnTo>
                  <a:lnTo>
                    <a:pt x="0" y="453135"/>
                  </a:lnTo>
                  <a:lnTo>
                    <a:pt x="0" y="456310"/>
                  </a:lnTo>
                  <a:lnTo>
                    <a:pt x="3136" y="458723"/>
                  </a:lnTo>
                  <a:lnTo>
                    <a:pt x="442595" y="458723"/>
                  </a:lnTo>
                  <a:lnTo>
                    <a:pt x="445008" y="456310"/>
                  </a:lnTo>
                  <a:lnTo>
                    <a:pt x="445008" y="453135"/>
                  </a:lnTo>
                  <a:lnTo>
                    <a:pt x="443892" y="447547"/>
                  </a:lnTo>
                  <a:lnTo>
                    <a:pt x="11772" y="447547"/>
                  </a:lnTo>
                  <a:lnTo>
                    <a:pt x="20177" y="414575"/>
                  </a:lnTo>
                  <a:lnTo>
                    <a:pt x="20294" y="414117"/>
                  </a:lnTo>
                  <a:lnTo>
                    <a:pt x="42284" y="386984"/>
                  </a:lnTo>
                  <a:lnTo>
                    <a:pt x="77666" y="366162"/>
                  </a:lnTo>
                  <a:lnTo>
                    <a:pt x="126365" y="351663"/>
                  </a:lnTo>
                  <a:lnTo>
                    <a:pt x="127139" y="351663"/>
                  </a:lnTo>
                  <a:lnTo>
                    <a:pt x="146839" y="338943"/>
                  </a:lnTo>
                  <a:lnTo>
                    <a:pt x="160501" y="318293"/>
                  </a:lnTo>
                  <a:lnTo>
                    <a:pt x="168864" y="292548"/>
                  </a:lnTo>
                  <a:lnTo>
                    <a:pt x="172580" y="265191"/>
                  </a:lnTo>
                  <a:lnTo>
                    <a:pt x="172669" y="264540"/>
                  </a:lnTo>
                  <a:lnTo>
                    <a:pt x="194726" y="264540"/>
                  </a:lnTo>
                  <a:lnTo>
                    <a:pt x="183494" y="258407"/>
                  </a:lnTo>
                  <a:lnTo>
                    <a:pt x="171881" y="249300"/>
                  </a:lnTo>
                  <a:lnTo>
                    <a:pt x="171881" y="248538"/>
                  </a:lnTo>
                  <a:lnTo>
                    <a:pt x="171094" y="247776"/>
                  </a:lnTo>
                  <a:lnTo>
                    <a:pt x="139800" y="198993"/>
                  </a:lnTo>
                  <a:lnTo>
                    <a:pt x="128714" y="141477"/>
                  </a:lnTo>
                  <a:lnTo>
                    <a:pt x="133607" y="94489"/>
                  </a:lnTo>
                  <a:lnTo>
                    <a:pt x="149612" y="52657"/>
                  </a:lnTo>
                  <a:lnTo>
                    <a:pt x="178713" y="22659"/>
                  </a:lnTo>
                  <a:lnTo>
                    <a:pt x="222897" y="11175"/>
                  </a:lnTo>
                  <a:lnTo>
                    <a:pt x="268036" y="11175"/>
                  </a:lnTo>
                  <a:lnTo>
                    <a:pt x="266485" y="9854"/>
                  </a:lnTo>
                  <a:lnTo>
                    <a:pt x="222897" y="0"/>
                  </a:lnTo>
                  <a:close/>
                </a:path>
                <a:path w="445134" h="459105">
                  <a:moveTo>
                    <a:pt x="285891" y="262889"/>
                  </a:moveTo>
                  <a:lnTo>
                    <a:pt x="274701" y="262889"/>
                  </a:lnTo>
                  <a:lnTo>
                    <a:pt x="278306" y="291828"/>
                  </a:lnTo>
                  <a:lnTo>
                    <a:pt x="287162" y="318754"/>
                  </a:lnTo>
                  <a:lnTo>
                    <a:pt x="301757" y="340131"/>
                  </a:lnTo>
                  <a:lnTo>
                    <a:pt x="322580" y="352425"/>
                  </a:lnTo>
                  <a:lnTo>
                    <a:pt x="369665" y="366966"/>
                  </a:lnTo>
                  <a:lnTo>
                    <a:pt x="403891" y="387699"/>
                  </a:lnTo>
                  <a:lnTo>
                    <a:pt x="425307" y="414575"/>
                  </a:lnTo>
                  <a:lnTo>
                    <a:pt x="433959" y="447547"/>
                  </a:lnTo>
                  <a:lnTo>
                    <a:pt x="443892" y="447547"/>
                  </a:lnTo>
                  <a:lnTo>
                    <a:pt x="414369" y="382476"/>
                  </a:lnTo>
                  <a:lnTo>
                    <a:pt x="376749" y="357927"/>
                  </a:lnTo>
                  <a:lnTo>
                    <a:pt x="324866" y="341248"/>
                  </a:lnTo>
                  <a:lnTo>
                    <a:pt x="311114" y="333571"/>
                  </a:lnTo>
                  <a:lnTo>
                    <a:pt x="298386" y="317071"/>
                  </a:lnTo>
                  <a:lnTo>
                    <a:pt x="288897" y="290689"/>
                  </a:lnTo>
                  <a:lnTo>
                    <a:pt x="285891" y="262889"/>
                  </a:lnTo>
                  <a:close/>
                </a:path>
                <a:path w="445134" h="459105">
                  <a:moveTo>
                    <a:pt x="194726" y="264540"/>
                  </a:moveTo>
                  <a:lnTo>
                    <a:pt x="172669" y="264540"/>
                  </a:lnTo>
                  <a:lnTo>
                    <a:pt x="184269" y="271994"/>
                  </a:lnTo>
                  <a:lnTo>
                    <a:pt x="196607" y="277495"/>
                  </a:lnTo>
                  <a:lnTo>
                    <a:pt x="209532" y="280900"/>
                  </a:lnTo>
                  <a:lnTo>
                    <a:pt x="222897" y="282066"/>
                  </a:lnTo>
                  <a:lnTo>
                    <a:pt x="236397" y="280767"/>
                  </a:lnTo>
                  <a:lnTo>
                    <a:pt x="249680" y="277002"/>
                  </a:lnTo>
                  <a:lnTo>
                    <a:pt x="262522" y="270976"/>
                  </a:lnTo>
                  <a:lnTo>
                    <a:pt x="223704" y="270976"/>
                  </a:lnTo>
                  <a:lnTo>
                    <a:pt x="209077" y="269428"/>
                  </a:lnTo>
                  <a:lnTo>
                    <a:pt x="195918" y="265191"/>
                  </a:lnTo>
                  <a:lnTo>
                    <a:pt x="194726" y="264540"/>
                  </a:lnTo>
                  <a:close/>
                </a:path>
                <a:path w="445134" h="459105">
                  <a:moveTo>
                    <a:pt x="268036" y="11175"/>
                  </a:moveTo>
                  <a:lnTo>
                    <a:pt x="222897" y="11175"/>
                  </a:lnTo>
                  <a:lnTo>
                    <a:pt x="266760" y="22659"/>
                  </a:lnTo>
                  <a:lnTo>
                    <a:pt x="295911" y="52657"/>
                  </a:lnTo>
                  <a:lnTo>
                    <a:pt x="312110" y="94489"/>
                  </a:lnTo>
                  <a:lnTo>
                    <a:pt x="317119" y="141477"/>
                  </a:lnTo>
                  <a:lnTo>
                    <a:pt x="314265" y="170098"/>
                  </a:lnTo>
                  <a:lnTo>
                    <a:pt x="306101" y="198326"/>
                  </a:lnTo>
                  <a:lnTo>
                    <a:pt x="293223" y="224291"/>
                  </a:lnTo>
                  <a:lnTo>
                    <a:pt x="276225" y="246125"/>
                  </a:lnTo>
                  <a:lnTo>
                    <a:pt x="275463" y="246125"/>
                  </a:lnTo>
                  <a:lnTo>
                    <a:pt x="275463" y="246887"/>
                  </a:lnTo>
                  <a:lnTo>
                    <a:pt x="237171" y="269297"/>
                  </a:lnTo>
                  <a:lnTo>
                    <a:pt x="222133" y="270976"/>
                  </a:lnTo>
                  <a:lnTo>
                    <a:pt x="262522" y="270976"/>
                  </a:lnTo>
                  <a:lnTo>
                    <a:pt x="274701" y="262889"/>
                  </a:lnTo>
                  <a:lnTo>
                    <a:pt x="285891" y="262889"/>
                  </a:lnTo>
                  <a:lnTo>
                    <a:pt x="284861" y="253364"/>
                  </a:lnTo>
                  <a:lnTo>
                    <a:pt x="302537" y="230917"/>
                  </a:lnTo>
                  <a:lnTo>
                    <a:pt x="316166" y="203993"/>
                  </a:lnTo>
                  <a:lnTo>
                    <a:pt x="324937" y="173783"/>
                  </a:lnTo>
                  <a:lnTo>
                    <a:pt x="328041" y="141477"/>
                  </a:lnTo>
                  <a:lnTo>
                    <a:pt x="320665" y="82617"/>
                  </a:lnTo>
                  <a:lnTo>
                    <a:pt x="299610" y="38068"/>
                  </a:lnTo>
                  <a:lnTo>
                    <a:pt x="268036" y="11175"/>
                  </a:lnTo>
                  <a:close/>
                </a:path>
              </a:pathLst>
            </a:custGeom>
            <a:solidFill>
              <a:srgbClr val="2A2F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007364" y="2618232"/>
              <a:ext cx="445134" cy="459105"/>
            </a:xfrm>
            <a:custGeom>
              <a:avLst/>
              <a:gdLst/>
              <a:ahLst/>
              <a:cxnLst/>
              <a:rect l="l" t="t" r="r" b="b"/>
              <a:pathLst>
                <a:path w="445134" h="459105">
                  <a:moveTo>
                    <a:pt x="324866" y="341248"/>
                  </a:moveTo>
                  <a:lnTo>
                    <a:pt x="311114" y="333571"/>
                  </a:lnTo>
                  <a:lnTo>
                    <a:pt x="298386" y="317071"/>
                  </a:lnTo>
                  <a:lnTo>
                    <a:pt x="288897" y="290689"/>
                  </a:lnTo>
                  <a:lnTo>
                    <a:pt x="284861" y="253364"/>
                  </a:lnTo>
                  <a:lnTo>
                    <a:pt x="302537" y="230917"/>
                  </a:lnTo>
                  <a:lnTo>
                    <a:pt x="316166" y="203993"/>
                  </a:lnTo>
                  <a:lnTo>
                    <a:pt x="324937" y="173783"/>
                  </a:lnTo>
                  <a:lnTo>
                    <a:pt x="328041" y="141477"/>
                  </a:lnTo>
                  <a:lnTo>
                    <a:pt x="320665" y="82617"/>
                  </a:lnTo>
                  <a:lnTo>
                    <a:pt x="299610" y="38068"/>
                  </a:lnTo>
                  <a:lnTo>
                    <a:pt x="266485" y="9854"/>
                  </a:lnTo>
                  <a:lnTo>
                    <a:pt x="222897" y="0"/>
                  </a:lnTo>
                  <a:lnTo>
                    <a:pt x="178984" y="9854"/>
                  </a:lnTo>
                  <a:lnTo>
                    <a:pt x="145886" y="38068"/>
                  </a:lnTo>
                  <a:lnTo>
                    <a:pt x="125001" y="82617"/>
                  </a:lnTo>
                  <a:lnTo>
                    <a:pt x="117729" y="141477"/>
                  </a:lnTo>
                  <a:lnTo>
                    <a:pt x="120953" y="174361"/>
                  </a:lnTo>
                  <a:lnTo>
                    <a:pt x="129990" y="205089"/>
                  </a:lnTo>
                  <a:lnTo>
                    <a:pt x="143885" y="232364"/>
                  </a:lnTo>
                  <a:lnTo>
                    <a:pt x="161683" y="254888"/>
                  </a:lnTo>
                  <a:lnTo>
                    <a:pt x="159659" y="281545"/>
                  </a:lnTo>
                  <a:lnTo>
                    <a:pt x="153144" y="307355"/>
                  </a:lnTo>
                  <a:lnTo>
                    <a:pt x="141479" y="328523"/>
                  </a:lnTo>
                  <a:lnTo>
                    <a:pt x="124002" y="341248"/>
                  </a:lnTo>
                  <a:lnTo>
                    <a:pt x="70524" y="357391"/>
                  </a:lnTo>
                  <a:lnTo>
                    <a:pt x="31688" y="381619"/>
                  </a:lnTo>
                  <a:lnTo>
                    <a:pt x="8007" y="413633"/>
                  </a:lnTo>
                  <a:lnTo>
                    <a:pt x="0" y="453135"/>
                  </a:lnTo>
                  <a:lnTo>
                    <a:pt x="0" y="456310"/>
                  </a:lnTo>
                  <a:lnTo>
                    <a:pt x="3136" y="458723"/>
                  </a:lnTo>
                  <a:lnTo>
                    <a:pt x="5499" y="458723"/>
                  </a:lnTo>
                  <a:lnTo>
                    <a:pt x="256433" y="458723"/>
                  </a:lnTo>
                  <a:lnTo>
                    <a:pt x="385291" y="458723"/>
                  </a:lnTo>
                  <a:lnTo>
                    <a:pt x="432765" y="458723"/>
                  </a:lnTo>
                  <a:lnTo>
                    <a:pt x="439547" y="458723"/>
                  </a:lnTo>
                  <a:lnTo>
                    <a:pt x="442595" y="458723"/>
                  </a:lnTo>
                  <a:lnTo>
                    <a:pt x="445008" y="456310"/>
                  </a:lnTo>
                  <a:lnTo>
                    <a:pt x="445008" y="453135"/>
                  </a:lnTo>
                  <a:lnTo>
                    <a:pt x="437272" y="414383"/>
                  </a:lnTo>
                  <a:lnTo>
                    <a:pt x="414369" y="382476"/>
                  </a:lnTo>
                  <a:lnTo>
                    <a:pt x="376749" y="357927"/>
                  </a:lnTo>
                  <a:lnTo>
                    <a:pt x="324866" y="341248"/>
                  </a:lnTo>
                </a:path>
                <a:path w="445134" h="459105">
                  <a:moveTo>
                    <a:pt x="128714" y="141477"/>
                  </a:moveTo>
                  <a:lnTo>
                    <a:pt x="133607" y="94489"/>
                  </a:lnTo>
                  <a:lnTo>
                    <a:pt x="149612" y="52657"/>
                  </a:lnTo>
                  <a:lnTo>
                    <a:pt x="178713" y="22659"/>
                  </a:lnTo>
                  <a:lnTo>
                    <a:pt x="222897" y="11175"/>
                  </a:lnTo>
                  <a:lnTo>
                    <a:pt x="266760" y="22659"/>
                  </a:lnTo>
                  <a:lnTo>
                    <a:pt x="295911" y="52657"/>
                  </a:lnTo>
                  <a:lnTo>
                    <a:pt x="312110" y="94489"/>
                  </a:lnTo>
                  <a:lnTo>
                    <a:pt x="317119" y="141477"/>
                  </a:lnTo>
                  <a:lnTo>
                    <a:pt x="314265" y="170098"/>
                  </a:lnTo>
                  <a:lnTo>
                    <a:pt x="306101" y="198326"/>
                  </a:lnTo>
                  <a:lnTo>
                    <a:pt x="293223" y="224291"/>
                  </a:lnTo>
                  <a:lnTo>
                    <a:pt x="276225" y="246125"/>
                  </a:lnTo>
                  <a:lnTo>
                    <a:pt x="275463" y="246125"/>
                  </a:lnTo>
                  <a:lnTo>
                    <a:pt x="275463" y="246887"/>
                  </a:lnTo>
                  <a:lnTo>
                    <a:pt x="237171" y="269297"/>
                  </a:lnTo>
                  <a:lnTo>
                    <a:pt x="222897" y="270890"/>
                  </a:lnTo>
                  <a:lnTo>
                    <a:pt x="209077" y="269428"/>
                  </a:lnTo>
                  <a:lnTo>
                    <a:pt x="195918" y="265191"/>
                  </a:lnTo>
                  <a:lnTo>
                    <a:pt x="183494" y="258407"/>
                  </a:lnTo>
                  <a:lnTo>
                    <a:pt x="171881" y="249300"/>
                  </a:lnTo>
                  <a:lnTo>
                    <a:pt x="171881" y="248538"/>
                  </a:lnTo>
                  <a:lnTo>
                    <a:pt x="171094" y="247776"/>
                  </a:lnTo>
                  <a:lnTo>
                    <a:pt x="170307" y="246887"/>
                  </a:lnTo>
                  <a:lnTo>
                    <a:pt x="152883" y="225042"/>
                  </a:lnTo>
                  <a:lnTo>
                    <a:pt x="139800" y="198993"/>
                  </a:lnTo>
                  <a:lnTo>
                    <a:pt x="131571" y="170539"/>
                  </a:lnTo>
                  <a:lnTo>
                    <a:pt x="128714" y="141477"/>
                  </a:lnTo>
                </a:path>
                <a:path w="445134" h="459105">
                  <a:moveTo>
                    <a:pt x="11772" y="447547"/>
                  </a:moveTo>
                  <a:lnTo>
                    <a:pt x="20294" y="414117"/>
                  </a:lnTo>
                  <a:lnTo>
                    <a:pt x="42284" y="386984"/>
                  </a:lnTo>
                  <a:lnTo>
                    <a:pt x="77666" y="366162"/>
                  </a:lnTo>
                  <a:lnTo>
                    <a:pt x="126365" y="351663"/>
                  </a:lnTo>
                  <a:lnTo>
                    <a:pt x="127139" y="351663"/>
                  </a:lnTo>
                  <a:lnTo>
                    <a:pt x="146839" y="338943"/>
                  </a:lnTo>
                  <a:lnTo>
                    <a:pt x="160501" y="318293"/>
                  </a:lnTo>
                  <a:lnTo>
                    <a:pt x="168864" y="292548"/>
                  </a:lnTo>
                  <a:lnTo>
                    <a:pt x="172669" y="264540"/>
                  </a:lnTo>
                  <a:lnTo>
                    <a:pt x="184269" y="271994"/>
                  </a:lnTo>
                  <a:lnTo>
                    <a:pt x="196607" y="277495"/>
                  </a:lnTo>
                  <a:lnTo>
                    <a:pt x="209532" y="280900"/>
                  </a:lnTo>
                  <a:lnTo>
                    <a:pt x="222897" y="282066"/>
                  </a:lnTo>
                  <a:lnTo>
                    <a:pt x="236397" y="280767"/>
                  </a:lnTo>
                  <a:lnTo>
                    <a:pt x="249680" y="277002"/>
                  </a:lnTo>
                  <a:lnTo>
                    <a:pt x="262522" y="270976"/>
                  </a:lnTo>
                  <a:lnTo>
                    <a:pt x="274701" y="262889"/>
                  </a:lnTo>
                  <a:lnTo>
                    <a:pt x="278306" y="291828"/>
                  </a:lnTo>
                  <a:lnTo>
                    <a:pt x="287162" y="318754"/>
                  </a:lnTo>
                  <a:lnTo>
                    <a:pt x="301757" y="340131"/>
                  </a:lnTo>
                  <a:lnTo>
                    <a:pt x="322580" y="352425"/>
                  </a:lnTo>
                  <a:lnTo>
                    <a:pt x="369665" y="366966"/>
                  </a:lnTo>
                  <a:lnTo>
                    <a:pt x="403891" y="387699"/>
                  </a:lnTo>
                  <a:lnTo>
                    <a:pt x="425307" y="414575"/>
                  </a:lnTo>
                  <a:lnTo>
                    <a:pt x="433959" y="447547"/>
                  </a:lnTo>
                  <a:lnTo>
                    <a:pt x="11772" y="447547"/>
                  </a:lnTo>
                  <a:close/>
                </a:path>
              </a:pathLst>
            </a:custGeom>
            <a:ln w="9144">
              <a:solidFill>
                <a:srgbClr val="2A2F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32866" y="2484882"/>
              <a:ext cx="805180" cy="746760"/>
            </a:xfrm>
            <a:custGeom>
              <a:avLst/>
              <a:gdLst/>
              <a:ahLst/>
              <a:cxnLst/>
              <a:rect l="l" t="t" r="r" b="b"/>
              <a:pathLst>
                <a:path w="805180" h="746760">
                  <a:moveTo>
                    <a:pt x="0" y="373379"/>
                  </a:moveTo>
                  <a:lnTo>
                    <a:pt x="3134" y="326536"/>
                  </a:lnTo>
                  <a:lnTo>
                    <a:pt x="12288" y="281432"/>
                  </a:lnTo>
                  <a:lnTo>
                    <a:pt x="27082" y="238415"/>
                  </a:lnTo>
                  <a:lnTo>
                    <a:pt x="47140" y="197836"/>
                  </a:lnTo>
                  <a:lnTo>
                    <a:pt x="72086" y="160044"/>
                  </a:lnTo>
                  <a:lnTo>
                    <a:pt x="101542" y="125389"/>
                  </a:lnTo>
                  <a:lnTo>
                    <a:pt x="135130" y="94220"/>
                  </a:lnTo>
                  <a:lnTo>
                    <a:pt x="172474" y="66887"/>
                  </a:lnTo>
                  <a:lnTo>
                    <a:pt x="213197" y="43740"/>
                  </a:lnTo>
                  <a:lnTo>
                    <a:pt x="256922" y="25128"/>
                  </a:lnTo>
                  <a:lnTo>
                    <a:pt x="303271" y="11401"/>
                  </a:lnTo>
                  <a:lnTo>
                    <a:pt x="351868" y="2908"/>
                  </a:lnTo>
                  <a:lnTo>
                    <a:pt x="402336" y="0"/>
                  </a:lnTo>
                  <a:lnTo>
                    <a:pt x="452813" y="2908"/>
                  </a:lnTo>
                  <a:lnTo>
                    <a:pt x="501416" y="11401"/>
                  </a:lnTo>
                  <a:lnTo>
                    <a:pt x="547770" y="25128"/>
                  </a:lnTo>
                  <a:lnTo>
                    <a:pt x="591496" y="43740"/>
                  </a:lnTo>
                  <a:lnTo>
                    <a:pt x="632219" y="66887"/>
                  </a:lnTo>
                  <a:lnTo>
                    <a:pt x="669561" y="94220"/>
                  </a:lnTo>
                  <a:lnTo>
                    <a:pt x="703147" y="125389"/>
                  </a:lnTo>
                  <a:lnTo>
                    <a:pt x="732599" y="160044"/>
                  </a:lnTo>
                  <a:lnTo>
                    <a:pt x="757541" y="197836"/>
                  </a:lnTo>
                  <a:lnTo>
                    <a:pt x="777595" y="238415"/>
                  </a:lnTo>
                  <a:lnTo>
                    <a:pt x="792387" y="281432"/>
                  </a:lnTo>
                  <a:lnTo>
                    <a:pt x="801537" y="326536"/>
                  </a:lnTo>
                  <a:lnTo>
                    <a:pt x="804672" y="373379"/>
                  </a:lnTo>
                  <a:lnTo>
                    <a:pt x="801537" y="420223"/>
                  </a:lnTo>
                  <a:lnTo>
                    <a:pt x="792387" y="465327"/>
                  </a:lnTo>
                  <a:lnTo>
                    <a:pt x="777595" y="508344"/>
                  </a:lnTo>
                  <a:lnTo>
                    <a:pt x="757541" y="548923"/>
                  </a:lnTo>
                  <a:lnTo>
                    <a:pt x="732599" y="586715"/>
                  </a:lnTo>
                  <a:lnTo>
                    <a:pt x="703147" y="621370"/>
                  </a:lnTo>
                  <a:lnTo>
                    <a:pt x="669561" y="652539"/>
                  </a:lnTo>
                  <a:lnTo>
                    <a:pt x="632219" y="679872"/>
                  </a:lnTo>
                  <a:lnTo>
                    <a:pt x="591496" y="703019"/>
                  </a:lnTo>
                  <a:lnTo>
                    <a:pt x="547770" y="721631"/>
                  </a:lnTo>
                  <a:lnTo>
                    <a:pt x="501416" y="735358"/>
                  </a:lnTo>
                  <a:lnTo>
                    <a:pt x="452813" y="743851"/>
                  </a:lnTo>
                  <a:lnTo>
                    <a:pt x="402336" y="746759"/>
                  </a:lnTo>
                  <a:lnTo>
                    <a:pt x="351868" y="743851"/>
                  </a:lnTo>
                  <a:lnTo>
                    <a:pt x="303271" y="735358"/>
                  </a:lnTo>
                  <a:lnTo>
                    <a:pt x="256922" y="721631"/>
                  </a:lnTo>
                  <a:lnTo>
                    <a:pt x="213197" y="703019"/>
                  </a:lnTo>
                  <a:lnTo>
                    <a:pt x="172474" y="679872"/>
                  </a:lnTo>
                  <a:lnTo>
                    <a:pt x="135130" y="652539"/>
                  </a:lnTo>
                  <a:lnTo>
                    <a:pt x="101542" y="621370"/>
                  </a:lnTo>
                  <a:lnTo>
                    <a:pt x="72086" y="586715"/>
                  </a:lnTo>
                  <a:lnTo>
                    <a:pt x="47140" y="548923"/>
                  </a:lnTo>
                  <a:lnTo>
                    <a:pt x="27082" y="508344"/>
                  </a:lnTo>
                  <a:lnTo>
                    <a:pt x="12288" y="465327"/>
                  </a:lnTo>
                  <a:lnTo>
                    <a:pt x="3134" y="420223"/>
                  </a:lnTo>
                  <a:lnTo>
                    <a:pt x="0" y="373379"/>
                  </a:lnTo>
                  <a:close/>
                </a:path>
              </a:pathLst>
            </a:custGeom>
            <a:ln w="38100">
              <a:solidFill>
                <a:srgbClr val="2A2F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2318130" y="2662174"/>
            <a:ext cx="9226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756F6F"/>
                </a:solidFill>
                <a:latin typeface="Corbel"/>
                <a:cs typeface="Corbel"/>
              </a:rPr>
              <a:t>Appification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3180969" y="1867611"/>
            <a:ext cx="2508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756F6F"/>
                </a:solidFill>
                <a:latin typeface="Corbel"/>
                <a:cs typeface="Corbel"/>
              </a:rPr>
              <a:t>UX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3314191" y="3970985"/>
            <a:ext cx="1905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756F6F"/>
                </a:solidFill>
                <a:latin typeface="Corbel"/>
                <a:cs typeface="Corbel"/>
              </a:rPr>
              <a:t>UI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2383663" y="3136138"/>
            <a:ext cx="8528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756F6F"/>
                </a:solidFill>
                <a:latin typeface="Corbel"/>
                <a:cs typeface="Corbel"/>
              </a:rPr>
              <a:t>Any</a:t>
            </a:r>
            <a:r>
              <a:rPr dirty="0" sz="1400" spc="-5">
                <a:solidFill>
                  <a:srgbClr val="756F6F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756F6F"/>
                </a:solidFill>
                <a:latin typeface="Corbel"/>
                <a:cs typeface="Corbel"/>
              </a:rPr>
              <a:t>Device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2985897" y="3593084"/>
            <a:ext cx="3435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solidFill>
                  <a:srgbClr val="756F6F"/>
                </a:solidFill>
                <a:latin typeface="Corbel"/>
                <a:cs typeface="Corbel"/>
              </a:rPr>
              <a:t>NLP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2829560" y="2261107"/>
            <a:ext cx="4667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756F6F"/>
                </a:solidFill>
                <a:latin typeface="Corbel"/>
                <a:cs typeface="Corbel"/>
              </a:rPr>
              <a:t>Social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9844531" y="1145540"/>
            <a:ext cx="1373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A2F3B"/>
                </a:solidFill>
                <a:latin typeface="Corbel"/>
                <a:cs typeface="Corbel"/>
              </a:rPr>
              <a:t>Core </a:t>
            </a:r>
            <a:r>
              <a:rPr dirty="0" sz="1800" spc="-10" b="1">
                <a:solidFill>
                  <a:srgbClr val="2A2F3B"/>
                </a:solidFill>
                <a:latin typeface="Corbel"/>
                <a:cs typeface="Corbel"/>
              </a:rPr>
              <a:t>Systems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6315202" y="1145540"/>
            <a:ext cx="1783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A2F3B"/>
                </a:solidFill>
                <a:latin typeface="Corbel"/>
                <a:cs typeface="Corbel"/>
              </a:rPr>
              <a:t>Intelligence</a:t>
            </a:r>
            <a:r>
              <a:rPr dirty="0" sz="18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800" spc="-10" b="1">
                <a:solidFill>
                  <a:srgbClr val="2A2F3B"/>
                </a:solidFill>
                <a:latin typeface="Corbel"/>
                <a:cs typeface="Corbel"/>
              </a:rPr>
              <a:t>Layer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2846070" y="1145540"/>
            <a:ext cx="1898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A2F3B"/>
                </a:solidFill>
                <a:latin typeface="Corbel"/>
                <a:cs typeface="Corbel"/>
              </a:rPr>
              <a:t>Engagement</a:t>
            </a:r>
            <a:r>
              <a:rPr dirty="0" sz="1800" spc="-8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800" spc="-10" b="1">
                <a:solidFill>
                  <a:srgbClr val="2A2F3B"/>
                </a:solidFill>
                <a:latin typeface="Corbel"/>
                <a:cs typeface="Corbel"/>
              </a:rPr>
              <a:t>Layer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9415271" y="1118616"/>
            <a:ext cx="341630" cy="387350"/>
            <a:chOff x="9415271" y="1118616"/>
            <a:chExt cx="341630" cy="387350"/>
          </a:xfrm>
        </p:grpSpPr>
        <p:sp>
          <p:nvSpPr>
            <p:cNvPr id="60" name="object 60" descr=""/>
            <p:cNvSpPr/>
            <p:nvPr/>
          </p:nvSpPr>
          <p:spPr>
            <a:xfrm>
              <a:off x="9419843" y="1123188"/>
              <a:ext cx="332740" cy="378460"/>
            </a:xfrm>
            <a:custGeom>
              <a:avLst/>
              <a:gdLst/>
              <a:ahLst/>
              <a:cxnLst/>
              <a:rect l="l" t="t" r="r" b="b"/>
              <a:pathLst>
                <a:path w="332740" h="378459">
                  <a:moveTo>
                    <a:pt x="250316" y="0"/>
                  </a:moveTo>
                  <a:lnTo>
                    <a:pt x="248284" y="0"/>
                  </a:lnTo>
                  <a:lnTo>
                    <a:pt x="4063" y="6350"/>
                  </a:lnTo>
                  <a:lnTo>
                    <a:pt x="2031" y="6350"/>
                  </a:lnTo>
                  <a:lnTo>
                    <a:pt x="0" y="8254"/>
                  </a:lnTo>
                  <a:lnTo>
                    <a:pt x="0" y="369697"/>
                  </a:lnTo>
                  <a:lnTo>
                    <a:pt x="2031" y="371601"/>
                  </a:lnTo>
                  <a:lnTo>
                    <a:pt x="4063" y="371601"/>
                  </a:lnTo>
                  <a:lnTo>
                    <a:pt x="248285" y="377951"/>
                  </a:lnTo>
                  <a:lnTo>
                    <a:pt x="250316" y="377951"/>
                  </a:lnTo>
                  <a:lnTo>
                    <a:pt x="250316" y="377316"/>
                  </a:lnTo>
                  <a:lnTo>
                    <a:pt x="251078" y="377316"/>
                  </a:lnTo>
                  <a:lnTo>
                    <a:pt x="251713" y="376682"/>
                  </a:lnTo>
                  <a:lnTo>
                    <a:pt x="259801" y="369062"/>
                  </a:lnTo>
                  <a:lnTo>
                    <a:pt x="243585" y="369062"/>
                  </a:lnTo>
                  <a:lnTo>
                    <a:pt x="13182" y="362811"/>
                  </a:lnTo>
                  <a:lnTo>
                    <a:pt x="9525" y="362811"/>
                  </a:lnTo>
                  <a:lnTo>
                    <a:pt x="9525" y="15239"/>
                  </a:lnTo>
                  <a:lnTo>
                    <a:pt x="239928" y="8989"/>
                  </a:lnTo>
                  <a:lnTo>
                    <a:pt x="259906" y="8989"/>
                  </a:lnTo>
                  <a:lnTo>
                    <a:pt x="251713" y="1270"/>
                  </a:lnTo>
                  <a:lnTo>
                    <a:pt x="251078" y="635"/>
                  </a:lnTo>
                  <a:lnTo>
                    <a:pt x="250316" y="635"/>
                  </a:lnTo>
                  <a:lnTo>
                    <a:pt x="250316" y="0"/>
                  </a:lnTo>
                  <a:close/>
                </a:path>
                <a:path w="332740" h="378459">
                  <a:moveTo>
                    <a:pt x="259906" y="8989"/>
                  </a:moveTo>
                  <a:lnTo>
                    <a:pt x="243585" y="8989"/>
                  </a:lnTo>
                  <a:lnTo>
                    <a:pt x="243585" y="369062"/>
                  </a:lnTo>
                  <a:lnTo>
                    <a:pt x="259801" y="369062"/>
                  </a:lnTo>
                  <a:lnTo>
                    <a:pt x="266435" y="362811"/>
                  </a:lnTo>
                  <a:lnTo>
                    <a:pt x="253110" y="362811"/>
                  </a:lnTo>
                  <a:lnTo>
                    <a:pt x="253110" y="15239"/>
                  </a:lnTo>
                  <a:lnTo>
                    <a:pt x="266540" y="15239"/>
                  </a:lnTo>
                  <a:lnTo>
                    <a:pt x="259906" y="8989"/>
                  </a:lnTo>
                  <a:close/>
                </a:path>
                <a:path w="332740" h="378459">
                  <a:moveTo>
                    <a:pt x="266540" y="15239"/>
                  </a:moveTo>
                  <a:lnTo>
                    <a:pt x="253110" y="15239"/>
                  </a:lnTo>
                  <a:lnTo>
                    <a:pt x="322706" y="80899"/>
                  </a:lnTo>
                  <a:lnTo>
                    <a:pt x="322706" y="297052"/>
                  </a:lnTo>
                  <a:lnTo>
                    <a:pt x="253005" y="362811"/>
                  </a:lnTo>
                  <a:lnTo>
                    <a:pt x="266435" y="362811"/>
                  </a:lnTo>
                  <a:lnTo>
                    <a:pt x="330834" y="302133"/>
                  </a:lnTo>
                  <a:lnTo>
                    <a:pt x="332231" y="301498"/>
                  </a:lnTo>
                  <a:lnTo>
                    <a:pt x="332231" y="76453"/>
                  </a:lnTo>
                  <a:lnTo>
                    <a:pt x="330834" y="75819"/>
                  </a:lnTo>
                  <a:lnTo>
                    <a:pt x="266540" y="15239"/>
                  </a:lnTo>
                  <a:close/>
                </a:path>
                <a:path w="332740" h="378459">
                  <a:moveTo>
                    <a:pt x="124205" y="272796"/>
                  </a:moveTo>
                  <a:lnTo>
                    <a:pt x="112631" y="274901"/>
                  </a:lnTo>
                  <a:lnTo>
                    <a:pt x="113015" y="274901"/>
                  </a:lnTo>
                  <a:lnTo>
                    <a:pt x="104266" y="280273"/>
                  </a:lnTo>
                  <a:lnTo>
                    <a:pt x="98309" y="288387"/>
                  </a:lnTo>
                  <a:lnTo>
                    <a:pt x="96138" y="298323"/>
                  </a:lnTo>
                  <a:lnTo>
                    <a:pt x="98233" y="307848"/>
                  </a:lnTo>
                  <a:lnTo>
                    <a:pt x="98309" y="308195"/>
                  </a:lnTo>
                  <a:lnTo>
                    <a:pt x="104267" y="316341"/>
                  </a:lnTo>
                  <a:lnTo>
                    <a:pt x="113176" y="321986"/>
                  </a:lnTo>
                  <a:lnTo>
                    <a:pt x="124205" y="324358"/>
                  </a:lnTo>
                  <a:lnTo>
                    <a:pt x="124840" y="324358"/>
                  </a:lnTo>
                  <a:lnTo>
                    <a:pt x="135429" y="322353"/>
                  </a:lnTo>
                  <a:lnTo>
                    <a:pt x="144113" y="316896"/>
                  </a:lnTo>
                  <a:lnTo>
                    <a:pt x="145152" y="315467"/>
                  </a:lnTo>
                  <a:lnTo>
                    <a:pt x="124205" y="315467"/>
                  </a:lnTo>
                  <a:lnTo>
                    <a:pt x="113919" y="314833"/>
                  </a:lnTo>
                  <a:lnTo>
                    <a:pt x="105790" y="307213"/>
                  </a:lnTo>
                  <a:lnTo>
                    <a:pt x="105790" y="288671"/>
                  </a:lnTo>
                  <a:lnTo>
                    <a:pt x="113919" y="281686"/>
                  </a:lnTo>
                  <a:lnTo>
                    <a:pt x="144815" y="281686"/>
                  </a:lnTo>
                  <a:lnTo>
                    <a:pt x="144033" y="280590"/>
                  </a:lnTo>
                  <a:lnTo>
                    <a:pt x="135161" y="274901"/>
                  </a:lnTo>
                  <a:lnTo>
                    <a:pt x="124205" y="272796"/>
                  </a:lnTo>
                  <a:close/>
                </a:path>
                <a:path w="332740" h="378459">
                  <a:moveTo>
                    <a:pt x="144815" y="281686"/>
                  </a:moveTo>
                  <a:lnTo>
                    <a:pt x="134365" y="281686"/>
                  </a:lnTo>
                  <a:lnTo>
                    <a:pt x="142621" y="289306"/>
                  </a:lnTo>
                  <a:lnTo>
                    <a:pt x="142621" y="307848"/>
                  </a:lnTo>
                  <a:lnTo>
                    <a:pt x="134365" y="315467"/>
                  </a:lnTo>
                  <a:lnTo>
                    <a:pt x="145152" y="315467"/>
                  </a:lnTo>
                  <a:lnTo>
                    <a:pt x="149986" y="308820"/>
                  </a:lnTo>
                  <a:lnTo>
                    <a:pt x="152146" y="298958"/>
                  </a:lnTo>
                  <a:lnTo>
                    <a:pt x="150059" y="289306"/>
                  </a:lnTo>
                  <a:lnTo>
                    <a:pt x="149977" y="288923"/>
                  </a:lnTo>
                  <a:lnTo>
                    <a:pt x="144815" y="281686"/>
                  </a:lnTo>
                  <a:close/>
                </a:path>
                <a:path w="332740" h="378459">
                  <a:moveTo>
                    <a:pt x="124205" y="212216"/>
                  </a:moveTo>
                  <a:lnTo>
                    <a:pt x="112636" y="214340"/>
                  </a:lnTo>
                  <a:lnTo>
                    <a:pt x="113016" y="214340"/>
                  </a:lnTo>
                  <a:lnTo>
                    <a:pt x="104266" y="219741"/>
                  </a:lnTo>
                  <a:lnTo>
                    <a:pt x="98309" y="227861"/>
                  </a:lnTo>
                  <a:lnTo>
                    <a:pt x="96138" y="237744"/>
                  </a:lnTo>
                  <a:lnTo>
                    <a:pt x="98309" y="247993"/>
                  </a:lnTo>
                  <a:lnTo>
                    <a:pt x="103253" y="254888"/>
                  </a:lnTo>
                  <a:lnTo>
                    <a:pt x="104393" y="256381"/>
                  </a:lnTo>
                  <a:lnTo>
                    <a:pt x="113230" y="261881"/>
                  </a:lnTo>
                  <a:lnTo>
                    <a:pt x="124205" y="263906"/>
                  </a:lnTo>
                  <a:lnTo>
                    <a:pt x="135161" y="261881"/>
                  </a:lnTo>
                  <a:lnTo>
                    <a:pt x="139066" y="259461"/>
                  </a:lnTo>
                  <a:lnTo>
                    <a:pt x="124205" y="259461"/>
                  </a:lnTo>
                  <a:lnTo>
                    <a:pt x="124205" y="254888"/>
                  </a:lnTo>
                  <a:lnTo>
                    <a:pt x="113919" y="254888"/>
                  </a:lnTo>
                  <a:lnTo>
                    <a:pt x="105790" y="247269"/>
                  </a:lnTo>
                  <a:lnTo>
                    <a:pt x="105790" y="228853"/>
                  </a:lnTo>
                  <a:lnTo>
                    <a:pt x="113919" y="221107"/>
                  </a:lnTo>
                  <a:lnTo>
                    <a:pt x="144780" y="221107"/>
                  </a:lnTo>
                  <a:lnTo>
                    <a:pt x="144033" y="220059"/>
                  </a:lnTo>
                  <a:lnTo>
                    <a:pt x="135161" y="214340"/>
                  </a:lnTo>
                  <a:lnTo>
                    <a:pt x="124205" y="212216"/>
                  </a:lnTo>
                  <a:close/>
                </a:path>
                <a:path w="332740" h="378459">
                  <a:moveTo>
                    <a:pt x="144780" y="221107"/>
                  </a:moveTo>
                  <a:lnTo>
                    <a:pt x="134365" y="221107"/>
                  </a:lnTo>
                  <a:lnTo>
                    <a:pt x="142621" y="228853"/>
                  </a:lnTo>
                  <a:lnTo>
                    <a:pt x="142621" y="247269"/>
                  </a:lnTo>
                  <a:lnTo>
                    <a:pt x="134365" y="254888"/>
                  </a:lnTo>
                  <a:lnTo>
                    <a:pt x="124205" y="254888"/>
                  </a:lnTo>
                  <a:lnTo>
                    <a:pt x="124205" y="259461"/>
                  </a:lnTo>
                  <a:lnTo>
                    <a:pt x="139066" y="259461"/>
                  </a:lnTo>
                  <a:lnTo>
                    <a:pt x="144033" y="256381"/>
                  </a:lnTo>
                  <a:lnTo>
                    <a:pt x="149977" y="248261"/>
                  </a:lnTo>
                  <a:lnTo>
                    <a:pt x="152146" y="238378"/>
                  </a:lnTo>
                  <a:lnTo>
                    <a:pt x="150076" y="228853"/>
                  </a:lnTo>
                  <a:lnTo>
                    <a:pt x="149977" y="228397"/>
                  </a:lnTo>
                  <a:lnTo>
                    <a:pt x="144780" y="221107"/>
                  </a:lnTo>
                  <a:close/>
                </a:path>
                <a:path w="332740" h="378459">
                  <a:moveTo>
                    <a:pt x="201295" y="44576"/>
                  </a:moveTo>
                  <a:lnTo>
                    <a:pt x="199898" y="44576"/>
                  </a:lnTo>
                  <a:lnTo>
                    <a:pt x="49783" y="47751"/>
                  </a:lnTo>
                  <a:lnTo>
                    <a:pt x="47751" y="47751"/>
                  </a:lnTo>
                  <a:lnTo>
                    <a:pt x="45084" y="49657"/>
                  </a:lnTo>
                  <a:lnTo>
                    <a:pt x="45084" y="163195"/>
                  </a:lnTo>
                  <a:lnTo>
                    <a:pt x="45720" y="163829"/>
                  </a:lnTo>
                  <a:lnTo>
                    <a:pt x="47926" y="165814"/>
                  </a:lnTo>
                  <a:lnTo>
                    <a:pt x="49149" y="166370"/>
                  </a:lnTo>
                  <a:lnTo>
                    <a:pt x="202480" y="165814"/>
                  </a:lnTo>
                  <a:lnTo>
                    <a:pt x="204597" y="163829"/>
                  </a:lnTo>
                  <a:lnTo>
                    <a:pt x="204597" y="157479"/>
                  </a:lnTo>
                  <a:lnTo>
                    <a:pt x="54609" y="157479"/>
                  </a:lnTo>
                  <a:lnTo>
                    <a:pt x="54609" y="111506"/>
                  </a:lnTo>
                  <a:lnTo>
                    <a:pt x="192877" y="109630"/>
                  </a:lnTo>
                  <a:lnTo>
                    <a:pt x="204597" y="109630"/>
                  </a:lnTo>
                  <a:lnTo>
                    <a:pt x="204597" y="102615"/>
                  </a:lnTo>
                  <a:lnTo>
                    <a:pt x="54609" y="102615"/>
                  </a:lnTo>
                  <a:lnTo>
                    <a:pt x="54609" y="56769"/>
                  </a:lnTo>
                  <a:lnTo>
                    <a:pt x="192877" y="53643"/>
                  </a:lnTo>
                  <a:lnTo>
                    <a:pt x="204597" y="53643"/>
                  </a:lnTo>
                  <a:lnTo>
                    <a:pt x="204597" y="47751"/>
                  </a:lnTo>
                  <a:lnTo>
                    <a:pt x="203961" y="47116"/>
                  </a:lnTo>
                  <a:lnTo>
                    <a:pt x="203326" y="45847"/>
                  </a:lnTo>
                  <a:lnTo>
                    <a:pt x="202564" y="45212"/>
                  </a:lnTo>
                  <a:lnTo>
                    <a:pt x="201295" y="44576"/>
                  </a:lnTo>
                  <a:close/>
                </a:path>
                <a:path w="332740" h="378459">
                  <a:moveTo>
                    <a:pt x="204597" y="109630"/>
                  </a:moveTo>
                  <a:lnTo>
                    <a:pt x="195072" y="109630"/>
                  </a:lnTo>
                  <a:lnTo>
                    <a:pt x="195072" y="156845"/>
                  </a:lnTo>
                  <a:lnTo>
                    <a:pt x="54610" y="157479"/>
                  </a:lnTo>
                  <a:lnTo>
                    <a:pt x="204597" y="157479"/>
                  </a:lnTo>
                  <a:lnTo>
                    <a:pt x="204597" y="109630"/>
                  </a:lnTo>
                  <a:close/>
                </a:path>
                <a:path w="332740" h="378459">
                  <a:moveTo>
                    <a:pt x="204597" y="53643"/>
                  </a:moveTo>
                  <a:lnTo>
                    <a:pt x="195072" y="53643"/>
                  </a:lnTo>
                  <a:lnTo>
                    <a:pt x="195072" y="100711"/>
                  </a:lnTo>
                  <a:lnTo>
                    <a:pt x="54609" y="102615"/>
                  </a:lnTo>
                  <a:lnTo>
                    <a:pt x="204597" y="102615"/>
                  </a:lnTo>
                  <a:lnTo>
                    <a:pt x="204597" y="53643"/>
                  </a:lnTo>
                  <a:close/>
                </a:path>
              </a:pathLst>
            </a:custGeom>
            <a:solidFill>
              <a:srgbClr val="2A2F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60356" y="1163193"/>
              <a:ext cx="168656" cy="130937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9419843" y="1123188"/>
              <a:ext cx="332740" cy="378460"/>
            </a:xfrm>
            <a:custGeom>
              <a:avLst/>
              <a:gdLst/>
              <a:ahLst/>
              <a:cxnLst/>
              <a:rect l="l" t="t" r="r" b="b"/>
              <a:pathLst>
                <a:path w="332740" h="378459">
                  <a:moveTo>
                    <a:pt x="124205" y="272796"/>
                  </a:moveTo>
                  <a:lnTo>
                    <a:pt x="113176" y="274802"/>
                  </a:lnTo>
                  <a:lnTo>
                    <a:pt x="104266" y="280273"/>
                  </a:lnTo>
                  <a:lnTo>
                    <a:pt x="98309" y="288387"/>
                  </a:lnTo>
                  <a:lnTo>
                    <a:pt x="96138" y="298323"/>
                  </a:lnTo>
                  <a:lnTo>
                    <a:pt x="98309" y="308195"/>
                  </a:lnTo>
                  <a:lnTo>
                    <a:pt x="104267" y="316341"/>
                  </a:lnTo>
                  <a:lnTo>
                    <a:pt x="113176" y="321986"/>
                  </a:lnTo>
                  <a:lnTo>
                    <a:pt x="124205" y="324358"/>
                  </a:lnTo>
                  <a:lnTo>
                    <a:pt x="124840" y="324358"/>
                  </a:lnTo>
                  <a:lnTo>
                    <a:pt x="135429" y="322353"/>
                  </a:lnTo>
                  <a:lnTo>
                    <a:pt x="144113" y="316896"/>
                  </a:lnTo>
                  <a:lnTo>
                    <a:pt x="149986" y="308820"/>
                  </a:lnTo>
                  <a:lnTo>
                    <a:pt x="152146" y="298958"/>
                  </a:lnTo>
                  <a:lnTo>
                    <a:pt x="149977" y="288923"/>
                  </a:lnTo>
                  <a:lnTo>
                    <a:pt x="144033" y="280590"/>
                  </a:lnTo>
                  <a:lnTo>
                    <a:pt x="135161" y="274901"/>
                  </a:lnTo>
                  <a:lnTo>
                    <a:pt x="124205" y="272796"/>
                  </a:lnTo>
                </a:path>
                <a:path w="332740" h="378459">
                  <a:moveTo>
                    <a:pt x="124840" y="315467"/>
                  </a:moveTo>
                  <a:lnTo>
                    <a:pt x="124205" y="315467"/>
                  </a:lnTo>
                  <a:lnTo>
                    <a:pt x="113919" y="314833"/>
                  </a:lnTo>
                  <a:lnTo>
                    <a:pt x="105790" y="307213"/>
                  </a:lnTo>
                  <a:lnTo>
                    <a:pt x="105790" y="298323"/>
                  </a:lnTo>
                  <a:lnTo>
                    <a:pt x="105790" y="288671"/>
                  </a:lnTo>
                  <a:lnTo>
                    <a:pt x="113919" y="281686"/>
                  </a:lnTo>
                  <a:lnTo>
                    <a:pt x="124205" y="281686"/>
                  </a:lnTo>
                  <a:lnTo>
                    <a:pt x="134365" y="281686"/>
                  </a:lnTo>
                  <a:lnTo>
                    <a:pt x="142621" y="289306"/>
                  </a:lnTo>
                  <a:lnTo>
                    <a:pt x="142621" y="298958"/>
                  </a:lnTo>
                  <a:lnTo>
                    <a:pt x="142621" y="307848"/>
                  </a:lnTo>
                  <a:lnTo>
                    <a:pt x="134365" y="315467"/>
                  </a:lnTo>
                  <a:lnTo>
                    <a:pt x="124840" y="315467"/>
                  </a:lnTo>
                </a:path>
                <a:path w="332740" h="378459">
                  <a:moveTo>
                    <a:pt x="330834" y="75819"/>
                  </a:moveTo>
                  <a:lnTo>
                    <a:pt x="285093" y="32720"/>
                  </a:lnTo>
                  <a:lnTo>
                    <a:pt x="261604" y="10588"/>
                  </a:lnTo>
                  <a:lnTo>
                    <a:pt x="252950" y="2434"/>
                  </a:lnTo>
                  <a:lnTo>
                    <a:pt x="250316" y="635"/>
                  </a:lnTo>
                  <a:lnTo>
                    <a:pt x="250316" y="0"/>
                  </a:lnTo>
                  <a:lnTo>
                    <a:pt x="249681" y="0"/>
                  </a:lnTo>
                  <a:lnTo>
                    <a:pt x="249047" y="0"/>
                  </a:lnTo>
                  <a:lnTo>
                    <a:pt x="248284" y="0"/>
                  </a:lnTo>
                  <a:lnTo>
                    <a:pt x="107094" y="3671"/>
                  </a:lnTo>
                  <a:lnTo>
                    <a:pt x="34591" y="5556"/>
                  </a:lnTo>
                  <a:lnTo>
                    <a:pt x="7879" y="6250"/>
                  </a:lnTo>
                  <a:lnTo>
                    <a:pt x="4063" y="6350"/>
                  </a:lnTo>
                  <a:lnTo>
                    <a:pt x="2031" y="6350"/>
                  </a:lnTo>
                  <a:lnTo>
                    <a:pt x="0" y="8254"/>
                  </a:lnTo>
                  <a:lnTo>
                    <a:pt x="0" y="10795"/>
                  </a:lnTo>
                  <a:lnTo>
                    <a:pt x="0" y="216816"/>
                  </a:lnTo>
                  <a:lnTo>
                    <a:pt x="0" y="322611"/>
                  </a:lnTo>
                  <a:lnTo>
                    <a:pt x="0" y="361588"/>
                  </a:lnTo>
                  <a:lnTo>
                    <a:pt x="0" y="367157"/>
                  </a:lnTo>
                  <a:lnTo>
                    <a:pt x="0" y="369697"/>
                  </a:lnTo>
                  <a:lnTo>
                    <a:pt x="2031" y="371601"/>
                  </a:lnTo>
                  <a:lnTo>
                    <a:pt x="4063" y="371601"/>
                  </a:lnTo>
                  <a:lnTo>
                    <a:pt x="145254" y="375273"/>
                  </a:lnTo>
                  <a:lnTo>
                    <a:pt x="217757" y="377158"/>
                  </a:lnTo>
                  <a:lnTo>
                    <a:pt x="244469" y="377852"/>
                  </a:lnTo>
                  <a:lnTo>
                    <a:pt x="248284" y="377951"/>
                  </a:lnTo>
                  <a:lnTo>
                    <a:pt x="249047" y="377951"/>
                  </a:lnTo>
                  <a:lnTo>
                    <a:pt x="249681" y="377951"/>
                  </a:lnTo>
                  <a:lnTo>
                    <a:pt x="250316" y="377951"/>
                  </a:lnTo>
                  <a:lnTo>
                    <a:pt x="250316" y="377316"/>
                  </a:lnTo>
                  <a:lnTo>
                    <a:pt x="251078" y="377316"/>
                  </a:lnTo>
                  <a:lnTo>
                    <a:pt x="251713" y="376682"/>
                  </a:lnTo>
                  <a:lnTo>
                    <a:pt x="297455" y="333583"/>
                  </a:lnTo>
                  <a:lnTo>
                    <a:pt x="320944" y="311451"/>
                  </a:lnTo>
                  <a:lnTo>
                    <a:pt x="329598" y="303297"/>
                  </a:lnTo>
                  <a:lnTo>
                    <a:pt x="330834" y="302133"/>
                  </a:lnTo>
                  <a:lnTo>
                    <a:pt x="332231" y="301498"/>
                  </a:lnTo>
                  <a:lnTo>
                    <a:pt x="332231" y="76453"/>
                  </a:lnTo>
                  <a:lnTo>
                    <a:pt x="330834" y="75819"/>
                  </a:lnTo>
                </a:path>
                <a:path w="332740" h="378459">
                  <a:moveTo>
                    <a:pt x="243585" y="369062"/>
                  </a:moveTo>
                  <a:lnTo>
                    <a:pt x="108269" y="365390"/>
                  </a:lnTo>
                  <a:lnTo>
                    <a:pt x="38782" y="363505"/>
                  </a:lnTo>
                  <a:lnTo>
                    <a:pt x="13182" y="362811"/>
                  </a:lnTo>
                  <a:lnTo>
                    <a:pt x="9525" y="362712"/>
                  </a:lnTo>
                  <a:lnTo>
                    <a:pt x="9525" y="161829"/>
                  </a:lnTo>
                  <a:lnTo>
                    <a:pt x="9525" y="58674"/>
                  </a:lnTo>
                  <a:lnTo>
                    <a:pt x="9525" y="20669"/>
                  </a:lnTo>
                  <a:lnTo>
                    <a:pt x="9525" y="15239"/>
                  </a:lnTo>
                  <a:lnTo>
                    <a:pt x="144841" y="11568"/>
                  </a:lnTo>
                  <a:lnTo>
                    <a:pt x="214328" y="9683"/>
                  </a:lnTo>
                  <a:lnTo>
                    <a:pt x="239928" y="8989"/>
                  </a:lnTo>
                  <a:lnTo>
                    <a:pt x="243585" y="8889"/>
                  </a:lnTo>
                  <a:lnTo>
                    <a:pt x="243585" y="369062"/>
                  </a:lnTo>
                  <a:close/>
                </a:path>
                <a:path w="332740" h="378459">
                  <a:moveTo>
                    <a:pt x="322706" y="297052"/>
                  </a:moveTo>
                  <a:lnTo>
                    <a:pt x="282471" y="335012"/>
                  </a:lnTo>
                  <a:lnTo>
                    <a:pt x="261810" y="354504"/>
                  </a:lnTo>
                  <a:lnTo>
                    <a:pt x="254198" y="361686"/>
                  </a:lnTo>
                  <a:lnTo>
                    <a:pt x="253110" y="362712"/>
                  </a:lnTo>
                  <a:lnTo>
                    <a:pt x="253110" y="161829"/>
                  </a:lnTo>
                  <a:lnTo>
                    <a:pt x="253110" y="58674"/>
                  </a:lnTo>
                  <a:lnTo>
                    <a:pt x="253110" y="20669"/>
                  </a:lnTo>
                  <a:lnTo>
                    <a:pt x="253110" y="15239"/>
                  </a:lnTo>
                  <a:lnTo>
                    <a:pt x="293346" y="53199"/>
                  </a:lnTo>
                  <a:lnTo>
                    <a:pt x="314007" y="72691"/>
                  </a:lnTo>
                  <a:lnTo>
                    <a:pt x="321619" y="79873"/>
                  </a:lnTo>
                  <a:lnTo>
                    <a:pt x="322706" y="80899"/>
                  </a:lnTo>
                  <a:lnTo>
                    <a:pt x="322706" y="297052"/>
                  </a:lnTo>
                  <a:close/>
                </a:path>
                <a:path w="332740" h="378459">
                  <a:moveTo>
                    <a:pt x="124205" y="212216"/>
                  </a:moveTo>
                  <a:lnTo>
                    <a:pt x="113176" y="214241"/>
                  </a:lnTo>
                  <a:lnTo>
                    <a:pt x="104266" y="219741"/>
                  </a:lnTo>
                  <a:lnTo>
                    <a:pt x="98309" y="227861"/>
                  </a:lnTo>
                  <a:lnTo>
                    <a:pt x="96138" y="237744"/>
                  </a:lnTo>
                  <a:lnTo>
                    <a:pt x="98309" y="247993"/>
                  </a:lnTo>
                  <a:lnTo>
                    <a:pt x="104267" y="256301"/>
                  </a:lnTo>
                  <a:lnTo>
                    <a:pt x="113176" y="261872"/>
                  </a:lnTo>
                  <a:lnTo>
                    <a:pt x="124205" y="263906"/>
                  </a:lnTo>
                  <a:lnTo>
                    <a:pt x="135161" y="261881"/>
                  </a:lnTo>
                  <a:lnTo>
                    <a:pt x="144033" y="256381"/>
                  </a:lnTo>
                  <a:lnTo>
                    <a:pt x="149977" y="248261"/>
                  </a:lnTo>
                  <a:lnTo>
                    <a:pt x="152146" y="238378"/>
                  </a:lnTo>
                  <a:lnTo>
                    <a:pt x="149977" y="228397"/>
                  </a:lnTo>
                  <a:lnTo>
                    <a:pt x="144033" y="220059"/>
                  </a:lnTo>
                  <a:lnTo>
                    <a:pt x="135161" y="214340"/>
                  </a:lnTo>
                  <a:lnTo>
                    <a:pt x="124205" y="212216"/>
                  </a:lnTo>
                </a:path>
                <a:path w="332740" h="378459">
                  <a:moveTo>
                    <a:pt x="124205" y="254888"/>
                  </a:moveTo>
                  <a:lnTo>
                    <a:pt x="124205" y="259461"/>
                  </a:lnTo>
                  <a:lnTo>
                    <a:pt x="124205" y="254888"/>
                  </a:lnTo>
                  <a:lnTo>
                    <a:pt x="113919" y="254888"/>
                  </a:lnTo>
                  <a:lnTo>
                    <a:pt x="105790" y="247269"/>
                  </a:lnTo>
                  <a:lnTo>
                    <a:pt x="105790" y="237744"/>
                  </a:lnTo>
                  <a:lnTo>
                    <a:pt x="105790" y="228853"/>
                  </a:lnTo>
                  <a:lnTo>
                    <a:pt x="113919" y="221107"/>
                  </a:lnTo>
                  <a:lnTo>
                    <a:pt x="124205" y="221107"/>
                  </a:lnTo>
                  <a:lnTo>
                    <a:pt x="134365" y="221107"/>
                  </a:lnTo>
                  <a:lnTo>
                    <a:pt x="142621" y="228853"/>
                  </a:lnTo>
                  <a:lnTo>
                    <a:pt x="142621" y="238378"/>
                  </a:lnTo>
                  <a:lnTo>
                    <a:pt x="142621" y="247269"/>
                  </a:lnTo>
                  <a:lnTo>
                    <a:pt x="134365" y="254888"/>
                  </a:lnTo>
                  <a:lnTo>
                    <a:pt x="124205" y="254888"/>
                  </a:lnTo>
                </a:path>
              </a:pathLst>
            </a:custGeom>
            <a:ln w="9144">
              <a:solidFill>
                <a:srgbClr val="2A2F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3" name="object 6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49111" y="1078991"/>
            <a:ext cx="379475" cy="405384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50007" y="1106424"/>
            <a:ext cx="398933" cy="411479"/>
          </a:xfrm>
          <a:prstGeom prst="rect">
            <a:avLst/>
          </a:prstGeom>
        </p:spPr>
      </p:pic>
      <p:sp>
        <p:nvSpPr>
          <p:cNvPr id="65" name="object 65" descr=""/>
          <p:cNvSpPr/>
          <p:nvPr/>
        </p:nvSpPr>
        <p:spPr>
          <a:xfrm>
            <a:off x="9314688" y="1592580"/>
            <a:ext cx="2103120" cy="0"/>
          </a:xfrm>
          <a:custGeom>
            <a:avLst/>
            <a:gdLst/>
            <a:ahLst/>
            <a:cxnLst/>
            <a:rect l="l" t="t" r="r" b="b"/>
            <a:pathLst>
              <a:path w="2103120" h="0">
                <a:moveTo>
                  <a:pt x="0" y="0"/>
                </a:moveTo>
                <a:lnTo>
                  <a:pt x="2103119" y="0"/>
                </a:lnTo>
              </a:path>
            </a:pathLst>
          </a:custGeom>
          <a:ln w="9144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2350007" y="1610867"/>
            <a:ext cx="2560320" cy="0"/>
          </a:xfrm>
          <a:custGeom>
            <a:avLst/>
            <a:gdLst/>
            <a:ahLst/>
            <a:cxnLst/>
            <a:rect l="l" t="t" r="r" b="b"/>
            <a:pathLst>
              <a:path w="2560320" h="0">
                <a:moveTo>
                  <a:pt x="0" y="0"/>
                </a:moveTo>
                <a:lnTo>
                  <a:pt x="2560320" y="0"/>
                </a:lnTo>
              </a:path>
            </a:pathLst>
          </a:custGeom>
          <a:ln w="9144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5879591" y="1610867"/>
            <a:ext cx="2560320" cy="0"/>
          </a:xfrm>
          <a:custGeom>
            <a:avLst/>
            <a:gdLst/>
            <a:ahLst/>
            <a:cxnLst/>
            <a:rect l="l" t="t" r="r" b="b"/>
            <a:pathLst>
              <a:path w="2560320" h="0">
                <a:moveTo>
                  <a:pt x="0" y="0"/>
                </a:moveTo>
                <a:lnTo>
                  <a:pt x="2560319" y="0"/>
                </a:lnTo>
              </a:path>
            </a:pathLst>
          </a:custGeom>
          <a:ln w="9144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69" name="object 6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28600" y="624649"/>
            <a:ext cx="11544300" cy="430530"/>
            <a:chOff x="228600" y="624649"/>
            <a:chExt cx="11544300" cy="430530"/>
          </a:xfrm>
        </p:grpSpPr>
        <p:sp>
          <p:nvSpPr>
            <p:cNvPr id="3" name="object 3" descr=""/>
            <p:cNvSpPr/>
            <p:nvPr/>
          </p:nvSpPr>
          <p:spPr>
            <a:xfrm>
              <a:off x="4549140" y="629412"/>
              <a:ext cx="2950210" cy="0"/>
            </a:xfrm>
            <a:custGeom>
              <a:avLst/>
              <a:gdLst/>
              <a:ahLst/>
              <a:cxnLst/>
              <a:rect l="l" t="t" r="r" b="b"/>
              <a:pathLst>
                <a:path w="2950209" h="0">
                  <a:moveTo>
                    <a:pt x="0" y="0"/>
                  </a:moveTo>
                  <a:lnTo>
                    <a:pt x="2949702" y="0"/>
                  </a:lnTo>
                </a:path>
              </a:pathLst>
            </a:custGeom>
            <a:ln w="9144">
              <a:solidFill>
                <a:srgbClr val="C725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9820" y="699516"/>
              <a:ext cx="5567172" cy="35509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153911" y="673608"/>
              <a:ext cx="5619115" cy="355600"/>
            </a:xfrm>
            <a:custGeom>
              <a:avLst/>
              <a:gdLst/>
              <a:ahLst/>
              <a:cxnLst/>
              <a:rect l="l" t="t" r="r" b="b"/>
              <a:pathLst>
                <a:path w="5619115" h="355600">
                  <a:moveTo>
                    <a:pt x="5618988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618988" y="355091"/>
                  </a:lnTo>
                  <a:lnTo>
                    <a:pt x="5618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32" y="699516"/>
              <a:ext cx="5583936" cy="35509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28600" y="673608"/>
              <a:ext cx="5638800" cy="355600"/>
            </a:xfrm>
            <a:custGeom>
              <a:avLst/>
              <a:gdLst/>
              <a:ahLst/>
              <a:cxnLst/>
              <a:rect l="l" t="t" r="r" b="b"/>
              <a:pathLst>
                <a:path w="5638800" h="355600">
                  <a:moveTo>
                    <a:pt x="5638800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638800" y="355091"/>
                  </a:lnTo>
                  <a:lnTo>
                    <a:pt x="563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30704" y="149097"/>
            <a:ext cx="85185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pc="-10"/>
              <a:t>Accelerate</a:t>
            </a:r>
            <a:r>
              <a:rPr dirty="0" u="none" spc="-75"/>
              <a:t> </a:t>
            </a:r>
            <a:r>
              <a:rPr dirty="0" u="none"/>
              <a:t>Direct</a:t>
            </a:r>
            <a:r>
              <a:rPr dirty="0" u="none" spc="-55"/>
              <a:t> </a:t>
            </a:r>
            <a:r>
              <a:rPr dirty="0" u="none"/>
              <a:t>Core</a:t>
            </a:r>
            <a:r>
              <a:rPr dirty="0" u="none" spc="-65"/>
              <a:t> </a:t>
            </a:r>
            <a:r>
              <a:rPr dirty="0" u="none"/>
              <a:t>:</a:t>
            </a:r>
            <a:r>
              <a:rPr dirty="0" u="none" spc="-45"/>
              <a:t> </a:t>
            </a:r>
            <a:r>
              <a:rPr dirty="0" u="none"/>
              <a:t>Mphasis</a:t>
            </a:r>
            <a:r>
              <a:rPr dirty="0" u="none" spc="-50"/>
              <a:t> </a:t>
            </a:r>
            <a:r>
              <a:rPr dirty="0" u="none"/>
              <a:t>X2C2</a:t>
            </a:r>
            <a:r>
              <a:rPr dirty="0" u="none" spc="-50"/>
              <a:t> </a:t>
            </a:r>
            <a:r>
              <a:rPr dirty="0" u="none"/>
              <a:t>TM</a:t>
            </a:r>
            <a:r>
              <a:rPr dirty="0" u="none" spc="-35"/>
              <a:t> </a:t>
            </a:r>
            <a:r>
              <a:rPr dirty="0" u="none"/>
              <a:t>-</a:t>
            </a:r>
            <a:r>
              <a:rPr dirty="0" u="none" spc="-50"/>
              <a:t> </a:t>
            </a:r>
            <a:r>
              <a:rPr dirty="0" u="none"/>
              <a:t>Key</a:t>
            </a:r>
            <a:r>
              <a:rPr dirty="0" u="none" spc="-40"/>
              <a:t> </a:t>
            </a:r>
            <a:r>
              <a:rPr dirty="0" u="none" spc="-10"/>
              <a:t>Levers</a:t>
            </a:r>
            <a:r>
              <a:rPr dirty="0" u="none" spc="-75"/>
              <a:t> </a:t>
            </a:r>
            <a:r>
              <a:rPr dirty="0" u="none"/>
              <a:t>and</a:t>
            </a:r>
            <a:r>
              <a:rPr dirty="0" u="none" spc="-45"/>
              <a:t> </a:t>
            </a:r>
            <a:r>
              <a:rPr dirty="0" u="none" spc="-10"/>
              <a:t>Benefits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122804" y="723646"/>
            <a:ext cx="84302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5280025" algn="l"/>
              </a:tabLst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Holistic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5D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approach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	Integrated</a:t>
            </a:r>
            <a:r>
              <a:rPr dirty="0" sz="1600" spc="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Mphasis</a:t>
            </a:r>
            <a:r>
              <a:rPr dirty="0" sz="16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latin typeface="Corbel"/>
                <a:cs typeface="Corbel"/>
              </a:rPr>
              <a:t>X2C</a:t>
            </a:r>
            <a:r>
              <a:rPr dirty="0" baseline="26455" sz="1575" spc="-15" b="1">
                <a:latin typeface="Corbel"/>
                <a:cs typeface="Corbel"/>
              </a:rPr>
              <a:t>2</a:t>
            </a:r>
            <a:r>
              <a:rPr dirty="0" baseline="26455" sz="1575" spc="-82" b="1">
                <a:latin typeface="Corbel"/>
                <a:cs typeface="Corbel"/>
              </a:rPr>
              <a:t> </a:t>
            </a:r>
            <a:r>
              <a:rPr dirty="0" baseline="26455" sz="1575" b="1">
                <a:latin typeface="Corbel"/>
                <a:cs typeface="Corbel"/>
              </a:rPr>
              <a:t>TM</a:t>
            </a:r>
            <a:r>
              <a:rPr dirty="0" baseline="26455" sz="1575" spc="127" b="1"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Benefits</a:t>
            </a:r>
            <a:endParaRPr sz="1600">
              <a:latin typeface="Corbel"/>
              <a:cs typeface="Corbe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28589" y="714565"/>
            <a:ext cx="5803265" cy="5405120"/>
            <a:chOff x="228589" y="714565"/>
            <a:chExt cx="5803265" cy="5405120"/>
          </a:xfrm>
        </p:grpSpPr>
        <p:sp>
          <p:nvSpPr>
            <p:cNvPr id="11" name="object 11" descr=""/>
            <p:cNvSpPr/>
            <p:nvPr/>
          </p:nvSpPr>
          <p:spPr>
            <a:xfrm>
              <a:off x="5969508" y="719327"/>
              <a:ext cx="57150" cy="5395595"/>
            </a:xfrm>
            <a:custGeom>
              <a:avLst/>
              <a:gdLst/>
              <a:ahLst/>
              <a:cxnLst/>
              <a:rect l="l" t="t" r="r" b="b"/>
              <a:pathLst>
                <a:path w="57150" h="5395595">
                  <a:moveTo>
                    <a:pt x="0" y="0"/>
                  </a:moveTo>
                  <a:lnTo>
                    <a:pt x="57150" y="5395163"/>
                  </a:lnTo>
                </a:path>
              </a:pathLst>
            </a:custGeom>
            <a:ln w="9144">
              <a:solidFill>
                <a:srgbClr val="B51E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589" y="1246620"/>
              <a:ext cx="5519942" cy="472441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646" y="1254838"/>
              <a:ext cx="5440380" cy="464432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89047" y="3259835"/>
              <a:ext cx="1591055" cy="157581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316018" y="3286901"/>
              <a:ext cx="1484630" cy="1469390"/>
            </a:xfrm>
            <a:custGeom>
              <a:avLst/>
              <a:gdLst/>
              <a:ahLst/>
              <a:cxnLst/>
              <a:rect l="l" t="t" r="r" b="b"/>
              <a:pathLst>
                <a:path w="1484629" h="1469389">
                  <a:moveTo>
                    <a:pt x="730036" y="0"/>
                  </a:moveTo>
                  <a:lnTo>
                    <a:pt x="681917" y="2221"/>
                  </a:lnTo>
                  <a:lnTo>
                    <a:pt x="634588" y="7448"/>
                  </a:lnTo>
                  <a:lnTo>
                    <a:pt x="588154" y="15588"/>
                  </a:lnTo>
                  <a:lnTo>
                    <a:pt x="542716" y="26550"/>
                  </a:lnTo>
                  <a:lnTo>
                    <a:pt x="498376" y="40241"/>
                  </a:lnTo>
                  <a:lnTo>
                    <a:pt x="455237" y="56571"/>
                  </a:lnTo>
                  <a:lnTo>
                    <a:pt x="413401" y="75448"/>
                  </a:lnTo>
                  <a:lnTo>
                    <a:pt x="372971" y="96780"/>
                  </a:lnTo>
                  <a:lnTo>
                    <a:pt x="334050" y="120476"/>
                  </a:lnTo>
                  <a:lnTo>
                    <a:pt x="296738" y="146443"/>
                  </a:lnTo>
                  <a:lnTo>
                    <a:pt x="261140" y="174591"/>
                  </a:lnTo>
                  <a:lnTo>
                    <a:pt x="227357" y="204827"/>
                  </a:lnTo>
                  <a:lnTo>
                    <a:pt x="195492" y="237060"/>
                  </a:lnTo>
                  <a:lnTo>
                    <a:pt x="165648" y="271198"/>
                  </a:lnTo>
                  <a:lnTo>
                    <a:pt x="137925" y="307150"/>
                  </a:lnTo>
                  <a:lnTo>
                    <a:pt x="112428" y="344825"/>
                  </a:lnTo>
                  <a:lnTo>
                    <a:pt x="89259" y="384129"/>
                  </a:lnTo>
                  <a:lnTo>
                    <a:pt x="68519" y="424973"/>
                  </a:lnTo>
                  <a:lnTo>
                    <a:pt x="50311" y="467263"/>
                  </a:lnTo>
                  <a:lnTo>
                    <a:pt x="34738" y="510909"/>
                  </a:lnTo>
                  <a:lnTo>
                    <a:pt x="21903" y="555819"/>
                  </a:lnTo>
                  <a:lnTo>
                    <a:pt x="11906" y="601901"/>
                  </a:lnTo>
                  <a:lnTo>
                    <a:pt x="4852" y="649064"/>
                  </a:lnTo>
                  <a:lnTo>
                    <a:pt x="842" y="697215"/>
                  </a:lnTo>
                  <a:lnTo>
                    <a:pt x="0" y="745526"/>
                  </a:lnTo>
                  <a:lnTo>
                    <a:pt x="2286" y="793158"/>
                  </a:lnTo>
                  <a:lnTo>
                    <a:pt x="7610" y="840010"/>
                  </a:lnTo>
                  <a:lnTo>
                    <a:pt x="15877" y="885981"/>
                  </a:lnTo>
                  <a:lnTo>
                    <a:pt x="26996" y="930969"/>
                  </a:lnTo>
                  <a:lnTo>
                    <a:pt x="40873" y="974873"/>
                  </a:lnTo>
                  <a:lnTo>
                    <a:pt x="57415" y="1017591"/>
                  </a:lnTo>
                  <a:lnTo>
                    <a:pt x="76531" y="1059022"/>
                  </a:lnTo>
                  <a:lnTo>
                    <a:pt x="98126" y="1099064"/>
                  </a:lnTo>
                  <a:lnTo>
                    <a:pt x="122108" y="1137615"/>
                  </a:lnTo>
                  <a:lnTo>
                    <a:pt x="148384" y="1174574"/>
                  </a:lnTo>
                  <a:lnTo>
                    <a:pt x="176862" y="1209839"/>
                  </a:lnTo>
                  <a:lnTo>
                    <a:pt x="207449" y="1243310"/>
                  </a:lnTo>
                  <a:lnTo>
                    <a:pt x="240051" y="1274884"/>
                  </a:lnTo>
                  <a:lnTo>
                    <a:pt x="274577" y="1304459"/>
                  </a:lnTo>
                  <a:lnTo>
                    <a:pt x="310933" y="1331935"/>
                  </a:lnTo>
                  <a:lnTo>
                    <a:pt x="349026" y="1357210"/>
                  </a:lnTo>
                  <a:lnTo>
                    <a:pt x="388764" y="1380182"/>
                  </a:lnTo>
                  <a:lnTo>
                    <a:pt x="430054" y="1400749"/>
                  </a:lnTo>
                  <a:lnTo>
                    <a:pt x="472803" y="1418811"/>
                  </a:lnTo>
                  <a:lnTo>
                    <a:pt x="516918" y="1434265"/>
                  </a:lnTo>
                  <a:lnTo>
                    <a:pt x="562306" y="1447011"/>
                  </a:lnTo>
                  <a:lnTo>
                    <a:pt x="608875" y="1456946"/>
                  </a:lnTo>
                  <a:lnTo>
                    <a:pt x="656532" y="1463969"/>
                  </a:lnTo>
                  <a:lnTo>
                    <a:pt x="705184" y="1467978"/>
                  </a:lnTo>
                  <a:lnTo>
                    <a:pt x="753992" y="1468867"/>
                  </a:lnTo>
                  <a:lnTo>
                    <a:pt x="802112" y="1466657"/>
                  </a:lnTo>
                  <a:lnTo>
                    <a:pt x="849440" y="1461440"/>
                  </a:lnTo>
                  <a:lnTo>
                    <a:pt x="895874" y="1453308"/>
                  </a:lnTo>
                  <a:lnTo>
                    <a:pt x="941313" y="1442352"/>
                  </a:lnTo>
                  <a:lnTo>
                    <a:pt x="985653" y="1428664"/>
                  </a:lnTo>
                  <a:lnTo>
                    <a:pt x="1028792" y="1412336"/>
                  </a:lnTo>
                  <a:lnTo>
                    <a:pt x="1070627" y="1393461"/>
                  </a:lnTo>
                  <a:lnTo>
                    <a:pt x="1111057" y="1372128"/>
                  </a:lnTo>
                  <a:lnTo>
                    <a:pt x="1149979" y="1348432"/>
                  </a:lnTo>
                  <a:lnTo>
                    <a:pt x="1187290" y="1322462"/>
                  </a:lnTo>
                  <a:lnTo>
                    <a:pt x="1222888" y="1294311"/>
                  </a:lnTo>
                  <a:lnTo>
                    <a:pt x="1256671" y="1264071"/>
                  </a:lnTo>
                  <a:lnTo>
                    <a:pt x="1288536" y="1231834"/>
                  </a:lnTo>
                  <a:lnTo>
                    <a:pt x="1318381" y="1197691"/>
                  </a:lnTo>
                  <a:lnTo>
                    <a:pt x="1346103" y="1161734"/>
                  </a:lnTo>
                  <a:lnTo>
                    <a:pt x="1371600" y="1124055"/>
                  </a:lnTo>
                  <a:lnTo>
                    <a:pt x="1394770" y="1084745"/>
                  </a:lnTo>
                  <a:lnTo>
                    <a:pt x="1415510" y="1043897"/>
                  </a:lnTo>
                  <a:lnTo>
                    <a:pt x="1433717" y="1001602"/>
                  </a:lnTo>
                  <a:lnTo>
                    <a:pt x="1449290" y="957952"/>
                  </a:lnTo>
                  <a:lnTo>
                    <a:pt x="1462126" y="913039"/>
                  </a:lnTo>
                  <a:lnTo>
                    <a:pt x="1472122" y="866954"/>
                  </a:lnTo>
                  <a:lnTo>
                    <a:pt x="1479176" y="819790"/>
                  </a:lnTo>
                  <a:lnTo>
                    <a:pt x="1483186" y="771637"/>
                  </a:lnTo>
                  <a:lnTo>
                    <a:pt x="1484029" y="723327"/>
                  </a:lnTo>
                  <a:lnTo>
                    <a:pt x="1481742" y="675695"/>
                  </a:lnTo>
                  <a:lnTo>
                    <a:pt x="1476418" y="628842"/>
                  </a:lnTo>
                  <a:lnTo>
                    <a:pt x="1468151" y="582871"/>
                  </a:lnTo>
                  <a:lnTo>
                    <a:pt x="1457032" y="537883"/>
                  </a:lnTo>
                  <a:lnTo>
                    <a:pt x="1443155" y="493979"/>
                  </a:lnTo>
                  <a:lnTo>
                    <a:pt x="1426613" y="451261"/>
                  </a:lnTo>
                  <a:lnTo>
                    <a:pt x="1407498" y="409831"/>
                  </a:lnTo>
                  <a:lnTo>
                    <a:pt x="1385903" y="369789"/>
                  </a:lnTo>
                  <a:lnTo>
                    <a:pt x="1361920" y="331238"/>
                  </a:lnTo>
                  <a:lnTo>
                    <a:pt x="1335644" y="294279"/>
                  </a:lnTo>
                  <a:lnTo>
                    <a:pt x="1307166" y="259013"/>
                  </a:lnTo>
                  <a:lnTo>
                    <a:pt x="1276579" y="225543"/>
                  </a:lnTo>
                  <a:lnTo>
                    <a:pt x="1243977" y="193969"/>
                  </a:lnTo>
                  <a:lnTo>
                    <a:pt x="1209451" y="164393"/>
                  </a:lnTo>
                  <a:lnTo>
                    <a:pt x="1173096" y="136917"/>
                  </a:lnTo>
                  <a:lnTo>
                    <a:pt x="1135002" y="111643"/>
                  </a:lnTo>
                  <a:lnTo>
                    <a:pt x="1095264" y="88671"/>
                  </a:lnTo>
                  <a:lnTo>
                    <a:pt x="1053975" y="68103"/>
                  </a:lnTo>
                  <a:lnTo>
                    <a:pt x="1011226" y="50042"/>
                  </a:lnTo>
                  <a:lnTo>
                    <a:pt x="967111" y="34587"/>
                  </a:lnTo>
                  <a:lnTo>
                    <a:pt x="921722" y="21842"/>
                  </a:lnTo>
                  <a:lnTo>
                    <a:pt x="875153" y="11907"/>
                  </a:lnTo>
                  <a:lnTo>
                    <a:pt x="827496" y="4884"/>
                  </a:lnTo>
                  <a:lnTo>
                    <a:pt x="778844" y="874"/>
                  </a:lnTo>
                  <a:lnTo>
                    <a:pt x="73003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9235" y="3640835"/>
              <a:ext cx="851915" cy="4572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68395" y="3916679"/>
              <a:ext cx="725423" cy="457200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284988" y="176784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25450" h="373380">
                <a:moveTo>
                  <a:pt x="212597" y="0"/>
                </a:moveTo>
                <a:lnTo>
                  <a:pt x="163852" y="4929"/>
                </a:lnTo>
                <a:lnTo>
                  <a:pt x="119104" y="18972"/>
                </a:lnTo>
                <a:lnTo>
                  <a:pt x="79630" y="41008"/>
                </a:lnTo>
                <a:lnTo>
                  <a:pt x="46706" y="69917"/>
                </a:lnTo>
                <a:lnTo>
                  <a:pt x="21609" y="104580"/>
                </a:lnTo>
                <a:lnTo>
                  <a:pt x="5615" y="143878"/>
                </a:lnTo>
                <a:lnTo>
                  <a:pt x="0" y="186690"/>
                </a:lnTo>
                <a:lnTo>
                  <a:pt x="5615" y="229501"/>
                </a:lnTo>
                <a:lnTo>
                  <a:pt x="21609" y="268799"/>
                </a:lnTo>
                <a:lnTo>
                  <a:pt x="46706" y="303462"/>
                </a:lnTo>
                <a:lnTo>
                  <a:pt x="79630" y="332371"/>
                </a:lnTo>
                <a:lnTo>
                  <a:pt x="119104" y="354407"/>
                </a:lnTo>
                <a:lnTo>
                  <a:pt x="163852" y="368450"/>
                </a:lnTo>
                <a:lnTo>
                  <a:pt x="212597" y="373380"/>
                </a:lnTo>
                <a:lnTo>
                  <a:pt x="261343" y="368450"/>
                </a:lnTo>
                <a:lnTo>
                  <a:pt x="306091" y="354407"/>
                </a:lnTo>
                <a:lnTo>
                  <a:pt x="345565" y="332371"/>
                </a:lnTo>
                <a:lnTo>
                  <a:pt x="378489" y="303462"/>
                </a:lnTo>
                <a:lnTo>
                  <a:pt x="403586" y="268799"/>
                </a:lnTo>
                <a:lnTo>
                  <a:pt x="419580" y="229501"/>
                </a:lnTo>
                <a:lnTo>
                  <a:pt x="425196" y="186690"/>
                </a:lnTo>
                <a:lnTo>
                  <a:pt x="419580" y="143878"/>
                </a:lnTo>
                <a:lnTo>
                  <a:pt x="403586" y="104580"/>
                </a:lnTo>
                <a:lnTo>
                  <a:pt x="378489" y="69917"/>
                </a:lnTo>
                <a:lnTo>
                  <a:pt x="345565" y="41008"/>
                </a:lnTo>
                <a:lnTo>
                  <a:pt x="306091" y="18972"/>
                </a:lnTo>
                <a:lnTo>
                  <a:pt x="261343" y="4929"/>
                </a:lnTo>
                <a:lnTo>
                  <a:pt x="21259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07923" y="14820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 i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283711" y="3959733"/>
            <a:ext cx="47688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359405" y="3123387"/>
            <a:ext cx="96774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00" spc="35" b="1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dirty="0" sz="1600" spc="15" b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1600" spc="35" b="1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600" spc="-535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baseline="-18981" sz="9000" spc="52" i="1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baseline="-18981" sz="900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94204" y="4117847"/>
            <a:ext cx="1362456" cy="457200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2509520" y="4161231"/>
            <a:ext cx="11144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TRANSFORM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3166872" y="1146047"/>
            <a:ext cx="7230745" cy="3058795"/>
            <a:chOff x="3166872" y="1146047"/>
            <a:chExt cx="7230745" cy="3058795"/>
          </a:xfrm>
        </p:grpSpPr>
        <p:sp>
          <p:nvSpPr>
            <p:cNvPr id="25" name="object 25" descr=""/>
            <p:cNvSpPr/>
            <p:nvPr/>
          </p:nvSpPr>
          <p:spPr>
            <a:xfrm>
              <a:off x="3166872" y="4041647"/>
              <a:ext cx="113030" cy="163195"/>
            </a:xfrm>
            <a:custGeom>
              <a:avLst/>
              <a:gdLst/>
              <a:ahLst/>
              <a:cxnLst/>
              <a:rect l="l" t="t" r="r" b="b"/>
              <a:pathLst>
                <a:path w="113029" h="163195">
                  <a:moveTo>
                    <a:pt x="0" y="0"/>
                  </a:moveTo>
                  <a:lnTo>
                    <a:pt x="0" y="163068"/>
                  </a:lnTo>
                  <a:lnTo>
                    <a:pt x="112775" y="815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768084" y="1146047"/>
              <a:ext cx="3629660" cy="2618740"/>
            </a:xfrm>
            <a:custGeom>
              <a:avLst/>
              <a:gdLst/>
              <a:ahLst/>
              <a:cxnLst/>
              <a:rect l="l" t="t" r="r" b="b"/>
              <a:pathLst>
                <a:path w="3629659" h="2618740">
                  <a:moveTo>
                    <a:pt x="3629533" y="2503932"/>
                  </a:moveTo>
                  <a:lnTo>
                    <a:pt x="3553333" y="2465832"/>
                  </a:lnTo>
                  <a:lnTo>
                    <a:pt x="3400933" y="2389632"/>
                  </a:lnTo>
                  <a:lnTo>
                    <a:pt x="3400933" y="2465832"/>
                  </a:lnTo>
                  <a:lnTo>
                    <a:pt x="152400" y="2465832"/>
                  </a:lnTo>
                  <a:lnTo>
                    <a:pt x="152400" y="228600"/>
                  </a:lnTo>
                  <a:lnTo>
                    <a:pt x="228600" y="228600"/>
                  </a:lnTo>
                  <a:lnTo>
                    <a:pt x="209550" y="190500"/>
                  </a:lnTo>
                  <a:lnTo>
                    <a:pt x="114300" y="0"/>
                  </a:lnTo>
                  <a:lnTo>
                    <a:pt x="0" y="228600"/>
                  </a:lnTo>
                  <a:lnTo>
                    <a:pt x="76200" y="228600"/>
                  </a:lnTo>
                  <a:lnTo>
                    <a:pt x="76200" y="2541016"/>
                  </a:lnTo>
                  <a:lnTo>
                    <a:pt x="109728" y="2541016"/>
                  </a:lnTo>
                  <a:lnTo>
                    <a:pt x="109728" y="2542032"/>
                  </a:lnTo>
                  <a:lnTo>
                    <a:pt x="3400933" y="2542032"/>
                  </a:lnTo>
                  <a:lnTo>
                    <a:pt x="3400933" y="2618232"/>
                  </a:lnTo>
                  <a:lnTo>
                    <a:pt x="3553333" y="2542032"/>
                  </a:lnTo>
                  <a:lnTo>
                    <a:pt x="3629533" y="250393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184898" y="2570225"/>
              <a:ext cx="3069590" cy="647065"/>
            </a:xfrm>
            <a:custGeom>
              <a:avLst/>
              <a:gdLst/>
              <a:ahLst/>
              <a:cxnLst/>
              <a:rect l="l" t="t" r="r" b="b"/>
              <a:pathLst>
                <a:path w="3069590" h="647064">
                  <a:moveTo>
                    <a:pt x="0" y="646684"/>
                  </a:moveTo>
                  <a:lnTo>
                    <a:pt x="3069208" y="0"/>
                  </a:lnTo>
                </a:path>
              </a:pathLst>
            </a:custGeom>
            <a:ln w="38100">
              <a:solidFill>
                <a:srgbClr val="8782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3818890" y="2616835"/>
            <a:ext cx="1399540" cy="1455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311785" indent="123189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COGNITIVE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40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  <a:spcBef>
                <a:spcPts val="69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1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Thinking</a:t>
            </a:r>
            <a:endParaRPr sz="120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Smart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200">
              <a:latin typeface="Calibri"/>
              <a:cs typeface="Calibri"/>
            </a:endParaRPr>
          </a:p>
          <a:p>
            <a:pPr marL="189230" marR="5080" indent="-116205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Deep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Advanced</a:t>
            </a:r>
            <a:r>
              <a:rPr dirty="0" sz="1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1200">
              <a:latin typeface="Calibri"/>
              <a:cs typeface="Calibri"/>
            </a:endParaRPr>
          </a:p>
          <a:p>
            <a:pPr marL="73660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Modeling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251610" y="4407789"/>
            <a:ext cx="1148080" cy="1287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35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COGNITIVE</a:t>
            </a:r>
            <a:endParaRPr sz="1400">
              <a:latin typeface="Calibri"/>
              <a:cs typeface="Calibri"/>
            </a:endParaRPr>
          </a:p>
          <a:p>
            <a:pPr algn="ctr" marR="65405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AUTOMATION</a:t>
            </a:r>
            <a:endParaRPr sz="1400">
              <a:latin typeface="Calibri"/>
              <a:cs typeface="Calibri"/>
            </a:endParaRPr>
          </a:p>
          <a:p>
            <a:pPr marL="43815">
              <a:lnSpc>
                <a:spcPct val="100000"/>
              </a:lnSpc>
              <a:spcBef>
                <a:spcPts val="81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Robotic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1200">
              <a:latin typeface="Calibri"/>
              <a:cs typeface="Calibri"/>
            </a:endParaRPr>
          </a:p>
          <a:p>
            <a:pPr algn="ctr" marR="79375">
              <a:lnSpc>
                <a:spcPct val="100000"/>
              </a:lnSpc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Automation</a:t>
            </a:r>
            <a:endParaRPr sz="1200">
              <a:latin typeface="Calibri"/>
              <a:cs typeface="Calibri"/>
            </a:endParaRPr>
          </a:p>
          <a:p>
            <a:pPr marL="159385" marR="239395" indent="-11620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Ops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IT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Automation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57478" y="2617088"/>
            <a:ext cx="1478915" cy="701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5885" marR="488315" indent="18542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CLOUD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MIGRATION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Automated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Migration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957478" y="3292855"/>
            <a:ext cx="15170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Migration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Portfolio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57478" y="3658616"/>
            <a:ext cx="1087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Transformation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Ops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438780" y="1752092"/>
            <a:ext cx="1251585" cy="1271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6854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endParaRPr sz="1400">
              <a:latin typeface="Calibri"/>
              <a:cs typeface="Calibri"/>
            </a:endParaRPr>
          </a:p>
          <a:p>
            <a:pPr marL="224790"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endParaRPr sz="1400">
              <a:latin typeface="Calibri"/>
              <a:cs typeface="Calibri"/>
            </a:endParaRPr>
          </a:p>
          <a:p>
            <a:pPr marL="128270" marR="158115" indent="-116205">
              <a:lnSpc>
                <a:spcPct val="100000"/>
              </a:lnSpc>
              <a:spcBef>
                <a:spcPts val="67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DevOps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Agile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Enablement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Pivotal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  <a:p>
            <a:pPr marL="128270">
              <a:lnSpc>
                <a:spcPct val="100000"/>
              </a:lnSpc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Development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630295" y="4390771"/>
            <a:ext cx="1212215" cy="1254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" marR="146685" indent="25146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Calibri"/>
                <a:cs typeface="Calibri"/>
              </a:rPr>
              <a:t>CLOUD 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endParaRPr sz="1400">
              <a:latin typeface="Calibri"/>
              <a:cs typeface="Calibri"/>
            </a:endParaRPr>
          </a:p>
          <a:p>
            <a:pPr marL="128270" marR="78105" indent="-116205">
              <a:lnSpc>
                <a:spcPct val="100000"/>
              </a:lnSpc>
              <a:spcBef>
                <a:spcPts val="55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Secure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iPaaS Implementation</a:t>
            </a:r>
            <a:endParaRPr sz="1200">
              <a:latin typeface="Calibri"/>
              <a:cs typeface="Calibri"/>
            </a:endParaRPr>
          </a:p>
          <a:p>
            <a:pPr marL="128270" marR="5080" indent="-116205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›</a:t>
            </a:r>
            <a:r>
              <a:rPr dirty="0" sz="1200" spc="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integration Gateway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35" name="object 35" descr=""/>
          <p:cNvGraphicFramePr>
            <a:graphicFrameLocks noGrp="1"/>
          </p:cNvGraphicFramePr>
          <p:nvPr/>
        </p:nvGraphicFramePr>
        <p:xfrm>
          <a:off x="6299961" y="4137278"/>
          <a:ext cx="5555615" cy="2011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1980"/>
                <a:gridCol w="1722120"/>
                <a:gridCol w="1871979"/>
              </a:tblGrid>
              <a:tr h="639445">
                <a:tc>
                  <a:txBody>
                    <a:bodyPr/>
                    <a:lstStyle/>
                    <a:p>
                      <a:pPr marL="92075" marR="2584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Migration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Reference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Architecture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51E6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593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Cloud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&amp;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Cognitive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Lab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Transformation</a:t>
                      </a:r>
                      <a:r>
                        <a:rPr dirty="0" sz="1200" spc="6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Scope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51E6A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5302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Pre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Integrated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Cognitive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Platform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51E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CX</a:t>
                      </a:r>
                      <a:r>
                        <a:rPr dirty="0" sz="1200" spc="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Analytics</a:t>
                      </a:r>
                      <a:r>
                        <a:rPr dirty="0" sz="12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Framework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129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286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200" spc="-10">
                          <a:latin typeface="Corbel"/>
                          <a:cs typeface="Corbel"/>
                        </a:rPr>
                        <a:t>Advanced</a:t>
                      </a:r>
                      <a:r>
                        <a:rPr dirty="0" sz="1200" spc="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Level Partnerships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C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518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Design</a:t>
                      </a:r>
                      <a:r>
                        <a:rPr dirty="0" sz="1200" spc="-5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Thinking Methodology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DevOps</a:t>
                      </a:r>
                      <a:r>
                        <a:rPr dirty="0" sz="120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Analyzer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129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FB4D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Customer</a:t>
                      </a:r>
                      <a:r>
                        <a:rPr dirty="0" sz="1200" spc="-4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>
                          <a:latin typeface="Corbel"/>
                          <a:cs typeface="Corbel"/>
                        </a:rPr>
                        <a:t>360</a:t>
                      </a:r>
                      <a:r>
                        <a:rPr dirty="0" sz="120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Platform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129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FB4D3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3625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Large</a:t>
                      </a:r>
                      <a:r>
                        <a:rPr dirty="0" sz="1200" spc="-3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Implementation Experience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FB4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Cognitive</a:t>
                      </a:r>
                      <a:r>
                        <a:rPr dirty="0" sz="12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>
                          <a:latin typeface="Corbel"/>
                          <a:cs typeface="Corbel"/>
                        </a:rPr>
                        <a:t>Capability</a:t>
                      </a:r>
                      <a:r>
                        <a:rPr dirty="0" sz="1200" spc="-5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>
                          <a:latin typeface="Corbel"/>
                          <a:cs typeface="Corbel"/>
                        </a:rPr>
                        <a:t>as</a:t>
                      </a:r>
                      <a:r>
                        <a:rPr dirty="0" sz="120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50">
                          <a:latin typeface="Corbel"/>
                          <a:cs typeface="Corbel"/>
                        </a:rPr>
                        <a:t>a</a:t>
                      </a:r>
                      <a:endParaRPr sz="1200">
                        <a:latin typeface="Corbel"/>
                        <a:cs typeface="Corbe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Service</a:t>
                      </a:r>
                      <a:r>
                        <a:rPr dirty="0" sz="1200" spc="-4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Architecture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Encoded</a:t>
                      </a:r>
                      <a:r>
                        <a:rPr dirty="0" sz="120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Domain</a:t>
                      </a:r>
                      <a:endParaRPr sz="1200">
                        <a:latin typeface="Corbel"/>
                        <a:cs typeface="Corbe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Knowledge</a:t>
                      </a:r>
                      <a:r>
                        <a:rPr dirty="0" sz="1200" spc="-4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Models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dirty="0" sz="1200">
                          <a:latin typeface="Corbel"/>
                          <a:cs typeface="Corbel"/>
                        </a:rPr>
                        <a:t>Smart</a:t>
                      </a:r>
                      <a:r>
                        <a:rPr dirty="0" sz="120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>
                          <a:latin typeface="Corbel"/>
                          <a:cs typeface="Corbel"/>
                        </a:rPr>
                        <a:t>App</a:t>
                      </a:r>
                      <a:r>
                        <a:rPr dirty="0" sz="12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200" spc="-10">
                          <a:latin typeface="Corbel"/>
                          <a:cs typeface="Corbel"/>
                        </a:rPr>
                        <a:t>Framework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C"/>
                    </a:solidFill>
                  </a:tcPr>
                </a:tc>
              </a:tr>
            </a:tbl>
          </a:graphicData>
        </a:graphic>
      </p:graphicFrame>
      <p:sp>
        <p:nvSpPr>
          <p:cNvPr id="36" name="object 36" descr=""/>
          <p:cNvSpPr txBox="1"/>
          <p:nvPr/>
        </p:nvSpPr>
        <p:spPr>
          <a:xfrm>
            <a:off x="9474961" y="1940813"/>
            <a:ext cx="12325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B51E6A"/>
                </a:solidFill>
                <a:latin typeface="Calibri"/>
                <a:cs typeface="Calibri"/>
              </a:rPr>
              <a:t>Mphasis</a:t>
            </a:r>
            <a:r>
              <a:rPr dirty="0" sz="1400" spc="-30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B51E6A"/>
                </a:solidFill>
                <a:latin typeface="Calibri"/>
                <a:cs typeface="Calibri"/>
              </a:rPr>
              <a:t>X2C</a:t>
            </a:r>
            <a:r>
              <a:rPr dirty="0" baseline="24691" sz="1350" b="1">
                <a:solidFill>
                  <a:srgbClr val="B51E6A"/>
                </a:solidFill>
                <a:latin typeface="Calibri"/>
                <a:cs typeface="Calibri"/>
              </a:rPr>
              <a:t>2</a:t>
            </a:r>
            <a:r>
              <a:rPr dirty="0" baseline="24691" sz="1350" spc="22" b="1">
                <a:solidFill>
                  <a:srgbClr val="B51E6A"/>
                </a:solidFill>
                <a:latin typeface="Calibri"/>
                <a:cs typeface="Calibri"/>
              </a:rPr>
              <a:t> </a:t>
            </a:r>
            <a:r>
              <a:rPr dirty="0" baseline="-19841" sz="1050" spc="-37">
                <a:solidFill>
                  <a:srgbClr val="B51E6A"/>
                </a:solidFill>
                <a:latin typeface="Calibri"/>
                <a:cs typeface="Calibri"/>
              </a:rPr>
              <a:t>TM</a:t>
            </a:r>
            <a:endParaRPr baseline="-19841" sz="1050">
              <a:latin typeface="Calibri"/>
              <a:cs typeface="Calibri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7180326" y="2135885"/>
            <a:ext cx="2368550" cy="1061085"/>
          </a:xfrm>
          <a:custGeom>
            <a:avLst/>
            <a:gdLst/>
            <a:ahLst/>
            <a:cxnLst/>
            <a:rect l="l" t="t" r="r" b="b"/>
            <a:pathLst>
              <a:path w="2368550" h="1061085">
                <a:moveTo>
                  <a:pt x="0" y="1060703"/>
                </a:moveTo>
                <a:lnTo>
                  <a:pt x="37525" y="1052469"/>
                </a:lnTo>
                <a:lnTo>
                  <a:pt x="75649" y="1043850"/>
                </a:lnTo>
                <a:lnTo>
                  <a:pt x="114354" y="1034843"/>
                </a:lnTo>
                <a:lnTo>
                  <a:pt x="153622" y="1025441"/>
                </a:lnTo>
                <a:lnTo>
                  <a:pt x="193438" y="1015638"/>
                </a:lnTo>
                <a:lnTo>
                  <a:pt x="233785" y="1005430"/>
                </a:lnTo>
                <a:lnTo>
                  <a:pt x="274644" y="994810"/>
                </a:lnTo>
                <a:lnTo>
                  <a:pt x="315999" y="983772"/>
                </a:lnTo>
                <a:lnTo>
                  <a:pt x="357833" y="972312"/>
                </a:lnTo>
                <a:lnTo>
                  <a:pt x="400129" y="960424"/>
                </a:lnTo>
                <a:lnTo>
                  <a:pt x="442870" y="948102"/>
                </a:lnTo>
                <a:lnTo>
                  <a:pt x="486039" y="935340"/>
                </a:lnTo>
                <a:lnTo>
                  <a:pt x="529619" y="922133"/>
                </a:lnTo>
                <a:lnTo>
                  <a:pt x="573593" y="908475"/>
                </a:lnTo>
                <a:lnTo>
                  <a:pt x="617944" y="894360"/>
                </a:lnTo>
                <a:lnTo>
                  <a:pt x="662654" y="879784"/>
                </a:lnTo>
                <a:lnTo>
                  <a:pt x="707708" y="864740"/>
                </a:lnTo>
                <a:lnTo>
                  <a:pt x="753087" y="849222"/>
                </a:lnTo>
                <a:lnTo>
                  <a:pt x="798775" y="833226"/>
                </a:lnTo>
                <a:lnTo>
                  <a:pt x="844755" y="816746"/>
                </a:lnTo>
                <a:lnTo>
                  <a:pt x="891009" y="799775"/>
                </a:lnTo>
                <a:lnTo>
                  <a:pt x="937521" y="782308"/>
                </a:lnTo>
                <a:lnTo>
                  <a:pt x="984274" y="764341"/>
                </a:lnTo>
                <a:lnTo>
                  <a:pt x="1031251" y="745866"/>
                </a:lnTo>
                <a:lnTo>
                  <a:pt x="1078434" y="726879"/>
                </a:lnTo>
                <a:lnTo>
                  <a:pt x="1125807" y="707374"/>
                </a:lnTo>
                <a:lnTo>
                  <a:pt x="1173352" y="687345"/>
                </a:lnTo>
                <a:lnTo>
                  <a:pt x="1221053" y="666786"/>
                </a:lnTo>
                <a:lnTo>
                  <a:pt x="1268893" y="645693"/>
                </a:lnTo>
                <a:lnTo>
                  <a:pt x="1316854" y="624059"/>
                </a:lnTo>
                <a:lnTo>
                  <a:pt x="1364920" y="601879"/>
                </a:lnTo>
                <a:lnTo>
                  <a:pt x="1413073" y="579147"/>
                </a:lnTo>
                <a:lnTo>
                  <a:pt x="1461296" y="555858"/>
                </a:lnTo>
                <a:lnTo>
                  <a:pt x="1509574" y="532006"/>
                </a:lnTo>
                <a:lnTo>
                  <a:pt x="1557887" y="507585"/>
                </a:lnTo>
                <a:lnTo>
                  <a:pt x="1606220" y="482590"/>
                </a:lnTo>
                <a:lnTo>
                  <a:pt x="1654555" y="457015"/>
                </a:lnTo>
                <a:lnTo>
                  <a:pt x="1702876" y="430855"/>
                </a:lnTo>
                <a:lnTo>
                  <a:pt x="1751165" y="404104"/>
                </a:lnTo>
                <a:lnTo>
                  <a:pt x="1799405" y="376756"/>
                </a:lnTo>
                <a:lnTo>
                  <a:pt x="1847580" y="348805"/>
                </a:lnTo>
                <a:lnTo>
                  <a:pt x="1895672" y="320247"/>
                </a:lnTo>
                <a:lnTo>
                  <a:pt x="1943664" y="291076"/>
                </a:lnTo>
                <a:lnTo>
                  <a:pt x="1991539" y="261285"/>
                </a:lnTo>
                <a:lnTo>
                  <a:pt x="2039281" y="230870"/>
                </a:lnTo>
                <a:lnTo>
                  <a:pt x="2086871" y="199824"/>
                </a:lnTo>
                <a:lnTo>
                  <a:pt x="2134294" y="168142"/>
                </a:lnTo>
                <a:lnTo>
                  <a:pt x="2181532" y="135819"/>
                </a:lnTo>
                <a:lnTo>
                  <a:pt x="2228568" y="102849"/>
                </a:lnTo>
                <a:lnTo>
                  <a:pt x="2275386" y="69226"/>
                </a:lnTo>
                <a:lnTo>
                  <a:pt x="2321967" y="34945"/>
                </a:lnTo>
                <a:lnTo>
                  <a:pt x="2368296" y="0"/>
                </a:lnTo>
              </a:path>
            </a:pathLst>
          </a:custGeom>
          <a:ln w="38100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6559665" y="1943496"/>
            <a:ext cx="203835" cy="115443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400" b="1">
                <a:latin typeface="Corbel"/>
                <a:cs typeface="Corbel"/>
              </a:rPr>
              <a:t>Business</a:t>
            </a:r>
            <a:r>
              <a:rPr dirty="0" sz="1400" spc="-140" b="1">
                <a:latin typeface="Corbel"/>
                <a:cs typeface="Corbel"/>
              </a:rPr>
              <a:t> </a:t>
            </a:r>
            <a:r>
              <a:rPr dirty="0" sz="1400" spc="-20" b="1">
                <a:latin typeface="Corbel"/>
                <a:cs typeface="Corbel"/>
              </a:rPr>
              <a:t>Value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42" name="object 4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9" name="object 39" descr=""/>
          <p:cNvSpPr txBox="1"/>
          <p:nvPr/>
        </p:nvSpPr>
        <p:spPr>
          <a:xfrm>
            <a:off x="7531354" y="3728973"/>
            <a:ext cx="17151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latin typeface="Corbel"/>
                <a:cs typeface="Corbel"/>
              </a:rPr>
              <a:t>Transformation</a:t>
            </a:r>
            <a:r>
              <a:rPr dirty="0" sz="1400" spc="5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Scope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0256901" y="2599690"/>
            <a:ext cx="10223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5B5650"/>
                </a:solidFill>
                <a:latin typeface="Corbel"/>
                <a:cs typeface="Corbel"/>
              </a:rPr>
              <a:t>Traditional transformation methods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3719" y="3674364"/>
            <a:ext cx="649224" cy="6492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5535" y="682751"/>
            <a:ext cx="661416" cy="661415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043043" y="3162734"/>
            <a:ext cx="9117330" cy="528320"/>
            <a:chOff x="1043043" y="3162734"/>
            <a:chExt cx="9117330" cy="5283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3043" y="3162734"/>
              <a:ext cx="929908" cy="5280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93583" y="3175125"/>
              <a:ext cx="1466237" cy="433328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3460" y="3838955"/>
            <a:ext cx="2563367" cy="682751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197607" y="3162300"/>
            <a:ext cx="1911350" cy="516890"/>
          </a:xfrm>
          <a:prstGeom prst="rect">
            <a:avLst/>
          </a:prstGeom>
          <a:solidFill>
            <a:srgbClr val="9FB4D3"/>
          </a:solidFill>
        </p:spPr>
        <p:txBody>
          <a:bodyPr wrap="square" lIns="0" tIns="1905" rIns="0" bIns="0" rtlCol="0" vert="horz">
            <a:spAutoFit/>
          </a:bodyPr>
          <a:lstStyle/>
          <a:p>
            <a:pPr algn="ctr" marR="38735">
              <a:lnSpc>
                <a:spcPct val="100000"/>
              </a:lnSpc>
              <a:spcBef>
                <a:spcPts val="15"/>
              </a:spcBef>
            </a:pPr>
            <a:r>
              <a:rPr dirty="0" sz="1600" spc="-10">
                <a:latin typeface="Corbel"/>
                <a:cs typeface="Corbel"/>
              </a:rPr>
              <a:t>Enterprise</a:t>
            </a:r>
            <a:endParaRPr sz="16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Corbel"/>
                <a:cs typeface="Corbel"/>
              </a:rPr>
              <a:t>Services</a:t>
            </a:r>
            <a:r>
              <a:rPr dirty="0" sz="1600" spc="-30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Business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61404" y="3162300"/>
            <a:ext cx="1911350" cy="516890"/>
          </a:xfrm>
          <a:prstGeom prst="rect">
            <a:avLst/>
          </a:prstGeom>
          <a:solidFill>
            <a:srgbClr val="9FB4D3"/>
          </a:solidFill>
        </p:spPr>
        <p:txBody>
          <a:bodyPr wrap="square" lIns="0" tIns="1905" rIns="0" bIns="0" rtlCol="0" vert="horz">
            <a:spAutoFit/>
          </a:bodyPr>
          <a:lstStyle/>
          <a:p>
            <a:pPr algn="ctr" marR="34925">
              <a:lnSpc>
                <a:spcPct val="100000"/>
              </a:lnSpc>
              <a:spcBef>
                <a:spcPts val="15"/>
              </a:spcBef>
            </a:pPr>
            <a:r>
              <a:rPr dirty="0" sz="1600" spc="-10">
                <a:latin typeface="Corbel"/>
                <a:cs typeface="Corbel"/>
              </a:rPr>
              <a:t>Non-</a:t>
            </a:r>
            <a:r>
              <a:rPr dirty="0" sz="1600" spc="-60">
                <a:latin typeface="Corbel"/>
                <a:cs typeface="Corbel"/>
              </a:rPr>
              <a:t> </a:t>
            </a:r>
            <a:r>
              <a:rPr dirty="0" sz="1600" spc="-20">
                <a:latin typeface="Corbel"/>
                <a:cs typeface="Corbel"/>
              </a:rPr>
              <a:t>Core</a:t>
            </a:r>
            <a:endParaRPr sz="1600">
              <a:latin typeface="Corbel"/>
              <a:cs typeface="Corbel"/>
            </a:endParaRPr>
          </a:p>
          <a:p>
            <a:pPr algn="ctr" marL="2540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latin typeface="Corbel"/>
                <a:cs typeface="Corbel"/>
              </a:rPr>
              <a:t>Software</a:t>
            </a:r>
            <a:r>
              <a:rPr dirty="0" sz="1600" spc="-25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Assets</a:t>
            </a:r>
            <a:endParaRPr sz="1600">
              <a:latin typeface="Corbel"/>
              <a:cs typeface="Corbe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97762" y="3932251"/>
            <a:ext cx="1802358" cy="53850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71059" y="3910584"/>
            <a:ext cx="1481327" cy="617219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543877" y="3014281"/>
            <a:ext cx="9735820" cy="755015"/>
            <a:chOff x="543877" y="3014281"/>
            <a:chExt cx="9735820" cy="755015"/>
          </a:xfrm>
        </p:grpSpPr>
        <p:sp>
          <p:nvSpPr>
            <p:cNvPr id="13" name="object 13" descr=""/>
            <p:cNvSpPr/>
            <p:nvPr/>
          </p:nvSpPr>
          <p:spPr>
            <a:xfrm>
              <a:off x="548640" y="3019044"/>
              <a:ext cx="9726295" cy="745490"/>
            </a:xfrm>
            <a:custGeom>
              <a:avLst/>
              <a:gdLst/>
              <a:ahLst/>
              <a:cxnLst/>
              <a:rect l="l" t="t" r="r" b="b"/>
              <a:pathLst>
                <a:path w="9726295" h="745489">
                  <a:moveTo>
                    <a:pt x="0" y="729996"/>
                  </a:moveTo>
                  <a:lnTo>
                    <a:pt x="3730752" y="729996"/>
                  </a:lnTo>
                  <a:lnTo>
                    <a:pt x="3730752" y="0"/>
                  </a:lnTo>
                  <a:lnTo>
                    <a:pt x="0" y="0"/>
                  </a:lnTo>
                  <a:lnTo>
                    <a:pt x="0" y="729996"/>
                  </a:lnTo>
                  <a:close/>
                </a:path>
                <a:path w="9726295" h="745489">
                  <a:moveTo>
                    <a:pt x="5975604" y="745236"/>
                  </a:moveTo>
                  <a:lnTo>
                    <a:pt x="9726167" y="745236"/>
                  </a:lnTo>
                  <a:lnTo>
                    <a:pt x="9726167" y="0"/>
                  </a:lnTo>
                  <a:lnTo>
                    <a:pt x="5975604" y="0"/>
                  </a:lnTo>
                  <a:lnTo>
                    <a:pt x="5975604" y="745236"/>
                  </a:lnTo>
                  <a:close/>
                </a:path>
              </a:pathLst>
            </a:custGeom>
            <a:ln w="9144">
              <a:solidFill>
                <a:srgbClr val="B51E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44568" y="3162300"/>
              <a:ext cx="1786255" cy="516890"/>
            </a:xfrm>
            <a:custGeom>
              <a:avLst/>
              <a:gdLst/>
              <a:ahLst/>
              <a:cxnLst/>
              <a:rect l="l" t="t" r="r" b="b"/>
              <a:pathLst>
                <a:path w="1786254" h="516889">
                  <a:moveTo>
                    <a:pt x="1786127" y="0"/>
                  </a:moveTo>
                  <a:lnTo>
                    <a:pt x="0" y="0"/>
                  </a:lnTo>
                  <a:lnTo>
                    <a:pt x="0" y="516636"/>
                  </a:lnTo>
                  <a:lnTo>
                    <a:pt x="1786127" y="516636"/>
                  </a:lnTo>
                  <a:lnTo>
                    <a:pt x="1786127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650740" y="3152089"/>
            <a:ext cx="157670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orbel"/>
                <a:cs typeface="Corbel"/>
              </a:rPr>
              <a:t>Enterprise</a:t>
            </a:r>
            <a:r>
              <a:rPr dirty="0" sz="1600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Group</a:t>
            </a:r>
            <a:endParaRPr sz="16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Corbel"/>
                <a:cs typeface="Corbel"/>
              </a:rPr>
              <a:t>and</a:t>
            </a:r>
            <a:r>
              <a:rPr dirty="0" sz="1600" spc="-7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Core</a:t>
            </a:r>
            <a:r>
              <a:rPr dirty="0" sz="1600" spc="-65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Software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0439400" y="2778251"/>
            <a:ext cx="0" cy="2518410"/>
          </a:xfrm>
          <a:custGeom>
            <a:avLst/>
            <a:gdLst/>
            <a:ahLst/>
            <a:cxnLst/>
            <a:rect l="l" t="t" r="r" b="b"/>
            <a:pathLst>
              <a:path w="0" h="2518410">
                <a:moveTo>
                  <a:pt x="0" y="0"/>
                </a:moveTo>
                <a:lnTo>
                  <a:pt x="0" y="2518410"/>
                </a:lnTo>
              </a:path>
            </a:pathLst>
          </a:custGeom>
          <a:ln w="9144">
            <a:solidFill>
              <a:srgbClr val="B51E6A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4693920" y="1565147"/>
            <a:ext cx="6417945" cy="1947545"/>
            <a:chOff x="4693920" y="1565147"/>
            <a:chExt cx="6417945" cy="1947545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93920" y="1877567"/>
              <a:ext cx="1659636" cy="69189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5448427" y="1565147"/>
              <a:ext cx="1922145" cy="399415"/>
            </a:xfrm>
            <a:custGeom>
              <a:avLst/>
              <a:gdLst/>
              <a:ahLst/>
              <a:cxnLst/>
              <a:rect l="l" t="t" r="r" b="b"/>
              <a:pathLst>
                <a:path w="1922145" h="399414">
                  <a:moveTo>
                    <a:pt x="7112" y="303149"/>
                  </a:moveTo>
                  <a:lnTo>
                    <a:pt x="1015" y="306704"/>
                  </a:lnTo>
                  <a:lnTo>
                    <a:pt x="0" y="310514"/>
                  </a:lnTo>
                  <a:lnTo>
                    <a:pt x="51688" y="399161"/>
                  </a:lnTo>
                  <a:lnTo>
                    <a:pt x="59020" y="386588"/>
                  </a:lnTo>
                  <a:lnTo>
                    <a:pt x="45338" y="386588"/>
                  </a:lnTo>
                  <a:lnTo>
                    <a:pt x="45338" y="363165"/>
                  </a:lnTo>
                  <a:lnTo>
                    <a:pt x="10922" y="304164"/>
                  </a:lnTo>
                  <a:lnTo>
                    <a:pt x="7112" y="303149"/>
                  </a:lnTo>
                  <a:close/>
                </a:path>
                <a:path w="1922145" h="399414">
                  <a:moveTo>
                    <a:pt x="45338" y="363165"/>
                  </a:moveTo>
                  <a:lnTo>
                    <a:pt x="45338" y="386588"/>
                  </a:lnTo>
                  <a:lnTo>
                    <a:pt x="58038" y="386588"/>
                  </a:lnTo>
                  <a:lnTo>
                    <a:pt x="58038" y="383413"/>
                  </a:lnTo>
                  <a:lnTo>
                    <a:pt x="46227" y="383413"/>
                  </a:lnTo>
                  <a:lnTo>
                    <a:pt x="51688" y="374051"/>
                  </a:lnTo>
                  <a:lnTo>
                    <a:pt x="45338" y="363165"/>
                  </a:lnTo>
                  <a:close/>
                </a:path>
                <a:path w="1922145" h="399414">
                  <a:moveTo>
                    <a:pt x="96265" y="303149"/>
                  </a:moveTo>
                  <a:lnTo>
                    <a:pt x="92456" y="304164"/>
                  </a:lnTo>
                  <a:lnTo>
                    <a:pt x="58038" y="363165"/>
                  </a:lnTo>
                  <a:lnTo>
                    <a:pt x="58038" y="386588"/>
                  </a:lnTo>
                  <a:lnTo>
                    <a:pt x="59020" y="386588"/>
                  </a:lnTo>
                  <a:lnTo>
                    <a:pt x="103377" y="310514"/>
                  </a:lnTo>
                  <a:lnTo>
                    <a:pt x="102362" y="306704"/>
                  </a:lnTo>
                  <a:lnTo>
                    <a:pt x="96265" y="303149"/>
                  </a:lnTo>
                  <a:close/>
                </a:path>
                <a:path w="1922145" h="399414">
                  <a:moveTo>
                    <a:pt x="51688" y="374051"/>
                  </a:moveTo>
                  <a:lnTo>
                    <a:pt x="46227" y="383413"/>
                  </a:lnTo>
                  <a:lnTo>
                    <a:pt x="57150" y="383413"/>
                  </a:lnTo>
                  <a:lnTo>
                    <a:pt x="51688" y="374051"/>
                  </a:lnTo>
                  <a:close/>
                </a:path>
                <a:path w="1922145" h="399414">
                  <a:moveTo>
                    <a:pt x="58038" y="363165"/>
                  </a:moveTo>
                  <a:lnTo>
                    <a:pt x="51688" y="374051"/>
                  </a:lnTo>
                  <a:lnTo>
                    <a:pt x="57150" y="383413"/>
                  </a:lnTo>
                  <a:lnTo>
                    <a:pt x="58038" y="383413"/>
                  </a:lnTo>
                  <a:lnTo>
                    <a:pt x="58038" y="363165"/>
                  </a:lnTo>
                  <a:close/>
                </a:path>
                <a:path w="1922145" h="399414">
                  <a:moveTo>
                    <a:pt x="1909191" y="193293"/>
                  </a:moveTo>
                  <a:lnTo>
                    <a:pt x="48133" y="193293"/>
                  </a:lnTo>
                  <a:lnTo>
                    <a:pt x="45338" y="196087"/>
                  </a:lnTo>
                  <a:lnTo>
                    <a:pt x="45338" y="363165"/>
                  </a:lnTo>
                  <a:lnTo>
                    <a:pt x="51688" y="374051"/>
                  </a:lnTo>
                  <a:lnTo>
                    <a:pt x="58038" y="363165"/>
                  </a:lnTo>
                  <a:lnTo>
                    <a:pt x="58038" y="205993"/>
                  </a:lnTo>
                  <a:lnTo>
                    <a:pt x="51688" y="205993"/>
                  </a:lnTo>
                  <a:lnTo>
                    <a:pt x="58038" y="199643"/>
                  </a:lnTo>
                  <a:lnTo>
                    <a:pt x="1909191" y="199643"/>
                  </a:lnTo>
                  <a:lnTo>
                    <a:pt x="1909191" y="193293"/>
                  </a:lnTo>
                  <a:close/>
                </a:path>
                <a:path w="1922145" h="399414">
                  <a:moveTo>
                    <a:pt x="58038" y="199643"/>
                  </a:moveTo>
                  <a:lnTo>
                    <a:pt x="51688" y="205993"/>
                  </a:lnTo>
                  <a:lnTo>
                    <a:pt x="58038" y="205993"/>
                  </a:lnTo>
                  <a:lnTo>
                    <a:pt x="58038" y="199643"/>
                  </a:lnTo>
                  <a:close/>
                </a:path>
                <a:path w="1922145" h="399414">
                  <a:moveTo>
                    <a:pt x="1921891" y="193293"/>
                  </a:moveTo>
                  <a:lnTo>
                    <a:pt x="1915541" y="193293"/>
                  </a:lnTo>
                  <a:lnTo>
                    <a:pt x="1909191" y="199643"/>
                  </a:lnTo>
                  <a:lnTo>
                    <a:pt x="58038" y="199643"/>
                  </a:lnTo>
                  <a:lnTo>
                    <a:pt x="58038" y="205993"/>
                  </a:lnTo>
                  <a:lnTo>
                    <a:pt x="1918970" y="205993"/>
                  </a:lnTo>
                  <a:lnTo>
                    <a:pt x="1921891" y="203073"/>
                  </a:lnTo>
                  <a:lnTo>
                    <a:pt x="1921891" y="193293"/>
                  </a:lnTo>
                  <a:close/>
                </a:path>
                <a:path w="1922145" h="399414">
                  <a:moveTo>
                    <a:pt x="1921891" y="0"/>
                  </a:moveTo>
                  <a:lnTo>
                    <a:pt x="1909191" y="0"/>
                  </a:lnTo>
                  <a:lnTo>
                    <a:pt x="1909191" y="199643"/>
                  </a:lnTo>
                  <a:lnTo>
                    <a:pt x="1915541" y="193293"/>
                  </a:lnTo>
                  <a:lnTo>
                    <a:pt x="1921891" y="193293"/>
                  </a:lnTo>
                  <a:lnTo>
                    <a:pt x="1921891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363968" y="1764791"/>
              <a:ext cx="3696335" cy="0"/>
            </a:xfrm>
            <a:custGeom>
              <a:avLst/>
              <a:gdLst/>
              <a:ahLst/>
              <a:cxnLst/>
              <a:rect l="l" t="t" r="r" b="b"/>
              <a:pathLst>
                <a:path w="3696334" h="0">
                  <a:moveTo>
                    <a:pt x="0" y="0"/>
                  </a:moveTo>
                  <a:lnTo>
                    <a:pt x="3695827" y="0"/>
                  </a:lnTo>
                </a:path>
              </a:pathLst>
            </a:custGeom>
            <a:ln w="9144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1007979" y="1764791"/>
              <a:ext cx="103505" cy="1748155"/>
            </a:xfrm>
            <a:custGeom>
              <a:avLst/>
              <a:gdLst/>
              <a:ahLst/>
              <a:cxnLst/>
              <a:rect l="l" t="t" r="r" b="b"/>
              <a:pathLst>
                <a:path w="103504" h="1748154">
                  <a:moveTo>
                    <a:pt x="7112" y="1651635"/>
                  </a:moveTo>
                  <a:lnTo>
                    <a:pt x="1016" y="1655191"/>
                  </a:lnTo>
                  <a:lnTo>
                    <a:pt x="0" y="1659001"/>
                  </a:lnTo>
                  <a:lnTo>
                    <a:pt x="51689" y="1747647"/>
                  </a:lnTo>
                  <a:lnTo>
                    <a:pt x="59020" y="1735074"/>
                  </a:lnTo>
                  <a:lnTo>
                    <a:pt x="45339" y="1735074"/>
                  </a:lnTo>
                  <a:lnTo>
                    <a:pt x="45339" y="1711651"/>
                  </a:lnTo>
                  <a:lnTo>
                    <a:pt x="10922" y="1652651"/>
                  </a:lnTo>
                  <a:lnTo>
                    <a:pt x="7112" y="1651635"/>
                  </a:lnTo>
                  <a:close/>
                </a:path>
                <a:path w="103504" h="1748154">
                  <a:moveTo>
                    <a:pt x="45339" y="1711651"/>
                  </a:moveTo>
                  <a:lnTo>
                    <a:pt x="45339" y="1735074"/>
                  </a:lnTo>
                  <a:lnTo>
                    <a:pt x="58039" y="1735074"/>
                  </a:lnTo>
                  <a:lnTo>
                    <a:pt x="58039" y="1731899"/>
                  </a:lnTo>
                  <a:lnTo>
                    <a:pt x="46227" y="1731899"/>
                  </a:lnTo>
                  <a:lnTo>
                    <a:pt x="51688" y="1722537"/>
                  </a:lnTo>
                  <a:lnTo>
                    <a:pt x="45339" y="1711651"/>
                  </a:lnTo>
                  <a:close/>
                </a:path>
                <a:path w="103504" h="1748154">
                  <a:moveTo>
                    <a:pt x="96266" y="1651635"/>
                  </a:moveTo>
                  <a:lnTo>
                    <a:pt x="92455" y="1652651"/>
                  </a:lnTo>
                  <a:lnTo>
                    <a:pt x="58039" y="1711651"/>
                  </a:lnTo>
                  <a:lnTo>
                    <a:pt x="58039" y="1735074"/>
                  </a:lnTo>
                  <a:lnTo>
                    <a:pt x="59020" y="1735074"/>
                  </a:lnTo>
                  <a:lnTo>
                    <a:pt x="103377" y="1659001"/>
                  </a:lnTo>
                  <a:lnTo>
                    <a:pt x="102362" y="1655191"/>
                  </a:lnTo>
                  <a:lnTo>
                    <a:pt x="96266" y="1651635"/>
                  </a:lnTo>
                  <a:close/>
                </a:path>
                <a:path w="103504" h="1748154">
                  <a:moveTo>
                    <a:pt x="51689" y="1722537"/>
                  </a:moveTo>
                  <a:lnTo>
                    <a:pt x="46227" y="1731899"/>
                  </a:lnTo>
                  <a:lnTo>
                    <a:pt x="57150" y="1731899"/>
                  </a:lnTo>
                  <a:lnTo>
                    <a:pt x="51689" y="1722537"/>
                  </a:lnTo>
                  <a:close/>
                </a:path>
                <a:path w="103504" h="1748154">
                  <a:moveTo>
                    <a:pt x="58039" y="1711651"/>
                  </a:moveTo>
                  <a:lnTo>
                    <a:pt x="51689" y="1722537"/>
                  </a:lnTo>
                  <a:lnTo>
                    <a:pt x="57150" y="1731899"/>
                  </a:lnTo>
                  <a:lnTo>
                    <a:pt x="58039" y="1731899"/>
                  </a:lnTo>
                  <a:lnTo>
                    <a:pt x="58039" y="1711651"/>
                  </a:lnTo>
                  <a:close/>
                </a:path>
                <a:path w="103504" h="1748154">
                  <a:moveTo>
                    <a:pt x="58039" y="0"/>
                  </a:moveTo>
                  <a:lnTo>
                    <a:pt x="45339" y="0"/>
                  </a:lnTo>
                  <a:lnTo>
                    <a:pt x="45339" y="1711651"/>
                  </a:lnTo>
                  <a:lnTo>
                    <a:pt x="51689" y="1722537"/>
                  </a:lnTo>
                  <a:lnTo>
                    <a:pt x="58038" y="1711651"/>
                  </a:lnTo>
                  <a:lnTo>
                    <a:pt x="58039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2660904" y="2747517"/>
            <a:ext cx="4878070" cy="2553970"/>
            <a:chOff x="2660904" y="2747517"/>
            <a:chExt cx="4878070" cy="2553970"/>
          </a:xfrm>
        </p:grpSpPr>
        <p:sp>
          <p:nvSpPr>
            <p:cNvPr id="23" name="object 23" descr=""/>
            <p:cNvSpPr/>
            <p:nvPr/>
          </p:nvSpPr>
          <p:spPr>
            <a:xfrm>
              <a:off x="3141091" y="2747517"/>
              <a:ext cx="4397375" cy="463550"/>
            </a:xfrm>
            <a:custGeom>
              <a:avLst/>
              <a:gdLst/>
              <a:ahLst/>
              <a:cxnLst/>
              <a:rect l="l" t="t" r="r" b="b"/>
              <a:pathLst>
                <a:path w="4397375" h="463550">
                  <a:moveTo>
                    <a:pt x="2201926" y="374396"/>
                  </a:moveTo>
                  <a:lnTo>
                    <a:pt x="2200910" y="370586"/>
                  </a:lnTo>
                  <a:lnTo>
                    <a:pt x="2194814" y="367030"/>
                  </a:lnTo>
                  <a:lnTo>
                    <a:pt x="2191004" y="368046"/>
                  </a:lnTo>
                  <a:lnTo>
                    <a:pt x="2156587" y="427050"/>
                  </a:lnTo>
                  <a:lnTo>
                    <a:pt x="2156587" y="23114"/>
                  </a:lnTo>
                  <a:lnTo>
                    <a:pt x="2143887" y="23114"/>
                  </a:lnTo>
                  <a:lnTo>
                    <a:pt x="2143887" y="427050"/>
                  </a:lnTo>
                  <a:lnTo>
                    <a:pt x="2109470" y="368046"/>
                  </a:lnTo>
                  <a:lnTo>
                    <a:pt x="2105660" y="367030"/>
                  </a:lnTo>
                  <a:lnTo>
                    <a:pt x="2099564" y="370586"/>
                  </a:lnTo>
                  <a:lnTo>
                    <a:pt x="2098548" y="374396"/>
                  </a:lnTo>
                  <a:lnTo>
                    <a:pt x="2150237" y="463042"/>
                  </a:lnTo>
                  <a:lnTo>
                    <a:pt x="2157565" y="450469"/>
                  </a:lnTo>
                  <a:lnTo>
                    <a:pt x="2201926" y="374396"/>
                  </a:lnTo>
                  <a:close/>
                </a:path>
                <a:path w="4397375" h="463550">
                  <a:moveTo>
                    <a:pt x="4397375" y="357632"/>
                  </a:moveTo>
                  <a:lnTo>
                    <a:pt x="4396359" y="353822"/>
                  </a:lnTo>
                  <a:lnTo>
                    <a:pt x="4393311" y="352044"/>
                  </a:lnTo>
                  <a:lnTo>
                    <a:pt x="4390390" y="350266"/>
                  </a:lnTo>
                  <a:lnTo>
                    <a:pt x="4386453" y="351282"/>
                  </a:lnTo>
                  <a:lnTo>
                    <a:pt x="4352036" y="410286"/>
                  </a:lnTo>
                  <a:lnTo>
                    <a:pt x="4352036" y="12700"/>
                  </a:lnTo>
                  <a:lnTo>
                    <a:pt x="4352036" y="6350"/>
                  </a:lnTo>
                  <a:lnTo>
                    <a:pt x="4352036" y="2794"/>
                  </a:lnTo>
                  <a:lnTo>
                    <a:pt x="4349242" y="0"/>
                  </a:lnTo>
                  <a:lnTo>
                    <a:pt x="2194306" y="0"/>
                  </a:lnTo>
                  <a:lnTo>
                    <a:pt x="1656461" y="0"/>
                  </a:lnTo>
                  <a:lnTo>
                    <a:pt x="48133" y="0"/>
                  </a:lnTo>
                  <a:lnTo>
                    <a:pt x="45339" y="2794"/>
                  </a:lnTo>
                  <a:lnTo>
                    <a:pt x="45339" y="410286"/>
                  </a:lnTo>
                  <a:lnTo>
                    <a:pt x="10922" y="351282"/>
                  </a:lnTo>
                  <a:lnTo>
                    <a:pt x="7112" y="350266"/>
                  </a:lnTo>
                  <a:lnTo>
                    <a:pt x="1016" y="353822"/>
                  </a:lnTo>
                  <a:lnTo>
                    <a:pt x="0" y="357632"/>
                  </a:lnTo>
                  <a:lnTo>
                    <a:pt x="51689" y="446278"/>
                  </a:lnTo>
                  <a:lnTo>
                    <a:pt x="59016" y="433705"/>
                  </a:lnTo>
                  <a:lnTo>
                    <a:pt x="103378" y="357632"/>
                  </a:lnTo>
                  <a:lnTo>
                    <a:pt x="102362" y="353822"/>
                  </a:lnTo>
                  <a:lnTo>
                    <a:pt x="96266" y="350266"/>
                  </a:lnTo>
                  <a:lnTo>
                    <a:pt x="92456" y="351282"/>
                  </a:lnTo>
                  <a:lnTo>
                    <a:pt x="58039" y="410286"/>
                  </a:lnTo>
                  <a:lnTo>
                    <a:pt x="58039" y="12700"/>
                  </a:lnTo>
                  <a:lnTo>
                    <a:pt x="1656461" y="12700"/>
                  </a:lnTo>
                  <a:lnTo>
                    <a:pt x="2194306" y="12700"/>
                  </a:lnTo>
                  <a:lnTo>
                    <a:pt x="4339336" y="12700"/>
                  </a:lnTo>
                  <a:lnTo>
                    <a:pt x="4339336" y="410286"/>
                  </a:lnTo>
                  <a:lnTo>
                    <a:pt x="4304919" y="351282"/>
                  </a:lnTo>
                  <a:lnTo>
                    <a:pt x="4301109" y="350266"/>
                  </a:lnTo>
                  <a:lnTo>
                    <a:pt x="4295013" y="353822"/>
                  </a:lnTo>
                  <a:lnTo>
                    <a:pt x="4293997" y="357632"/>
                  </a:lnTo>
                  <a:lnTo>
                    <a:pt x="4345686" y="446278"/>
                  </a:lnTo>
                  <a:lnTo>
                    <a:pt x="4353014" y="433705"/>
                  </a:lnTo>
                  <a:lnTo>
                    <a:pt x="4397375" y="357632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419600" y="2778251"/>
              <a:ext cx="2001520" cy="2518410"/>
            </a:xfrm>
            <a:custGeom>
              <a:avLst/>
              <a:gdLst/>
              <a:ahLst/>
              <a:cxnLst/>
              <a:rect l="l" t="t" r="r" b="b"/>
              <a:pathLst>
                <a:path w="2001520" h="2518410">
                  <a:moveTo>
                    <a:pt x="0" y="0"/>
                  </a:moveTo>
                  <a:lnTo>
                    <a:pt x="0" y="2518410"/>
                  </a:lnTo>
                </a:path>
                <a:path w="2001520" h="2518410">
                  <a:moveTo>
                    <a:pt x="2001012" y="0"/>
                  </a:moveTo>
                  <a:lnTo>
                    <a:pt x="2001012" y="2518410"/>
                  </a:lnTo>
                </a:path>
              </a:pathLst>
            </a:custGeom>
            <a:ln w="9144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660904" y="4672583"/>
              <a:ext cx="1024255" cy="393700"/>
            </a:xfrm>
            <a:custGeom>
              <a:avLst/>
              <a:gdLst/>
              <a:ahLst/>
              <a:cxnLst/>
              <a:rect l="l" t="t" r="r" b="b"/>
              <a:pathLst>
                <a:path w="1024254" h="393700">
                  <a:moveTo>
                    <a:pt x="512063" y="0"/>
                  </a:moveTo>
                  <a:lnTo>
                    <a:pt x="447827" y="1531"/>
                  </a:lnTo>
                  <a:lnTo>
                    <a:pt x="385972" y="6003"/>
                  </a:lnTo>
                  <a:lnTo>
                    <a:pt x="326980" y="13232"/>
                  </a:lnTo>
                  <a:lnTo>
                    <a:pt x="271329" y="23032"/>
                  </a:lnTo>
                  <a:lnTo>
                    <a:pt x="219500" y="35221"/>
                  </a:lnTo>
                  <a:lnTo>
                    <a:pt x="171972" y="49613"/>
                  </a:lnTo>
                  <a:lnTo>
                    <a:pt x="129225" y="66025"/>
                  </a:lnTo>
                  <a:lnTo>
                    <a:pt x="91738" y="84272"/>
                  </a:lnTo>
                  <a:lnTo>
                    <a:pt x="34464" y="125537"/>
                  </a:lnTo>
                  <a:lnTo>
                    <a:pt x="3989" y="171933"/>
                  </a:lnTo>
                  <a:lnTo>
                    <a:pt x="0" y="196596"/>
                  </a:lnTo>
                  <a:lnTo>
                    <a:pt x="3989" y="221258"/>
                  </a:lnTo>
                  <a:lnTo>
                    <a:pt x="34464" y="267654"/>
                  </a:lnTo>
                  <a:lnTo>
                    <a:pt x="91738" y="308919"/>
                  </a:lnTo>
                  <a:lnTo>
                    <a:pt x="129225" y="327166"/>
                  </a:lnTo>
                  <a:lnTo>
                    <a:pt x="171972" y="343578"/>
                  </a:lnTo>
                  <a:lnTo>
                    <a:pt x="219500" y="357970"/>
                  </a:lnTo>
                  <a:lnTo>
                    <a:pt x="271329" y="370159"/>
                  </a:lnTo>
                  <a:lnTo>
                    <a:pt x="326980" y="379959"/>
                  </a:lnTo>
                  <a:lnTo>
                    <a:pt x="385972" y="387188"/>
                  </a:lnTo>
                  <a:lnTo>
                    <a:pt x="447827" y="391660"/>
                  </a:lnTo>
                  <a:lnTo>
                    <a:pt x="512063" y="393192"/>
                  </a:lnTo>
                  <a:lnTo>
                    <a:pt x="576300" y="391660"/>
                  </a:lnTo>
                  <a:lnTo>
                    <a:pt x="638155" y="387188"/>
                  </a:lnTo>
                  <a:lnTo>
                    <a:pt x="697147" y="379959"/>
                  </a:lnTo>
                  <a:lnTo>
                    <a:pt x="752798" y="370159"/>
                  </a:lnTo>
                  <a:lnTo>
                    <a:pt x="804627" y="357970"/>
                  </a:lnTo>
                  <a:lnTo>
                    <a:pt x="852155" y="343578"/>
                  </a:lnTo>
                  <a:lnTo>
                    <a:pt x="894902" y="327166"/>
                  </a:lnTo>
                  <a:lnTo>
                    <a:pt x="932389" y="308919"/>
                  </a:lnTo>
                  <a:lnTo>
                    <a:pt x="989663" y="267654"/>
                  </a:lnTo>
                  <a:lnTo>
                    <a:pt x="1020138" y="221258"/>
                  </a:lnTo>
                  <a:lnTo>
                    <a:pt x="1024128" y="196596"/>
                  </a:lnTo>
                  <a:lnTo>
                    <a:pt x="1020138" y="171933"/>
                  </a:lnTo>
                  <a:lnTo>
                    <a:pt x="989663" y="125537"/>
                  </a:lnTo>
                  <a:lnTo>
                    <a:pt x="932389" y="84272"/>
                  </a:lnTo>
                  <a:lnTo>
                    <a:pt x="894902" y="66025"/>
                  </a:lnTo>
                  <a:lnTo>
                    <a:pt x="852155" y="49613"/>
                  </a:lnTo>
                  <a:lnTo>
                    <a:pt x="804627" y="35221"/>
                  </a:lnTo>
                  <a:lnTo>
                    <a:pt x="752798" y="23032"/>
                  </a:lnTo>
                  <a:lnTo>
                    <a:pt x="697147" y="13232"/>
                  </a:lnTo>
                  <a:lnTo>
                    <a:pt x="638155" y="6003"/>
                  </a:lnTo>
                  <a:lnTo>
                    <a:pt x="576300" y="1531"/>
                  </a:lnTo>
                  <a:lnTo>
                    <a:pt x="512063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2923794" y="4738573"/>
            <a:ext cx="49784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i="1">
                <a:solidFill>
                  <a:srgbClr val="FFFFFF"/>
                </a:solidFill>
                <a:latin typeface="Corbel"/>
                <a:cs typeface="Corbel"/>
              </a:rPr>
              <a:t>$25</a:t>
            </a:r>
            <a:r>
              <a:rPr dirty="0" sz="1400" spc="-55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spc="-25" i="1">
                <a:solidFill>
                  <a:srgbClr val="FFFFFF"/>
                </a:solidFill>
                <a:latin typeface="Corbel"/>
                <a:cs typeface="Corbel"/>
              </a:rPr>
              <a:t>bn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873752" y="4672584"/>
            <a:ext cx="1026160" cy="393700"/>
          </a:xfrm>
          <a:custGeom>
            <a:avLst/>
            <a:gdLst/>
            <a:ahLst/>
            <a:cxnLst/>
            <a:rect l="l" t="t" r="r" b="b"/>
            <a:pathLst>
              <a:path w="1026160" h="393700">
                <a:moveTo>
                  <a:pt x="512825" y="0"/>
                </a:moveTo>
                <a:lnTo>
                  <a:pt x="448501" y="1531"/>
                </a:lnTo>
                <a:lnTo>
                  <a:pt x="386560" y="6003"/>
                </a:lnTo>
                <a:lnTo>
                  <a:pt x="327483" y="13232"/>
                </a:lnTo>
                <a:lnTo>
                  <a:pt x="271750" y="23032"/>
                </a:lnTo>
                <a:lnTo>
                  <a:pt x="219844" y="35221"/>
                </a:lnTo>
                <a:lnTo>
                  <a:pt x="172244" y="49613"/>
                </a:lnTo>
                <a:lnTo>
                  <a:pt x="129431" y="66025"/>
                </a:lnTo>
                <a:lnTo>
                  <a:pt x="91885" y="84272"/>
                </a:lnTo>
                <a:lnTo>
                  <a:pt x="34520" y="125537"/>
                </a:lnTo>
                <a:lnTo>
                  <a:pt x="3995" y="171933"/>
                </a:lnTo>
                <a:lnTo>
                  <a:pt x="0" y="196596"/>
                </a:lnTo>
                <a:lnTo>
                  <a:pt x="3995" y="221258"/>
                </a:lnTo>
                <a:lnTo>
                  <a:pt x="34520" y="267654"/>
                </a:lnTo>
                <a:lnTo>
                  <a:pt x="91885" y="308919"/>
                </a:lnTo>
                <a:lnTo>
                  <a:pt x="129431" y="327166"/>
                </a:lnTo>
                <a:lnTo>
                  <a:pt x="172244" y="343578"/>
                </a:lnTo>
                <a:lnTo>
                  <a:pt x="219844" y="357970"/>
                </a:lnTo>
                <a:lnTo>
                  <a:pt x="271750" y="370159"/>
                </a:lnTo>
                <a:lnTo>
                  <a:pt x="327483" y="379959"/>
                </a:lnTo>
                <a:lnTo>
                  <a:pt x="386560" y="387188"/>
                </a:lnTo>
                <a:lnTo>
                  <a:pt x="448501" y="391660"/>
                </a:lnTo>
                <a:lnTo>
                  <a:pt x="512825" y="393192"/>
                </a:lnTo>
                <a:lnTo>
                  <a:pt x="577150" y="391660"/>
                </a:lnTo>
                <a:lnTo>
                  <a:pt x="639091" y="387188"/>
                </a:lnTo>
                <a:lnTo>
                  <a:pt x="698168" y="379959"/>
                </a:lnTo>
                <a:lnTo>
                  <a:pt x="753901" y="370159"/>
                </a:lnTo>
                <a:lnTo>
                  <a:pt x="805807" y="357970"/>
                </a:lnTo>
                <a:lnTo>
                  <a:pt x="853407" y="343578"/>
                </a:lnTo>
                <a:lnTo>
                  <a:pt x="896220" y="327166"/>
                </a:lnTo>
                <a:lnTo>
                  <a:pt x="933766" y="308919"/>
                </a:lnTo>
                <a:lnTo>
                  <a:pt x="991131" y="267654"/>
                </a:lnTo>
                <a:lnTo>
                  <a:pt x="1021656" y="221258"/>
                </a:lnTo>
                <a:lnTo>
                  <a:pt x="1025651" y="196596"/>
                </a:lnTo>
                <a:lnTo>
                  <a:pt x="1021656" y="171933"/>
                </a:lnTo>
                <a:lnTo>
                  <a:pt x="991131" y="125537"/>
                </a:lnTo>
                <a:lnTo>
                  <a:pt x="933766" y="84272"/>
                </a:lnTo>
                <a:lnTo>
                  <a:pt x="896220" y="66025"/>
                </a:lnTo>
                <a:lnTo>
                  <a:pt x="853407" y="49613"/>
                </a:lnTo>
                <a:lnTo>
                  <a:pt x="805807" y="35221"/>
                </a:lnTo>
                <a:lnTo>
                  <a:pt x="753901" y="23032"/>
                </a:lnTo>
                <a:lnTo>
                  <a:pt x="698168" y="13232"/>
                </a:lnTo>
                <a:lnTo>
                  <a:pt x="639091" y="6003"/>
                </a:lnTo>
                <a:lnTo>
                  <a:pt x="577150" y="1531"/>
                </a:lnTo>
                <a:lnTo>
                  <a:pt x="512825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5143627" y="4738573"/>
            <a:ext cx="4870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i="1">
                <a:solidFill>
                  <a:srgbClr val="FFFFFF"/>
                </a:solidFill>
                <a:latin typeface="Corbel"/>
                <a:cs typeface="Corbel"/>
              </a:rPr>
              <a:t>$31</a:t>
            </a:r>
            <a:r>
              <a:rPr dirty="0" sz="1400" spc="-45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spc="-35" i="1">
                <a:solidFill>
                  <a:srgbClr val="FFFFFF"/>
                </a:solidFill>
                <a:latin typeface="Corbel"/>
                <a:cs typeface="Corbel"/>
              </a:rPr>
              <a:t>bn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87858" y="4694682"/>
            <a:ext cx="8178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 i="1">
                <a:latin typeface="Corbel"/>
                <a:cs typeface="Corbel"/>
              </a:rPr>
              <a:t>Revenue: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8068056" y="4677155"/>
            <a:ext cx="1024255" cy="393700"/>
          </a:xfrm>
          <a:custGeom>
            <a:avLst/>
            <a:gdLst/>
            <a:ahLst/>
            <a:cxnLst/>
            <a:rect l="l" t="t" r="r" b="b"/>
            <a:pathLst>
              <a:path w="1024254" h="393700">
                <a:moveTo>
                  <a:pt x="512064" y="0"/>
                </a:moveTo>
                <a:lnTo>
                  <a:pt x="447827" y="1531"/>
                </a:lnTo>
                <a:lnTo>
                  <a:pt x="385972" y="6003"/>
                </a:lnTo>
                <a:lnTo>
                  <a:pt x="326980" y="13232"/>
                </a:lnTo>
                <a:lnTo>
                  <a:pt x="271329" y="23032"/>
                </a:lnTo>
                <a:lnTo>
                  <a:pt x="219500" y="35221"/>
                </a:lnTo>
                <a:lnTo>
                  <a:pt x="171972" y="49613"/>
                </a:lnTo>
                <a:lnTo>
                  <a:pt x="129225" y="66025"/>
                </a:lnTo>
                <a:lnTo>
                  <a:pt x="91738" y="84272"/>
                </a:lnTo>
                <a:lnTo>
                  <a:pt x="34464" y="125537"/>
                </a:lnTo>
                <a:lnTo>
                  <a:pt x="3989" y="171933"/>
                </a:lnTo>
                <a:lnTo>
                  <a:pt x="0" y="196596"/>
                </a:lnTo>
                <a:lnTo>
                  <a:pt x="3989" y="221258"/>
                </a:lnTo>
                <a:lnTo>
                  <a:pt x="34464" y="267654"/>
                </a:lnTo>
                <a:lnTo>
                  <a:pt x="91738" y="308919"/>
                </a:lnTo>
                <a:lnTo>
                  <a:pt x="129225" y="327166"/>
                </a:lnTo>
                <a:lnTo>
                  <a:pt x="171972" y="343578"/>
                </a:lnTo>
                <a:lnTo>
                  <a:pt x="219500" y="357970"/>
                </a:lnTo>
                <a:lnTo>
                  <a:pt x="271329" y="370159"/>
                </a:lnTo>
                <a:lnTo>
                  <a:pt x="326980" y="379959"/>
                </a:lnTo>
                <a:lnTo>
                  <a:pt x="385972" y="387188"/>
                </a:lnTo>
                <a:lnTo>
                  <a:pt x="447827" y="391660"/>
                </a:lnTo>
                <a:lnTo>
                  <a:pt x="512064" y="393192"/>
                </a:lnTo>
                <a:lnTo>
                  <a:pt x="576300" y="391660"/>
                </a:lnTo>
                <a:lnTo>
                  <a:pt x="638155" y="387188"/>
                </a:lnTo>
                <a:lnTo>
                  <a:pt x="697147" y="379959"/>
                </a:lnTo>
                <a:lnTo>
                  <a:pt x="752798" y="370159"/>
                </a:lnTo>
                <a:lnTo>
                  <a:pt x="804627" y="357970"/>
                </a:lnTo>
                <a:lnTo>
                  <a:pt x="852155" y="343578"/>
                </a:lnTo>
                <a:lnTo>
                  <a:pt x="894902" y="327166"/>
                </a:lnTo>
                <a:lnTo>
                  <a:pt x="932389" y="308919"/>
                </a:lnTo>
                <a:lnTo>
                  <a:pt x="989663" y="267654"/>
                </a:lnTo>
                <a:lnTo>
                  <a:pt x="1020138" y="221258"/>
                </a:lnTo>
                <a:lnTo>
                  <a:pt x="1024127" y="196596"/>
                </a:lnTo>
                <a:lnTo>
                  <a:pt x="1020138" y="171933"/>
                </a:lnTo>
                <a:lnTo>
                  <a:pt x="989663" y="125537"/>
                </a:lnTo>
                <a:lnTo>
                  <a:pt x="932389" y="84272"/>
                </a:lnTo>
                <a:lnTo>
                  <a:pt x="894902" y="66025"/>
                </a:lnTo>
                <a:lnTo>
                  <a:pt x="852155" y="49613"/>
                </a:lnTo>
                <a:lnTo>
                  <a:pt x="804627" y="35221"/>
                </a:lnTo>
                <a:lnTo>
                  <a:pt x="752798" y="23032"/>
                </a:lnTo>
                <a:lnTo>
                  <a:pt x="697147" y="13232"/>
                </a:lnTo>
                <a:lnTo>
                  <a:pt x="638155" y="6003"/>
                </a:lnTo>
                <a:lnTo>
                  <a:pt x="576300" y="1531"/>
                </a:lnTo>
                <a:lnTo>
                  <a:pt x="512064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8310118" y="4743069"/>
            <a:ext cx="5416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FFFFFF"/>
                </a:solidFill>
                <a:latin typeface="Corbel"/>
                <a:cs typeface="Corbel"/>
              </a:rPr>
              <a:t>$3.2</a:t>
            </a:r>
            <a:r>
              <a:rPr dirty="0" sz="1400" spc="-55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spc="-25" i="1">
                <a:solidFill>
                  <a:srgbClr val="FFFFFF"/>
                </a:solidFill>
                <a:latin typeface="Corbel"/>
                <a:cs typeface="Corbel"/>
              </a:rPr>
              <a:t>bn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10600943" y="4677155"/>
            <a:ext cx="1024255" cy="393700"/>
          </a:xfrm>
          <a:custGeom>
            <a:avLst/>
            <a:gdLst/>
            <a:ahLst/>
            <a:cxnLst/>
            <a:rect l="l" t="t" r="r" b="b"/>
            <a:pathLst>
              <a:path w="1024254" h="393700">
                <a:moveTo>
                  <a:pt x="512063" y="0"/>
                </a:moveTo>
                <a:lnTo>
                  <a:pt x="447827" y="1531"/>
                </a:lnTo>
                <a:lnTo>
                  <a:pt x="385972" y="6003"/>
                </a:lnTo>
                <a:lnTo>
                  <a:pt x="326980" y="13232"/>
                </a:lnTo>
                <a:lnTo>
                  <a:pt x="271329" y="23032"/>
                </a:lnTo>
                <a:lnTo>
                  <a:pt x="219500" y="35221"/>
                </a:lnTo>
                <a:lnTo>
                  <a:pt x="171972" y="49613"/>
                </a:lnTo>
                <a:lnTo>
                  <a:pt x="129225" y="66025"/>
                </a:lnTo>
                <a:lnTo>
                  <a:pt x="91738" y="84272"/>
                </a:lnTo>
                <a:lnTo>
                  <a:pt x="34464" y="125537"/>
                </a:lnTo>
                <a:lnTo>
                  <a:pt x="3989" y="171933"/>
                </a:lnTo>
                <a:lnTo>
                  <a:pt x="0" y="196596"/>
                </a:lnTo>
                <a:lnTo>
                  <a:pt x="3989" y="221258"/>
                </a:lnTo>
                <a:lnTo>
                  <a:pt x="34464" y="267654"/>
                </a:lnTo>
                <a:lnTo>
                  <a:pt x="91738" y="308919"/>
                </a:lnTo>
                <a:lnTo>
                  <a:pt x="129225" y="327166"/>
                </a:lnTo>
                <a:lnTo>
                  <a:pt x="171972" y="343578"/>
                </a:lnTo>
                <a:lnTo>
                  <a:pt x="219500" y="357970"/>
                </a:lnTo>
                <a:lnTo>
                  <a:pt x="271329" y="370159"/>
                </a:lnTo>
                <a:lnTo>
                  <a:pt x="326980" y="379959"/>
                </a:lnTo>
                <a:lnTo>
                  <a:pt x="385972" y="387188"/>
                </a:lnTo>
                <a:lnTo>
                  <a:pt x="447827" y="391660"/>
                </a:lnTo>
                <a:lnTo>
                  <a:pt x="512063" y="393192"/>
                </a:lnTo>
                <a:lnTo>
                  <a:pt x="576300" y="391660"/>
                </a:lnTo>
                <a:lnTo>
                  <a:pt x="638155" y="387188"/>
                </a:lnTo>
                <a:lnTo>
                  <a:pt x="697147" y="379959"/>
                </a:lnTo>
                <a:lnTo>
                  <a:pt x="752798" y="370159"/>
                </a:lnTo>
                <a:lnTo>
                  <a:pt x="804627" y="357970"/>
                </a:lnTo>
                <a:lnTo>
                  <a:pt x="852155" y="343578"/>
                </a:lnTo>
                <a:lnTo>
                  <a:pt x="894902" y="327166"/>
                </a:lnTo>
                <a:lnTo>
                  <a:pt x="932389" y="308919"/>
                </a:lnTo>
                <a:lnTo>
                  <a:pt x="989663" y="267654"/>
                </a:lnTo>
                <a:lnTo>
                  <a:pt x="1020138" y="221258"/>
                </a:lnTo>
                <a:lnTo>
                  <a:pt x="1024127" y="196596"/>
                </a:lnTo>
                <a:lnTo>
                  <a:pt x="1020138" y="171933"/>
                </a:lnTo>
                <a:lnTo>
                  <a:pt x="989663" y="125537"/>
                </a:lnTo>
                <a:lnTo>
                  <a:pt x="932389" y="84272"/>
                </a:lnTo>
                <a:lnTo>
                  <a:pt x="894902" y="66025"/>
                </a:lnTo>
                <a:lnTo>
                  <a:pt x="852155" y="49613"/>
                </a:lnTo>
                <a:lnTo>
                  <a:pt x="804627" y="35221"/>
                </a:lnTo>
                <a:lnTo>
                  <a:pt x="752798" y="23032"/>
                </a:lnTo>
                <a:lnTo>
                  <a:pt x="697147" y="13232"/>
                </a:lnTo>
                <a:lnTo>
                  <a:pt x="638155" y="6003"/>
                </a:lnTo>
                <a:lnTo>
                  <a:pt x="576300" y="1531"/>
                </a:lnTo>
                <a:lnTo>
                  <a:pt x="512063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0698606" y="4360926"/>
            <a:ext cx="665480" cy="621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orbel"/>
                <a:cs typeface="Corbel"/>
              </a:rPr>
              <a:t>HP</a:t>
            </a:r>
            <a:r>
              <a:rPr dirty="0" sz="1600" spc="-30" b="1">
                <a:latin typeface="Corbel"/>
                <a:cs typeface="Corbel"/>
              </a:rPr>
              <a:t> </a:t>
            </a:r>
            <a:r>
              <a:rPr dirty="0" sz="1600" spc="-20" b="1">
                <a:latin typeface="Corbel"/>
                <a:cs typeface="Corbel"/>
              </a:rPr>
              <a:t>Inc.</a:t>
            </a:r>
            <a:endParaRPr sz="1600">
              <a:latin typeface="Corbel"/>
              <a:cs typeface="Corbel"/>
            </a:endParaRPr>
          </a:p>
          <a:p>
            <a:pPr marL="177165">
              <a:lnSpc>
                <a:spcPct val="100000"/>
              </a:lnSpc>
              <a:spcBef>
                <a:spcPts val="1095"/>
              </a:spcBef>
            </a:pPr>
            <a:r>
              <a:rPr dirty="0" sz="1400" i="1">
                <a:solidFill>
                  <a:srgbClr val="FFFFFF"/>
                </a:solidFill>
                <a:latin typeface="Corbel"/>
                <a:cs typeface="Corbel"/>
              </a:rPr>
              <a:t>$58</a:t>
            </a:r>
            <a:r>
              <a:rPr dirty="0" sz="1400" spc="-55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400" spc="-25" i="1">
                <a:solidFill>
                  <a:srgbClr val="FFFFFF"/>
                </a:solidFill>
                <a:latin typeface="Corbel"/>
                <a:cs typeface="Corbel"/>
              </a:rPr>
              <a:t>bn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20141" y="895045"/>
            <a:ext cx="406336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A</a:t>
            </a:r>
            <a:r>
              <a:rPr dirty="0" sz="1600" spc="30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series</a:t>
            </a:r>
            <a:r>
              <a:rPr dirty="0" sz="1600" spc="3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3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corporate</a:t>
            </a:r>
            <a:r>
              <a:rPr dirty="0" sz="1600" spc="3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actions</a:t>
            </a:r>
            <a:r>
              <a:rPr dirty="0" sz="1600" spc="3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have</a:t>
            </a:r>
            <a:r>
              <a:rPr dirty="0" sz="1600" spc="3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resulted</a:t>
            </a:r>
            <a:r>
              <a:rPr dirty="0" sz="1600" spc="3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25">
                <a:solidFill>
                  <a:srgbClr val="2A2F3B"/>
                </a:solidFill>
                <a:latin typeface="Corbel"/>
                <a:cs typeface="Corbel"/>
              </a:rPr>
              <a:t>in</a:t>
            </a:r>
            <a:endParaRPr sz="16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creation</a:t>
            </a:r>
            <a:r>
              <a:rPr dirty="0" sz="16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four</a:t>
            </a:r>
            <a:r>
              <a:rPr dirty="0" sz="16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new</a:t>
            </a:r>
            <a:r>
              <a:rPr dirty="0" sz="1600" spc="-3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>
                <a:solidFill>
                  <a:srgbClr val="2A2F3B"/>
                </a:solidFill>
                <a:latin typeface="Corbel"/>
                <a:cs typeface="Corbel"/>
              </a:rPr>
              <a:t>entities</a:t>
            </a:r>
            <a:r>
              <a:rPr dirty="0" sz="1600" spc="-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50">
                <a:solidFill>
                  <a:srgbClr val="2A2F3B"/>
                </a:solidFill>
                <a:latin typeface="Corbel"/>
                <a:cs typeface="Corbel"/>
              </a:rPr>
              <a:t>-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235707" y="5835396"/>
            <a:ext cx="7595870" cy="338455"/>
          </a:xfrm>
          <a:prstGeom prst="rect">
            <a:avLst/>
          </a:prstGeom>
          <a:solidFill>
            <a:srgbClr val="B51E6A"/>
          </a:solidFill>
        </p:spPr>
        <p:txBody>
          <a:bodyPr wrap="square" lIns="0" tIns="34290" rIns="0" bIns="0" rtlCol="0" vert="horz">
            <a:spAutoFit/>
          </a:bodyPr>
          <a:lstStyle/>
          <a:p>
            <a:pPr algn="ctr" marL="58419">
              <a:lnSpc>
                <a:spcPct val="100000"/>
              </a:lnSpc>
              <a:spcBef>
                <a:spcPts val="270"/>
              </a:spcBef>
            </a:pPr>
            <a:r>
              <a:rPr dirty="0" sz="1600" b="1">
                <a:solidFill>
                  <a:srgbClr val="FFFFFF"/>
                </a:solidFill>
                <a:latin typeface="Corbel"/>
                <a:cs typeface="Corbel"/>
              </a:rPr>
              <a:t>Mphasis</a:t>
            </a:r>
            <a:r>
              <a:rPr dirty="0" sz="1600" spc="-2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r>
              <a:rPr dirty="0" sz="1600" spc="-4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dirty="0" sz="1600" spc="-5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rbel"/>
                <a:cs typeface="Corbel"/>
              </a:rPr>
              <a:t>preferred</a:t>
            </a:r>
            <a:r>
              <a:rPr dirty="0" sz="1600" spc="-3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rbel"/>
                <a:cs typeface="Corbel"/>
              </a:rPr>
              <a:t>supplier</a:t>
            </a:r>
            <a:r>
              <a:rPr dirty="0" sz="1600" spc="-4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1600" spc="-2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rbel"/>
                <a:cs typeface="Corbel"/>
              </a:rPr>
              <a:t>each</a:t>
            </a:r>
            <a:r>
              <a:rPr dirty="0" sz="1600" spc="-4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1600" spc="-4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rbel"/>
                <a:cs typeface="Corbel"/>
              </a:rPr>
              <a:t>these</a:t>
            </a:r>
            <a:r>
              <a:rPr dirty="0" sz="1600" spc="-1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rbel"/>
                <a:cs typeface="Corbel"/>
              </a:rPr>
              <a:t>four</a:t>
            </a:r>
            <a:r>
              <a:rPr dirty="0" sz="1600" spc="-3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rbel"/>
                <a:cs typeface="Corbel"/>
              </a:rPr>
              <a:t>entities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720076" y="2693035"/>
            <a:ext cx="15728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i="1">
                <a:latin typeface="Corbel"/>
                <a:cs typeface="Corbel"/>
              </a:rPr>
              <a:t>Sep</a:t>
            </a:r>
            <a:r>
              <a:rPr dirty="0" sz="1600" spc="-45" i="1">
                <a:latin typeface="Corbel"/>
                <a:cs typeface="Corbel"/>
              </a:rPr>
              <a:t> </a:t>
            </a:r>
            <a:r>
              <a:rPr dirty="0" sz="1600" i="1">
                <a:latin typeface="Corbel"/>
                <a:cs typeface="Corbel"/>
              </a:rPr>
              <a:t>2016</a:t>
            </a:r>
            <a:r>
              <a:rPr dirty="0" sz="1600" spc="-10" i="1">
                <a:latin typeface="Corbel"/>
                <a:cs typeface="Corbel"/>
              </a:rPr>
              <a:t> </a:t>
            </a:r>
            <a:r>
              <a:rPr dirty="0" sz="1600" i="1">
                <a:latin typeface="Corbel"/>
                <a:cs typeface="Corbel"/>
              </a:rPr>
              <a:t>(Q3</a:t>
            </a:r>
            <a:r>
              <a:rPr dirty="0" sz="1600" spc="-30" i="1">
                <a:latin typeface="Corbel"/>
                <a:cs typeface="Corbel"/>
              </a:rPr>
              <a:t> </a:t>
            </a:r>
            <a:r>
              <a:rPr dirty="0" sz="1600" spc="-20" i="1">
                <a:latin typeface="Corbel"/>
                <a:cs typeface="Corbel"/>
              </a:rPr>
              <a:t>2017)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280541" y="2693035"/>
            <a:ext cx="7912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i="1">
                <a:latin typeface="Corbel"/>
                <a:cs typeface="Corbel"/>
              </a:rPr>
              <a:t>Mar</a:t>
            </a:r>
            <a:r>
              <a:rPr dirty="0" sz="1600" spc="-30" i="1">
                <a:latin typeface="Corbel"/>
                <a:cs typeface="Corbel"/>
              </a:rPr>
              <a:t> </a:t>
            </a:r>
            <a:r>
              <a:rPr dirty="0" sz="1600" spc="-20" i="1">
                <a:latin typeface="Corbel"/>
                <a:cs typeface="Corbel"/>
              </a:rPr>
              <a:t>2016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171359" y="2693035"/>
            <a:ext cx="8445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i="1">
                <a:latin typeface="Corbel"/>
                <a:cs typeface="Corbel"/>
              </a:rPr>
              <a:t>(Apr</a:t>
            </a:r>
            <a:r>
              <a:rPr dirty="0" sz="1600" spc="-30" i="1">
                <a:latin typeface="Corbel"/>
                <a:cs typeface="Corbel"/>
              </a:rPr>
              <a:t> </a:t>
            </a:r>
            <a:r>
              <a:rPr dirty="0" sz="1600" spc="-10" i="1">
                <a:latin typeface="Corbel"/>
                <a:cs typeface="Corbel"/>
              </a:rPr>
              <a:t>2017)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173470" y="1311021"/>
            <a:ext cx="238125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latin typeface="Corbel"/>
                <a:cs typeface="Corbel"/>
              </a:rPr>
              <a:t>Hewlett-</a:t>
            </a:r>
            <a:r>
              <a:rPr dirty="0" sz="1600" b="1">
                <a:latin typeface="Corbel"/>
                <a:cs typeface="Corbel"/>
              </a:rPr>
              <a:t>Packard</a:t>
            </a:r>
            <a:r>
              <a:rPr dirty="0" sz="1600" spc="-15" b="1">
                <a:latin typeface="Corbel"/>
                <a:cs typeface="Corbel"/>
              </a:rPr>
              <a:t> </a:t>
            </a:r>
            <a:r>
              <a:rPr dirty="0" sz="1600" spc="-10" b="1">
                <a:latin typeface="Corbel"/>
                <a:cs typeface="Corbel"/>
              </a:rPr>
              <a:t>Company</a:t>
            </a:r>
            <a:endParaRPr sz="1600">
              <a:latin typeface="Corbel"/>
              <a:cs typeface="Corbel"/>
            </a:endParaRPr>
          </a:p>
          <a:p>
            <a:pPr marL="535305">
              <a:lnSpc>
                <a:spcPct val="100000"/>
              </a:lnSpc>
              <a:spcBef>
                <a:spcPts val="1914"/>
              </a:spcBef>
            </a:pPr>
            <a:r>
              <a:rPr dirty="0" sz="1600" i="1">
                <a:latin typeface="Corbel"/>
                <a:cs typeface="Corbel"/>
              </a:rPr>
              <a:t>Oct</a:t>
            </a:r>
            <a:r>
              <a:rPr dirty="0" sz="1600" spc="-15" i="1">
                <a:latin typeface="Corbel"/>
                <a:cs typeface="Corbel"/>
              </a:rPr>
              <a:t> </a:t>
            </a:r>
            <a:r>
              <a:rPr dirty="0" sz="1600" i="1">
                <a:latin typeface="Corbel"/>
                <a:cs typeface="Corbel"/>
              </a:rPr>
              <a:t>2014</a:t>
            </a:r>
            <a:r>
              <a:rPr dirty="0" sz="1600" spc="135" i="1">
                <a:latin typeface="Corbel"/>
                <a:cs typeface="Corbel"/>
              </a:rPr>
              <a:t>  </a:t>
            </a:r>
            <a:r>
              <a:rPr dirty="0" sz="1600" i="1">
                <a:latin typeface="Corbel"/>
                <a:cs typeface="Corbel"/>
              </a:rPr>
              <a:t>(Nov</a:t>
            </a:r>
            <a:r>
              <a:rPr dirty="0" sz="1600" spc="-20" i="1">
                <a:latin typeface="Corbel"/>
                <a:cs typeface="Corbel"/>
              </a:rPr>
              <a:t> 2015)</a:t>
            </a:r>
            <a:endParaRPr sz="1600">
              <a:latin typeface="Corbel"/>
              <a:cs typeface="Corbe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2686811" y="4978908"/>
            <a:ext cx="7486015" cy="718185"/>
            <a:chOff x="2686811" y="4978908"/>
            <a:chExt cx="7486015" cy="718185"/>
          </a:xfrm>
        </p:grpSpPr>
        <p:sp>
          <p:nvSpPr>
            <p:cNvPr id="41" name="object 41" descr=""/>
            <p:cNvSpPr/>
            <p:nvPr/>
          </p:nvSpPr>
          <p:spPr>
            <a:xfrm>
              <a:off x="4748783" y="4983480"/>
              <a:ext cx="5419725" cy="289560"/>
            </a:xfrm>
            <a:custGeom>
              <a:avLst/>
              <a:gdLst/>
              <a:ahLst/>
              <a:cxnLst/>
              <a:rect l="l" t="t" r="r" b="b"/>
              <a:pathLst>
                <a:path w="5419725" h="289560">
                  <a:moveTo>
                    <a:pt x="5419344" y="0"/>
                  </a:moveTo>
                  <a:lnTo>
                    <a:pt x="5417448" y="56376"/>
                  </a:lnTo>
                  <a:lnTo>
                    <a:pt x="5412279" y="102393"/>
                  </a:lnTo>
                  <a:lnTo>
                    <a:pt x="5404610" y="133409"/>
                  </a:lnTo>
                  <a:lnTo>
                    <a:pt x="5395214" y="144780"/>
                  </a:lnTo>
                  <a:lnTo>
                    <a:pt x="2733801" y="144780"/>
                  </a:lnTo>
                  <a:lnTo>
                    <a:pt x="2724405" y="156150"/>
                  </a:lnTo>
                  <a:lnTo>
                    <a:pt x="2716736" y="187166"/>
                  </a:lnTo>
                  <a:lnTo>
                    <a:pt x="2711567" y="233183"/>
                  </a:lnTo>
                  <a:lnTo>
                    <a:pt x="2709671" y="289560"/>
                  </a:lnTo>
                  <a:lnTo>
                    <a:pt x="2707776" y="233183"/>
                  </a:lnTo>
                  <a:lnTo>
                    <a:pt x="2702607" y="187166"/>
                  </a:lnTo>
                  <a:lnTo>
                    <a:pt x="2694938" y="156150"/>
                  </a:lnTo>
                  <a:lnTo>
                    <a:pt x="2685541" y="144780"/>
                  </a:lnTo>
                  <a:lnTo>
                    <a:pt x="24129" y="144780"/>
                  </a:lnTo>
                  <a:lnTo>
                    <a:pt x="14733" y="133409"/>
                  </a:lnTo>
                  <a:lnTo>
                    <a:pt x="7064" y="102393"/>
                  </a:lnTo>
                  <a:lnTo>
                    <a:pt x="1895" y="56376"/>
                  </a:lnTo>
                  <a:lnTo>
                    <a:pt x="0" y="0"/>
                  </a:lnTo>
                </a:path>
              </a:pathLst>
            </a:custGeom>
            <a:ln w="9144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686812" y="5303520"/>
              <a:ext cx="5283835" cy="393700"/>
            </a:xfrm>
            <a:custGeom>
              <a:avLst/>
              <a:gdLst/>
              <a:ahLst/>
              <a:cxnLst/>
              <a:rect l="l" t="t" r="r" b="b"/>
              <a:pathLst>
                <a:path w="5283834" h="393700">
                  <a:moveTo>
                    <a:pt x="1024128" y="196596"/>
                  </a:moveTo>
                  <a:lnTo>
                    <a:pt x="1008481" y="148196"/>
                  </a:lnTo>
                  <a:lnTo>
                    <a:pt x="964133" y="104178"/>
                  </a:lnTo>
                  <a:lnTo>
                    <a:pt x="894892" y="66027"/>
                  </a:lnTo>
                  <a:lnTo>
                    <a:pt x="852144" y="49618"/>
                  </a:lnTo>
                  <a:lnTo>
                    <a:pt x="804621" y="35229"/>
                  </a:lnTo>
                  <a:lnTo>
                    <a:pt x="752792" y="23037"/>
                  </a:lnTo>
                  <a:lnTo>
                    <a:pt x="697141" y="13233"/>
                  </a:lnTo>
                  <a:lnTo>
                    <a:pt x="638149" y="6007"/>
                  </a:lnTo>
                  <a:lnTo>
                    <a:pt x="576300" y="1536"/>
                  </a:lnTo>
                  <a:lnTo>
                    <a:pt x="512064" y="0"/>
                  </a:lnTo>
                  <a:lnTo>
                    <a:pt x="447814" y="1536"/>
                  </a:lnTo>
                  <a:lnTo>
                    <a:pt x="385965" y="6007"/>
                  </a:lnTo>
                  <a:lnTo>
                    <a:pt x="326974" y="13233"/>
                  </a:lnTo>
                  <a:lnTo>
                    <a:pt x="271322" y="23037"/>
                  </a:lnTo>
                  <a:lnTo>
                    <a:pt x="219494" y="35229"/>
                  </a:lnTo>
                  <a:lnTo>
                    <a:pt x="171970" y="49618"/>
                  </a:lnTo>
                  <a:lnTo>
                    <a:pt x="129222" y="66027"/>
                  </a:lnTo>
                  <a:lnTo>
                    <a:pt x="91732" y="84277"/>
                  </a:lnTo>
                  <a:lnTo>
                    <a:pt x="34455" y="125539"/>
                  </a:lnTo>
                  <a:lnTo>
                    <a:pt x="3987" y="171945"/>
                  </a:lnTo>
                  <a:lnTo>
                    <a:pt x="0" y="196596"/>
                  </a:lnTo>
                  <a:lnTo>
                    <a:pt x="3987" y="221259"/>
                  </a:lnTo>
                  <a:lnTo>
                    <a:pt x="34455" y="267652"/>
                  </a:lnTo>
                  <a:lnTo>
                    <a:pt x="91732" y="308914"/>
                  </a:lnTo>
                  <a:lnTo>
                    <a:pt x="129222" y="327164"/>
                  </a:lnTo>
                  <a:lnTo>
                    <a:pt x="171970" y="343585"/>
                  </a:lnTo>
                  <a:lnTo>
                    <a:pt x="219494" y="357974"/>
                  </a:lnTo>
                  <a:lnTo>
                    <a:pt x="271322" y="370166"/>
                  </a:lnTo>
                  <a:lnTo>
                    <a:pt x="326974" y="379958"/>
                  </a:lnTo>
                  <a:lnTo>
                    <a:pt x="385965" y="387197"/>
                  </a:lnTo>
                  <a:lnTo>
                    <a:pt x="447814" y="391668"/>
                  </a:lnTo>
                  <a:lnTo>
                    <a:pt x="512064" y="393192"/>
                  </a:lnTo>
                  <a:lnTo>
                    <a:pt x="576300" y="391668"/>
                  </a:lnTo>
                  <a:lnTo>
                    <a:pt x="638149" y="387197"/>
                  </a:lnTo>
                  <a:lnTo>
                    <a:pt x="697141" y="379958"/>
                  </a:lnTo>
                  <a:lnTo>
                    <a:pt x="752792" y="370166"/>
                  </a:lnTo>
                  <a:lnTo>
                    <a:pt x="804621" y="357974"/>
                  </a:lnTo>
                  <a:lnTo>
                    <a:pt x="852144" y="343585"/>
                  </a:lnTo>
                  <a:lnTo>
                    <a:pt x="894892" y="327164"/>
                  </a:lnTo>
                  <a:lnTo>
                    <a:pt x="932383" y="308914"/>
                  </a:lnTo>
                  <a:lnTo>
                    <a:pt x="989660" y="267652"/>
                  </a:lnTo>
                  <a:lnTo>
                    <a:pt x="1020127" y="221259"/>
                  </a:lnTo>
                  <a:lnTo>
                    <a:pt x="1024128" y="196596"/>
                  </a:lnTo>
                  <a:close/>
                </a:path>
                <a:path w="5283834" h="393700">
                  <a:moveTo>
                    <a:pt x="5283708" y="196596"/>
                  </a:moveTo>
                  <a:lnTo>
                    <a:pt x="5268061" y="148196"/>
                  </a:lnTo>
                  <a:lnTo>
                    <a:pt x="5223713" y="104178"/>
                  </a:lnTo>
                  <a:lnTo>
                    <a:pt x="5154473" y="66027"/>
                  </a:lnTo>
                  <a:lnTo>
                    <a:pt x="5111724" y="49618"/>
                  </a:lnTo>
                  <a:lnTo>
                    <a:pt x="5064201" y="35229"/>
                  </a:lnTo>
                  <a:lnTo>
                    <a:pt x="5012372" y="23037"/>
                  </a:lnTo>
                  <a:lnTo>
                    <a:pt x="4956721" y="13233"/>
                  </a:lnTo>
                  <a:lnTo>
                    <a:pt x="4897729" y="6007"/>
                  </a:lnTo>
                  <a:lnTo>
                    <a:pt x="4835880" y="1536"/>
                  </a:lnTo>
                  <a:lnTo>
                    <a:pt x="4771644" y="0"/>
                  </a:lnTo>
                  <a:lnTo>
                    <a:pt x="4707394" y="1536"/>
                  </a:lnTo>
                  <a:lnTo>
                    <a:pt x="4645545" y="6007"/>
                  </a:lnTo>
                  <a:lnTo>
                    <a:pt x="4586554" y="13233"/>
                  </a:lnTo>
                  <a:lnTo>
                    <a:pt x="4530903" y="23037"/>
                  </a:lnTo>
                  <a:lnTo>
                    <a:pt x="4479074" y="35229"/>
                  </a:lnTo>
                  <a:lnTo>
                    <a:pt x="4431550" y="49618"/>
                  </a:lnTo>
                  <a:lnTo>
                    <a:pt x="4388802" y="66027"/>
                  </a:lnTo>
                  <a:lnTo>
                    <a:pt x="4351312" y="84277"/>
                  </a:lnTo>
                  <a:lnTo>
                    <a:pt x="4294035" y="125539"/>
                  </a:lnTo>
                  <a:lnTo>
                    <a:pt x="4263568" y="171945"/>
                  </a:lnTo>
                  <a:lnTo>
                    <a:pt x="4259580" y="196596"/>
                  </a:lnTo>
                  <a:lnTo>
                    <a:pt x="4263568" y="221259"/>
                  </a:lnTo>
                  <a:lnTo>
                    <a:pt x="4294035" y="267652"/>
                  </a:lnTo>
                  <a:lnTo>
                    <a:pt x="4351312" y="308914"/>
                  </a:lnTo>
                  <a:lnTo>
                    <a:pt x="4388802" y="327164"/>
                  </a:lnTo>
                  <a:lnTo>
                    <a:pt x="4431550" y="343585"/>
                  </a:lnTo>
                  <a:lnTo>
                    <a:pt x="4479074" y="357974"/>
                  </a:lnTo>
                  <a:lnTo>
                    <a:pt x="4530903" y="370166"/>
                  </a:lnTo>
                  <a:lnTo>
                    <a:pt x="4586554" y="379958"/>
                  </a:lnTo>
                  <a:lnTo>
                    <a:pt x="4645545" y="387197"/>
                  </a:lnTo>
                  <a:lnTo>
                    <a:pt x="4707394" y="391668"/>
                  </a:lnTo>
                  <a:lnTo>
                    <a:pt x="4771644" y="393192"/>
                  </a:lnTo>
                  <a:lnTo>
                    <a:pt x="4835880" y="391668"/>
                  </a:lnTo>
                  <a:lnTo>
                    <a:pt x="4897729" y="387197"/>
                  </a:lnTo>
                  <a:lnTo>
                    <a:pt x="4956721" y="379958"/>
                  </a:lnTo>
                  <a:lnTo>
                    <a:pt x="5012372" y="370166"/>
                  </a:lnTo>
                  <a:lnTo>
                    <a:pt x="5064201" y="357974"/>
                  </a:lnTo>
                  <a:lnTo>
                    <a:pt x="5111724" y="343585"/>
                  </a:lnTo>
                  <a:lnTo>
                    <a:pt x="5154473" y="327164"/>
                  </a:lnTo>
                  <a:lnTo>
                    <a:pt x="5191963" y="308914"/>
                  </a:lnTo>
                  <a:lnTo>
                    <a:pt x="5249240" y="267652"/>
                  </a:lnTo>
                  <a:lnTo>
                    <a:pt x="5279707" y="221259"/>
                  </a:lnTo>
                  <a:lnTo>
                    <a:pt x="5283708" y="196596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187858" y="5282565"/>
            <a:ext cx="220726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b="1" i="1">
                <a:latin typeface="Corbel"/>
                <a:cs typeface="Corbel"/>
              </a:rPr>
              <a:t>Mphasis</a:t>
            </a:r>
            <a:r>
              <a:rPr dirty="0" sz="1600" spc="-55" b="1" i="1">
                <a:latin typeface="Corbel"/>
                <a:cs typeface="Corbel"/>
              </a:rPr>
              <a:t> </a:t>
            </a:r>
            <a:r>
              <a:rPr dirty="0" sz="1600" spc="-20" b="1" i="1">
                <a:latin typeface="Corbel"/>
                <a:cs typeface="Corbel"/>
              </a:rPr>
              <a:t>DXC/HP</a:t>
            </a:r>
            <a:r>
              <a:rPr dirty="0" sz="1600" spc="-60" b="1" i="1">
                <a:latin typeface="Corbel"/>
                <a:cs typeface="Corbel"/>
              </a:rPr>
              <a:t> </a:t>
            </a:r>
            <a:r>
              <a:rPr dirty="0" sz="1600" spc="-10" b="1" i="1">
                <a:latin typeface="Corbel"/>
                <a:cs typeface="Corbel"/>
              </a:rPr>
              <a:t>Channel Revenue</a:t>
            </a:r>
            <a:r>
              <a:rPr dirty="0" sz="1600" spc="-55" b="1" i="1">
                <a:latin typeface="Corbel"/>
                <a:cs typeface="Corbel"/>
              </a:rPr>
              <a:t> </a:t>
            </a:r>
            <a:r>
              <a:rPr dirty="0" sz="1600" spc="-10" b="1" i="1">
                <a:latin typeface="Corbel"/>
                <a:cs typeface="Corbel"/>
              </a:rPr>
              <a:t>Contribution: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021838" y="5370067"/>
            <a:ext cx="4568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7365" algn="l"/>
              </a:tabLst>
            </a:pPr>
            <a:r>
              <a:rPr dirty="0" sz="1400" spc="-25" i="1">
                <a:solidFill>
                  <a:srgbClr val="FFFFFF"/>
                </a:solidFill>
                <a:latin typeface="Corbel"/>
                <a:cs typeface="Corbel"/>
              </a:rPr>
              <a:t>88%</a:t>
            </a:r>
            <a:r>
              <a:rPr dirty="0" sz="1400" i="1">
                <a:solidFill>
                  <a:srgbClr val="FFFFFF"/>
                </a:solidFill>
                <a:latin typeface="Corbel"/>
                <a:cs typeface="Corbel"/>
              </a:rPr>
              <a:t>	</a:t>
            </a:r>
            <a:r>
              <a:rPr dirty="0" sz="1400" spc="-25" i="1">
                <a:solidFill>
                  <a:srgbClr val="FFFFFF"/>
                </a:solidFill>
                <a:latin typeface="Corbel"/>
                <a:cs typeface="Corbel"/>
              </a:rPr>
              <a:t>8%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10623804" y="5303520"/>
            <a:ext cx="1024255" cy="393700"/>
          </a:xfrm>
          <a:custGeom>
            <a:avLst/>
            <a:gdLst/>
            <a:ahLst/>
            <a:cxnLst/>
            <a:rect l="l" t="t" r="r" b="b"/>
            <a:pathLst>
              <a:path w="1024254" h="393700">
                <a:moveTo>
                  <a:pt x="512064" y="0"/>
                </a:moveTo>
                <a:lnTo>
                  <a:pt x="447827" y="1531"/>
                </a:lnTo>
                <a:lnTo>
                  <a:pt x="385972" y="6003"/>
                </a:lnTo>
                <a:lnTo>
                  <a:pt x="326980" y="13232"/>
                </a:lnTo>
                <a:lnTo>
                  <a:pt x="271329" y="23032"/>
                </a:lnTo>
                <a:lnTo>
                  <a:pt x="219500" y="35221"/>
                </a:lnTo>
                <a:lnTo>
                  <a:pt x="171972" y="49613"/>
                </a:lnTo>
                <a:lnTo>
                  <a:pt x="129225" y="66025"/>
                </a:lnTo>
                <a:lnTo>
                  <a:pt x="91738" y="84272"/>
                </a:lnTo>
                <a:lnTo>
                  <a:pt x="34464" y="125537"/>
                </a:lnTo>
                <a:lnTo>
                  <a:pt x="3989" y="171933"/>
                </a:lnTo>
                <a:lnTo>
                  <a:pt x="0" y="196595"/>
                </a:lnTo>
                <a:lnTo>
                  <a:pt x="3989" y="221255"/>
                </a:lnTo>
                <a:lnTo>
                  <a:pt x="34464" y="267649"/>
                </a:lnTo>
                <a:lnTo>
                  <a:pt x="91738" y="308913"/>
                </a:lnTo>
                <a:lnTo>
                  <a:pt x="129225" y="327161"/>
                </a:lnTo>
                <a:lnTo>
                  <a:pt x="171972" y="343574"/>
                </a:lnTo>
                <a:lnTo>
                  <a:pt x="219500" y="357967"/>
                </a:lnTo>
                <a:lnTo>
                  <a:pt x="271329" y="370156"/>
                </a:lnTo>
                <a:lnTo>
                  <a:pt x="326980" y="379958"/>
                </a:lnTo>
                <a:lnTo>
                  <a:pt x="385972" y="387187"/>
                </a:lnTo>
                <a:lnTo>
                  <a:pt x="447827" y="391660"/>
                </a:lnTo>
                <a:lnTo>
                  <a:pt x="512064" y="393191"/>
                </a:lnTo>
                <a:lnTo>
                  <a:pt x="576300" y="391660"/>
                </a:lnTo>
                <a:lnTo>
                  <a:pt x="638155" y="387187"/>
                </a:lnTo>
                <a:lnTo>
                  <a:pt x="697147" y="379958"/>
                </a:lnTo>
                <a:lnTo>
                  <a:pt x="752798" y="370156"/>
                </a:lnTo>
                <a:lnTo>
                  <a:pt x="804627" y="357967"/>
                </a:lnTo>
                <a:lnTo>
                  <a:pt x="852155" y="343574"/>
                </a:lnTo>
                <a:lnTo>
                  <a:pt x="894902" y="327161"/>
                </a:lnTo>
                <a:lnTo>
                  <a:pt x="932389" y="308913"/>
                </a:lnTo>
                <a:lnTo>
                  <a:pt x="989663" y="267649"/>
                </a:lnTo>
                <a:lnTo>
                  <a:pt x="1020138" y="221255"/>
                </a:lnTo>
                <a:lnTo>
                  <a:pt x="1024127" y="196595"/>
                </a:lnTo>
                <a:lnTo>
                  <a:pt x="1020138" y="171933"/>
                </a:lnTo>
                <a:lnTo>
                  <a:pt x="989663" y="125537"/>
                </a:lnTo>
                <a:lnTo>
                  <a:pt x="932389" y="84272"/>
                </a:lnTo>
                <a:lnTo>
                  <a:pt x="894902" y="66025"/>
                </a:lnTo>
                <a:lnTo>
                  <a:pt x="852155" y="49613"/>
                </a:lnTo>
                <a:lnTo>
                  <a:pt x="804627" y="35221"/>
                </a:lnTo>
                <a:lnTo>
                  <a:pt x="752798" y="23032"/>
                </a:lnTo>
                <a:lnTo>
                  <a:pt x="697147" y="13232"/>
                </a:lnTo>
                <a:lnTo>
                  <a:pt x="638155" y="6003"/>
                </a:lnTo>
                <a:lnTo>
                  <a:pt x="576300" y="1531"/>
                </a:lnTo>
                <a:lnTo>
                  <a:pt x="512064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11004550" y="5370067"/>
            <a:ext cx="2635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i="1">
                <a:solidFill>
                  <a:srgbClr val="FFFFFF"/>
                </a:solidFill>
                <a:latin typeface="Corbel"/>
                <a:cs typeface="Corbel"/>
              </a:rPr>
              <a:t>4%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284988" y="176784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25450" h="373380">
                <a:moveTo>
                  <a:pt x="212597" y="0"/>
                </a:moveTo>
                <a:lnTo>
                  <a:pt x="163852" y="4929"/>
                </a:lnTo>
                <a:lnTo>
                  <a:pt x="119104" y="18972"/>
                </a:lnTo>
                <a:lnTo>
                  <a:pt x="79630" y="41008"/>
                </a:lnTo>
                <a:lnTo>
                  <a:pt x="46706" y="69917"/>
                </a:lnTo>
                <a:lnTo>
                  <a:pt x="21609" y="104580"/>
                </a:lnTo>
                <a:lnTo>
                  <a:pt x="5615" y="143878"/>
                </a:lnTo>
                <a:lnTo>
                  <a:pt x="0" y="186690"/>
                </a:lnTo>
                <a:lnTo>
                  <a:pt x="5615" y="229501"/>
                </a:lnTo>
                <a:lnTo>
                  <a:pt x="21609" y="268799"/>
                </a:lnTo>
                <a:lnTo>
                  <a:pt x="46706" y="303462"/>
                </a:lnTo>
                <a:lnTo>
                  <a:pt x="79630" y="332371"/>
                </a:lnTo>
                <a:lnTo>
                  <a:pt x="119104" y="354407"/>
                </a:lnTo>
                <a:lnTo>
                  <a:pt x="163852" y="368450"/>
                </a:lnTo>
                <a:lnTo>
                  <a:pt x="212597" y="373380"/>
                </a:lnTo>
                <a:lnTo>
                  <a:pt x="261343" y="368450"/>
                </a:lnTo>
                <a:lnTo>
                  <a:pt x="306091" y="354407"/>
                </a:lnTo>
                <a:lnTo>
                  <a:pt x="345565" y="332371"/>
                </a:lnTo>
                <a:lnTo>
                  <a:pt x="378489" y="303462"/>
                </a:lnTo>
                <a:lnTo>
                  <a:pt x="403586" y="268799"/>
                </a:lnTo>
                <a:lnTo>
                  <a:pt x="419580" y="229501"/>
                </a:lnTo>
                <a:lnTo>
                  <a:pt x="425196" y="186690"/>
                </a:lnTo>
                <a:lnTo>
                  <a:pt x="419580" y="143878"/>
                </a:lnTo>
                <a:lnTo>
                  <a:pt x="403586" y="104580"/>
                </a:lnTo>
                <a:lnTo>
                  <a:pt x="378489" y="69917"/>
                </a:lnTo>
                <a:lnTo>
                  <a:pt x="345565" y="41008"/>
                </a:lnTo>
                <a:lnTo>
                  <a:pt x="306091" y="18972"/>
                </a:lnTo>
                <a:lnTo>
                  <a:pt x="261343" y="4929"/>
                </a:lnTo>
                <a:lnTo>
                  <a:pt x="21259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407923" y="218313"/>
            <a:ext cx="113868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4170" algn="l"/>
              </a:tabLst>
            </a:pPr>
            <a:r>
              <a:rPr dirty="0" u="none" baseline="12731" sz="3600" spc="-75" i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u="none" baseline="12731" sz="3600" i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u="none" sz="2400" spc="-10"/>
              <a:t>Strategic</a:t>
            </a:r>
            <a:r>
              <a:rPr dirty="0" u="none" sz="2400" spc="-85"/>
              <a:t> </a:t>
            </a:r>
            <a:r>
              <a:rPr dirty="0" u="none" sz="2400" spc="-10"/>
              <a:t>Partnership</a:t>
            </a:r>
            <a:r>
              <a:rPr dirty="0" u="none" sz="2400" spc="-55"/>
              <a:t> </a:t>
            </a:r>
            <a:r>
              <a:rPr dirty="0" u="none" sz="2400"/>
              <a:t>with</a:t>
            </a:r>
            <a:r>
              <a:rPr dirty="0" u="none" sz="2400" spc="-75"/>
              <a:t> </a:t>
            </a:r>
            <a:r>
              <a:rPr dirty="0" u="none" sz="2400" spc="-20"/>
              <a:t>DXC</a:t>
            </a:r>
            <a:r>
              <a:rPr dirty="0" sz="2400" spc="-20"/>
              <a:t>/HP:</a:t>
            </a:r>
            <a:r>
              <a:rPr dirty="0" sz="2400" spc="-60"/>
              <a:t> </a:t>
            </a:r>
            <a:r>
              <a:rPr dirty="0" sz="2400" spc="-25"/>
              <a:t>Transformed</a:t>
            </a:r>
            <a:r>
              <a:rPr dirty="0" sz="2400" spc="-80"/>
              <a:t> </a:t>
            </a:r>
            <a:r>
              <a:rPr dirty="0" sz="2400"/>
              <a:t>Relat</a:t>
            </a:r>
            <a:r>
              <a:rPr dirty="0" u="none" sz="2400"/>
              <a:t>ionship</a:t>
            </a:r>
            <a:r>
              <a:rPr dirty="0" u="none" sz="2400" spc="-75"/>
              <a:t> </a:t>
            </a:r>
            <a:r>
              <a:rPr dirty="0" u="none" sz="2400"/>
              <a:t>with</a:t>
            </a:r>
            <a:r>
              <a:rPr dirty="0" u="none" sz="2400" spc="-65"/>
              <a:t> </a:t>
            </a:r>
            <a:r>
              <a:rPr dirty="0" u="none" sz="2400"/>
              <a:t>four</a:t>
            </a:r>
            <a:r>
              <a:rPr dirty="0" u="none" sz="2400" spc="-85"/>
              <a:t> </a:t>
            </a:r>
            <a:r>
              <a:rPr dirty="0" u="none" sz="2400"/>
              <a:t>Growth</a:t>
            </a:r>
            <a:r>
              <a:rPr dirty="0" u="none" sz="2400" spc="-90"/>
              <a:t> </a:t>
            </a:r>
            <a:r>
              <a:rPr dirty="0" u="none" sz="2400" spc="-10"/>
              <a:t>Engines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50" name="object 5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10030">
              <a:lnSpc>
                <a:spcPct val="100000"/>
              </a:lnSpc>
              <a:spcBef>
                <a:spcPts val="100"/>
              </a:spcBef>
            </a:pPr>
            <a:r>
              <a:rPr dirty="0" u="none" spc="-10"/>
              <a:t>Strategic</a:t>
            </a:r>
            <a:r>
              <a:rPr dirty="0" u="none" spc="-85"/>
              <a:t> </a:t>
            </a:r>
            <a:r>
              <a:rPr dirty="0" u="none" spc="-10"/>
              <a:t>Partners</a:t>
            </a:r>
            <a:r>
              <a:rPr dirty="0" spc="-10"/>
              <a:t>hip</a:t>
            </a:r>
            <a:r>
              <a:rPr dirty="0" spc="-65"/>
              <a:t> </a:t>
            </a:r>
            <a:r>
              <a:rPr dirty="0"/>
              <a:t>with</a:t>
            </a:r>
            <a:r>
              <a:rPr dirty="0" spc="-80"/>
              <a:t> </a:t>
            </a:r>
            <a:r>
              <a:rPr dirty="0" spc="-20"/>
              <a:t>DXC/HP:</a:t>
            </a:r>
            <a:r>
              <a:rPr dirty="0" spc="-65"/>
              <a:t> </a:t>
            </a:r>
            <a:r>
              <a:rPr dirty="0"/>
              <a:t>Apps</a:t>
            </a:r>
            <a:r>
              <a:rPr dirty="0" spc="-70"/>
              <a:t> </a:t>
            </a:r>
            <a:r>
              <a:rPr dirty="0" u="none"/>
              <a:t>Migration</a:t>
            </a:r>
            <a:r>
              <a:rPr dirty="0" u="none" spc="-70"/>
              <a:t> </a:t>
            </a:r>
            <a:r>
              <a:rPr dirty="0" u="none"/>
              <a:t>to</a:t>
            </a:r>
            <a:r>
              <a:rPr dirty="0" u="none" spc="-75"/>
              <a:t> </a:t>
            </a:r>
            <a:r>
              <a:rPr dirty="0" u="none" spc="-10"/>
              <a:t>Cloud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1978" y="1820595"/>
            <a:ext cx="2992966" cy="1337278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201168" y="4384547"/>
            <a:ext cx="5410200" cy="381000"/>
            <a:chOff x="201168" y="4384547"/>
            <a:chExt cx="5410200" cy="3810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076" y="4410455"/>
              <a:ext cx="5358384" cy="35509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01168" y="4384547"/>
              <a:ext cx="5410200" cy="355600"/>
            </a:xfrm>
            <a:custGeom>
              <a:avLst/>
              <a:gdLst/>
              <a:ahLst/>
              <a:cxnLst/>
              <a:rect l="l" t="t" r="r" b="b"/>
              <a:pathLst>
                <a:path w="5410200" h="355600">
                  <a:moveTo>
                    <a:pt x="5410200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410200" y="355091"/>
                  </a:lnTo>
                  <a:lnTo>
                    <a:pt x="541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34492" y="4436109"/>
            <a:ext cx="5476240" cy="18853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Client</a:t>
            </a:r>
            <a:r>
              <a:rPr dirty="0" sz="1600" spc="-5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Benefits</a:t>
            </a:r>
            <a:endParaRPr sz="1600">
              <a:latin typeface="Corbel"/>
              <a:cs typeface="Corbel"/>
            </a:endParaRPr>
          </a:p>
          <a:p>
            <a:pPr marL="295910" marR="5080" indent="-28384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295910" algn="l"/>
                <a:tab pos="299085" algn="l"/>
              </a:tabLst>
            </a:pPr>
            <a:r>
              <a:rPr dirty="0" sz="1400">
                <a:solidFill>
                  <a:srgbClr val="2A2F3B"/>
                </a:solidFill>
                <a:latin typeface="Times New Roman"/>
                <a:cs typeface="Times New Roman"/>
              </a:rPr>
              <a:t>	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Faster</a:t>
            </a:r>
            <a:r>
              <a:rPr dirty="0" sz="1400" spc="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Transformations:</a:t>
            </a:r>
            <a:r>
              <a:rPr dirty="0" sz="1400" spc="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Rapidly</a:t>
            </a:r>
            <a:r>
              <a:rPr dirty="0" sz="1400" spc="5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capture</a:t>
            </a:r>
            <a:r>
              <a:rPr dirty="0" sz="1400" spc="5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untapped</a:t>
            </a:r>
            <a:r>
              <a:rPr dirty="0" sz="1400" spc="5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value</a:t>
            </a:r>
            <a:r>
              <a:rPr dirty="0" sz="1400" spc="5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400" spc="5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the</a:t>
            </a:r>
            <a:r>
              <a:rPr dirty="0" sz="1400" spc="4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cloud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for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mission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critical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400" spc="-3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high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value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applications</a:t>
            </a:r>
            <a:endParaRPr sz="1400">
              <a:latin typeface="Corbel"/>
              <a:cs typeface="Corbel"/>
            </a:endParaRPr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Font typeface="Wingdings"/>
              <a:buChar char=""/>
              <a:tabLst>
                <a:tab pos="295910" algn="l"/>
                <a:tab pos="299085" algn="l"/>
              </a:tabLst>
            </a:pPr>
            <a:r>
              <a:rPr dirty="0" sz="1400">
                <a:solidFill>
                  <a:srgbClr val="2A2F3B"/>
                </a:solidFill>
                <a:latin typeface="Times New Roman"/>
                <a:cs typeface="Times New Roman"/>
              </a:rPr>
              <a:t>	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Lower</a:t>
            </a:r>
            <a:r>
              <a:rPr dirty="0" sz="1400" spc="160" b="1">
                <a:solidFill>
                  <a:srgbClr val="2A2F3B"/>
                </a:solidFill>
                <a:latin typeface="Corbel"/>
                <a:cs typeface="Corbel"/>
              </a:rPr>
              <a:t> 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Costs:</a:t>
            </a:r>
            <a:r>
              <a:rPr dirty="0" sz="1400" spc="160" b="1">
                <a:solidFill>
                  <a:srgbClr val="2A2F3B"/>
                </a:solidFill>
                <a:latin typeface="Corbel"/>
                <a:cs typeface="Corbel"/>
              </a:rPr>
              <a:t> 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Offer</a:t>
            </a:r>
            <a:r>
              <a:rPr dirty="0" sz="1400" spc="170">
                <a:solidFill>
                  <a:srgbClr val="2A2F3B"/>
                </a:solidFill>
                <a:latin typeface="Corbel"/>
                <a:cs typeface="Corbel"/>
              </a:rPr>
              <a:t> 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lower</a:t>
            </a:r>
            <a:r>
              <a:rPr dirty="0" sz="1400" spc="170">
                <a:solidFill>
                  <a:srgbClr val="2A2F3B"/>
                </a:solidFill>
                <a:latin typeface="Corbel"/>
                <a:cs typeface="Corbel"/>
              </a:rPr>
              <a:t> 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cost</a:t>
            </a:r>
            <a:r>
              <a:rPr dirty="0" sz="1400" spc="170">
                <a:solidFill>
                  <a:srgbClr val="2A2F3B"/>
                </a:solidFill>
                <a:latin typeface="Corbel"/>
                <a:cs typeface="Corbel"/>
              </a:rPr>
              <a:t> 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consumption-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based</a:t>
            </a:r>
            <a:r>
              <a:rPr dirty="0" sz="1400" spc="170">
                <a:solidFill>
                  <a:srgbClr val="2A2F3B"/>
                </a:solidFill>
                <a:latin typeface="Corbel"/>
                <a:cs typeface="Corbel"/>
              </a:rPr>
              <a:t> 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models</a:t>
            </a:r>
            <a:r>
              <a:rPr dirty="0" sz="1400" spc="170">
                <a:solidFill>
                  <a:srgbClr val="2A2F3B"/>
                </a:solidFill>
                <a:latin typeface="Corbel"/>
                <a:cs typeface="Corbel"/>
              </a:rPr>
              <a:t>  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and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automation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to</a:t>
            </a:r>
            <a:r>
              <a:rPr dirty="0" sz="1400" spc="-3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reduce</a:t>
            </a:r>
            <a:r>
              <a:rPr dirty="0" sz="1400" spc="-3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the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cost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legacy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IT</a:t>
            </a:r>
            <a:endParaRPr sz="1400">
              <a:latin typeface="Corbel"/>
              <a:cs typeface="Corbel"/>
            </a:endParaRPr>
          </a:p>
          <a:p>
            <a:pPr marL="295910" marR="5715" indent="-283845">
              <a:lnSpc>
                <a:spcPct val="100000"/>
              </a:lnSpc>
              <a:spcBef>
                <a:spcPts val="605"/>
              </a:spcBef>
              <a:buFont typeface="Wingdings"/>
              <a:buChar char=""/>
              <a:tabLst>
                <a:tab pos="295910" algn="l"/>
                <a:tab pos="299085" algn="l"/>
              </a:tabLst>
            </a:pPr>
            <a:r>
              <a:rPr dirty="0" sz="1400">
                <a:solidFill>
                  <a:srgbClr val="2A2F3B"/>
                </a:solidFill>
                <a:latin typeface="Times New Roman"/>
                <a:cs typeface="Times New Roman"/>
              </a:rPr>
              <a:t>	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Right</a:t>
            </a:r>
            <a:r>
              <a:rPr dirty="0" sz="1400" spc="7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Skills:</a:t>
            </a:r>
            <a:r>
              <a:rPr dirty="0" sz="1400" spc="8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Access</a:t>
            </a:r>
            <a:r>
              <a:rPr dirty="0" sz="1400" spc="8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to</a:t>
            </a:r>
            <a:r>
              <a:rPr dirty="0" sz="1400" spc="9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the</a:t>
            </a:r>
            <a:r>
              <a:rPr dirty="0" sz="1400" spc="9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next</a:t>
            </a:r>
            <a:r>
              <a:rPr dirty="0" sz="1400" spc="9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generation</a:t>
            </a:r>
            <a:r>
              <a:rPr dirty="0" sz="1400" spc="10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400" spc="10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IT</a:t>
            </a:r>
            <a:r>
              <a:rPr dirty="0" sz="1400" spc="10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skills</a:t>
            </a:r>
            <a:r>
              <a:rPr dirty="0" sz="1400" spc="9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400" spc="10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innovative capabilities</a:t>
            </a:r>
            <a:endParaRPr sz="1400">
              <a:latin typeface="Corbel"/>
              <a:cs typeface="Corbe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447" y="813816"/>
            <a:ext cx="11897868" cy="771143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54456" y="892555"/>
            <a:ext cx="1114298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dirty="0" sz="1600" i="1">
                <a:latin typeface="Corbel"/>
                <a:cs typeface="Corbel"/>
              </a:rPr>
              <a:t>May</a:t>
            </a:r>
            <a:r>
              <a:rPr dirty="0" sz="1600" spc="35" i="1">
                <a:latin typeface="Corbel"/>
                <a:cs typeface="Corbel"/>
              </a:rPr>
              <a:t> </a:t>
            </a:r>
            <a:r>
              <a:rPr dirty="0" sz="1600" i="1">
                <a:latin typeface="Corbel"/>
                <a:cs typeface="Corbel"/>
              </a:rPr>
              <a:t>25</a:t>
            </a:r>
            <a:r>
              <a:rPr dirty="0" baseline="26455" sz="1575" i="1">
                <a:latin typeface="Corbel"/>
                <a:cs typeface="Corbel"/>
              </a:rPr>
              <a:t>th</a:t>
            </a:r>
            <a:r>
              <a:rPr dirty="0" baseline="26455" sz="1575" spc="217" i="1">
                <a:latin typeface="Corbel"/>
                <a:cs typeface="Corbel"/>
              </a:rPr>
              <a:t> </a:t>
            </a:r>
            <a:r>
              <a:rPr dirty="0" sz="1600" i="1">
                <a:latin typeface="Corbel"/>
                <a:cs typeface="Corbel"/>
              </a:rPr>
              <a:t>2017:</a:t>
            </a:r>
            <a:r>
              <a:rPr dirty="0" sz="1600" spc="30" i="1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DXC</a:t>
            </a:r>
            <a:r>
              <a:rPr dirty="0" sz="1600" spc="25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Technology</a:t>
            </a:r>
            <a:r>
              <a:rPr dirty="0" sz="1600" spc="25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(NYSE:</a:t>
            </a:r>
            <a:r>
              <a:rPr dirty="0" sz="1600" spc="4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DXC)</a:t>
            </a:r>
            <a:r>
              <a:rPr dirty="0" sz="1600" spc="25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has</a:t>
            </a:r>
            <a:r>
              <a:rPr dirty="0" sz="1600" spc="35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named</a:t>
            </a:r>
            <a:r>
              <a:rPr dirty="0" sz="1600" spc="3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Mphasis</a:t>
            </a:r>
            <a:r>
              <a:rPr dirty="0" sz="1600" spc="3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as</a:t>
            </a:r>
            <a:r>
              <a:rPr dirty="0" sz="1600" spc="45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a</a:t>
            </a:r>
            <a:r>
              <a:rPr dirty="0" sz="1600" spc="3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new</a:t>
            </a:r>
            <a:r>
              <a:rPr dirty="0" sz="1600" spc="3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Solution</a:t>
            </a:r>
            <a:r>
              <a:rPr dirty="0" sz="1600" spc="35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Partner</a:t>
            </a:r>
            <a:r>
              <a:rPr dirty="0" sz="1600" spc="4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to</a:t>
            </a:r>
            <a:r>
              <a:rPr dirty="0" sz="1600" spc="3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transform</a:t>
            </a:r>
            <a:r>
              <a:rPr dirty="0" sz="1600" spc="3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and</a:t>
            </a:r>
            <a:r>
              <a:rPr dirty="0" sz="1600" spc="3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modernize</a:t>
            </a:r>
            <a:r>
              <a:rPr dirty="0" sz="1600" spc="35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enterprise </a:t>
            </a:r>
            <a:r>
              <a:rPr dirty="0" sz="1600">
                <a:latin typeface="Corbel"/>
                <a:cs typeface="Corbel"/>
              </a:rPr>
              <a:t>applications</a:t>
            </a:r>
            <a:r>
              <a:rPr dirty="0" sz="1600" spc="-1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for</a:t>
            </a:r>
            <a:r>
              <a:rPr dirty="0" sz="1600" spc="-4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public,</a:t>
            </a:r>
            <a:r>
              <a:rPr dirty="0" sz="1600" spc="-2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private</a:t>
            </a:r>
            <a:r>
              <a:rPr dirty="0" sz="1600" spc="-25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and</a:t>
            </a:r>
            <a:r>
              <a:rPr dirty="0" sz="1600" spc="-25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hybrid</a:t>
            </a:r>
            <a:r>
              <a:rPr dirty="0" sz="1600" spc="-35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cloud.</a:t>
            </a:r>
            <a:endParaRPr sz="1600">
              <a:latin typeface="Corbel"/>
              <a:cs typeface="Corbe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2227" y="1944623"/>
            <a:ext cx="2089404" cy="1152143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6280403" y="4384547"/>
            <a:ext cx="5408930" cy="381000"/>
            <a:chOff x="6280403" y="4384547"/>
            <a:chExt cx="5408930" cy="381000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6311" y="4410455"/>
              <a:ext cx="5356860" cy="35509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280403" y="4384547"/>
              <a:ext cx="5408930" cy="355600"/>
            </a:xfrm>
            <a:custGeom>
              <a:avLst/>
              <a:gdLst/>
              <a:ahLst/>
              <a:cxnLst/>
              <a:rect l="l" t="t" r="r" b="b"/>
              <a:pathLst>
                <a:path w="5408930" h="355600">
                  <a:moveTo>
                    <a:pt x="5408676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408676" y="355091"/>
                  </a:lnTo>
                  <a:lnTo>
                    <a:pt x="5408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359778" y="4436109"/>
            <a:ext cx="20745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Why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Mphasis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600" spc="-5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DXC?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916167" y="4469891"/>
            <a:ext cx="0" cy="1711960"/>
          </a:xfrm>
          <a:custGeom>
            <a:avLst/>
            <a:gdLst/>
            <a:ahLst/>
            <a:cxnLst/>
            <a:rect l="l" t="t" r="r" b="b"/>
            <a:pathLst>
              <a:path w="0" h="1711960">
                <a:moveTo>
                  <a:pt x="0" y="1711718"/>
                </a:moveTo>
                <a:lnTo>
                  <a:pt x="0" y="0"/>
                </a:lnTo>
              </a:path>
            </a:pathLst>
          </a:custGeom>
          <a:ln w="12192">
            <a:solidFill>
              <a:srgbClr val="B51E6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334378" y="4861940"/>
            <a:ext cx="5298440" cy="1322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1310" marR="30480" indent="-283845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21310" algn="l"/>
                <a:tab pos="324485" algn="l"/>
              </a:tabLst>
            </a:pPr>
            <a:r>
              <a:rPr dirty="0" sz="1400">
                <a:solidFill>
                  <a:srgbClr val="2A2F3B"/>
                </a:solidFill>
                <a:latin typeface="Times New Roman"/>
                <a:cs typeface="Times New Roman"/>
              </a:rPr>
              <a:t>	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Joint</a:t>
            </a:r>
            <a:r>
              <a:rPr dirty="0" sz="1400" spc="16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GTM</a:t>
            </a:r>
            <a:r>
              <a:rPr dirty="0" sz="1400" spc="18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track</a:t>
            </a:r>
            <a:r>
              <a:rPr dirty="0" sz="1400" spc="1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record:</a:t>
            </a:r>
            <a:r>
              <a:rPr dirty="0" sz="1400" spc="17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10</a:t>
            </a:r>
            <a:r>
              <a:rPr dirty="0" sz="1400" spc="18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year</a:t>
            </a:r>
            <a:r>
              <a:rPr dirty="0" sz="1400" spc="17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relationship</a:t>
            </a:r>
            <a:r>
              <a:rPr dirty="0" sz="1400" spc="17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with</a:t>
            </a:r>
            <a:r>
              <a:rPr dirty="0" sz="1400" spc="18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the</a:t>
            </a:r>
            <a:r>
              <a:rPr dirty="0" sz="1400" spc="17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Enterprise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Services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business</a:t>
            </a:r>
            <a:r>
              <a:rPr dirty="0" sz="1400" spc="-5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marked</a:t>
            </a:r>
            <a:r>
              <a:rPr dirty="0" sz="14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by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successful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joint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wins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in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the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market.</a:t>
            </a:r>
            <a:endParaRPr sz="1400">
              <a:latin typeface="Corbel"/>
              <a:cs typeface="Corbel"/>
            </a:endParaRPr>
          </a:p>
          <a:p>
            <a:pPr marL="324485" indent="-286385">
              <a:lnSpc>
                <a:spcPct val="100000"/>
              </a:lnSpc>
              <a:spcBef>
                <a:spcPts val="605"/>
              </a:spcBef>
              <a:buFont typeface="Wingdings"/>
              <a:buChar char=""/>
              <a:tabLst>
                <a:tab pos="324485" algn="l"/>
              </a:tabLst>
            </a:pP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Impeccable</a:t>
            </a:r>
            <a:r>
              <a:rPr dirty="0" sz="14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Delivery:</a:t>
            </a:r>
            <a:r>
              <a:rPr dirty="0" sz="1400" spc="-5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Mphasis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has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NPS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4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85</a:t>
            </a:r>
            <a:endParaRPr sz="1400">
              <a:latin typeface="Corbel"/>
              <a:cs typeface="Corbel"/>
            </a:endParaRPr>
          </a:p>
          <a:p>
            <a:pPr marL="324485" indent="-286385">
              <a:lnSpc>
                <a:spcPct val="100000"/>
              </a:lnSpc>
              <a:spcBef>
                <a:spcPts val="600"/>
              </a:spcBef>
              <a:buFont typeface="Wingdings"/>
              <a:buChar char=""/>
              <a:tabLst>
                <a:tab pos="324485" algn="l"/>
              </a:tabLst>
            </a:pP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Next</a:t>
            </a:r>
            <a:r>
              <a:rPr dirty="0" sz="1400" spc="-8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Gen</a:t>
            </a:r>
            <a:r>
              <a:rPr dirty="0" sz="1400" spc="-6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Offerings:</a:t>
            </a:r>
            <a:endParaRPr sz="1400">
              <a:latin typeface="Corbel"/>
              <a:cs typeface="Corbel"/>
            </a:endParaRPr>
          </a:p>
          <a:p>
            <a:pPr lvl="1" marL="778510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778510" algn="l"/>
              </a:tabLst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X2C</a:t>
            </a:r>
            <a:r>
              <a:rPr dirty="0" baseline="24691" sz="1350">
                <a:solidFill>
                  <a:srgbClr val="2A2F3B"/>
                </a:solidFill>
                <a:latin typeface="Corbel"/>
                <a:cs typeface="Corbel"/>
              </a:rPr>
              <a:t>2</a:t>
            </a:r>
            <a:r>
              <a:rPr dirty="0" baseline="24691" sz="1350" spc="-104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baseline="24691" sz="1350">
                <a:solidFill>
                  <a:srgbClr val="2A2F3B"/>
                </a:solidFill>
                <a:latin typeface="Corbel"/>
                <a:cs typeface="Corbel"/>
              </a:rPr>
              <a:t>TM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,</a:t>
            </a:r>
            <a:r>
              <a:rPr dirty="0" sz="1400" spc="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iADMS™,</a:t>
            </a:r>
            <a:r>
              <a:rPr dirty="0" sz="14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Front2Back™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Modernization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523488" y="1941576"/>
            <a:ext cx="4482465" cy="1032510"/>
            <a:chOff x="3523488" y="1941576"/>
            <a:chExt cx="4482465" cy="103251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3488" y="1944624"/>
              <a:ext cx="2537460" cy="675131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573018" y="2529097"/>
              <a:ext cx="4432935" cy="445134"/>
            </a:xfrm>
            <a:custGeom>
              <a:avLst/>
              <a:gdLst/>
              <a:ahLst/>
              <a:cxnLst/>
              <a:rect l="l" t="t" r="r" b="b"/>
              <a:pathLst>
                <a:path w="4432934" h="445135">
                  <a:moveTo>
                    <a:pt x="4235867" y="222484"/>
                  </a:moveTo>
                  <a:lnTo>
                    <a:pt x="4012057" y="353040"/>
                  </a:lnTo>
                  <a:lnTo>
                    <a:pt x="3997366" y="366137"/>
                  </a:lnTo>
                  <a:lnTo>
                    <a:pt x="3989117" y="383234"/>
                  </a:lnTo>
                  <a:lnTo>
                    <a:pt x="3987893" y="402189"/>
                  </a:lnTo>
                  <a:lnTo>
                    <a:pt x="3994277" y="420858"/>
                  </a:lnTo>
                  <a:lnTo>
                    <a:pt x="4007318" y="435530"/>
                  </a:lnTo>
                  <a:lnTo>
                    <a:pt x="4024407" y="443749"/>
                  </a:lnTo>
                  <a:lnTo>
                    <a:pt x="4043354" y="444968"/>
                  </a:lnTo>
                  <a:lnTo>
                    <a:pt x="4061967" y="438638"/>
                  </a:lnTo>
                  <a:lnTo>
                    <a:pt x="4347637" y="272014"/>
                  </a:lnTo>
                  <a:lnTo>
                    <a:pt x="4334256" y="272014"/>
                  </a:lnTo>
                  <a:lnTo>
                    <a:pt x="4334256" y="265283"/>
                  </a:lnTo>
                  <a:lnTo>
                    <a:pt x="4309237" y="265283"/>
                  </a:lnTo>
                  <a:lnTo>
                    <a:pt x="4235867" y="222484"/>
                  </a:lnTo>
                  <a:close/>
                </a:path>
                <a:path w="4432934" h="445135">
                  <a:moveTo>
                    <a:pt x="4150958" y="172954"/>
                  </a:moveTo>
                  <a:lnTo>
                    <a:pt x="0" y="172954"/>
                  </a:lnTo>
                  <a:lnTo>
                    <a:pt x="0" y="272014"/>
                  </a:lnTo>
                  <a:lnTo>
                    <a:pt x="4150958" y="272014"/>
                  </a:lnTo>
                  <a:lnTo>
                    <a:pt x="4235867" y="222484"/>
                  </a:lnTo>
                  <a:lnTo>
                    <a:pt x="4150958" y="172954"/>
                  </a:lnTo>
                  <a:close/>
                </a:path>
                <a:path w="4432934" h="445135">
                  <a:moveTo>
                    <a:pt x="4347637" y="172954"/>
                  </a:moveTo>
                  <a:lnTo>
                    <a:pt x="4334256" y="172954"/>
                  </a:lnTo>
                  <a:lnTo>
                    <a:pt x="4334256" y="272014"/>
                  </a:lnTo>
                  <a:lnTo>
                    <a:pt x="4347637" y="272014"/>
                  </a:lnTo>
                  <a:lnTo>
                    <a:pt x="4432554" y="222484"/>
                  </a:lnTo>
                  <a:lnTo>
                    <a:pt x="4347637" y="172954"/>
                  </a:lnTo>
                  <a:close/>
                </a:path>
                <a:path w="4432934" h="445135">
                  <a:moveTo>
                    <a:pt x="4309237" y="179685"/>
                  </a:moveTo>
                  <a:lnTo>
                    <a:pt x="4235867" y="222484"/>
                  </a:lnTo>
                  <a:lnTo>
                    <a:pt x="4309237" y="265283"/>
                  </a:lnTo>
                  <a:lnTo>
                    <a:pt x="4309237" y="179685"/>
                  </a:lnTo>
                  <a:close/>
                </a:path>
                <a:path w="4432934" h="445135">
                  <a:moveTo>
                    <a:pt x="4334256" y="179685"/>
                  </a:moveTo>
                  <a:lnTo>
                    <a:pt x="4309237" y="179685"/>
                  </a:lnTo>
                  <a:lnTo>
                    <a:pt x="4309237" y="265283"/>
                  </a:lnTo>
                  <a:lnTo>
                    <a:pt x="4334256" y="265283"/>
                  </a:lnTo>
                  <a:lnTo>
                    <a:pt x="4334256" y="179685"/>
                  </a:lnTo>
                  <a:close/>
                </a:path>
                <a:path w="4432934" h="445135">
                  <a:moveTo>
                    <a:pt x="4043354" y="0"/>
                  </a:moveTo>
                  <a:lnTo>
                    <a:pt x="4024407" y="1218"/>
                  </a:lnTo>
                  <a:lnTo>
                    <a:pt x="4007318" y="9437"/>
                  </a:lnTo>
                  <a:lnTo>
                    <a:pt x="3994277" y="24110"/>
                  </a:lnTo>
                  <a:lnTo>
                    <a:pt x="3987893" y="42779"/>
                  </a:lnTo>
                  <a:lnTo>
                    <a:pt x="3989117" y="61733"/>
                  </a:lnTo>
                  <a:lnTo>
                    <a:pt x="3997366" y="78831"/>
                  </a:lnTo>
                  <a:lnTo>
                    <a:pt x="4012057" y="91928"/>
                  </a:lnTo>
                  <a:lnTo>
                    <a:pt x="4235867" y="222484"/>
                  </a:lnTo>
                  <a:lnTo>
                    <a:pt x="4309237" y="179685"/>
                  </a:lnTo>
                  <a:lnTo>
                    <a:pt x="4334256" y="179685"/>
                  </a:lnTo>
                  <a:lnTo>
                    <a:pt x="4334256" y="172954"/>
                  </a:lnTo>
                  <a:lnTo>
                    <a:pt x="4347637" y="172954"/>
                  </a:lnTo>
                  <a:lnTo>
                    <a:pt x="4061967" y="6330"/>
                  </a:lnTo>
                  <a:lnTo>
                    <a:pt x="4043354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46876" y="1941576"/>
              <a:ext cx="1615440" cy="640079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871472" y="3668267"/>
            <a:ext cx="2700655" cy="664845"/>
          </a:xfrm>
          <a:prstGeom prst="rect">
            <a:avLst/>
          </a:prstGeom>
          <a:solidFill>
            <a:srgbClr val="9FB4D3"/>
          </a:solidFill>
        </p:spPr>
        <p:txBody>
          <a:bodyPr wrap="square" lIns="0" tIns="121285" rIns="0" bIns="0" rtlCol="0" vert="horz">
            <a:spAutoFit/>
          </a:bodyPr>
          <a:lstStyle/>
          <a:p>
            <a:pPr marL="261620" indent="-171450">
              <a:lnSpc>
                <a:spcPct val="100000"/>
              </a:lnSpc>
              <a:spcBef>
                <a:spcPts val="955"/>
              </a:spcBef>
              <a:buFont typeface="Arial MT"/>
              <a:buChar char="•"/>
              <a:tabLst>
                <a:tab pos="261620" algn="l"/>
              </a:tabLst>
            </a:pPr>
            <a:r>
              <a:rPr dirty="0" sz="1400">
                <a:latin typeface="Corbel"/>
                <a:cs typeface="Corbel"/>
              </a:rPr>
              <a:t>Banking</a:t>
            </a:r>
            <a:r>
              <a:rPr dirty="0" sz="1400" spc="-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and </a:t>
            </a:r>
            <a:r>
              <a:rPr dirty="0" sz="1400" spc="-10">
                <a:latin typeface="Corbel"/>
                <a:cs typeface="Corbel"/>
              </a:rPr>
              <a:t>Financial</a:t>
            </a:r>
            <a:r>
              <a:rPr dirty="0" sz="1400" spc="-4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Services</a:t>
            </a:r>
            <a:endParaRPr sz="1400">
              <a:latin typeface="Corbel"/>
              <a:cs typeface="Corbel"/>
            </a:endParaRPr>
          </a:p>
          <a:p>
            <a:pPr marL="261620" indent="-171450">
              <a:lnSpc>
                <a:spcPct val="100000"/>
              </a:lnSpc>
              <a:buFont typeface="Arial MT"/>
              <a:buChar char="•"/>
              <a:tabLst>
                <a:tab pos="261620" algn="l"/>
              </a:tabLst>
            </a:pPr>
            <a:r>
              <a:rPr dirty="0" sz="1400" spc="-10">
                <a:latin typeface="Corbel"/>
                <a:cs typeface="Corbel"/>
              </a:rPr>
              <a:t>Insurance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774691" y="3668267"/>
            <a:ext cx="2700655" cy="664845"/>
          </a:xfrm>
          <a:prstGeom prst="rect">
            <a:avLst/>
          </a:prstGeom>
          <a:solidFill>
            <a:srgbClr val="9FB4D3"/>
          </a:solidFill>
        </p:spPr>
        <p:txBody>
          <a:bodyPr wrap="square" lIns="0" tIns="121285" rIns="0" bIns="0" rtlCol="0" vert="horz">
            <a:spAutoFit/>
          </a:bodyPr>
          <a:lstStyle/>
          <a:p>
            <a:pPr marL="263525" indent="-171450">
              <a:lnSpc>
                <a:spcPct val="100000"/>
              </a:lnSpc>
              <a:spcBef>
                <a:spcPts val="955"/>
              </a:spcBef>
              <a:buFont typeface="Arial MT"/>
              <a:buChar char="•"/>
              <a:tabLst>
                <a:tab pos="263525" algn="l"/>
              </a:tabLst>
            </a:pPr>
            <a:r>
              <a:rPr dirty="0" sz="1400" spc="-20">
                <a:latin typeface="Corbel"/>
                <a:cs typeface="Corbel"/>
              </a:rPr>
              <a:t>North</a:t>
            </a:r>
            <a:r>
              <a:rPr dirty="0" sz="1400" spc="-1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America</a:t>
            </a:r>
            <a:endParaRPr sz="1400">
              <a:latin typeface="Corbel"/>
              <a:cs typeface="Corbel"/>
            </a:endParaRPr>
          </a:p>
          <a:p>
            <a:pPr marL="263525" indent="-171450">
              <a:lnSpc>
                <a:spcPct val="100000"/>
              </a:lnSpc>
              <a:buFont typeface="Arial MT"/>
              <a:buChar char="•"/>
              <a:tabLst>
                <a:tab pos="263525" algn="l"/>
              </a:tabLst>
            </a:pPr>
            <a:r>
              <a:rPr dirty="0" sz="1400" spc="-25">
                <a:latin typeface="Corbel"/>
                <a:cs typeface="Corbel"/>
              </a:rPr>
              <a:t>UK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711440" y="3668267"/>
            <a:ext cx="2702560" cy="664845"/>
          </a:xfrm>
          <a:prstGeom prst="rect">
            <a:avLst/>
          </a:prstGeom>
          <a:solidFill>
            <a:srgbClr val="9FB4D3"/>
          </a:solidFill>
        </p:spPr>
        <p:txBody>
          <a:bodyPr wrap="square" lIns="0" tIns="13970" rIns="0" bIns="0" rtlCol="0" vert="horz">
            <a:spAutoFit/>
          </a:bodyPr>
          <a:lstStyle/>
          <a:p>
            <a:pPr marL="264160" indent="-17145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64160" algn="l"/>
              </a:tabLst>
            </a:pPr>
            <a:r>
              <a:rPr dirty="0" sz="1400">
                <a:latin typeface="Corbel"/>
                <a:cs typeface="Corbel"/>
              </a:rPr>
              <a:t>Front2Back</a:t>
            </a:r>
            <a:r>
              <a:rPr dirty="0" baseline="24691" sz="1350">
                <a:latin typeface="Corbel"/>
                <a:cs typeface="Corbel"/>
              </a:rPr>
              <a:t>TM</a:t>
            </a:r>
            <a:r>
              <a:rPr dirty="0" baseline="24691" sz="1350" spc="97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Modernization</a:t>
            </a:r>
            <a:endParaRPr sz="1400">
              <a:latin typeface="Corbel"/>
              <a:cs typeface="Corbel"/>
            </a:endParaRPr>
          </a:p>
          <a:p>
            <a:pPr marL="264160" indent="-171450">
              <a:lnSpc>
                <a:spcPct val="100000"/>
              </a:lnSpc>
              <a:buFont typeface="Arial MT"/>
              <a:buChar char="•"/>
              <a:tabLst>
                <a:tab pos="264160" algn="l"/>
              </a:tabLst>
            </a:pPr>
            <a:r>
              <a:rPr dirty="0" sz="1400">
                <a:latin typeface="Corbel"/>
                <a:cs typeface="Corbel"/>
              </a:rPr>
              <a:t>Applications</a:t>
            </a:r>
            <a:r>
              <a:rPr dirty="0" sz="1400" spc="-5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to</a:t>
            </a:r>
            <a:r>
              <a:rPr dirty="0" sz="1400" spc="-7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Cloud</a:t>
            </a:r>
            <a:endParaRPr sz="1400">
              <a:latin typeface="Corbel"/>
              <a:cs typeface="Corbel"/>
            </a:endParaRPr>
          </a:p>
          <a:p>
            <a:pPr marL="264160" indent="-1714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64160" algn="l"/>
              </a:tabLst>
            </a:pPr>
            <a:r>
              <a:rPr dirty="0" sz="1400">
                <a:latin typeface="Corbel"/>
                <a:cs typeface="Corbel"/>
              </a:rPr>
              <a:t>Cloud</a:t>
            </a:r>
            <a:r>
              <a:rPr dirty="0" sz="1400" spc="-1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Native</a:t>
            </a:r>
            <a:r>
              <a:rPr dirty="0" sz="1400" spc="-60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Apps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871472" y="3314700"/>
            <a:ext cx="2700655" cy="353695"/>
          </a:xfrm>
          <a:prstGeom prst="rect">
            <a:avLst/>
          </a:prstGeom>
          <a:solidFill>
            <a:srgbClr val="B51E6A"/>
          </a:solidFill>
        </p:spPr>
        <p:txBody>
          <a:bodyPr wrap="square" lIns="0" tIns="42545" rIns="0" bIns="0" rtlCol="0" vert="horz">
            <a:spAutoFit/>
          </a:bodyPr>
          <a:lstStyle/>
          <a:p>
            <a:pPr marL="708660">
              <a:lnSpc>
                <a:spcPct val="100000"/>
              </a:lnSpc>
              <a:spcBef>
                <a:spcPts val="335"/>
              </a:spcBef>
            </a:pPr>
            <a:r>
              <a:rPr dirty="0" sz="1600" spc="-10" b="1">
                <a:solidFill>
                  <a:srgbClr val="FFFFFF"/>
                </a:solidFill>
                <a:latin typeface="Corbel"/>
                <a:cs typeface="Corbel"/>
              </a:rPr>
              <a:t>Focus</a:t>
            </a:r>
            <a:r>
              <a:rPr dirty="0" sz="1600" spc="-10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rbel"/>
                <a:cs typeface="Corbel"/>
              </a:rPr>
              <a:t>Verticals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774691" y="3314700"/>
            <a:ext cx="2700655" cy="353695"/>
          </a:xfrm>
          <a:prstGeom prst="rect">
            <a:avLst/>
          </a:prstGeom>
          <a:solidFill>
            <a:srgbClr val="B51E6A"/>
          </a:solidFill>
        </p:spPr>
        <p:txBody>
          <a:bodyPr wrap="square" lIns="0" tIns="42545" rIns="0" bIns="0" rtlCol="0" vert="horz">
            <a:spAutoFit/>
          </a:bodyPr>
          <a:lstStyle/>
          <a:p>
            <a:pPr marL="530225">
              <a:lnSpc>
                <a:spcPct val="100000"/>
              </a:lnSpc>
              <a:spcBef>
                <a:spcPts val="335"/>
              </a:spcBef>
            </a:pPr>
            <a:r>
              <a:rPr dirty="0" sz="1600" spc="-10" b="1">
                <a:solidFill>
                  <a:srgbClr val="FFFFFF"/>
                </a:solidFill>
                <a:latin typeface="Corbel"/>
                <a:cs typeface="Corbel"/>
              </a:rPr>
              <a:t>Focus</a:t>
            </a:r>
            <a:r>
              <a:rPr dirty="0" sz="1600" spc="-5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rbel"/>
                <a:cs typeface="Corbel"/>
              </a:rPr>
              <a:t>Geographies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711440" y="3314700"/>
            <a:ext cx="2702560" cy="353695"/>
          </a:xfrm>
          <a:prstGeom prst="rect">
            <a:avLst/>
          </a:prstGeom>
          <a:solidFill>
            <a:srgbClr val="B51E6A"/>
          </a:solidFill>
        </p:spPr>
        <p:txBody>
          <a:bodyPr wrap="square" lIns="0" tIns="425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1600" spc="-10" b="1">
                <a:solidFill>
                  <a:srgbClr val="FFFFFF"/>
                </a:solidFill>
                <a:latin typeface="Corbel"/>
                <a:cs typeface="Corbel"/>
              </a:rPr>
              <a:t>Offerings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284988" y="176784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25450" h="373380">
                <a:moveTo>
                  <a:pt x="212597" y="0"/>
                </a:moveTo>
                <a:lnTo>
                  <a:pt x="163852" y="4929"/>
                </a:lnTo>
                <a:lnTo>
                  <a:pt x="119104" y="18972"/>
                </a:lnTo>
                <a:lnTo>
                  <a:pt x="79630" y="41008"/>
                </a:lnTo>
                <a:lnTo>
                  <a:pt x="46706" y="69917"/>
                </a:lnTo>
                <a:lnTo>
                  <a:pt x="21609" y="104580"/>
                </a:lnTo>
                <a:lnTo>
                  <a:pt x="5615" y="143878"/>
                </a:lnTo>
                <a:lnTo>
                  <a:pt x="0" y="186690"/>
                </a:lnTo>
                <a:lnTo>
                  <a:pt x="5615" y="229501"/>
                </a:lnTo>
                <a:lnTo>
                  <a:pt x="21609" y="268799"/>
                </a:lnTo>
                <a:lnTo>
                  <a:pt x="46706" y="303462"/>
                </a:lnTo>
                <a:lnTo>
                  <a:pt x="79630" y="332371"/>
                </a:lnTo>
                <a:lnTo>
                  <a:pt x="119104" y="354407"/>
                </a:lnTo>
                <a:lnTo>
                  <a:pt x="163852" y="368450"/>
                </a:lnTo>
                <a:lnTo>
                  <a:pt x="212597" y="373380"/>
                </a:lnTo>
                <a:lnTo>
                  <a:pt x="261343" y="368450"/>
                </a:lnTo>
                <a:lnTo>
                  <a:pt x="306091" y="354407"/>
                </a:lnTo>
                <a:lnTo>
                  <a:pt x="345565" y="332371"/>
                </a:lnTo>
                <a:lnTo>
                  <a:pt x="378489" y="303462"/>
                </a:lnTo>
                <a:lnTo>
                  <a:pt x="403586" y="268799"/>
                </a:lnTo>
                <a:lnTo>
                  <a:pt x="419580" y="229501"/>
                </a:lnTo>
                <a:lnTo>
                  <a:pt x="425196" y="186690"/>
                </a:lnTo>
                <a:lnTo>
                  <a:pt x="419580" y="143878"/>
                </a:lnTo>
                <a:lnTo>
                  <a:pt x="403586" y="104580"/>
                </a:lnTo>
                <a:lnTo>
                  <a:pt x="378489" y="69917"/>
                </a:lnTo>
                <a:lnTo>
                  <a:pt x="345565" y="41008"/>
                </a:lnTo>
                <a:lnTo>
                  <a:pt x="306091" y="18972"/>
                </a:lnTo>
                <a:lnTo>
                  <a:pt x="261343" y="4929"/>
                </a:lnTo>
                <a:lnTo>
                  <a:pt x="21259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407923" y="14820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 i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49140" y="629412"/>
            <a:ext cx="2950210" cy="0"/>
          </a:xfrm>
          <a:custGeom>
            <a:avLst/>
            <a:gdLst/>
            <a:ahLst/>
            <a:cxnLst/>
            <a:rect l="l" t="t" r="r" b="b"/>
            <a:pathLst>
              <a:path w="2950209" h="0">
                <a:moveTo>
                  <a:pt x="0" y="0"/>
                </a:moveTo>
                <a:lnTo>
                  <a:pt x="2949702" y="0"/>
                </a:lnTo>
              </a:path>
            </a:pathLst>
          </a:custGeom>
          <a:ln w="9144">
            <a:solidFill>
              <a:srgbClr val="C725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2151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Action</a:t>
            </a:r>
            <a:r>
              <a:rPr dirty="0" u="none" spc="-55"/>
              <a:t> </a:t>
            </a:r>
            <a:r>
              <a:rPr dirty="0" u="none"/>
              <a:t>plan</a:t>
            </a:r>
            <a:r>
              <a:rPr dirty="0" u="none" spc="-30"/>
              <a:t> </a:t>
            </a:r>
            <a:r>
              <a:rPr dirty="0" u="none"/>
              <a:t>to</a:t>
            </a:r>
            <a:r>
              <a:rPr dirty="0" u="none" spc="-30"/>
              <a:t> </a:t>
            </a:r>
            <a:r>
              <a:rPr dirty="0" u="none"/>
              <a:t>drive</a:t>
            </a:r>
            <a:r>
              <a:rPr dirty="0" u="none" spc="-45"/>
              <a:t> </a:t>
            </a:r>
            <a:r>
              <a:rPr dirty="0" u="none"/>
              <a:t>Margin</a:t>
            </a:r>
            <a:r>
              <a:rPr dirty="0" u="none" spc="-40"/>
              <a:t> </a:t>
            </a:r>
            <a:r>
              <a:rPr dirty="0" u="none"/>
              <a:t>Expansion</a:t>
            </a:r>
            <a:r>
              <a:rPr dirty="0" u="none" spc="-55"/>
              <a:t> </a:t>
            </a:r>
            <a:r>
              <a:rPr dirty="0" u="none"/>
              <a:t>to</a:t>
            </a:r>
            <a:r>
              <a:rPr dirty="0" u="none" spc="-30"/>
              <a:t> </a:t>
            </a:r>
            <a:r>
              <a:rPr dirty="0" u="none"/>
              <a:t>fuel</a:t>
            </a:r>
            <a:r>
              <a:rPr dirty="0" u="none" spc="-25"/>
              <a:t> </a:t>
            </a:r>
            <a:r>
              <a:rPr dirty="0" u="none" spc="-10"/>
              <a:t>Growth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272795" y="3285744"/>
            <a:ext cx="11711940" cy="381000"/>
            <a:chOff x="272795" y="3285744"/>
            <a:chExt cx="11711940" cy="3810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183" y="3311652"/>
              <a:ext cx="11599164" cy="35509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72795" y="3285744"/>
              <a:ext cx="11711940" cy="356870"/>
            </a:xfrm>
            <a:custGeom>
              <a:avLst/>
              <a:gdLst/>
              <a:ahLst/>
              <a:cxnLst/>
              <a:rect l="l" t="t" r="r" b="b"/>
              <a:pathLst>
                <a:path w="11711940" h="356870">
                  <a:moveTo>
                    <a:pt x="11711940" y="0"/>
                  </a:moveTo>
                  <a:lnTo>
                    <a:pt x="0" y="0"/>
                  </a:lnTo>
                  <a:lnTo>
                    <a:pt x="0" y="356615"/>
                  </a:lnTo>
                  <a:lnTo>
                    <a:pt x="11711940" y="356615"/>
                  </a:lnTo>
                  <a:lnTo>
                    <a:pt x="117119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43890" y="3627856"/>
            <a:ext cx="10881360" cy="60452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Establish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best-in-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class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scalable delivery</a:t>
            </a:r>
            <a:r>
              <a:rPr dirty="0" sz="14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4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operations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 by installing</a:t>
            </a:r>
            <a:r>
              <a:rPr dirty="0" sz="1400" spc="-3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operationalizing</a:t>
            </a:r>
            <a:r>
              <a:rPr dirty="0" sz="14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key</a:t>
            </a:r>
            <a:r>
              <a:rPr dirty="0" sz="1400" spc="-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medium-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long</a:t>
            </a:r>
            <a:r>
              <a:rPr dirty="0" sz="14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term</a:t>
            </a:r>
            <a:r>
              <a:rPr dirty="0" sz="14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enablers</a:t>
            </a:r>
            <a:r>
              <a:rPr dirty="0" sz="14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(people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supply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chain)</a:t>
            </a:r>
            <a:endParaRPr sz="1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Focus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on</a:t>
            </a:r>
            <a:r>
              <a:rPr dirty="0" sz="14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structural</a:t>
            </a:r>
            <a:r>
              <a:rPr dirty="0" sz="1400" spc="-5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savings</a:t>
            </a:r>
            <a:r>
              <a:rPr dirty="0" sz="1400" spc="-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–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 inefficiencies</a:t>
            </a:r>
            <a:r>
              <a:rPr dirty="0" sz="1400" spc="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taken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out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stay</a:t>
            </a:r>
            <a:r>
              <a:rPr dirty="0" sz="14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out;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implementation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support</a:t>
            </a:r>
            <a:r>
              <a:rPr dirty="0" sz="14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and</a:t>
            </a:r>
            <a:r>
              <a:rPr dirty="0" sz="14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Results</a:t>
            </a:r>
            <a:r>
              <a:rPr dirty="0" sz="1400" spc="-5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b="1">
                <a:solidFill>
                  <a:srgbClr val="2A2F3B"/>
                </a:solidFill>
                <a:latin typeface="Corbel"/>
                <a:cs typeface="Corbel"/>
              </a:rPr>
              <a:t>Delivery</a:t>
            </a:r>
            <a:r>
              <a:rPr dirty="0" sz="1400" spc="-8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2A2F3B"/>
                </a:solidFill>
                <a:latin typeface="Corbel"/>
                <a:cs typeface="Corbel"/>
              </a:rPr>
              <a:t>Office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96595" y="3281171"/>
            <a:ext cx="11864975" cy="0"/>
          </a:xfrm>
          <a:custGeom>
            <a:avLst/>
            <a:gdLst/>
            <a:ahLst/>
            <a:cxnLst/>
            <a:rect l="l" t="t" r="r" b="b"/>
            <a:pathLst>
              <a:path w="11864975" h="0">
                <a:moveTo>
                  <a:pt x="0" y="0"/>
                </a:moveTo>
                <a:lnTo>
                  <a:pt x="11864721" y="0"/>
                </a:lnTo>
              </a:path>
            </a:pathLst>
          </a:custGeom>
          <a:ln w="9144">
            <a:solidFill>
              <a:srgbClr val="B51E6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229611" y="4475988"/>
            <a:ext cx="3004185" cy="46799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116839" rIns="0" bIns="0" rtlCol="0" vert="horz">
            <a:spAutoFit/>
          </a:bodyPr>
          <a:lstStyle/>
          <a:p>
            <a:pPr marL="652780">
              <a:lnSpc>
                <a:spcPct val="100000"/>
              </a:lnSpc>
              <a:spcBef>
                <a:spcPts val="919"/>
              </a:spcBef>
            </a:pPr>
            <a:r>
              <a:rPr dirty="0" sz="1400" spc="-10" b="1">
                <a:latin typeface="Corbel"/>
                <a:cs typeface="Corbel"/>
              </a:rPr>
              <a:t>Pyramid</a:t>
            </a:r>
            <a:r>
              <a:rPr dirty="0" sz="1400" spc="-2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Optimization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29428" y="4475988"/>
            <a:ext cx="3004185" cy="467995"/>
          </a:xfrm>
          <a:prstGeom prst="rect">
            <a:avLst/>
          </a:prstGeom>
          <a:solidFill>
            <a:srgbClr val="9FB4D3"/>
          </a:solidFill>
          <a:ln w="9144">
            <a:solidFill>
              <a:srgbClr val="FFFBFF"/>
            </a:solidFill>
          </a:ln>
        </p:spPr>
        <p:txBody>
          <a:bodyPr wrap="square" lIns="0" tIns="116839" rIns="0" bIns="0" rtlCol="0" vert="horz">
            <a:spAutoFit/>
          </a:bodyPr>
          <a:lstStyle/>
          <a:p>
            <a:pPr marL="784860">
              <a:lnSpc>
                <a:spcPct val="100000"/>
              </a:lnSpc>
              <a:spcBef>
                <a:spcPts val="919"/>
              </a:spcBef>
            </a:pPr>
            <a:r>
              <a:rPr dirty="0" sz="1400" spc="-10" b="1">
                <a:latin typeface="Corbel"/>
                <a:cs typeface="Corbel"/>
              </a:rPr>
              <a:t>Commercial</a:t>
            </a:r>
            <a:r>
              <a:rPr dirty="0" sz="1400" spc="1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Model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430768" y="4475988"/>
            <a:ext cx="3002280" cy="46799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1168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400" spc="-10" b="1">
                <a:latin typeface="Corbel"/>
                <a:cs typeface="Corbel"/>
              </a:rPr>
              <a:t>Automation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243327" y="5033771"/>
            <a:ext cx="3004185" cy="467995"/>
          </a:xfrm>
          <a:prstGeom prst="rect">
            <a:avLst/>
          </a:prstGeom>
          <a:solidFill>
            <a:srgbClr val="9FB4D3"/>
          </a:solidFill>
          <a:ln w="9144">
            <a:solidFill>
              <a:srgbClr val="FFFBFF"/>
            </a:solidFill>
          </a:ln>
        </p:spPr>
        <p:txBody>
          <a:bodyPr wrap="square" lIns="0" tIns="116839" rIns="0" bIns="0" rtlCol="0" vert="horz">
            <a:spAutoFit/>
          </a:bodyPr>
          <a:lstStyle/>
          <a:p>
            <a:pPr marL="831215">
              <a:lnSpc>
                <a:spcPct val="100000"/>
              </a:lnSpc>
              <a:spcBef>
                <a:spcPts val="919"/>
              </a:spcBef>
            </a:pPr>
            <a:r>
              <a:rPr dirty="0" sz="1400" b="1">
                <a:latin typeface="Corbel"/>
                <a:cs typeface="Corbel"/>
              </a:rPr>
              <a:t>Strategic</a:t>
            </a:r>
            <a:r>
              <a:rPr dirty="0" sz="1400" spc="-7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Shoring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43144" y="5033771"/>
            <a:ext cx="3004185" cy="46799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116839" rIns="0" bIns="0" rtlCol="0" vert="horz">
            <a:spAutoFit/>
          </a:bodyPr>
          <a:lstStyle/>
          <a:p>
            <a:pPr marL="725170">
              <a:lnSpc>
                <a:spcPct val="100000"/>
              </a:lnSpc>
              <a:spcBef>
                <a:spcPts val="919"/>
              </a:spcBef>
            </a:pPr>
            <a:r>
              <a:rPr dirty="0" sz="1400" spc="-20" b="1">
                <a:latin typeface="Corbel"/>
                <a:cs typeface="Corbel"/>
              </a:rPr>
              <a:t>People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Supply</a:t>
            </a:r>
            <a:r>
              <a:rPr dirty="0" sz="1400" spc="-30" b="1">
                <a:latin typeface="Corbel"/>
                <a:cs typeface="Corbel"/>
              </a:rPr>
              <a:t> </a:t>
            </a:r>
            <a:r>
              <a:rPr dirty="0" sz="1400" spc="-20" b="1">
                <a:latin typeface="Corbel"/>
                <a:cs typeface="Corbel"/>
              </a:rPr>
              <a:t>Chain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444483" y="5033771"/>
            <a:ext cx="3002280" cy="467995"/>
          </a:xfrm>
          <a:prstGeom prst="rect">
            <a:avLst/>
          </a:prstGeom>
          <a:solidFill>
            <a:srgbClr val="9FB4D3"/>
          </a:solidFill>
          <a:ln w="9144">
            <a:solidFill>
              <a:srgbClr val="FFFBFF"/>
            </a:solidFill>
          </a:ln>
        </p:spPr>
        <p:txBody>
          <a:bodyPr wrap="square" lIns="0" tIns="116839" rIns="0" bIns="0" rtlCol="0" vert="horz">
            <a:spAutoFit/>
          </a:bodyPr>
          <a:lstStyle/>
          <a:p>
            <a:pPr marL="428625">
              <a:lnSpc>
                <a:spcPct val="100000"/>
              </a:lnSpc>
              <a:spcBef>
                <a:spcPts val="919"/>
              </a:spcBef>
            </a:pPr>
            <a:r>
              <a:rPr dirty="0" sz="1400" spc="-35" b="1">
                <a:latin typeface="Corbel"/>
                <a:cs typeface="Corbel"/>
              </a:rPr>
              <a:t>Tail</a:t>
            </a:r>
            <a:r>
              <a:rPr dirty="0" sz="1400" spc="-6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Account</a:t>
            </a:r>
            <a:r>
              <a:rPr dirty="0" sz="1400" spc="-4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Rationalization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8995" y="4381500"/>
            <a:ext cx="11305540" cy="1213485"/>
          </a:xfrm>
          <a:prstGeom prst="rect">
            <a:avLst/>
          </a:prstGeom>
          <a:ln w="12192">
            <a:solidFill>
              <a:srgbClr val="B51E6A"/>
            </a:solidFill>
          </a:ln>
        </p:spPr>
        <p:txBody>
          <a:bodyPr wrap="square" lIns="0" tIns="2279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95"/>
              </a:spcBef>
            </a:pPr>
            <a:endParaRPr sz="1600">
              <a:latin typeface="Times New Roman"/>
              <a:cs typeface="Times New Roman"/>
            </a:endParaRPr>
          </a:p>
          <a:p>
            <a:pPr marL="204470">
              <a:lnSpc>
                <a:spcPct val="100000"/>
              </a:lnSpc>
              <a:spcBef>
                <a:spcPts val="5"/>
              </a:spcBef>
            </a:pPr>
            <a:r>
              <a:rPr dirty="0" sz="1600" b="1" i="1">
                <a:latin typeface="Corbel"/>
                <a:cs typeface="Corbel"/>
              </a:rPr>
              <a:t>Key</a:t>
            </a:r>
            <a:r>
              <a:rPr dirty="0" sz="1600" spc="-60" b="1" i="1">
                <a:latin typeface="Corbel"/>
                <a:cs typeface="Corbel"/>
              </a:rPr>
              <a:t> </a:t>
            </a:r>
            <a:r>
              <a:rPr dirty="0" sz="1600" spc="-10" b="1" i="1">
                <a:latin typeface="Corbel"/>
                <a:cs typeface="Corbel"/>
              </a:rPr>
              <a:t>Levers:</a:t>
            </a:r>
            <a:endParaRPr sz="1600">
              <a:latin typeface="Corbel"/>
              <a:cs typeface="Corbe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204013" y="1524000"/>
            <a:ext cx="3571240" cy="1400810"/>
            <a:chOff x="6204013" y="1524000"/>
            <a:chExt cx="3571240" cy="1400810"/>
          </a:xfrm>
        </p:grpSpPr>
        <p:sp>
          <p:nvSpPr>
            <p:cNvPr id="17" name="object 17" descr=""/>
            <p:cNvSpPr/>
            <p:nvPr/>
          </p:nvSpPr>
          <p:spPr>
            <a:xfrm>
              <a:off x="6423660" y="1626107"/>
              <a:ext cx="2421890" cy="1294130"/>
            </a:xfrm>
            <a:custGeom>
              <a:avLst/>
              <a:gdLst/>
              <a:ahLst/>
              <a:cxnLst/>
              <a:rect l="l" t="t" r="r" b="b"/>
              <a:pathLst>
                <a:path w="2421890" h="1294130">
                  <a:moveTo>
                    <a:pt x="284988" y="153924"/>
                  </a:moveTo>
                  <a:lnTo>
                    <a:pt x="0" y="153924"/>
                  </a:lnTo>
                  <a:lnTo>
                    <a:pt x="0" y="1293876"/>
                  </a:lnTo>
                  <a:lnTo>
                    <a:pt x="284988" y="1293876"/>
                  </a:lnTo>
                  <a:lnTo>
                    <a:pt x="284988" y="153924"/>
                  </a:lnTo>
                  <a:close/>
                </a:path>
                <a:path w="2421890" h="1294130">
                  <a:moveTo>
                    <a:pt x="996696" y="196596"/>
                  </a:moveTo>
                  <a:lnTo>
                    <a:pt x="711708" y="196596"/>
                  </a:lnTo>
                  <a:lnTo>
                    <a:pt x="711708" y="1293876"/>
                  </a:lnTo>
                  <a:lnTo>
                    <a:pt x="996696" y="1293876"/>
                  </a:lnTo>
                  <a:lnTo>
                    <a:pt x="996696" y="196596"/>
                  </a:lnTo>
                  <a:close/>
                </a:path>
                <a:path w="2421890" h="1294130">
                  <a:moveTo>
                    <a:pt x="1708404" y="39624"/>
                  </a:moveTo>
                  <a:lnTo>
                    <a:pt x="1423416" y="39624"/>
                  </a:lnTo>
                  <a:lnTo>
                    <a:pt x="1423416" y="1293876"/>
                  </a:lnTo>
                  <a:lnTo>
                    <a:pt x="1708404" y="1293876"/>
                  </a:lnTo>
                  <a:lnTo>
                    <a:pt x="1708404" y="39624"/>
                  </a:lnTo>
                  <a:close/>
                </a:path>
                <a:path w="2421890" h="1294130">
                  <a:moveTo>
                    <a:pt x="2421636" y="0"/>
                  </a:moveTo>
                  <a:lnTo>
                    <a:pt x="2136648" y="0"/>
                  </a:lnTo>
                  <a:lnTo>
                    <a:pt x="2136648" y="1293876"/>
                  </a:lnTo>
                  <a:lnTo>
                    <a:pt x="2421636" y="1293876"/>
                  </a:lnTo>
                  <a:lnTo>
                    <a:pt x="2421636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272016" y="1524000"/>
              <a:ext cx="285115" cy="1396365"/>
            </a:xfrm>
            <a:custGeom>
              <a:avLst/>
              <a:gdLst/>
              <a:ahLst/>
              <a:cxnLst/>
              <a:rect l="l" t="t" r="r" b="b"/>
              <a:pathLst>
                <a:path w="285115" h="1396364">
                  <a:moveTo>
                    <a:pt x="284988" y="0"/>
                  </a:moveTo>
                  <a:lnTo>
                    <a:pt x="0" y="0"/>
                  </a:lnTo>
                  <a:lnTo>
                    <a:pt x="0" y="1395984"/>
                  </a:lnTo>
                  <a:lnTo>
                    <a:pt x="284988" y="1395984"/>
                  </a:lnTo>
                  <a:lnTo>
                    <a:pt x="284988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208776" y="2919983"/>
              <a:ext cx="3561715" cy="0"/>
            </a:xfrm>
            <a:custGeom>
              <a:avLst/>
              <a:gdLst/>
              <a:ahLst/>
              <a:cxnLst/>
              <a:rect l="l" t="t" r="r" b="b"/>
              <a:pathLst>
                <a:path w="3561715" h="0">
                  <a:moveTo>
                    <a:pt x="0" y="0"/>
                  </a:moveTo>
                  <a:lnTo>
                    <a:pt x="3561588" y="0"/>
                  </a:lnTo>
                </a:path>
              </a:pathLst>
            </a:custGeom>
            <a:ln w="9144">
              <a:solidFill>
                <a:srgbClr val="85858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749920" y="1452118"/>
            <a:ext cx="4813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i="1">
                <a:latin typeface="Corbel"/>
                <a:cs typeface="Corbel"/>
              </a:rPr>
              <a:t>14.6%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467470" y="1355597"/>
            <a:ext cx="4660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i="1">
                <a:latin typeface="Corbel"/>
                <a:cs typeface="Corbel"/>
              </a:rPr>
              <a:t>15.1%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179179" y="1215008"/>
            <a:ext cx="4718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i="1">
                <a:latin typeface="Corbel"/>
                <a:cs typeface="Corbel"/>
              </a:rPr>
              <a:t>16.3%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51536" y="2912579"/>
            <a:ext cx="7123430" cy="69405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880"/>
              </a:spcBef>
              <a:tabLst>
                <a:tab pos="708025" algn="l"/>
              </a:tabLst>
            </a:pPr>
            <a:r>
              <a:rPr dirty="0" sz="1400" spc="-20">
                <a:latin typeface="Corbel"/>
                <a:cs typeface="Corbel"/>
              </a:rPr>
              <a:t>FY15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0">
                <a:latin typeface="Corbel"/>
                <a:cs typeface="Corbel"/>
              </a:rPr>
              <a:t>FY16</a:t>
            </a:r>
            <a:endParaRPr sz="14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“Digital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Factory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the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Future” –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ensure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stable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margins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while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funding</a:t>
            </a:r>
            <a:r>
              <a:rPr dirty="0" sz="1600" spc="-6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growth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50" b="1">
                <a:solidFill>
                  <a:srgbClr val="2A2F3B"/>
                </a:solidFill>
                <a:latin typeface="Corbel"/>
                <a:cs typeface="Corbel"/>
              </a:rPr>
              <a:t>…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803006" y="3011170"/>
            <a:ext cx="3765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FY17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507730" y="3011170"/>
            <a:ext cx="3917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FY18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039606" y="3011170"/>
            <a:ext cx="7531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orbel"/>
                <a:cs typeface="Corbel"/>
              </a:rPr>
              <a:t>YTD</a:t>
            </a:r>
            <a:r>
              <a:rPr dirty="0" sz="1400" spc="-20">
                <a:latin typeface="Corbel"/>
                <a:cs typeface="Corbel"/>
              </a:rPr>
              <a:t> FY19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6070091" y="647700"/>
            <a:ext cx="5745480" cy="381000"/>
            <a:chOff x="6070091" y="647700"/>
            <a:chExt cx="5745480" cy="381000"/>
          </a:xfrm>
        </p:grpSpPr>
        <p:pic>
          <p:nvPicPr>
            <p:cNvPr id="28" name="object 2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7523" y="673607"/>
              <a:ext cx="5690616" cy="355091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6070091" y="647700"/>
              <a:ext cx="5745480" cy="355600"/>
            </a:xfrm>
            <a:custGeom>
              <a:avLst/>
              <a:gdLst/>
              <a:ahLst/>
              <a:cxnLst/>
              <a:rect l="l" t="t" r="r" b="b"/>
              <a:pathLst>
                <a:path w="5745480" h="355600">
                  <a:moveTo>
                    <a:pt x="5745479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5745479" y="355091"/>
                  </a:lnTo>
                  <a:lnTo>
                    <a:pt x="57454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123685" y="698754"/>
            <a:ext cx="4262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…delivering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a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track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record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Margin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Expansion</a:t>
            </a:r>
            <a:r>
              <a:rPr dirty="0" baseline="26455" sz="1575" spc="-15" b="1">
                <a:solidFill>
                  <a:srgbClr val="2A2F3B"/>
                </a:solidFill>
                <a:latin typeface="Corbel"/>
                <a:cs typeface="Corbel"/>
              </a:rPr>
              <a:t>1</a:t>
            </a:r>
            <a:endParaRPr baseline="26455" sz="1575">
              <a:latin typeface="Corbel"/>
              <a:cs typeface="Corbel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6779641" y="1304416"/>
            <a:ext cx="2251710" cy="271145"/>
          </a:xfrm>
          <a:custGeom>
            <a:avLst/>
            <a:gdLst/>
            <a:ahLst/>
            <a:cxnLst/>
            <a:rect l="l" t="t" r="r" b="b"/>
            <a:pathLst>
              <a:path w="2251709" h="271144">
                <a:moveTo>
                  <a:pt x="2215001" y="40025"/>
                </a:moveTo>
                <a:lnTo>
                  <a:pt x="0" y="258572"/>
                </a:lnTo>
                <a:lnTo>
                  <a:pt x="1269" y="271145"/>
                </a:lnTo>
                <a:lnTo>
                  <a:pt x="2216187" y="52606"/>
                </a:lnTo>
                <a:lnTo>
                  <a:pt x="2226388" y="45231"/>
                </a:lnTo>
                <a:lnTo>
                  <a:pt x="2215001" y="40025"/>
                </a:lnTo>
                <a:close/>
              </a:path>
              <a:path w="2251709" h="271144">
                <a:moveTo>
                  <a:pt x="2240373" y="37719"/>
                </a:moveTo>
                <a:lnTo>
                  <a:pt x="2238375" y="37719"/>
                </a:lnTo>
                <a:lnTo>
                  <a:pt x="2239593" y="49784"/>
                </a:lnTo>
                <a:lnTo>
                  <a:pt x="2239644" y="50292"/>
                </a:lnTo>
                <a:lnTo>
                  <a:pt x="2216187" y="52606"/>
                </a:lnTo>
                <a:lnTo>
                  <a:pt x="2163699" y="90550"/>
                </a:lnTo>
                <a:lnTo>
                  <a:pt x="2160904" y="92710"/>
                </a:lnTo>
                <a:lnTo>
                  <a:pt x="2160269" y="96647"/>
                </a:lnTo>
                <a:lnTo>
                  <a:pt x="2162302" y="99441"/>
                </a:lnTo>
                <a:lnTo>
                  <a:pt x="2164333" y="102362"/>
                </a:lnTo>
                <a:lnTo>
                  <a:pt x="2168398" y="102997"/>
                </a:lnTo>
                <a:lnTo>
                  <a:pt x="2171191" y="100837"/>
                </a:lnTo>
                <a:lnTo>
                  <a:pt x="2251455" y="42799"/>
                </a:lnTo>
                <a:lnTo>
                  <a:pt x="2240373" y="37719"/>
                </a:lnTo>
                <a:close/>
              </a:path>
              <a:path w="2251709" h="271144">
                <a:moveTo>
                  <a:pt x="2226388" y="45231"/>
                </a:moveTo>
                <a:lnTo>
                  <a:pt x="2216187" y="52606"/>
                </a:lnTo>
                <a:lnTo>
                  <a:pt x="2239644" y="50292"/>
                </a:lnTo>
                <a:lnTo>
                  <a:pt x="2239593" y="49784"/>
                </a:lnTo>
                <a:lnTo>
                  <a:pt x="2236342" y="49784"/>
                </a:lnTo>
                <a:lnTo>
                  <a:pt x="2226388" y="45231"/>
                </a:lnTo>
                <a:close/>
              </a:path>
              <a:path w="2251709" h="271144">
                <a:moveTo>
                  <a:pt x="2235200" y="38862"/>
                </a:moveTo>
                <a:lnTo>
                  <a:pt x="2226388" y="45231"/>
                </a:lnTo>
                <a:lnTo>
                  <a:pt x="2236342" y="49784"/>
                </a:lnTo>
                <a:lnTo>
                  <a:pt x="2235321" y="40025"/>
                </a:lnTo>
                <a:lnTo>
                  <a:pt x="2235200" y="38862"/>
                </a:lnTo>
                <a:close/>
              </a:path>
              <a:path w="2251709" h="271144">
                <a:moveTo>
                  <a:pt x="2238490" y="38862"/>
                </a:moveTo>
                <a:lnTo>
                  <a:pt x="2235200" y="38862"/>
                </a:lnTo>
                <a:lnTo>
                  <a:pt x="2236342" y="49784"/>
                </a:lnTo>
                <a:lnTo>
                  <a:pt x="2239593" y="49784"/>
                </a:lnTo>
                <a:lnTo>
                  <a:pt x="2238607" y="40025"/>
                </a:lnTo>
                <a:lnTo>
                  <a:pt x="2238490" y="38862"/>
                </a:lnTo>
                <a:close/>
              </a:path>
              <a:path w="2251709" h="271144">
                <a:moveTo>
                  <a:pt x="2238375" y="37719"/>
                </a:moveTo>
                <a:lnTo>
                  <a:pt x="2215001" y="40025"/>
                </a:lnTo>
                <a:lnTo>
                  <a:pt x="2226388" y="45231"/>
                </a:lnTo>
                <a:lnTo>
                  <a:pt x="2235200" y="38862"/>
                </a:lnTo>
                <a:lnTo>
                  <a:pt x="2238490" y="38862"/>
                </a:lnTo>
                <a:lnTo>
                  <a:pt x="2238375" y="37719"/>
                </a:lnTo>
                <a:close/>
              </a:path>
              <a:path w="2251709" h="271144">
                <a:moveTo>
                  <a:pt x="2158237" y="0"/>
                </a:moveTo>
                <a:lnTo>
                  <a:pt x="2154081" y="1524"/>
                </a:lnTo>
                <a:lnTo>
                  <a:pt x="2154372" y="1524"/>
                </a:lnTo>
                <a:lnTo>
                  <a:pt x="2153030" y="4572"/>
                </a:lnTo>
                <a:lnTo>
                  <a:pt x="2151506" y="7874"/>
                </a:lnTo>
                <a:lnTo>
                  <a:pt x="2152904" y="11557"/>
                </a:lnTo>
                <a:lnTo>
                  <a:pt x="2156079" y="13081"/>
                </a:lnTo>
                <a:lnTo>
                  <a:pt x="2215001" y="40025"/>
                </a:lnTo>
                <a:lnTo>
                  <a:pt x="2238375" y="37719"/>
                </a:lnTo>
                <a:lnTo>
                  <a:pt x="2240373" y="37719"/>
                </a:lnTo>
                <a:lnTo>
                  <a:pt x="2161412" y="1524"/>
                </a:lnTo>
                <a:lnTo>
                  <a:pt x="215823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6090920" y="1043686"/>
            <a:ext cx="1424940" cy="747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Operating</a:t>
            </a:r>
            <a:r>
              <a:rPr dirty="0" sz="1400" spc="-4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Margin</a:t>
            </a:r>
            <a:endParaRPr sz="14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00" i="1">
                <a:solidFill>
                  <a:srgbClr val="2A2F3B"/>
                </a:solidFill>
                <a:latin typeface="Corbel"/>
                <a:cs typeface="Corbel"/>
              </a:rPr>
              <a:t>(EBIT</a:t>
            </a:r>
            <a:r>
              <a:rPr dirty="0" sz="1200" spc="-4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spc="-25" i="1">
                <a:solidFill>
                  <a:srgbClr val="2A2F3B"/>
                </a:solidFill>
                <a:latin typeface="Corbel"/>
                <a:cs typeface="Corbel"/>
              </a:rPr>
              <a:t>%)</a:t>
            </a:r>
            <a:endParaRPr sz="1200">
              <a:latin typeface="Corbel"/>
              <a:cs typeface="Corbel"/>
            </a:endParaRPr>
          </a:p>
          <a:p>
            <a:pPr marL="275590">
              <a:lnSpc>
                <a:spcPct val="100000"/>
              </a:lnSpc>
              <a:spcBef>
                <a:spcPts val="860"/>
              </a:spcBef>
              <a:tabLst>
                <a:tab pos="956310" algn="l"/>
              </a:tabLst>
            </a:pPr>
            <a:r>
              <a:rPr dirty="0" baseline="3968" sz="2100" spc="-15" i="1">
                <a:latin typeface="Corbel"/>
                <a:cs typeface="Corbel"/>
              </a:rPr>
              <a:t>13.3%</a:t>
            </a:r>
            <a:r>
              <a:rPr dirty="0" baseline="3968" sz="2100" i="1">
                <a:latin typeface="Corbel"/>
                <a:cs typeface="Corbel"/>
              </a:rPr>
              <a:t>	</a:t>
            </a:r>
            <a:r>
              <a:rPr dirty="0" sz="1400" spc="-10" i="1">
                <a:latin typeface="Corbel"/>
                <a:cs typeface="Corbel"/>
              </a:rPr>
              <a:t>12.8%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374904" y="684276"/>
            <a:ext cx="5462270" cy="2360930"/>
            <a:chOff x="374904" y="684276"/>
            <a:chExt cx="5462270" cy="2360930"/>
          </a:xfrm>
        </p:grpSpPr>
        <p:sp>
          <p:nvSpPr>
            <p:cNvPr id="34" name="object 34" descr=""/>
            <p:cNvSpPr/>
            <p:nvPr/>
          </p:nvSpPr>
          <p:spPr>
            <a:xfrm>
              <a:off x="5519927" y="915924"/>
              <a:ext cx="317500" cy="2129155"/>
            </a:xfrm>
            <a:custGeom>
              <a:avLst/>
              <a:gdLst/>
              <a:ahLst/>
              <a:cxnLst/>
              <a:rect l="l" t="t" r="r" b="b"/>
              <a:pathLst>
                <a:path w="317500" h="2129155">
                  <a:moveTo>
                    <a:pt x="0" y="0"/>
                  </a:moveTo>
                  <a:lnTo>
                    <a:pt x="0" y="2129028"/>
                  </a:lnTo>
                  <a:lnTo>
                    <a:pt x="316992" y="10645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7764" y="710184"/>
              <a:ext cx="4812792" cy="35509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374904" y="684276"/>
              <a:ext cx="4859020" cy="355600"/>
            </a:xfrm>
            <a:custGeom>
              <a:avLst/>
              <a:gdLst/>
              <a:ahLst/>
              <a:cxnLst/>
              <a:rect l="l" t="t" r="r" b="b"/>
              <a:pathLst>
                <a:path w="4859020" h="355600">
                  <a:moveTo>
                    <a:pt x="4858512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4858512" y="355091"/>
                  </a:lnTo>
                  <a:lnTo>
                    <a:pt x="4858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454558" y="735584"/>
            <a:ext cx="23425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Concrete</a:t>
            </a:r>
            <a:r>
              <a:rPr dirty="0" sz="16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steps</a:t>
            </a:r>
            <a:r>
              <a:rPr dirty="0" sz="16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executed...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90855" y="1094333"/>
            <a:ext cx="4918710" cy="110744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400" spc="-10">
                <a:latin typeface="Corbel"/>
                <a:cs typeface="Corbel"/>
              </a:rPr>
              <a:t>Divestment</a:t>
            </a:r>
            <a:r>
              <a:rPr dirty="0" sz="1400" spc="-3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of</a:t>
            </a:r>
            <a:r>
              <a:rPr dirty="0" sz="1400" spc="-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Domestic</a:t>
            </a:r>
            <a:r>
              <a:rPr dirty="0" sz="1400" spc="-1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BPO</a:t>
            </a:r>
            <a:r>
              <a:rPr dirty="0" sz="1400" spc="-25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business</a:t>
            </a:r>
            <a:endParaRPr sz="1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400" spc="-10">
                <a:latin typeface="Corbel"/>
                <a:cs typeface="Corbel"/>
              </a:rPr>
              <a:t>Stabilization</a:t>
            </a:r>
            <a:r>
              <a:rPr dirty="0" sz="1400" spc="-3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and</a:t>
            </a:r>
            <a:r>
              <a:rPr dirty="0" sz="1400" spc="-3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offshoring to</a:t>
            </a:r>
            <a:r>
              <a:rPr dirty="0" sz="1400" spc="-2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improve</a:t>
            </a:r>
            <a:r>
              <a:rPr dirty="0" sz="1400" spc="-1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margins</a:t>
            </a:r>
            <a:r>
              <a:rPr dirty="0" sz="1400" spc="-2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for</a:t>
            </a:r>
            <a:r>
              <a:rPr dirty="0" sz="1400" spc="-1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Digital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Risk</a:t>
            </a:r>
            <a:endParaRPr sz="1400">
              <a:latin typeface="Corbel"/>
              <a:cs typeface="Corbel"/>
            </a:endParaRPr>
          </a:p>
          <a:p>
            <a:pPr marL="299085" marR="83185" indent="-28702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latin typeface="Corbel"/>
                <a:cs typeface="Corbel"/>
              </a:rPr>
              <a:t>Margin</a:t>
            </a:r>
            <a:r>
              <a:rPr dirty="0" sz="1400" spc="-3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expansion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through</a:t>
            </a:r>
            <a:r>
              <a:rPr dirty="0" sz="1400" spc="-3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Improvements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in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various</a:t>
            </a:r>
            <a:r>
              <a:rPr dirty="0" sz="1400" spc="-3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operating levers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001979" y="2175763"/>
            <a:ext cx="274193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400" spc="-10">
                <a:latin typeface="Corbel"/>
                <a:cs typeface="Corbel"/>
              </a:rPr>
              <a:t>Restructured </a:t>
            </a:r>
            <a:r>
              <a:rPr dirty="0" sz="1400">
                <a:latin typeface="Corbel"/>
                <a:cs typeface="Corbel"/>
              </a:rPr>
              <a:t>people</a:t>
            </a:r>
            <a:r>
              <a:rPr dirty="0" sz="1400" spc="-10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supply</a:t>
            </a:r>
            <a:r>
              <a:rPr dirty="0" sz="1400" spc="-25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chain</a:t>
            </a:r>
            <a:endParaRPr sz="1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latin typeface="Corbel"/>
                <a:cs typeface="Corbel"/>
              </a:rPr>
              <a:t>Increased</a:t>
            </a:r>
            <a:r>
              <a:rPr dirty="0" sz="1400" spc="-4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pricing</a:t>
            </a:r>
            <a:r>
              <a:rPr dirty="0" sz="1400" spc="-5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power</a:t>
            </a:r>
            <a:endParaRPr sz="1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latin typeface="Corbel"/>
                <a:cs typeface="Corbel"/>
              </a:rPr>
              <a:t>Business</a:t>
            </a:r>
            <a:r>
              <a:rPr dirty="0" sz="1400" spc="-5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model</a:t>
            </a:r>
            <a:r>
              <a:rPr dirty="0" sz="1400" spc="-35">
                <a:latin typeface="Corbel"/>
                <a:cs typeface="Corbel"/>
              </a:rPr>
              <a:t> </a:t>
            </a:r>
            <a:r>
              <a:rPr dirty="0" sz="1400" spc="-20">
                <a:latin typeface="Corbel"/>
                <a:cs typeface="Corbel"/>
              </a:rPr>
              <a:t>shift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81406" y="6090920"/>
            <a:ext cx="54597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Corbel"/>
                <a:cs typeface="Corbel"/>
              </a:rPr>
              <a:t>(1)</a:t>
            </a:r>
            <a:r>
              <a:rPr dirty="0" sz="1000" spc="-25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FY15</a:t>
            </a:r>
            <a:r>
              <a:rPr dirty="0" sz="1000" spc="-10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based</a:t>
            </a:r>
            <a:r>
              <a:rPr dirty="0" sz="1000" spc="-30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on</a:t>
            </a:r>
            <a:r>
              <a:rPr dirty="0" sz="1000" spc="-15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Indian</a:t>
            </a:r>
            <a:r>
              <a:rPr dirty="0" sz="1000" spc="-10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GAAP;</a:t>
            </a:r>
            <a:r>
              <a:rPr dirty="0" sz="1000" spc="-15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FY16</a:t>
            </a:r>
            <a:r>
              <a:rPr dirty="0" sz="1000" spc="-15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based</a:t>
            </a:r>
            <a:r>
              <a:rPr dirty="0" sz="1000" spc="-20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on</a:t>
            </a:r>
            <a:r>
              <a:rPr dirty="0" sz="1000" spc="-25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special</a:t>
            </a:r>
            <a:r>
              <a:rPr dirty="0" sz="1000" spc="-5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purpose</a:t>
            </a:r>
            <a:r>
              <a:rPr dirty="0" sz="1000" spc="-15">
                <a:latin typeface="Corbel"/>
                <a:cs typeface="Corbel"/>
              </a:rPr>
              <a:t> </a:t>
            </a:r>
            <a:r>
              <a:rPr dirty="0" sz="1000" spc="-10">
                <a:latin typeface="Corbel"/>
                <a:cs typeface="Corbel"/>
              </a:rPr>
              <a:t>Ind-</a:t>
            </a:r>
            <a:r>
              <a:rPr dirty="0" sz="1000">
                <a:latin typeface="Corbel"/>
                <a:cs typeface="Corbel"/>
              </a:rPr>
              <a:t>AS,</a:t>
            </a:r>
            <a:r>
              <a:rPr dirty="0" sz="1000" spc="-10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FY17</a:t>
            </a:r>
            <a:r>
              <a:rPr dirty="0" sz="1000" spc="-5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&amp;</a:t>
            </a:r>
            <a:r>
              <a:rPr dirty="0" sz="1000" spc="-20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FY18</a:t>
            </a:r>
            <a:r>
              <a:rPr dirty="0" sz="1000" spc="-20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are</a:t>
            </a:r>
            <a:r>
              <a:rPr dirty="0" sz="1000" spc="-20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based</a:t>
            </a:r>
            <a:r>
              <a:rPr dirty="0" sz="1000" spc="-20">
                <a:latin typeface="Corbel"/>
                <a:cs typeface="Corbel"/>
              </a:rPr>
              <a:t> </a:t>
            </a:r>
            <a:r>
              <a:rPr dirty="0" sz="1000">
                <a:latin typeface="Corbel"/>
                <a:cs typeface="Corbel"/>
              </a:rPr>
              <a:t>on</a:t>
            </a:r>
            <a:r>
              <a:rPr dirty="0" sz="1000" spc="-10">
                <a:latin typeface="Corbel"/>
                <a:cs typeface="Corbel"/>
              </a:rPr>
              <a:t> Ind-</a:t>
            </a:r>
            <a:r>
              <a:rPr dirty="0" sz="1000" spc="-25">
                <a:latin typeface="Corbel"/>
                <a:cs typeface="Corbel"/>
              </a:rPr>
              <a:t>AS</a:t>
            </a:r>
            <a:endParaRPr sz="1000">
              <a:latin typeface="Corbel"/>
              <a:cs typeface="Corbe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9681971" y="1822704"/>
            <a:ext cx="2190115" cy="523240"/>
          </a:xfrm>
          <a:prstGeom prst="rect">
            <a:avLst/>
          </a:prstGeom>
          <a:ln w="9144">
            <a:solidFill>
              <a:srgbClr val="B51E6A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 marL="252729" marR="106680" indent="-76200">
              <a:lnSpc>
                <a:spcPct val="100000"/>
              </a:lnSpc>
              <a:spcBef>
                <a:spcPts val="265"/>
              </a:spcBef>
            </a:pPr>
            <a:r>
              <a:rPr dirty="0" sz="1400" spc="-10" i="1">
                <a:latin typeface="Corbel"/>
                <a:cs typeface="Corbel"/>
              </a:rPr>
              <a:t>Consistent</a:t>
            </a:r>
            <a:r>
              <a:rPr dirty="0" sz="1400" spc="5" i="1">
                <a:latin typeface="Corbel"/>
                <a:cs typeface="Corbel"/>
              </a:rPr>
              <a:t> </a:t>
            </a:r>
            <a:r>
              <a:rPr dirty="0" sz="1400" spc="-10" i="1">
                <a:latin typeface="Corbel"/>
                <a:cs typeface="Corbel"/>
              </a:rPr>
              <a:t>improvement</a:t>
            </a:r>
            <a:r>
              <a:rPr dirty="0" sz="1400" spc="15" i="1">
                <a:latin typeface="Corbel"/>
                <a:cs typeface="Corbel"/>
              </a:rPr>
              <a:t> </a:t>
            </a:r>
            <a:r>
              <a:rPr dirty="0" sz="1400" spc="-25" i="1">
                <a:latin typeface="Corbel"/>
                <a:cs typeface="Corbel"/>
              </a:rPr>
              <a:t>in </a:t>
            </a:r>
            <a:r>
              <a:rPr dirty="0" sz="1400" i="1">
                <a:latin typeface="Corbel"/>
                <a:cs typeface="Corbel"/>
              </a:rPr>
              <a:t>Operating</a:t>
            </a:r>
            <a:r>
              <a:rPr dirty="0" sz="1400" spc="-40" i="1">
                <a:latin typeface="Corbel"/>
                <a:cs typeface="Corbel"/>
              </a:rPr>
              <a:t> </a:t>
            </a:r>
            <a:r>
              <a:rPr dirty="0" sz="1400" i="1">
                <a:latin typeface="Corbel"/>
                <a:cs typeface="Corbel"/>
              </a:rPr>
              <a:t>Margin</a:t>
            </a:r>
            <a:r>
              <a:rPr dirty="0" sz="1400" spc="-30" i="1">
                <a:latin typeface="Corbel"/>
                <a:cs typeface="Corbel"/>
              </a:rPr>
              <a:t> </a:t>
            </a:r>
            <a:r>
              <a:rPr dirty="0" sz="1400" spc="-10" i="1">
                <a:latin typeface="Corbel"/>
                <a:cs typeface="Corbel"/>
              </a:rPr>
              <a:t>profile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284988" y="176784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25450" h="373380">
                <a:moveTo>
                  <a:pt x="212597" y="0"/>
                </a:moveTo>
                <a:lnTo>
                  <a:pt x="163852" y="4929"/>
                </a:lnTo>
                <a:lnTo>
                  <a:pt x="119104" y="18972"/>
                </a:lnTo>
                <a:lnTo>
                  <a:pt x="79630" y="41008"/>
                </a:lnTo>
                <a:lnTo>
                  <a:pt x="46706" y="69917"/>
                </a:lnTo>
                <a:lnTo>
                  <a:pt x="21609" y="104580"/>
                </a:lnTo>
                <a:lnTo>
                  <a:pt x="5615" y="143878"/>
                </a:lnTo>
                <a:lnTo>
                  <a:pt x="0" y="186690"/>
                </a:lnTo>
                <a:lnTo>
                  <a:pt x="5615" y="229501"/>
                </a:lnTo>
                <a:lnTo>
                  <a:pt x="21609" y="268799"/>
                </a:lnTo>
                <a:lnTo>
                  <a:pt x="46706" y="303462"/>
                </a:lnTo>
                <a:lnTo>
                  <a:pt x="79630" y="332371"/>
                </a:lnTo>
                <a:lnTo>
                  <a:pt x="119104" y="354407"/>
                </a:lnTo>
                <a:lnTo>
                  <a:pt x="163852" y="368450"/>
                </a:lnTo>
                <a:lnTo>
                  <a:pt x="212597" y="373380"/>
                </a:lnTo>
                <a:lnTo>
                  <a:pt x="261343" y="368450"/>
                </a:lnTo>
                <a:lnTo>
                  <a:pt x="306091" y="354407"/>
                </a:lnTo>
                <a:lnTo>
                  <a:pt x="345565" y="332371"/>
                </a:lnTo>
                <a:lnTo>
                  <a:pt x="378489" y="303462"/>
                </a:lnTo>
                <a:lnTo>
                  <a:pt x="403586" y="268799"/>
                </a:lnTo>
                <a:lnTo>
                  <a:pt x="419580" y="229501"/>
                </a:lnTo>
                <a:lnTo>
                  <a:pt x="425196" y="186690"/>
                </a:lnTo>
                <a:lnTo>
                  <a:pt x="419580" y="143878"/>
                </a:lnTo>
                <a:lnTo>
                  <a:pt x="403586" y="104580"/>
                </a:lnTo>
                <a:lnTo>
                  <a:pt x="378489" y="69917"/>
                </a:lnTo>
                <a:lnTo>
                  <a:pt x="345565" y="41008"/>
                </a:lnTo>
                <a:lnTo>
                  <a:pt x="306091" y="18972"/>
                </a:lnTo>
                <a:lnTo>
                  <a:pt x="261343" y="4929"/>
                </a:lnTo>
                <a:lnTo>
                  <a:pt x="21259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407923" y="14820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 i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46" name="object 4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dirty="0" spc="-25"/>
              <a:t>20</a:t>
            </a:fld>
          </a:p>
        </p:txBody>
      </p:sp>
      <p:sp>
        <p:nvSpPr>
          <p:cNvPr id="44" name="object 44" descr=""/>
          <p:cNvSpPr txBox="1"/>
          <p:nvPr/>
        </p:nvSpPr>
        <p:spPr>
          <a:xfrm>
            <a:off x="1112519" y="5690615"/>
            <a:ext cx="9966960" cy="338455"/>
          </a:xfrm>
          <a:prstGeom prst="rect">
            <a:avLst/>
          </a:prstGeom>
          <a:solidFill>
            <a:srgbClr val="B51E6A"/>
          </a:solidFill>
        </p:spPr>
        <p:txBody>
          <a:bodyPr wrap="square" lIns="0" tIns="33655" rIns="0" bIns="0" rtlCol="0" vert="horz">
            <a:spAutoFit/>
          </a:bodyPr>
          <a:lstStyle/>
          <a:p>
            <a:pPr marL="457200">
              <a:lnSpc>
                <a:spcPct val="100000"/>
              </a:lnSpc>
              <a:spcBef>
                <a:spcPts val="265"/>
              </a:spcBef>
            </a:pP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Margin</a:t>
            </a:r>
            <a:r>
              <a:rPr dirty="0" sz="1600" spc="-5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spc="-10" b="1" i="1">
                <a:solidFill>
                  <a:srgbClr val="FFFFFF"/>
                </a:solidFill>
                <a:latin typeface="Corbel"/>
                <a:cs typeface="Corbel"/>
              </a:rPr>
              <a:t>improvements</a:t>
            </a:r>
            <a:r>
              <a:rPr dirty="0" sz="1600" spc="-15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600" spc="-4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cost</a:t>
            </a:r>
            <a:r>
              <a:rPr dirty="0" sz="1600" spc="-3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savings</a:t>
            </a:r>
            <a:r>
              <a:rPr dirty="0" sz="1600" spc="-55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at</a:t>
            </a:r>
            <a:r>
              <a:rPr dirty="0" sz="1600" spc="-4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each</a:t>
            </a:r>
            <a:r>
              <a:rPr dirty="0" sz="1600" spc="-25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level,</a:t>
            </a:r>
            <a:r>
              <a:rPr dirty="0" sz="1600" spc="-2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along</a:t>
            </a:r>
            <a:r>
              <a:rPr dirty="0" sz="1600" spc="-35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1600" spc="-2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an</a:t>
            </a:r>
            <a:r>
              <a:rPr dirty="0" sz="1600" spc="-5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increasing</a:t>
            </a:r>
            <a:r>
              <a:rPr dirty="0" sz="1600" spc="-3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trend</a:t>
            </a:r>
            <a:r>
              <a:rPr dirty="0" sz="1600" spc="-4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1600" spc="-30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orbel"/>
                <a:cs typeface="Corbel"/>
              </a:rPr>
              <a:t>non-linear</a:t>
            </a:r>
            <a:r>
              <a:rPr dirty="0" sz="1600" spc="-35" b="1" i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spc="-10" b="1" i="1">
                <a:solidFill>
                  <a:srgbClr val="FFFFFF"/>
                </a:solidFill>
                <a:latin typeface="Corbel"/>
                <a:cs typeface="Corbel"/>
              </a:rPr>
              <a:t>revenues</a:t>
            </a:r>
            <a:endParaRPr sz="1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49140" y="629412"/>
            <a:ext cx="2950210" cy="0"/>
          </a:xfrm>
          <a:custGeom>
            <a:avLst/>
            <a:gdLst/>
            <a:ahLst/>
            <a:cxnLst/>
            <a:rect l="l" t="t" r="r" b="b"/>
            <a:pathLst>
              <a:path w="2950209" h="0">
                <a:moveTo>
                  <a:pt x="0" y="0"/>
                </a:moveTo>
                <a:lnTo>
                  <a:pt x="2949702" y="0"/>
                </a:lnTo>
              </a:path>
            </a:pathLst>
          </a:custGeom>
          <a:ln w="9144">
            <a:solidFill>
              <a:srgbClr val="C725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96054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Strong</a:t>
            </a:r>
            <a:r>
              <a:rPr dirty="0" u="none" spc="-100"/>
              <a:t> </a:t>
            </a:r>
            <a:r>
              <a:rPr dirty="0" u="none" spc="-10"/>
              <a:t>Management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284988" y="176784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25450" h="373380">
                <a:moveTo>
                  <a:pt x="212597" y="0"/>
                </a:moveTo>
                <a:lnTo>
                  <a:pt x="163852" y="4929"/>
                </a:lnTo>
                <a:lnTo>
                  <a:pt x="119104" y="18972"/>
                </a:lnTo>
                <a:lnTo>
                  <a:pt x="79630" y="41008"/>
                </a:lnTo>
                <a:lnTo>
                  <a:pt x="46706" y="69917"/>
                </a:lnTo>
                <a:lnTo>
                  <a:pt x="21609" y="104580"/>
                </a:lnTo>
                <a:lnTo>
                  <a:pt x="5615" y="143878"/>
                </a:lnTo>
                <a:lnTo>
                  <a:pt x="0" y="186690"/>
                </a:lnTo>
                <a:lnTo>
                  <a:pt x="5615" y="229501"/>
                </a:lnTo>
                <a:lnTo>
                  <a:pt x="21609" y="268799"/>
                </a:lnTo>
                <a:lnTo>
                  <a:pt x="46706" y="303462"/>
                </a:lnTo>
                <a:lnTo>
                  <a:pt x="79630" y="332371"/>
                </a:lnTo>
                <a:lnTo>
                  <a:pt x="119104" y="354407"/>
                </a:lnTo>
                <a:lnTo>
                  <a:pt x="163852" y="368450"/>
                </a:lnTo>
                <a:lnTo>
                  <a:pt x="212597" y="373380"/>
                </a:lnTo>
                <a:lnTo>
                  <a:pt x="261343" y="368450"/>
                </a:lnTo>
                <a:lnTo>
                  <a:pt x="306091" y="354407"/>
                </a:lnTo>
                <a:lnTo>
                  <a:pt x="345565" y="332371"/>
                </a:lnTo>
                <a:lnTo>
                  <a:pt x="378489" y="303462"/>
                </a:lnTo>
                <a:lnTo>
                  <a:pt x="403586" y="268799"/>
                </a:lnTo>
                <a:lnTo>
                  <a:pt x="419580" y="229501"/>
                </a:lnTo>
                <a:lnTo>
                  <a:pt x="425196" y="186690"/>
                </a:lnTo>
                <a:lnTo>
                  <a:pt x="419580" y="143878"/>
                </a:lnTo>
                <a:lnTo>
                  <a:pt x="403586" y="104580"/>
                </a:lnTo>
                <a:lnTo>
                  <a:pt x="378489" y="69917"/>
                </a:lnTo>
                <a:lnTo>
                  <a:pt x="345565" y="41008"/>
                </a:lnTo>
                <a:lnTo>
                  <a:pt x="306091" y="18972"/>
                </a:lnTo>
                <a:lnTo>
                  <a:pt x="261343" y="4929"/>
                </a:lnTo>
                <a:lnTo>
                  <a:pt x="21259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07923" y="14820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 i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33422" y="1428750"/>
            <a:ext cx="4196715" cy="2799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orbel"/>
                <a:cs typeface="Corbel"/>
              </a:rPr>
              <a:t>Infused</a:t>
            </a:r>
            <a:r>
              <a:rPr dirty="0" sz="1800" spc="-5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new</a:t>
            </a:r>
            <a:r>
              <a:rPr dirty="0" sz="1800" spc="-3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talent</a:t>
            </a:r>
            <a:r>
              <a:rPr dirty="0" sz="1800" spc="-45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across</a:t>
            </a:r>
            <a:r>
              <a:rPr dirty="0" sz="1800" spc="-35" b="1">
                <a:latin typeface="Corbel"/>
                <a:cs typeface="Corbel"/>
              </a:rPr>
              <a:t> </a:t>
            </a:r>
            <a:r>
              <a:rPr dirty="0" sz="1800" spc="-10" b="1">
                <a:latin typeface="Corbel"/>
                <a:cs typeface="Corbel"/>
              </a:rPr>
              <a:t>levels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Corbel"/>
              <a:cs typeface="Corbel"/>
            </a:endParaRPr>
          </a:p>
          <a:p>
            <a:pPr marL="528955" indent="-388620">
              <a:lnSpc>
                <a:spcPct val="100000"/>
              </a:lnSpc>
              <a:buFont typeface="Wingdings"/>
              <a:buChar char=""/>
              <a:tabLst>
                <a:tab pos="528955" algn="l"/>
              </a:tabLst>
            </a:pPr>
            <a:r>
              <a:rPr dirty="0" sz="1800" b="1">
                <a:latin typeface="Corbel"/>
                <a:cs typeface="Corbel"/>
              </a:rPr>
              <a:t>Executive</a:t>
            </a:r>
            <a:r>
              <a:rPr dirty="0" sz="1800" spc="-40" b="1">
                <a:latin typeface="Corbel"/>
                <a:cs typeface="Corbel"/>
              </a:rPr>
              <a:t> </a:t>
            </a:r>
            <a:r>
              <a:rPr dirty="0" sz="1800" spc="-10" b="1">
                <a:latin typeface="Corbel"/>
                <a:cs typeface="Corbel"/>
              </a:rPr>
              <a:t>Committee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565"/>
              </a:spcBef>
              <a:buFont typeface="Wingdings"/>
              <a:buChar char=""/>
            </a:pPr>
            <a:endParaRPr sz="1800">
              <a:latin typeface="Corbel"/>
              <a:cs typeface="Corbel"/>
            </a:endParaRPr>
          </a:p>
          <a:p>
            <a:pPr marL="528955" indent="-388620">
              <a:lnSpc>
                <a:spcPct val="100000"/>
              </a:lnSpc>
              <a:buFont typeface="Wingdings"/>
              <a:buChar char=""/>
              <a:tabLst>
                <a:tab pos="528955" algn="l"/>
              </a:tabLst>
            </a:pPr>
            <a:r>
              <a:rPr dirty="0" sz="1800" b="1">
                <a:latin typeface="Corbel"/>
                <a:cs typeface="Corbel"/>
              </a:rPr>
              <a:t>Senior</a:t>
            </a:r>
            <a:r>
              <a:rPr dirty="0" sz="1800" spc="-25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Leader</a:t>
            </a:r>
            <a:r>
              <a:rPr dirty="0" sz="1800" spc="-35" b="1">
                <a:latin typeface="Corbel"/>
                <a:cs typeface="Corbel"/>
              </a:rPr>
              <a:t> </a:t>
            </a:r>
            <a:r>
              <a:rPr dirty="0" sz="1800" spc="-10" b="1">
                <a:latin typeface="Corbel"/>
                <a:cs typeface="Corbel"/>
              </a:rPr>
              <a:t>positions</a:t>
            </a:r>
            <a:endParaRPr sz="1800">
              <a:latin typeface="Corbel"/>
              <a:cs typeface="Corbel"/>
            </a:endParaRPr>
          </a:p>
          <a:p>
            <a:pPr marL="186055" marR="5080" indent="-45720">
              <a:lnSpc>
                <a:spcPts val="4920"/>
              </a:lnSpc>
              <a:spcBef>
                <a:spcPts val="425"/>
              </a:spcBef>
              <a:buFont typeface="Wingdings"/>
              <a:buChar char=""/>
              <a:tabLst>
                <a:tab pos="186055" algn="l"/>
                <a:tab pos="528955" algn="l"/>
              </a:tabLst>
            </a:pPr>
            <a:r>
              <a:rPr dirty="0" sz="1800" b="1">
                <a:latin typeface="Corbel"/>
                <a:cs typeface="Corbel"/>
              </a:rPr>
              <a:t>	</a:t>
            </a:r>
            <a:r>
              <a:rPr dirty="0" sz="1800" b="1">
                <a:latin typeface="Corbel"/>
                <a:cs typeface="Corbel"/>
              </a:rPr>
              <a:t>Regional</a:t>
            </a:r>
            <a:r>
              <a:rPr dirty="0" sz="1800" spc="-1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Sr</a:t>
            </a:r>
            <a:r>
              <a:rPr dirty="0" sz="1800" spc="-1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Leaders</a:t>
            </a:r>
            <a:r>
              <a:rPr dirty="0" sz="1800" spc="-25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in</a:t>
            </a:r>
            <a:r>
              <a:rPr dirty="0" sz="1800" spc="-15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Focus</a:t>
            </a:r>
            <a:r>
              <a:rPr dirty="0" sz="1800" spc="-25" b="1">
                <a:latin typeface="Corbel"/>
                <a:cs typeface="Corbel"/>
              </a:rPr>
              <a:t> </a:t>
            </a:r>
            <a:r>
              <a:rPr dirty="0" sz="1800" spc="-10" b="1">
                <a:latin typeface="Corbel"/>
                <a:cs typeface="Corbel"/>
              </a:rPr>
              <a:t>Markets </a:t>
            </a:r>
            <a:r>
              <a:rPr dirty="0" sz="1800" b="1">
                <a:latin typeface="Corbel"/>
                <a:cs typeface="Corbel"/>
              </a:rPr>
              <a:t>Strong</a:t>
            </a:r>
            <a:r>
              <a:rPr dirty="0" sz="1800" spc="-60" b="1">
                <a:latin typeface="Corbel"/>
                <a:cs typeface="Corbel"/>
              </a:rPr>
              <a:t> </a:t>
            </a:r>
            <a:r>
              <a:rPr dirty="0" sz="1800" spc="-10" b="1">
                <a:latin typeface="Corbel"/>
                <a:cs typeface="Corbel"/>
              </a:rPr>
              <a:t>Board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737360" y="1435608"/>
            <a:ext cx="417830" cy="365760"/>
          </a:xfrm>
          <a:custGeom>
            <a:avLst/>
            <a:gdLst/>
            <a:ahLst/>
            <a:cxnLst/>
            <a:rect l="l" t="t" r="r" b="b"/>
            <a:pathLst>
              <a:path w="417830" h="365760">
                <a:moveTo>
                  <a:pt x="208787" y="0"/>
                </a:moveTo>
                <a:lnTo>
                  <a:pt x="160913" y="4831"/>
                </a:lnTo>
                <a:lnTo>
                  <a:pt x="116965" y="18594"/>
                </a:lnTo>
                <a:lnTo>
                  <a:pt x="78199" y="40188"/>
                </a:lnTo>
                <a:lnTo>
                  <a:pt x="45866" y="68513"/>
                </a:lnTo>
                <a:lnTo>
                  <a:pt x="21220" y="102470"/>
                </a:lnTo>
                <a:lnTo>
                  <a:pt x="5513" y="140958"/>
                </a:lnTo>
                <a:lnTo>
                  <a:pt x="0" y="182879"/>
                </a:lnTo>
                <a:lnTo>
                  <a:pt x="5513" y="224801"/>
                </a:lnTo>
                <a:lnTo>
                  <a:pt x="21220" y="263289"/>
                </a:lnTo>
                <a:lnTo>
                  <a:pt x="45866" y="297246"/>
                </a:lnTo>
                <a:lnTo>
                  <a:pt x="78199" y="325571"/>
                </a:lnTo>
                <a:lnTo>
                  <a:pt x="116965" y="347165"/>
                </a:lnTo>
                <a:lnTo>
                  <a:pt x="160913" y="360928"/>
                </a:lnTo>
                <a:lnTo>
                  <a:pt x="208787" y="365759"/>
                </a:lnTo>
                <a:lnTo>
                  <a:pt x="256662" y="360928"/>
                </a:lnTo>
                <a:lnTo>
                  <a:pt x="300610" y="347165"/>
                </a:lnTo>
                <a:lnTo>
                  <a:pt x="339376" y="325571"/>
                </a:lnTo>
                <a:lnTo>
                  <a:pt x="371709" y="297246"/>
                </a:lnTo>
                <a:lnTo>
                  <a:pt x="396355" y="263289"/>
                </a:lnTo>
                <a:lnTo>
                  <a:pt x="412062" y="224801"/>
                </a:lnTo>
                <a:lnTo>
                  <a:pt x="417575" y="182879"/>
                </a:lnTo>
                <a:lnTo>
                  <a:pt x="412062" y="140958"/>
                </a:lnTo>
                <a:lnTo>
                  <a:pt x="396355" y="102470"/>
                </a:lnTo>
                <a:lnTo>
                  <a:pt x="371709" y="68513"/>
                </a:lnTo>
                <a:lnTo>
                  <a:pt x="339376" y="40188"/>
                </a:lnTo>
                <a:lnTo>
                  <a:pt x="300610" y="18594"/>
                </a:lnTo>
                <a:lnTo>
                  <a:pt x="256662" y="4831"/>
                </a:lnTo>
                <a:lnTo>
                  <a:pt x="20878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888617" y="1437259"/>
            <a:ext cx="235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1543" sz="2700" spc="-75">
                <a:latin typeface="Arial MT"/>
                <a:cs typeface="Arial MT"/>
              </a:rPr>
              <a:t>•</a:t>
            </a:r>
            <a:endParaRPr baseline="1543" sz="27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737360" y="3899915"/>
            <a:ext cx="417830" cy="365760"/>
          </a:xfrm>
          <a:custGeom>
            <a:avLst/>
            <a:gdLst/>
            <a:ahLst/>
            <a:cxnLst/>
            <a:rect l="l" t="t" r="r" b="b"/>
            <a:pathLst>
              <a:path w="417830" h="365760">
                <a:moveTo>
                  <a:pt x="208787" y="0"/>
                </a:moveTo>
                <a:lnTo>
                  <a:pt x="160913" y="4831"/>
                </a:lnTo>
                <a:lnTo>
                  <a:pt x="116965" y="18594"/>
                </a:lnTo>
                <a:lnTo>
                  <a:pt x="78199" y="40188"/>
                </a:lnTo>
                <a:lnTo>
                  <a:pt x="45866" y="68513"/>
                </a:lnTo>
                <a:lnTo>
                  <a:pt x="21220" y="102470"/>
                </a:lnTo>
                <a:lnTo>
                  <a:pt x="5513" y="140958"/>
                </a:lnTo>
                <a:lnTo>
                  <a:pt x="0" y="182879"/>
                </a:lnTo>
                <a:lnTo>
                  <a:pt x="5513" y="224801"/>
                </a:lnTo>
                <a:lnTo>
                  <a:pt x="21220" y="263289"/>
                </a:lnTo>
                <a:lnTo>
                  <a:pt x="45866" y="297246"/>
                </a:lnTo>
                <a:lnTo>
                  <a:pt x="78199" y="325571"/>
                </a:lnTo>
                <a:lnTo>
                  <a:pt x="116965" y="347165"/>
                </a:lnTo>
                <a:lnTo>
                  <a:pt x="160913" y="360928"/>
                </a:lnTo>
                <a:lnTo>
                  <a:pt x="208787" y="365759"/>
                </a:lnTo>
                <a:lnTo>
                  <a:pt x="256662" y="360928"/>
                </a:lnTo>
                <a:lnTo>
                  <a:pt x="300610" y="347165"/>
                </a:lnTo>
                <a:lnTo>
                  <a:pt x="339376" y="325571"/>
                </a:lnTo>
                <a:lnTo>
                  <a:pt x="371709" y="297246"/>
                </a:lnTo>
                <a:lnTo>
                  <a:pt x="396355" y="263289"/>
                </a:lnTo>
                <a:lnTo>
                  <a:pt x="412062" y="224801"/>
                </a:lnTo>
                <a:lnTo>
                  <a:pt x="417575" y="182879"/>
                </a:lnTo>
                <a:lnTo>
                  <a:pt x="412062" y="140958"/>
                </a:lnTo>
                <a:lnTo>
                  <a:pt x="396355" y="102470"/>
                </a:lnTo>
                <a:lnTo>
                  <a:pt x="371709" y="68513"/>
                </a:lnTo>
                <a:lnTo>
                  <a:pt x="339376" y="40188"/>
                </a:lnTo>
                <a:lnTo>
                  <a:pt x="300610" y="18594"/>
                </a:lnTo>
                <a:lnTo>
                  <a:pt x="256662" y="4831"/>
                </a:lnTo>
                <a:lnTo>
                  <a:pt x="20878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863217" y="3902455"/>
            <a:ext cx="3111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1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-6172" sz="2700" spc="-75">
                <a:latin typeface="Wingdings"/>
                <a:cs typeface="Wingdings"/>
              </a:rPr>
              <a:t></a:t>
            </a:r>
            <a:endParaRPr baseline="-6172" sz="2700">
              <a:latin typeface="Wingdings"/>
              <a:cs typeface="Wingdings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737360" y="4565903"/>
            <a:ext cx="417830" cy="365760"/>
          </a:xfrm>
          <a:custGeom>
            <a:avLst/>
            <a:gdLst/>
            <a:ahLst/>
            <a:cxnLst/>
            <a:rect l="l" t="t" r="r" b="b"/>
            <a:pathLst>
              <a:path w="417830" h="365760">
                <a:moveTo>
                  <a:pt x="208787" y="0"/>
                </a:moveTo>
                <a:lnTo>
                  <a:pt x="160913" y="4831"/>
                </a:lnTo>
                <a:lnTo>
                  <a:pt x="116965" y="18594"/>
                </a:lnTo>
                <a:lnTo>
                  <a:pt x="78199" y="40188"/>
                </a:lnTo>
                <a:lnTo>
                  <a:pt x="45866" y="68513"/>
                </a:lnTo>
                <a:lnTo>
                  <a:pt x="21220" y="102470"/>
                </a:lnTo>
                <a:lnTo>
                  <a:pt x="5513" y="140958"/>
                </a:lnTo>
                <a:lnTo>
                  <a:pt x="0" y="182880"/>
                </a:lnTo>
                <a:lnTo>
                  <a:pt x="5513" y="224801"/>
                </a:lnTo>
                <a:lnTo>
                  <a:pt x="21220" y="263289"/>
                </a:lnTo>
                <a:lnTo>
                  <a:pt x="45866" y="297246"/>
                </a:lnTo>
                <a:lnTo>
                  <a:pt x="78199" y="325571"/>
                </a:lnTo>
                <a:lnTo>
                  <a:pt x="116965" y="347165"/>
                </a:lnTo>
                <a:lnTo>
                  <a:pt x="160913" y="360928"/>
                </a:lnTo>
                <a:lnTo>
                  <a:pt x="208787" y="365760"/>
                </a:lnTo>
                <a:lnTo>
                  <a:pt x="256662" y="360928"/>
                </a:lnTo>
                <a:lnTo>
                  <a:pt x="300610" y="347165"/>
                </a:lnTo>
                <a:lnTo>
                  <a:pt x="339376" y="325571"/>
                </a:lnTo>
                <a:lnTo>
                  <a:pt x="371709" y="297246"/>
                </a:lnTo>
                <a:lnTo>
                  <a:pt x="396355" y="263289"/>
                </a:lnTo>
                <a:lnTo>
                  <a:pt x="412062" y="224801"/>
                </a:lnTo>
                <a:lnTo>
                  <a:pt x="417575" y="182880"/>
                </a:lnTo>
                <a:lnTo>
                  <a:pt x="412062" y="140958"/>
                </a:lnTo>
                <a:lnTo>
                  <a:pt x="396355" y="102470"/>
                </a:lnTo>
                <a:lnTo>
                  <a:pt x="371709" y="68513"/>
                </a:lnTo>
                <a:lnTo>
                  <a:pt x="339376" y="40188"/>
                </a:lnTo>
                <a:lnTo>
                  <a:pt x="300610" y="18594"/>
                </a:lnTo>
                <a:lnTo>
                  <a:pt x="256662" y="4831"/>
                </a:lnTo>
                <a:lnTo>
                  <a:pt x="20878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888617" y="4553457"/>
            <a:ext cx="33197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860" algn="l"/>
              </a:tabLst>
            </a:pPr>
            <a:r>
              <a:rPr dirty="0" baseline="-3968" sz="21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baseline="-3968" sz="21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latin typeface="Wingdings"/>
                <a:cs typeface="Wingdings"/>
              </a:rPr>
              <a:t>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b="1">
                <a:latin typeface="Corbel"/>
                <a:cs typeface="Corbel"/>
              </a:rPr>
              <a:t>Support</a:t>
            </a:r>
            <a:r>
              <a:rPr dirty="0" sz="1800" spc="-35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from</a:t>
            </a:r>
            <a:r>
              <a:rPr dirty="0" sz="1800" spc="-20" b="1">
                <a:latin typeface="Corbel"/>
                <a:cs typeface="Corbel"/>
              </a:rPr>
              <a:t> </a:t>
            </a:r>
            <a:r>
              <a:rPr dirty="0" sz="1800" b="1">
                <a:latin typeface="Corbel"/>
                <a:cs typeface="Corbel"/>
              </a:rPr>
              <a:t>BX</a:t>
            </a:r>
            <a:r>
              <a:rPr dirty="0" sz="1800" spc="-15" b="1">
                <a:latin typeface="Corbel"/>
                <a:cs typeface="Corbel"/>
              </a:rPr>
              <a:t> </a:t>
            </a:r>
            <a:r>
              <a:rPr dirty="0" sz="1800" spc="-10" b="1">
                <a:latin typeface="Corbel"/>
                <a:cs typeface="Corbel"/>
              </a:rPr>
              <a:t>Ecosystem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dirty="0" spc="-25"/>
              <a:t>20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49140" y="629412"/>
            <a:ext cx="2950210" cy="0"/>
          </a:xfrm>
          <a:custGeom>
            <a:avLst/>
            <a:gdLst/>
            <a:ahLst/>
            <a:cxnLst/>
            <a:rect l="l" t="t" r="r" b="b"/>
            <a:pathLst>
              <a:path w="2950209" h="0">
                <a:moveTo>
                  <a:pt x="0" y="0"/>
                </a:moveTo>
                <a:lnTo>
                  <a:pt x="2949702" y="0"/>
                </a:lnTo>
              </a:path>
            </a:pathLst>
          </a:custGeom>
          <a:ln w="9144">
            <a:solidFill>
              <a:srgbClr val="C725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Strong</a:t>
            </a:r>
            <a:r>
              <a:rPr dirty="0" u="none" spc="-80"/>
              <a:t> </a:t>
            </a:r>
            <a:r>
              <a:rPr dirty="0" u="none"/>
              <a:t>Cash</a:t>
            </a:r>
            <a:r>
              <a:rPr dirty="0" u="none" spc="-70"/>
              <a:t> </a:t>
            </a:r>
            <a:r>
              <a:rPr dirty="0" u="none"/>
              <a:t>flow</a:t>
            </a:r>
            <a:r>
              <a:rPr dirty="0" u="none" spc="-80"/>
              <a:t> </a:t>
            </a:r>
            <a:r>
              <a:rPr dirty="0" u="none" spc="-10"/>
              <a:t>Generation</a:t>
            </a:r>
            <a:r>
              <a:rPr dirty="0" u="none" spc="-65"/>
              <a:t> </a:t>
            </a:r>
            <a:r>
              <a:rPr dirty="0" u="none"/>
              <a:t>and</a:t>
            </a:r>
            <a:r>
              <a:rPr dirty="0" u="none" spc="-75"/>
              <a:t> </a:t>
            </a:r>
            <a:r>
              <a:rPr dirty="0" u="none"/>
              <a:t>Optimal</a:t>
            </a:r>
            <a:r>
              <a:rPr dirty="0" u="none" spc="-65"/>
              <a:t> </a:t>
            </a:r>
            <a:r>
              <a:rPr dirty="0" u="none"/>
              <a:t>Cash</a:t>
            </a:r>
            <a:r>
              <a:rPr dirty="0" u="none" spc="-65"/>
              <a:t> </a:t>
            </a:r>
            <a:r>
              <a:rPr dirty="0" u="none" spc="-10"/>
              <a:t>Strategy</a:t>
            </a:r>
            <a:r>
              <a:rPr dirty="0" u="none" spc="-65"/>
              <a:t> </a:t>
            </a:r>
            <a:r>
              <a:rPr dirty="0" u="none"/>
              <a:t>to</a:t>
            </a:r>
            <a:r>
              <a:rPr dirty="0" u="none" spc="-75"/>
              <a:t> </a:t>
            </a:r>
            <a:r>
              <a:rPr dirty="0" u="none" spc="-10"/>
              <a:t>maximize</a:t>
            </a:r>
            <a:r>
              <a:rPr dirty="0" u="none" spc="-90"/>
              <a:t> </a:t>
            </a:r>
            <a:r>
              <a:rPr dirty="0" u="none"/>
              <a:t>shareholder</a:t>
            </a:r>
            <a:r>
              <a:rPr dirty="0" u="none" spc="-70"/>
              <a:t> </a:t>
            </a:r>
            <a:r>
              <a:rPr dirty="0" u="none" spc="-10"/>
              <a:t>value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6498335" y="1633727"/>
            <a:ext cx="4320540" cy="1213485"/>
            <a:chOff x="6498335" y="1633727"/>
            <a:chExt cx="4320540" cy="1213485"/>
          </a:xfrm>
        </p:grpSpPr>
        <p:sp>
          <p:nvSpPr>
            <p:cNvPr id="5" name="object 5" descr=""/>
            <p:cNvSpPr/>
            <p:nvPr/>
          </p:nvSpPr>
          <p:spPr>
            <a:xfrm>
              <a:off x="6822948" y="1633727"/>
              <a:ext cx="3671570" cy="1209040"/>
            </a:xfrm>
            <a:custGeom>
              <a:avLst/>
              <a:gdLst/>
              <a:ahLst/>
              <a:cxnLst/>
              <a:rect l="l" t="t" r="r" b="b"/>
              <a:pathLst>
                <a:path w="3671570" h="1209039">
                  <a:moveTo>
                    <a:pt x="431292" y="175260"/>
                  </a:moveTo>
                  <a:lnTo>
                    <a:pt x="0" y="175260"/>
                  </a:lnTo>
                  <a:lnTo>
                    <a:pt x="0" y="1208532"/>
                  </a:lnTo>
                  <a:lnTo>
                    <a:pt x="431292" y="1208532"/>
                  </a:lnTo>
                  <a:lnTo>
                    <a:pt x="431292" y="175260"/>
                  </a:lnTo>
                  <a:close/>
                </a:path>
                <a:path w="3671570" h="1209039">
                  <a:moveTo>
                    <a:pt x="1511808" y="0"/>
                  </a:moveTo>
                  <a:lnTo>
                    <a:pt x="1078992" y="0"/>
                  </a:lnTo>
                  <a:lnTo>
                    <a:pt x="1078992" y="1208532"/>
                  </a:lnTo>
                  <a:lnTo>
                    <a:pt x="1511808" y="1208532"/>
                  </a:lnTo>
                  <a:lnTo>
                    <a:pt x="1511808" y="0"/>
                  </a:lnTo>
                  <a:close/>
                </a:path>
                <a:path w="3671570" h="1209039">
                  <a:moveTo>
                    <a:pt x="2592324" y="286512"/>
                  </a:moveTo>
                  <a:lnTo>
                    <a:pt x="2159508" y="286512"/>
                  </a:lnTo>
                  <a:lnTo>
                    <a:pt x="2159508" y="1208532"/>
                  </a:lnTo>
                  <a:lnTo>
                    <a:pt x="2592324" y="1208532"/>
                  </a:lnTo>
                  <a:lnTo>
                    <a:pt x="2592324" y="286512"/>
                  </a:lnTo>
                  <a:close/>
                </a:path>
                <a:path w="3671570" h="1209039">
                  <a:moveTo>
                    <a:pt x="3671316" y="240792"/>
                  </a:moveTo>
                  <a:lnTo>
                    <a:pt x="3240024" y="240792"/>
                  </a:lnTo>
                  <a:lnTo>
                    <a:pt x="3240024" y="1208532"/>
                  </a:lnTo>
                  <a:lnTo>
                    <a:pt x="3671316" y="1208532"/>
                  </a:lnTo>
                  <a:lnTo>
                    <a:pt x="3671316" y="240792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98335" y="2842260"/>
              <a:ext cx="4320540" cy="0"/>
            </a:xfrm>
            <a:custGeom>
              <a:avLst/>
              <a:gdLst/>
              <a:ahLst/>
              <a:cxnLst/>
              <a:rect l="l" t="t" r="r" b="b"/>
              <a:pathLst>
                <a:path w="4320540" h="0">
                  <a:moveTo>
                    <a:pt x="0" y="0"/>
                  </a:moveTo>
                  <a:lnTo>
                    <a:pt x="4320540" y="0"/>
                  </a:lnTo>
                </a:path>
              </a:pathLst>
            </a:custGeom>
            <a:ln w="9144">
              <a:solidFill>
                <a:srgbClr val="85858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833996" y="1526539"/>
            <a:ext cx="3530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i="1">
                <a:latin typeface="Corbel"/>
                <a:cs typeface="Corbel"/>
              </a:rPr>
              <a:t>60%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027668" y="1693545"/>
            <a:ext cx="3409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i="1">
                <a:latin typeface="Corbel"/>
                <a:cs typeface="Corbel"/>
              </a:rPr>
              <a:t>53%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090531" y="1611883"/>
            <a:ext cx="3505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i="1">
                <a:latin typeface="Corbel"/>
                <a:cs typeface="Corbel"/>
              </a:rPr>
              <a:t>56%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084054" y="2933826"/>
            <a:ext cx="3917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FY18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260972" y="680689"/>
            <a:ext cx="4373245" cy="94678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Track</a:t>
            </a:r>
            <a:r>
              <a:rPr dirty="0" sz="1600" spc="-6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record</a:t>
            </a:r>
            <a:r>
              <a:rPr dirty="0" sz="1600" spc="-5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healthy</a:t>
            </a:r>
            <a:r>
              <a:rPr dirty="0" sz="1600" spc="-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Dividends…</a:t>
            </a:r>
            <a:endParaRPr sz="1600">
              <a:latin typeface="Corbel"/>
              <a:cs typeface="Corbel"/>
            </a:endParaRPr>
          </a:p>
          <a:p>
            <a:pPr marL="19050">
              <a:lnSpc>
                <a:spcPct val="100000"/>
              </a:lnSpc>
              <a:spcBef>
                <a:spcPts val="630"/>
              </a:spcBef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Dividend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Payout</a:t>
            </a:r>
            <a:r>
              <a:rPr dirty="0" sz="1400" spc="-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i="1">
                <a:solidFill>
                  <a:srgbClr val="2A2F3B"/>
                </a:solidFill>
                <a:latin typeface="Corbel"/>
                <a:cs typeface="Corbel"/>
              </a:rPr>
              <a:t>(DPS</a:t>
            </a:r>
            <a:r>
              <a:rPr dirty="0" sz="1200" spc="21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spc="-10" i="1">
                <a:solidFill>
                  <a:srgbClr val="2A2F3B"/>
                </a:solidFill>
                <a:latin typeface="Corbel"/>
                <a:cs typeface="Corbel"/>
              </a:rPr>
              <a:t>including </a:t>
            </a:r>
            <a:r>
              <a:rPr dirty="0" sz="1200" i="1">
                <a:solidFill>
                  <a:srgbClr val="2A2F3B"/>
                </a:solidFill>
                <a:latin typeface="Corbel"/>
                <a:cs typeface="Corbel"/>
              </a:rPr>
              <a:t>tax</a:t>
            </a:r>
            <a:r>
              <a:rPr dirty="0" sz="1200" spc="-1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i="1">
                <a:solidFill>
                  <a:srgbClr val="2A2F3B"/>
                </a:solidFill>
                <a:latin typeface="Corbel"/>
                <a:cs typeface="Corbel"/>
              </a:rPr>
              <a:t>/</a:t>
            </a:r>
            <a:r>
              <a:rPr dirty="0" sz="1200" spc="204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i="1">
                <a:solidFill>
                  <a:srgbClr val="2A2F3B"/>
                </a:solidFill>
                <a:latin typeface="Corbel"/>
                <a:cs typeface="Corbel"/>
              </a:rPr>
              <a:t>EPS</a:t>
            </a:r>
            <a:r>
              <a:rPr dirty="0" sz="1200" spc="-10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i="1">
                <a:solidFill>
                  <a:srgbClr val="2A2F3B"/>
                </a:solidFill>
                <a:latin typeface="Corbel"/>
                <a:cs typeface="Corbel"/>
              </a:rPr>
              <a:t>before</a:t>
            </a:r>
            <a:r>
              <a:rPr dirty="0" sz="1200" spc="-10" i="1">
                <a:solidFill>
                  <a:srgbClr val="2A2F3B"/>
                </a:solidFill>
                <a:latin typeface="Corbel"/>
                <a:cs typeface="Corbel"/>
              </a:rPr>
              <a:t> exceptional items)</a:t>
            </a:r>
            <a:endParaRPr sz="1200">
              <a:latin typeface="Corbel"/>
              <a:cs typeface="Corbel"/>
            </a:endParaRPr>
          </a:p>
          <a:p>
            <a:pPr marL="1724025">
              <a:lnSpc>
                <a:spcPct val="100000"/>
              </a:lnSpc>
              <a:spcBef>
                <a:spcPts val="635"/>
              </a:spcBef>
            </a:pPr>
            <a:r>
              <a:rPr dirty="0" sz="1400" spc="-25" i="1">
                <a:latin typeface="Corbel"/>
                <a:cs typeface="Corbel"/>
              </a:rPr>
              <a:t>70%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24065" y="908050"/>
            <a:ext cx="5291455" cy="5327650"/>
            <a:chOff x="524065" y="908050"/>
            <a:chExt cx="5291455" cy="5327650"/>
          </a:xfrm>
        </p:grpSpPr>
        <p:sp>
          <p:nvSpPr>
            <p:cNvPr id="13" name="object 13" descr=""/>
            <p:cNvSpPr/>
            <p:nvPr/>
          </p:nvSpPr>
          <p:spPr>
            <a:xfrm>
              <a:off x="5804916" y="914400"/>
              <a:ext cx="4445" cy="5314950"/>
            </a:xfrm>
            <a:custGeom>
              <a:avLst/>
              <a:gdLst/>
              <a:ahLst/>
              <a:cxnLst/>
              <a:rect l="l" t="t" r="r" b="b"/>
              <a:pathLst>
                <a:path w="4445" h="5314950">
                  <a:moveTo>
                    <a:pt x="4191" y="5314378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B51E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13816" y="1598675"/>
              <a:ext cx="3221990" cy="1268095"/>
            </a:xfrm>
            <a:custGeom>
              <a:avLst/>
              <a:gdLst/>
              <a:ahLst/>
              <a:cxnLst/>
              <a:rect l="l" t="t" r="r" b="b"/>
              <a:pathLst>
                <a:path w="3221990" h="1268095">
                  <a:moveTo>
                    <a:pt x="379476" y="313944"/>
                  </a:moveTo>
                  <a:lnTo>
                    <a:pt x="0" y="313944"/>
                  </a:lnTo>
                  <a:lnTo>
                    <a:pt x="0" y="1267968"/>
                  </a:lnTo>
                  <a:lnTo>
                    <a:pt x="379476" y="1267968"/>
                  </a:lnTo>
                  <a:lnTo>
                    <a:pt x="379476" y="313944"/>
                  </a:lnTo>
                  <a:close/>
                </a:path>
                <a:path w="3221990" h="1268095">
                  <a:moveTo>
                    <a:pt x="1325880" y="373380"/>
                  </a:moveTo>
                  <a:lnTo>
                    <a:pt x="947928" y="373380"/>
                  </a:lnTo>
                  <a:lnTo>
                    <a:pt x="947928" y="1267968"/>
                  </a:lnTo>
                  <a:lnTo>
                    <a:pt x="1325880" y="1267968"/>
                  </a:lnTo>
                  <a:lnTo>
                    <a:pt x="1325880" y="373380"/>
                  </a:lnTo>
                  <a:close/>
                </a:path>
                <a:path w="3221990" h="1268095">
                  <a:moveTo>
                    <a:pt x="2273808" y="147828"/>
                  </a:moveTo>
                  <a:lnTo>
                    <a:pt x="1894332" y="147828"/>
                  </a:lnTo>
                  <a:lnTo>
                    <a:pt x="1894332" y="1267968"/>
                  </a:lnTo>
                  <a:lnTo>
                    <a:pt x="2273808" y="1267968"/>
                  </a:lnTo>
                  <a:lnTo>
                    <a:pt x="2273808" y="147828"/>
                  </a:lnTo>
                  <a:close/>
                </a:path>
                <a:path w="3221990" h="1268095">
                  <a:moveTo>
                    <a:pt x="3221736" y="0"/>
                  </a:moveTo>
                  <a:lnTo>
                    <a:pt x="2842260" y="0"/>
                  </a:lnTo>
                  <a:lnTo>
                    <a:pt x="2842260" y="1267968"/>
                  </a:lnTo>
                  <a:lnTo>
                    <a:pt x="3221736" y="1267968"/>
                  </a:lnTo>
                  <a:lnTo>
                    <a:pt x="3221736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28827" y="2866644"/>
              <a:ext cx="3790315" cy="0"/>
            </a:xfrm>
            <a:custGeom>
              <a:avLst/>
              <a:gdLst/>
              <a:ahLst/>
              <a:cxnLst/>
              <a:rect l="l" t="t" r="r" b="b"/>
              <a:pathLst>
                <a:path w="3790315" h="0">
                  <a:moveTo>
                    <a:pt x="0" y="0"/>
                  </a:moveTo>
                  <a:lnTo>
                    <a:pt x="3790188" y="0"/>
                  </a:lnTo>
                </a:path>
              </a:pathLst>
            </a:custGeom>
            <a:ln w="9144">
              <a:solidFill>
                <a:srgbClr val="85858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52932" y="1656714"/>
            <a:ext cx="3244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i="1">
                <a:latin typeface="Corbel"/>
                <a:cs typeface="Corbel"/>
              </a:rPr>
              <a:t>32.1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765173" y="1703577"/>
            <a:ext cx="3251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i="1">
                <a:latin typeface="Corbel"/>
                <a:cs typeface="Corbel"/>
              </a:rPr>
              <a:t>30.1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747264" y="1439671"/>
            <a:ext cx="3028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i="1">
                <a:latin typeface="Corbel"/>
                <a:cs typeface="Corbel"/>
              </a:rPr>
              <a:t>37.7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658870" y="1320545"/>
            <a:ext cx="3270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i="1">
                <a:latin typeface="Corbel"/>
                <a:cs typeface="Corbel"/>
              </a:rPr>
              <a:t>42.7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754251" y="2958211"/>
            <a:ext cx="3937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FY16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710433" y="2958211"/>
            <a:ext cx="3765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FY17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650360" y="2958211"/>
            <a:ext cx="3917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FY18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80187" y="672888"/>
            <a:ext cx="2480310" cy="65913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Strong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growth</a:t>
            </a:r>
            <a:r>
              <a:rPr dirty="0" sz="1600" spc="-2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in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25" b="1">
                <a:solidFill>
                  <a:srgbClr val="2A2F3B"/>
                </a:solidFill>
                <a:latin typeface="Corbel"/>
                <a:cs typeface="Corbel"/>
              </a:rPr>
              <a:t>EPS</a:t>
            </a:r>
            <a:endParaRPr sz="1600">
              <a:latin typeface="Corbel"/>
              <a:cs typeface="Corbel"/>
            </a:endParaRPr>
          </a:p>
          <a:p>
            <a:pPr marL="95885">
              <a:lnSpc>
                <a:spcPct val="100000"/>
              </a:lnSpc>
              <a:spcBef>
                <a:spcPts val="650"/>
              </a:spcBef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EPS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after</a:t>
            </a:r>
            <a:r>
              <a:rPr dirty="0" sz="1400" spc="-2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exceptional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items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spc="-20" i="1">
                <a:solidFill>
                  <a:srgbClr val="2A2F3B"/>
                </a:solidFill>
                <a:latin typeface="Corbel"/>
                <a:cs typeface="Corbel"/>
              </a:rPr>
              <a:t>(INR)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88976" y="3678935"/>
            <a:ext cx="11802745" cy="1905"/>
          </a:xfrm>
          <a:custGeom>
            <a:avLst/>
            <a:gdLst/>
            <a:ahLst/>
            <a:cxnLst/>
            <a:rect l="l" t="t" r="r" b="b"/>
            <a:pathLst>
              <a:path w="11802745" h="1904">
                <a:moveTo>
                  <a:pt x="0" y="1524"/>
                </a:moveTo>
                <a:lnTo>
                  <a:pt x="5573903" y="1524"/>
                </a:lnTo>
              </a:path>
              <a:path w="11802745" h="1904">
                <a:moveTo>
                  <a:pt x="5615940" y="0"/>
                </a:moveTo>
                <a:lnTo>
                  <a:pt x="11802745" y="0"/>
                </a:lnTo>
              </a:path>
            </a:pathLst>
          </a:custGeom>
          <a:ln w="9144">
            <a:solidFill>
              <a:srgbClr val="B51E6A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77748" y="3649443"/>
            <a:ext cx="3211195" cy="64071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Consistent</a:t>
            </a:r>
            <a:r>
              <a:rPr dirty="0" sz="1600" spc="-1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free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cash</a:t>
            </a:r>
            <a:r>
              <a:rPr dirty="0" sz="1600" spc="-4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flow</a:t>
            </a:r>
            <a:r>
              <a:rPr dirty="0" sz="1600" spc="-3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generation</a:t>
            </a:r>
            <a:endParaRPr sz="1600">
              <a:latin typeface="Corbel"/>
              <a:cs typeface="Corbel"/>
            </a:endParaRPr>
          </a:p>
          <a:p>
            <a:pPr marL="95885">
              <a:lnSpc>
                <a:spcPct val="100000"/>
              </a:lnSpc>
              <a:spcBef>
                <a:spcPts val="585"/>
              </a:spcBef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Free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cash</a:t>
            </a:r>
            <a:r>
              <a:rPr dirty="0" sz="1400" spc="-2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flow</a:t>
            </a:r>
            <a:r>
              <a:rPr dirty="0" sz="1400" spc="-15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i="1">
                <a:solidFill>
                  <a:srgbClr val="2A2F3B"/>
                </a:solidFill>
                <a:latin typeface="Corbel"/>
                <a:cs typeface="Corbel"/>
              </a:rPr>
              <a:t>($</a:t>
            </a:r>
            <a:r>
              <a:rPr dirty="0" sz="1200" spc="-25" i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200" spc="-10" i="1">
                <a:solidFill>
                  <a:srgbClr val="2A2F3B"/>
                </a:solidFill>
                <a:latin typeface="Corbel"/>
                <a:cs typeface="Corbel"/>
              </a:rPr>
              <a:t>million)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472249" y="4590288"/>
            <a:ext cx="3859529" cy="1080770"/>
            <a:chOff x="472249" y="4590288"/>
            <a:chExt cx="3859529" cy="1080770"/>
          </a:xfrm>
        </p:grpSpPr>
        <p:sp>
          <p:nvSpPr>
            <p:cNvPr id="27" name="object 27" descr=""/>
            <p:cNvSpPr/>
            <p:nvPr/>
          </p:nvSpPr>
          <p:spPr>
            <a:xfrm>
              <a:off x="766572" y="4590287"/>
              <a:ext cx="3272154" cy="1076325"/>
            </a:xfrm>
            <a:custGeom>
              <a:avLst/>
              <a:gdLst/>
              <a:ahLst/>
              <a:cxnLst/>
              <a:rect l="l" t="t" r="r" b="b"/>
              <a:pathLst>
                <a:path w="3272154" h="1076325">
                  <a:moveTo>
                    <a:pt x="385572" y="68580"/>
                  </a:moveTo>
                  <a:lnTo>
                    <a:pt x="0" y="68580"/>
                  </a:lnTo>
                  <a:lnTo>
                    <a:pt x="0" y="1075944"/>
                  </a:lnTo>
                  <a:lnTo>
                    <a:pt x="385572" y="1075944"/>
                  </a:lnTo>
                  <a:lnTo>
                    <a:pt x="385572" y="68580"/>
                  </a:lnTo>
                  <a:close/>
                </a:path>
                <a:path w="3272154" h="1076325">
                  <a:moveTo>
                    <a:pt x="1347216" y="45720"/>
                  </a:moveTo>
                  <a:lnTo>
                    <a:pt x="961644" y="45720"/>
                  </a:lnTo>
                  <a:lnTo>
                    <a:pt x="961644" y="1075944"/>
                  </a:lnTo>
                  <a:lnTo>
                    <a:pt x="1347216" y="1075944"/>
                  </a:lnTo>
                  <a:lnTo>
                    <a:pt x="1347216" y="45720"/>
                  </a:lnTo>
                  <a:close/>
                </a:path>
                <a:path w="3272154" h="1076325">
                  <a:moveTo>
                    <a:pt x="2310384" y="94488"/>
                  </a:moveTo>
                  <a:lnTo>
                    <a:pt x="1924812" y="94488"/>
                  </a:lnTo>
                  <a:lnTo>
                    <a:pt x="1924812" y="1075944"/>
                  </a:lnTo>
                  <a:lnTo>
                    <a:pt x="2310384" y="1075944"/>
                  </a:lnTo>
                  <a:lnTo>
                    <a:pt x="2310384" y="94488"/>
                  </a:lnTo>
                  <a:close/>
                </a:path>
                <a:path w="3272154" h="1076325">
                  <a:moveTo>
                    <a:pt x="3272028" y="0"/>
                  </a:moveTo>
                  <a:lnTo>
                    <a:pt x="2886456" y="0"/>
                  </a:lnTo>
                  <a:lnTo>
                    <a:pt x="2886456" y="1075944"/>
                  </a:lnTo>
                  <a:lnTo>
                    <a:pt x="3272028" y="1075944"/>
                  </a:lnTo>
                  <a:lnTo>
                    <a:pt x="3272028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77012" y="5666232"/>
              <a:ext cx="3850004" cy="0"/>
            </a:xfrm>
            <a:custGeom>
              <a:avLst/>
              <a:gdLst/>
              <a:ahLst/>
              <a:cxnLst/>
              <a:rect l="l" t="t" r="r" b="b"/>
              <a:pathLst>
                <a:path w="3850004" h="0">
                  <a:moveTo>
                    <a:pt x="0" y="0"/>
                  </a:moveTo>
                  <a:lnTo>
                    <a:pt x="3849624" y="0"/>
                  </a:lnTo>
                </a:path>
              </a:pathLst>
            </a:custGeom>
            <a:ln w="9144">
              <a:solidFill>
                <a:srgbClr val="85858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773427" y="4409313"/>
            <a:ext cx="2711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i="1">
                <a:latin typeface="Corbel"/>
                <a:cs typeface="Corbel"/>
              </a:rPr>
              <a:t>115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95934" y="4440682"/>
            <a:ext cx="22434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9135" algn="l"/>
              </a:tabLst>
            </a:pPr>
            <a:r>
              <a:rPr dirty="0" sz="1400" spc="-25" i="1">
                <a:latin typeface="Corbel"/>
                <a:cs typeface="Corbel"/>
              </a:rPr>
              <a:t>112</a:t>
            </a:r>
            <a:r>
              <a:rPr dirty="0" sz="1400" i="1">
                <a:latin typeface="Corbel"/>
                <a:cs typeface="Corbel"/>
              </a:rPr>
              <a:t>	</a:t>
            </a:r>
            <a:r>
              <a:rPr dirty="0" baseline="1984" sz="2100" spc="-37" i="1">
                <a:latin typeface="Corbel"/>
                <a:cs typeface="Corbel"/>
              </a:rPr>
              <a:t>109</a:t>
            </a:r>
            <a:endParaRPr baseline="1984" sz="2100">
              <a:latin typeface="Corbel"/>
              <a:cs typeface="Corbe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665601" y="4352290"/>
            <a:ext cx="2654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i="1">
                <a:latin typeface="Corbel"/>
                <a:cs typeface="Corbel"/>
              </a:rPr>
              <a:t>131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66063" y="5758078"/>
            <a:ext cx="3860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FY15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724660" y="5758078"/>
            <a:ext cx="3937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FY16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695701" y="5758078"/>
            <a:ext cx="37655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FY17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650741" y="5758078"/>
            <a:ext cx="39179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latin typeface="Corbel"/>
                <a:cs typeface="Corbel"/>
              </a:rPr>
              <a:t>FY18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258559" y="3615275"/>
            <a:ext cx="4185285" cy="63246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One</a:t>
            </a:r>
            <a:r>
              <a:rPr dirty="0" sz="1600" spc="-55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of</a:t>
            </a:r>
            <a:r>
              <a:rPr dirty="0" sz="1600" spc="-6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Industry</a:t>
            </a:r>
            <a:r>
              <a:rPr dirty="0" sz="1600" spc="-3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leading</a:t>
            </a:r>
            <a:r>
              <a:rPr dirty="0" sz="1600" spc="-5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b="1">
                <a:solidFill>
                  <a:srgbClr val="2A2F3B"/>
                </a:solidFill>
                <a:latin typeface="Corbel"/>
                <a:cs typeface="Corbel"/>
              </a:rPr>
              <a:t>FCF/EBITDA</a:t>
            </a:r>
            <a:r>
              <a:rPr dirty="0" sz="1600" spc="-40" b="1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600" spc="-10" b="1">
                <a:solidFill>
                  <a:srgbClr val="2A2F3B"/>
                </a:solidFill>
                <a:latin typeface="Corbel"/>
                <a:cs typeface="Corbel"/>
              </a:rPr>
              <a:t>conversion</a:t>
            </a:r>
            <a:endParaRPr sz="1600">
              <a:latin typeface="Corbel"/>
              <a:cs typeface="Corbel"/>
            </a:endParaRPr>
          </a:p>
          <a:p>
            <a:pPr marL="19050">
              <a:lnSpc>
                <a:spcPct val="100000"/>
              </a:lnSpc>
              <a:spcBef>
                <a:spcPts val="555"/>
              </a:spcBef>
            </a:pP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Free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cash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flow</a:t>
            </a:r>
            <a:r>
              <a:rPr dirty="0" sz="1400" spc="-3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>
                <a:solidFill>
                  <a:srgbClr val="2A2F3B"/>
                </a:solidFill>
                <a:latin typeface="Corbel"/>
                <a:cs typeface="Corbel"/>
              </a:rPr>
              <a:t>(FCF)/Adj.</a:t>
            </a:r>
            <a:r>
              <a:rPr dirty="0" sz="1400" spc="-40">
                <a:solidFill>
                  <a:srgbClr val="2A2F3B"/>
                </a:solidFill>
                <a:latin typeface="Corbel"/>
                <a:cs typeface="Corbel"/>
              </a:rPr>
              <a:t> </a:t>
            </a:r>
            <a:r>
              <a:rPr dirty="0" sz="1400" spc="-10">
                <a:solidFill>
                  <a:srgbClr val="2A2F3B"/>
                </a:solidFill>
                <a:latin typeface="Corbel"/>
                <a:cs typeface="Corbel"/>
              </a:rPr>
              <a:t>EBITDA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6498145" y="4765547"/>
            <a:ext cx="4330065" cy="927100"/>
            <a:chOff x="6498145" y="4765547"/>
            <a:chExt cx="4330065" cy="927100"/>
          </a:xfrm>
        </p:grpSpPr>
        <p:sp>
          <p:nvSpPr>
            <p:cNvPr id="38" name="object 38" descr=""/>
            <p:cNvSpPr/>
            <p:nvPr/>
          </p:nvSpPr>
          <p:spPr>
            <a:xfrm>
              <a:off x="6825996" y="4765547"/>
              <a:ext cx="3672840" cy="922019"/>
            </a:xfrm>
            <a:custGeom>
              <a:avLst/>
              <a:gdLst/>
              <a:ahLst/>
              <a:cxnLst/>
              <a:rect l="l" t="t" r="r" b="b"/>
              <a:pathLst>
                <a:path w="3672840" h="922020">
                  <a:moveTo>
                    <a:pt x="432816" y="50292"/>
                  </a:moveTo>
                  <a:lnTo>
                    <a:pt x="0" y="50292"/>
                  </a:lnTo>
                  <a:lnTo>
                    <a:pt x="0" y="922020"/>
                  </a:lnTo>
                  <a:lnTo>
                    <a:pt x="432816" y="922020"/>
                  </a:lnTo>
                  <a:lnTo>
                    <a:pt x="432816" y="50292"/>
                  </a:lnTo>
                  <a:close/>
                </a:path>
                <a:path w="3672840" h="922020">
                  <a:moveTo>
                    <a:pt x="1513332" y="0"/>
                  </a:moveTo>
                  <a:lnTo>
                    <a:pt x="1080516" y="0"/>
                  </a:lnTo>
                  <a:lnTo>
                    <a:pt x="1080516" y="922020"/>
                  </a:lnTo>
                  <a:lnTo>
                    <a:pt x="1513332" y="922020"/>
                  </a:lnTo>
                  <a:lnTo>
                    <a:pt x="1513332" y="0"/>
                  </a:lnTo>
                  <a:close/>
                </a:path>
                <a:path w="3672840" h="922020">
                  <a:moveTo>
                    <a:pt x="2592324" y="166116"/>
                  </a:moveTo>
                  <a:lnTo>
                    <a:pt x="2161032" y="166116"/>
                  </a:lnTo>
                  <a:lnTo>
                    <a:pt x="2161032" y="922020"/>
                  </a:lnTo>
                  <a:lnTo>
                    <a:pt x="2592324" y="922020"/>
                  </a:lnTo>
                  <a:lnTo>
                    <a:pt x="2592324" y="166116"/>
                  </a:lnTo>
                  <a:close/>
                </a:path>
                <a:path w="3672840" h="922020">
                  <a:moveTo>
                    <a:pt x="3672840" y="24384"/>
                  </a:moveTo>
                  <a:lnTo>
                    <a:pt x="3241548" y="24384"/>
                  </a:lnTo>
                  <a:lnTo>
                    <a:pt x="3241548" y="922020"/>
                  </a:lnTo>
                  <a:lnTo>
                    <a:pt x="3672840" y="922020"/>
                  </a:lnTo>
                  <a:lnTo>
                    <a:pt x="3672840" y="24384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502908" y="5687567"/>
              <a:ext cx="4320540" cy="0"/>
            </a:xfrm>
            <a:custGeom>
              <a:avLst/>
              <a:gdLst/>
              <a:ahLst/>
              <a:cxnLst/>
              <a:rect l="l" t="t" r="r" b="b"/>
              <a:pathLst>
                <a:path w="4320540" h="0">
                  <a:moveTo>
                    <a:pt x="0" y="0"/>
                  </a:moveTo>
                  <a:lnTo>
                    <a:pt x="4320540" y="0"/>
                  </a:lnTo>
                </a:path>
              </a:pathLst>
            </a:custGeom>
            <a:ln w="9144">
              <a:solidFill>
                <a:srgbClr val="85858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6838315" y="4509008"/>
            <a:ext cx="3536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i="1">
                <a:latin typeface="Corbel"/>
                <a:cs typeface="Corbel"/>
              </a:rPr>
              <a:t>68%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7978520" y="4483100"/>
            <a:ext cx="3346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i="1">
                <a:latin typeface="Corbel"/>
                <a:cs typeface="Corbel"/>
              </a:rPr>
              <a:t>72%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9027032" y="4669027"/>
            <a:ext cx="3505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i="1">
                <a:latin typeface="Corbel"/>
                <a:cs typeface="Corbel"/>
              </a:rPr>
              <a:t>59%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0100818" y="4544695"/>
            <a:ext cx="3378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i="1">
                <a:latin typeface="Corbel"/>
                <a:cs typeface="Corbel"/>
              </a:rPr>
              <a:t>70%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284988" y="176784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25450" h="373380">
                <a:moveTo>
                  <a:pt x="212597" y="0"/>
                </a:moveTo>
                <a:lnTo>
                  <a:pt x="163852" y="4929"/>
                </a:lnTo>
                <a:lnTo>
                  <a:pt x="119104" y="18972"/>
                </a:lnTo>
                <a:lnTo>
                  <a:pt x="79630" y="41008"/>
                </a:lnTo>
                <a:lnTo>
                  <a:pt x="46706" y="69917"/>
                </a:lnTo>
                <a:lnTo>
                  <a:pt x="21609" y="104580"/>
                </a:lnTo>
                <a:lnTo>
                  <a:pt x="5615" y="143878"/>
                </a:lnTo>
                <a:lnTo>
                  <a:pt x="0" y="186690"/>
                </a:lnTo>
                <a:lnTo>
                  <a:pt x="5615" y="229501"/>
                </a:lnTo>
                <a:lnTo>
                  <a:pt x="21609" y="268799"/>
                </a:lnTo>
                <a:lnTo>
                  <a:pt x="46706" y="303462"/>
                </a:lnTo>
                <a:lnTo>
                  <a:pt x="79630" y="332371"/>
                </a:lnTo>
                <a:lnTo>
                  <a:pt x="119104" y="354407"/>
                </a:lnTo>
                <a:lnTo>
                  <a:pt x="163852" y="368450"/>
                </a:lnTo>
                <a:lnTo>
                  <a:pt x="212597" y="373380"/>
                </a:lnTo>
                <a:lnTo>
                  <a:pt x="261343" y="368450"/>
                </a:lnTo>
                <a:lnTo>
                  <a:pt x="306091" y="354407"/>
                </a:lnTo>
                <a:lnTo>
                  <a:pt x="345565" y="332371"/>
                </a:lnTo>
                <a:lnTo>
                  <a:pt x="378489" y="303462"/>
                </a:lnTo>
                <a:lnTo>
                  <a:pt x="403586" y="268799"/>
                </a:lnTo>
                <a:lnTo>
                  <a:pt x="419580" y="229501"/>
                </a:lnTo>
                <a:lnTo>
                  <a:pt x="425196" y="186690"/>
                </a:lnTo>
                <a:lnTo>
                  <a:pt x="419580" y="143878"/>
                </a:lnTo>
                <a:lnTo>
                  <a:pt x="403586" y="104580"/>
                </a:lnTo>
                <a:lnTo>
                  <a:pt x="378489" y="69917"/>
                </a:lnTo>
                <a:lnTo>
                  <a:pt x="345565" y="41008"/>
                </a:lnTo>
                <a:lnTo>
                  <a:pt x="306091" y="18972"/>
                </a:lnTo>
                <a:lnTo>
                  <a:pt x="261343" y="4929"/>
                </a:lnTo>
                <a:lnTo>
                  <a:pt x="212597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407923" y="148209"/>
            <a:ext cx="180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 i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1597152" y="3291839"/>
            <a:ext cx="1655445" cy="242570"/>
          </a:xfrm>
          <a:custGeom>
            <a:avLst/>
            <a:gdLst/>
            <a:ahLst/>
            <a:cxnLst/>
            <a:rect l="l" t="t" r="r" b="b"/>
            <a:pathLst>
              <a:path w="1655445" h="242570">
                <a:moveTo>
                  <a:pt x="731520" y="121158"/>
                </a:moveTo>
                <a:lnTo>
                  <a:pt x="708634" y="78879"/>
                </a:lnTo>
                <a:lnTo>
                  <a:pt x="645502" y="43103"/>
                </a:lnTo>
                <a:lnTo>
                  <a:pt x="601433" y="28498"/>
                </a:lnTo>
                <a:lnTo>
                  <a:pt x="550379" y="16548"/>
                </a:lnTo>
                <a:lnTo>
                  <a:pt x="493395" y="7581"/>
                </a:lnTo>
                <a:lnTo>
                  <a:pt x="431507" y="1955"/>
                </a:lnTo>
                <a:lnTo>
                  <a:pt x="365760" y="0"/>
                </a:lnTo>
                <a:lnTo>
                  <a:pt x="299999" y="1955"/>
                </a:lnTo>
                <a:lnTo>
                  <a:pt x="238112" y="7581"/>
                </a:lnTo>
                <a:lnTo>
                  <a:pt x="181127" y="16548"/>
                </a:lnTo>
                <a:lnTo>
                  <a:pt x="130073" y="28498"/>
                </a:lnTo>
                <a:lnTo>
                  <a:pt x="86004" y="43103"/>
                </a:lnTo>
                <a:lnTo>
                  <a:pt x="49923" y="60007"/>
                </a:lnTo>
                <a:lnTo>
                  <a:pt x="5880" y="99377"/>
                </a:lnTo>
                <a:lnTo>
                  <a:pt x="0" y="121158"/>
                </a:lnTo>
                <a:lnTo>
                  <a:pt x="5880" y="142951"/>
                </a:lnTo>
                <a:lnTo>
                  <a:pt x="49923" y="182321"/>
                </a:lnTo>
                <a:lnTo>
                  <a:pt x="86004" y="199224"/>
                </a:lnTo>
                <a:lnTo>
                  <a:pt x="130073" y="213829"/>
                </a:lnTo>
                <a:lnTo>
                  <a:pt x="181127" y="225780"/>
                </a:lnTo>
                <a:lnTo>
                  <a:pt x="238112" y="234746"/>
                </a:lnTo>
                <a:lnTo>
                  <a:pt x="299999" y="240372"/>
                </a:lnTo>
                <a:lnTo>
                  <a:pt x="365760" y="242316"/>
                </a:lnTo>
                <a:lnTo>
                  <a:pt x="431507" y="240372"/>
                </a:lnTo>
                <a:lnTo>
                  <a:pt x="493395" y="234746"/>
                </a:lnTo>
                <a:lnTo>
                  <a:pt x="550379" y="225780"/>
                </a:lnTo>
                <a:lnTo>
                  <a:pt x="601433" y="213829"/>
                </a:lnTo>
                <a:lnTo>
                  <a:pt x="645502" y="199224"/>
                </a:lnTo>
                <a:lnTo>
                  <a:pt x="681583" y="182321"/>
                </a:lnTo>
                <a:lnTo>
                  <a:pt x="725627" y="142951"/>
                </a:lnTo>
                <a:lnTo>
                  <a:pt x="731520" y="121158"/>
                </a:lnTo>
                <a:close/>
              </a:path>
              <a:path w="1655445" h="242570">
                <a:moveTo>
                  <a:pt x="1655051" y="121158"/>
                </a:moveTo>
                <a:lnTo>
                  <a:pt x="1632178" y="78879"/>
                </a:lnTo>
                <a:lnTo>
                  <a:pt x="1569046" y="43103"/>
                </a:lnTo>
                <a:lnTo>
                  <a:pt x="1524977" y="28498"/>
                </a:lnTo>
                <a:lnTo>
                  <a:pt x="1473923" y="16548"/>
                </a:lnTo>
                <a:lnTo>
                  <a:pt x="1416939" y="7581"/>
                </a:lnTo>
                <a:lnTo>
                  <a:pt x="1355051" y="1955"/>
                </a:lnTo>
                <a:lnTo>
                  <a:pt x="1289304" y="0"/>
                </a:lnTo>
                <a:lnTo>
                  <a:pt x="1223543" y="1955"/>
                </a:lnTo>
                <a:lnTo>
                  <a:pt x="1161656" y="7581"/>
                </a:lnTo>
                <a:lnTo>
                  <a:pt x="1104671" y="16548"/>
                </a:lnTo>
                <a:lnTo>
                  <a:pt x="1053617" y="28498"/>
                </a:lnTo>
                <a:lnTo>
                  <a:pt x="1009548" y="43103"/>
                </a:lnTo>
                <a:lnTo>
                  <a:pt x="973467" y="60007"/>
                </a:lnTo>
                <a:lnTo>
                  <a:pt x="929424" y="99377"/>
                </a:lnTo>
                <a:lnTo>
                  <a:pt x="923544" y="121158"/>
                </a:lnTo>
                <a:lnTo>
                  <a:pt x="929424" y="142951"/>
                </a:lnTo>
                <a:lnTo>
                  <a:pt x="973467" y="182321"/>
                </a:lnTo>
                <a:lnTo>
                  <a:pt x="1009548" y="199224"/>
                </a:lnTo>
                <a:lnTo>
                  <a:pt x="1053617" y="213829"/>
                </a:lnTo>
                <a:lnTo>
                  <a:pt x="1104671" y="225780"/>
                </a:lnTo>
                <a:lnTo>
                  <a:pt x="1161656" y="234746"/>
                </a:lnTo>
                <a:lnTo>
                  <a:pt x="1223543" y="240372"/>
                </a:lnTo>
                <a:lnTo>
                  <a:pt x="1289304" y="242316"/>
                </a:lnTo>
                <a:lnTo>
                  <a:pt x="1355051" y="240372"/>
                </a:lnTo>
                <a:lnTo>
                  <a:pt x="1416939" y="234746"/>
                </a:lnTo>
                <a:lnTo>
                  <a:pt x="1473923" y="225780"/>
                </a:lnTo>
                <a:lnTo>
                  <a:pt x="1524977" y="213829"/>
                </a:lnTo>
                <a:lnTo>
                  <a:pt x="1569046" y="199224"/>
                </a:lnTo>
                <a:lnTo>
                  <a:pt x="1605127" y="182321"/>
                </a:lnTo>
                <a:lnTo>
                  <a:pt x="1649171" y="142951"/>
                </a:lnTo>
                <a:lnTo>
                  <a:pt x="1655051" y="121158"/>
                </a:lnTo>
                <a:close/>
              </a:path>
            </a:pathLst>
          </a:custGeom>
          <a:solidFill>
            <a:srgbClr val="9FB4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546303" y="2870809"/>
            <a:ext cx="649605" cy="62865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276225">
              <a:lnSpc>
                <a:spcPct val="100000"/>
              </a:lnSpc>
              <a:spcBef>
                <a:spcPts val="790"/>
              </a:spcBef>
            </a:pPr>
            <a:r>
              <a:rPr dirty="0" sz="1400" spc="-20">
                <a:latin typeface="Corbel"/>
                <a:cs typeface="Corbel"/>
              </a:rPr>
              <a:t>FY15</a:t>
            </a:r>
            <a:endParaRPr sz="14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 spc="-35" b="1">
                <a:latin typeface="Corbel"/>
                <a:cs typeface="Corbel"/>
              </a:rPr>
              <a:t>YoY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spc="-50" b="1">
                <a:latin typeface="Corbel"/>
                <a:cs typeface="Corbel"/>
              </a:rPr>
              <a:t>%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760982" y="3300476"/>
            <a:ext cx="1336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735" algn="l"/>
              </a:tabLst>
            </a:pPr>
            <a:r>
              <a:rPr dirty="0" sz="1200" spc="-10" b="1" i="1">
                <a:solidFill>
                  <a:srgbClr val="FFFFFF"/>
                </a:solidFill>
                <a:latin typeface="Corbel"/>
                <a:cs typeface="Corbel"/>
              </a:rPr>
              <a:t>-</a:t>
            </a:r>
            <a:r>
              <a:rPr dirty="0" sz="1200" spc="-20" b="1" i="1">
                <a:solidFill>
                  <a:srgbClr val="FFFFFF"/>
                </a:solidFill>
                <a:latin typeface="Corbel"/>
                <a:cs typeface="Corbel"/>
              </a:rPr>
              <a:t>6.3%</a:t>
            </a:r>
            <a:r>
              <a:rPr dirty="0" sz="1200" b="1" i="1">
                <a:solidFill>
                  <a:srgbClr val="FFFFFF"/>
                </a:solidFill>
                <a:latin typeface="Corbel"/>
                <a:cs typeface="Corbel"/>
              </a:rPr>
              <a:t>	</a:t>
            </a:r>
            <a:r>
              <a:rPr dirty="0" sz="1200" spc="-20" b="1" i="1">
                <a:solidFill>
                  <a:srgbClr val="FFFFFF"/>
                </a:solidFill>
                <a:latin typeface="Corbel"/>
                <a:cs typeface="Corbel"/>
              </a:rPr>
              <a:t>25.3%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3467100" y="3291840"/>
            <a:ext cx="731520" cy="242570"/>
          </a:xfrm>
          <a:custGeom>
            <a:avLst/>
            <a:gdLst/>
            <a:ahLst/>
            <a:cxnLst/>
            <a:rect l="l" t="t" r="r" b="b"/>
            <a:pathLst>
              <a:path w="731520" h="242570">
                <a:moveTo>
                  <a:pt x="365760" y="0"/>
                </a:moveTo>
                <a:lnTo>
                  <a:pt x="300000" y="1951"/>
                </a:lnTo>
                <a:lnTo>
                  <a:pt x="238112" y="7578"/>
                </a:lnTo>
                <a:lnTo>
                  <a:pt x="181130" y="16538"/>
                </a:lnTo>
                <a:lnTo>
                  <a:pt x="130083" y="28489"/>
                </a:lnTo>
                <a:lnTo>
                  <a:pt x="86004" y="43091"/>
                </a:lnTo>
                <a:lnTo>
                  <a:pt x="49925" y="60000"/>
                </a:lnTo>
                <a:lnTo>
                  <a:pt x="5891" y="99375"/>
                </a:lnTo>
                <a:lnTo>
                  <a:pt x="0" y="121158"/>
                </a:lnTo>
                <a:lnTo>
                  <a:pt x="5891" y="142940"/>
                </a:lnTo>
                <a:lnTo>
                  <a:pt x="49925" y="182315"/>
                </a:lnTo>
                <a:lnTo>
                  <a:pt x="86004" y="199224"/>
                </a:lnTo>
                <a:lnTo>
                  <a:pt x="130083" y="213826"/>
                </a:lnTo>
                <a:lnTo>
                  <a:pt x="181130" y="225777"/>
                </a:lnTo>
                <a:lnTo>
                  <a:pt x="238112" y="234737"/>
                </a:lnTo>
                <a:lnTo>
                  <a:pt x="300000" y="240364"/>
                </a:lnTo>
                <a:lnTo>
                  <a:pt x="365760" y="242315"/>
                </a:lnTo>
                <a:lnTo>
                  <a:pt x="431519" y="240364"/>
                </a:lnTo>
                <a:lnTo>
                  <a:pt x="493407" y="234737"/>
                </a:lnTo>
                <a:lnTo>
                  <a:pt x="550389" y="225777"/>
                </a:lnTo>
                <a:lnTo>
                  <a:pt x="601436" y="213826"/>
                </a:lnTo>
                <a:lnTo>
                  <a:pt x="645515" y="199224"/>
                </a:lnTo>
                <a:lnTo>
                  <a:pt x="681594" y="182315"/>
                </a:lnTo>
                <a:lnTo>
                  <a:pt x="725628" y="142940"/>
                </a:lnTo>
                <a:lnTo>
                  <a:pt x="731520" y="121158"/>
                </a:lnTo>
                <a:lnTo>
                  <a:pt x="725628" y="99375"/>
                </a:lnTo>
                <a:lnTo>
                  <a:pt x="681594" y="60000"/>
                </a:lnTo>
                <a:lnTo>
                  <a:pt x="645515" y="43091"/>
                </a:lnTo>
                <a:lnTo>
                  <a:pt x="601436" y="28489"/>
                </a:lnTo>
                <a:lnTo>
                  <a:pt x="550389" y="16538"/>
                </a:lnTo>
                <a:lnTo>
                  <a:pt x="493407" y="7578"/>
                </a:lnTo>
                <a:lnTo>
                  <a:pt x="431519" y="1951"/>
                </a:lnTo>
                <a:lnTo>
                  <a:pt x="365760" y="0"/>
                </a:lnTo>
                <a:close/>
              </a:path>
            </a:pathLst>
          </a:custGeom>
          <a:solidFill>
            <a:srgbClr val="9FB4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3625341" y="3300476"/>
            <a:ext cx="4197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 i="1">
                <a:solidFill>
                  <a:srgbClr val="FFFFFF"/>
                </a:solidFill>
                <a:latin typeface="Corbel"/>
                <a:cs typeface="Corbel"/>
              </a:rPr>
              <a:t>13.5%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4471415" y="3206305"/>
            <a:ext cx="6646545" cy="441325"/>
            <a:chOff x="4471415" y="3206305"/>
            <a:chExt cx="6646545" cy="441325"/>
          </a:xfrm>
        </p:grpSpPr>
        <p:sp>
          <p:nvSpPr>
            <p:cNvPr id="52" name="object 52" descr=""/>
            <p:cNvSpPr/>
            <p:nvPr/>
          </p:nvSpPr>
          <p:spPr>
            <a:xfrm>
              <a:off x="4471415" y="3291839"/>
              <a:ext cx="731520" cy="242570"/>
            </a:xfrm>
            <a:custGeom>
              <a:avLst/>
              <a:gdLst/>
              <a:ahLst/>
              <a:cxnLst/>
              <a:rect l="l" t="t" r="r" b="b"/>
              <a:pathLst>
                <a:path w="731520" h="242570">
                  <a:moveTo>
                    <a:pt x="365760" y="0"/>
                  </a:moveTo>
                  <a:lnTo>
                    <a:pt x="300000" y="1951"/>
                  </a:lnTo>
                  <a:lnTo>
                    <a:pt x="238112" y="7578"/>
                  </a:lnTo>
                  <a:lnTo>
                    <a:pt x="181130" y="16538"/>
                  </a:lnTo>
                  <a:lnTo>
                    <a:pt x="130083" y="28489"/>
                  </a:lnTo>
                  <a:lnTo>
                    <a:pt x="86004" y="43091"/>
                  </a:lnTo>
                  <a:lnTo>
                    <a:pt x="49925" y="60000"/>
                  </a:lnTo>
                  <a:lnTo>
                    <a:pt x="5891" y="99375"/>
                  </a:lnTo>
                  <a:lnTo>
                    <a:pt x="0" y="121158"/>
                  </a:lnTo>
                  <a:lnTo>
                    <a:pt x="5891" y="142940"/>
                  </a:lnTo>
                  <a:lnTo>
                    <a:pt x="49925" y="182315"/>
                  </a:lnTo>
                  <a:lnTo>
                    <a:pt x="86004" y="199224"/>
                  </a:lnTo>
                  <a:lnTo>
                    <a:pt x="130083" y="213826"/>
                  </a:lnTo>
                  <a:lnTo>
                    <a:pt x="181130" y="225777"/>
                  </a:lnTo>
                  <a:lnTo>
                    <a:pt x="238112" y="234737"/>
                  </a:lnTo>
                  <a:lnTo>
                    <a:pt x="300000" y="240364"/>
                  </a:lnTo>
                  <a:lnTo>
                    <a:pt x="365760" y="242315"/>
                  </a:lnTo>
                  <a:lnTo>
                    <a:pt x="431519" y="240364"/>
                  </a:lnTo>
                  <a:lnTo>
                    <a:pt x="493407" y="234737"/>
                  </a:lnTo>
                  <a:lnTo>
                    <a:pt x="550389" y="225777"/>
                  </a:lnTo>
                  <a:lnTo>
                    <a:pt x="601436" y="213826"/>
                  </a:lnTo>
                  <a:lnTo>
                    <a:pt x="645515" y="199224"/>
                  </a:lnTo>
                  <a:lnTo>
                    <a:pt x="681594" y="182315"/>
                  </a:lnTo>
                  <a:lnTo>
                    <a:pt x="725628" y="142940"/>
                  </a:lnTo>
                  <a:lnTo>
                    <a:pt x="731520" y="121158"/>
                  </a:lnTo>
                  <a:lnTo>
                    <a:pt x="725628" y="99375"/>
                  </a:lnTo>
                  <a:lnTo>
                    <a:pt x="681594" y="60000"/>
                  </a:lnTo>
                  <a:lnTo>
                    <a:pt x="645515" y="43091"/>
                  </a:lnTo>
                  <a:lnTo>
                    <a:pt x="601436" y="28489"/>
                  </a:lnTo>
                  <a:lnTo>
                    <a:pt x="550389" y="16538"/>
                  </a:lnTo>
                  <a:lnTo>
                    <a:pt x="493407" y="7578"/>
                  </a:lnTo>
                  <a:lnTo>
                    <a:pt x="431519" y="1951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333743" y="3211067"/>
              <a:ext cx="4779645" cy="431800"/>
            </a:xfrm>
            <a:custGeom>
              <a:avLst/>
              <a:gdLst/>
              <a:ahLst/>
              <a:cxnLst/>
              <a:rect l="l" t="t" r="r" b="b"/>
              <a:pathLst>
                <a:path w="4779645" h="431800">
                  <a:moveTo>
                    <a:pt x="0" y="431291"/>
                  </a:moveTo>
                  <a:lnTo>
                    <a:pt x="4779263" y="431291"/>
                  </a:lnTo>
                  <a:lnTo>
                    <a:pt x="4779263" y="0"/>
                  </a:lnTo>
                  <a:lnTo>
                    <a:pt x="0" y="0"/>
                  </a:lnTo>
                  <a:lnTo>
                    <a:pt x="0" y="431291"/>
                  </a:lnTo>
                  <a:close/>
                </a:path>
              </a:pathLst>
            </a:custGeom>
            <a:ln w="9144">
              <a:solidFill>
                <a:srgbClr val="B51E6A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6426708" y="2821383"/>
            <a:ext cx="3645535" cy="77660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431800">
              <a:lnSpc>
                <a:spcPct val="100000"/>
              </a:lnSpc>
              <a:spcBef>
                <a:spcPts val="990"/>
              </a:spcBef>
              <a:tabLst>
                <a:tab pos="1508125" algn="l"/>
                <a:tab pos="2597150" algn="l"/>
              </a:tabLst>
            </a:pPr>
            <a:r>
              <a:rPr dirty="0" sz="1400" spc="-20">
                <a:latin typeface="Corbel"/>
                <a:cs typeface="Corbel"/>
              </a:rPr>
              <a:t>FY15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0">
                <a:latin typeface="Corbel"/>
                <a:cs typeface="Corbel"/>
              </a:rPr>
              <a:t>FY16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0">
                <a:latin typeface="Corbel"/>
                <a:cs typeface="Corbel"/>
              </a:rPr>
              <a:t>FY17</a:t>
            </a:r>
            <a:endParaRPr sz="1400">
              <a:latin typeface="Corbel"/>
              <a:cs typeface="Corbel"/>
            </a:endParaRPr>
          </a:p>
          <a:p>
            <a:pPr marL="342265" indent="-3422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 sz="1100">
                <a:latin typeface="Corbel"/>
                <a:cs typeface="Corbel"/>
              </a:rPr>
              <a:t>Completed</a:t>
            </a:r>
            <a:r>
              <a:rPr dirty="0" sz="1100" spc="-5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share</a:t>
            </a:r>
            <a:r>
              <a:rPr dirty="0" sz="1100" spc="-5">
                <a:latin typeface="Corbel"/>
                <a:cs typeface="Corbel"/>
              </a:rPr>
              <a:t> </a:t>
            </a:r>
            <a:r>
              <a:rPr dirty="0" sz="1100" spc="-10">
                <a:latin typeface="Corbel"/>
                <a:cs typeface="Corbel"/>
              </a:rPr>
              <a:t>buy-</a:t>
            </a:r>
            <a:r>
              <a:rPr dirty="0" sz="1100">
                <a:latin typeface="Corbel"/>
                <a:cs typeface="Corbel"/>
              </a:rPr>
              <a:t>back</a:t>
            </a:r>
            <a:r>
              <a:rPr dirty="0" sz="1100" spc="-25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worth</a:t>
            </a:r>
            <a:r>
              <a:rPr dirty="0" sz="1100" spc="-5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Rs</a:t>
            </a:r>
            <a:r>
              <a:rPr dirty="0" sz="1100" spc="5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9,937</a:t>
            </a:r>
            <a:r>
              <a:rPr dirty="0" sz="1100" spc="-15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Mn</a:t>
            </a:r>
            <a:r>
              <a:rPr dirty="0" sz="1100" spc="-25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in</a:t>
            </a:r>
            <a:r>
              <a:rPr dirty="0" sz="1100" spc="-5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Q3</a:t>
            </a:r>
            <a:r>
              <a:rPr dirty="0" sz="1100" spc="-15">
                <a:latin typeface="Corbel"/>
                <a:cs typeface="Corbel"/>
              </a:rPr>
              <a:t> </a:t>
            </a:r>
            <a:r>
              <a:rPr dirty="0" sz="1100" spc="-20">
                <a:latin typeface="Corbel"/>
                <a:cs typeface="Corbel"/>
              </a:rPr>
              <a:t>FY19</a:t>
            </a:r>
            <a:endParaRPr sz="1100">
              <a:latin typeface="Corbel"/>
              <a:cs typeface="Corbel"/>
            </a:endParaRPr>
          </a:p>
          <a:p>
            <a:pPr marL="342265" indent="-342265">
              <a:lnSpc>
                <a:spcPct val="100000"/>
              </a:lnSpc>
              <a:buFont typeface="Arial MT"/>
              <a:buChar char="•"/>
              <a:tabLst>
                <a:tab pos="342265" algn="l"/>
              </a:tabLst>
            </a:pPr>
            <a:r>
              <a:rPr dirty="0" sz="1100">
                <a:latin typeface="Corbel"/>
                <a:cs typeface="Corbel"/>
              </a:rPr>
              <a:t>Completed</a:t>
            </a:r>
            <a:r>
              <a:rPr dirty="0" sz="1100" spc="-5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share</a:t>
            </a:r>
            <a:r>
              <a:rPr dirty="0" sz="1100" spc="-10">
                <a:latin typeface="Corbel"/>
                <a:cs typeface="Corbel"/>
              </a:rPr>
              <a:t> buy-</a:t>
            </a:r>
            <a:r>
              <a:rPr dirty="0" sz="1100">
                <a:latin typeface="Corbel"/>
                <a:cs typeface="Corbel"/>
              </a:rPr>
              <a:t>back</a:t>
            </a:r>
            <a:r>
              <a:rPr dirty="0" sz="1100" spc="-25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worth</a:t>
            </a:r>
            <a:r>
              <a:rPr dirty="0" sz="1100" spc="-5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Rs</a:t>
            </a:r>
            <a:r>
              <a:rPr dirty="0" sz="1100" spc="5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11,030</a:t>
            </a:r>
            <a:r>
              <a:rPr dirty="0" sz="1100" spc="-30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Mn</a:t>
            </a:r>
            <a:r>
              <a:rPr dirty="0" sz="1100" spc="-20">
                <a:latin typeface="Corbel"/>
                <a:cs typeface="Corbel"/>
              </a:rPr>
              <a:t> </a:t>
            </a:r>
            <a:r>
              <a:rPr dirty="0" sz="1100">
                <a:latin typeface="Corbel"/>
                <a:cs typeface="Corbel"/>
              </a:rPr>
              <a:t>in</a:t>
            </a:r>
            <a:r>
              <a:rPr dirty="0" sz="1100" spc="-20">
                <a:latin typeface="Corbel"/>
                <a:cs typeface="Corbel"/>
              </a:rPr>
              <a:t> FY18</a:t>
            </a:r>
            <a:endParaRPr sz="1100">
              <a:latin typeface="Corbel"/>
              <a:cs typeface="Corbel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4255008" y="1612391"/>
            <a:ext cx="1000125" cy="4060190"/>
            <a:chOff x="4255008" y="1612391"/>
            <a:chExt cx="1000125" cy="4060190"/>
          </a:xfrm>
        </p:grpSpPr>
        <p:sp>
          <p:nvSpPr>
            <p:cNvPr id="56" name="object 56" descr=""/>
            <p:cNvSpPr/>
            <p:nvPr/>
          </p:nvSpPr>
          <p:spPr>
            <a:xfrm>
              <a:off x="4547616" y="4568952"/>
              <a:ext cx="390525" cy="1099185"/>
            </a:xfrm>
            <a:custGeom>
              <a:avLst/>
              <a:gdLst/>
              <a:ahLst/>
              <a:cxnLst/>
              <a:rect l="l" t="t" r="r" b="b"/>
              <a:pathLst>
                <a:path w="390525" h="1099185">
                  <a:moveTo>
                    <a:pt x="390143" y="0"/>
                  </a:moveTo>
                  <a:lnTo>
                    <a:pt x="0" y="0"/>
                  </a:lnTo>
                  <a:lnTo>
                    <a:pt x="0" y="1098804"/>
                  </a:lnTo>
                  <a:lnTo>
                    <a:pt x="390143" y="1098804"/>
                  </a:lnTo>
                  <a:lnTo>
                    <a:pt x="390143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255008" y="5667756"/>
              <a:ext cx="975360" cy="0"/>
            </a:xfrm>
            <a:custGeom>
              <a:avLst/>
              <a:gdLst/>
              <a:ahLst/>
              <a:cxnLst/>
              <a:rect l="l" t="t" r="r" b="b"/>
              <a:pathLst>
                <a:path w="975360" h="0">
                  <a:moveTo>
                    <a:pt x="0" y="0"/>
                  </a:moveTo>
                  <a:lnTo>
                    <a:pt x="975359" y="0"/>
                  </a:lnTo>
                </a:path>
              </a:pathLst>
            </a:custGeom>
            <a:ln w="9144">
              <a:solidFill>
                <a:srgbClr val="8585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572000" y="1612391"/>
              <a:ext cx="390525" cy="1260475"/>
            </a:xfrm>
            <a:custGeom>
              <a:avLst/>
              <a:gdLst/>
              <a:ahLst/>
              <a:cxnLst/>
              <a:rect l="l" t="t" r="r" b="b"/>
              <a:pathLst>
                <a:path w="390525" h="1260475">
                  <a:moveTo>
                    <a:pt x="390144" y="0"/>
                  </a:moveTo>
                  <a:lnTo>
                    <a:pt x="0" y="0"/>
                  </a:lnTo>
                  <a:lnTo>
                    <a:pt x="0" y="1260348"/>
                  </a:lnTo>
                  <a:lnTo>
                    <a:pt x="390144" y="1260348"/>
                  </a:lnTo>
                  <a:lnTo>
                    <a:pt x="390144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279392" y="2872739"/>
              <a:ext cx="975360" cy="0"/>
            </a:xfrm>
            <a:custGeom>
              <a:avLst/>
              <a:gdLst/>
              <a:ahLst/>
              <a:cxnLst/>
              <a:rect l="l" t="t" r="r" b="b"/>
              <a:pathLst>
                <a:path w="975360" h="0">
                  <a:moveTo>
                    <a:pt x="0" y="0"/>
                  </a:moveTo>
                  <a:lnTo>
                    <a:pt x="975360" y="0"/>
                  </a:lnTo>
                </a:path>
              </a:pathLst>
            </a:custGeom>
            <a:ln w="9144">
              <a:solidFill>
                <a:srgbClr val="85858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4603750" y="4291329"/>
            <a:ext cx="2774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i="1">
                <a:latin typeface="Corbel"/>
                <a:cs typeface="Corbel"/>
              </a:rPr>
              <a:t>121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5" name="object 6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66" name="object 6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dirty="0" spc="-25"/>
              <a:t>20</a:t>
            </a:fld>
          </a:p>
        </p:txBody>
      </p:sp>
      <p:sp>
        <p:nvSpPr>
          <p:cNvPr id="61" name="object 61" descr=""/>
          <p:cNvSpPr txBox="1"/>
          <p:nvPr/>
        </p:nvSpPr>
        <p:spPr>
          <a:xfrm>
            <a:off x="4366386" y="5760211"/>
            <a:ext cx="7543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orbel"/>
                <a:cs typeface="Corbel"/>
              </a:rPr>
              <a:t>YTD</a:t>
            </a:r>
            <a:r>
              <a:rPr dirty="0" sz="1400" spc="-20">
                <a:latin typeface="Corbel"/>
                <a:cs typeface="Corbel"/>
              </a:rPr>
              <a:t> FY19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6322567" y="5780938"/>
            <a:ext cx="4613275" cy="497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1755">
              <a:lnSpc>
                <a:spcPct val="100000"/>
              </a:lnSpc>
              <a:spcBef>
                <a:spcPts val="100"/>
              </a:spcBef>
              <a:tabLst>
                <a:tab pos="1148715" algn="l"/>
                <a:tab pos="2237105" algn="l"/>
                <a:tab pos="3309620" algn="l"/>
              </a:tabLst>
            </a:pPr>
            <a:r>
              <a:rPr dirty="0" sz="1400" spc="-20">
                <a:latin typeface="Corbel"/>
                <a:cs typeface="Corbel"/>
              </a:rPr>
              <a:t>FY15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0">
                <a:latin typeface="Corbel"/>
                <a:cs typeface="Corbel"/>
              </a:rPr>
              <a:t>FY16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0">
                <a:latin typeface="Corbel"/>
                <a:cs typeface="Corbel"/>
              </a:rPr>
              <a:t>FY17</a:t>
            </a:r>
            <a:r>
              <a:rPr dirty="0" sz="1400">
                <a:latin typeface="Corbel"/>
                <a:cs typeface="Corbel"/>
              </a:rPr>
              <a:t>	</a:t>
            </a:r>
            <a:r>
              <a:rPr dirty="0" sz="1400" spc="-20">
                <a:latin typeface="Corbel"/>
                <a:cs typeface="Corbel"/>
              </a:rPr>
              <a:t>FY18</a:t>
            </a:r>
            <a:endParaRPr sz="14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000" i="1">
                <a:latin typeface="Corbel"/>
                <a:cs typeface="Corbel"/>
              </a:rPr>
              <a:t>FCF/Adj.</a:t>
            </a:r>
            <a:r>
              <a:rPr dirty="0" sz="1000" spc="-55" i="1">
                <a:latin typeface="Corbel"/>
                <a:cs typeface="Corbel"/>
              </a:rPr>
              <a:t> </a:t>
            </a:r>
            <a:r>
              <a:rPr dirty="0" sz="1000" i="1">
                <a:latin typeface="Corbel"/>
                <a:cs typeface="Corbel"/>
              </a:rPr>
              <a:t>EBITDA</a:t>
            </a:r>
            <a:r>
              <a:rPr dirty="0" sz="1000" spc="-20" i="1">
                <a:latin typeface="Corbel"/>
                <a:cs typeface="Corbel"/>
              </a:rPr>
              <a:t> </a:t>
            </a:r>
            <a:r>
              <a:rPr dirty="0" sz="1000" i="1">
                <a:latin typeface="Corbel"/>
                <a:cs typeface="Corbel"/>
              </a:rPr>
              <a:t>ratio</a:t>
            </a:r>
            <a:r>
              <a:rPr dirty="0" sz="1000" spc="-15" i="1">
                <a:latin typeface="Corbel"/>
                <a:cs typeface="Corbel"/>
              </a:rPr>
              <a:t> </a:t>
            </a:r>
            <a:r>
              <a:rPr dirty="0" sz="1000" i="1">
                <a:latin typeface="Corbel"/>
                <a:cs typeface="Corbel"/>
              </a:rPr>
              <a:t>of</a:t>
            </a:r>
            <a:r>
              <a:rPr dirty="0" sz="1000" spc="-35" i="1">
                <a:latin typeface="Corbel"/>
                <a:cs typeface="Corbel"/>
              </a:rPr>
              <a:t> </a:t>
            </a:r>
            <a:r>
              <a:rPr dirty="0" sz="1000" i="1">
                <a:latin typeface="Corbel"/>
                <a:cs typeface="Corbel"/>
              </a:rPr>
              <a:t>FY’17</a:t>
            </a:r>
            <a:r>
              <a:rPr dirty="0" sz="1000" spc="-10" i="1">
                <a:latin typeface="Corbel"/>
                <a:cs typeface="Corbel"/>
              </a:rPr>
              <a:t> </a:t>
            </a:r>
            <a:r>
              <a:rPr dirty="0" sz="1000" i="1">
                <a:latin typeface="Corbel"/>
                <a:cs typeface="Corbel"/>
              </a:rPr>
              <a:t>lower</a:t>
            </a:r>
            <a:r>
              <a:rPr dirty="0" sz="1000" spc="-35" i="1">
                <a:latin typeface="Corbel"/>
                <a:cs typeface="Corbel"/>
              </a:rPr>
              <a:t> </a:t>
            </a:r>
            <a:r>
              <a:rPr dirty="0" sz="1000" i="1">
                <a:latin typeface="Corbel"/>
                <a:cs typeface="Corbel"/>
              </a:rPr>
              <a:t>due</a:t>
            </a:r>
            <a:r>
              <a:rPr dirty="0" sz="1000" spc="-20" i="1">
                <a:latin typeface="Corbel"/>
                <a:cs typeface="Corbel"/>
              </a:rPr>
              <a:t> </a:t>
            </a:r>
            <a:r>
              <a:rPr dirty="0" sz="1000" i="1">
                <a:latin typeface="Corbel"/>
                <a:cs typeface="Corbel"/>
              </a:rPr>
              <a:t>to</a:t>
            </a:r>
            <a:r>
              <a:rPr dirty="0" sz="1000" spc="-25" i="1">
                <a:latin typeface="Corbel"/>
                <a:cs typeface="Corbel"/>
              </a:rPr>
              <a:t> </a:t>
            </a:r>
            <a:r>
              <a:rPr dirty="0" sz="1000" i="1">
                <a:latin typeface="Corbel"/>
                <a:cs typeface="Corbel"/>
              </a:rPr>
              <a:t>advancement</a:t>
            </a:r>
            <a:r>
              <a:rPr dirty="0" sz="1000" spc="-20" i="1">
                <a:latin typeface="Corbel"/>
                <a:cs typeface="Corbel"/>
              </a:rPr>
              <a:t> </a:t>
            </a:r>
            <a:r>
              <a:rPr dirty="0" sz="1000" i="1">
                <a:latin typeface="Corbel"/>
                <a:cs typeface="Corbel"/>
              </a:rPr>
              <a:t>of</a:t>
            </a:r>
            <a:r>
              <a:rPr dirty="0" sz="1000" spc="-35" i="1">
                <a:latin typeface="Corbel"/>
                <a:cs typeface="Corbel"/>
              </a:rPr>
              <a:t> </a:t>
            </a:r>
            <a:r>
              <a:rPr dirty="0" sz="1000" i="1">
                <a:latin typeface="Corbel"/>
                <a:cs typeface="Corbel"/>
              </a:rPr>
              <a:t>salary payment dates</a:t>
            </a:r>
            <a:r>
              <a:rPr dirty="0" sz="1000" spc="-20" i="1">
                <a:latin typeface="Corbel"/>
                <a:cs typeface="Corbel"/>
              </a:rPr>
              <a:t> </a:t>
            </a:r>
            <a:r>
              <a:rPr dirty="0" sz="1000" i="1">
                <a:latin typeface="Corbel"/>
                <a:cs typeface="Corbel"/>
              </a:rPr>
              <a:t>in</a:t>
            </a:r>
            <a:r>
              <a:rPr dirty="0" sz="1000" spc="-30" i="1">
                <a:latin typeface="Corbel"/>
                <a:cs typeface="Corbel"/>
              </a:rPr>
              <a:t> </a:t>
            </a:r>
            <a:r>
              <a:rPr dirty="0" sz="1000" spc="-10" i="1">
                <a:latin typeface="Corbel"/>
                <a:cs typeface="Corbel"/>
              </a:rPr>
              <a:t>Q4’17</a:t>
            </a:r>
            <a:endParaRPr sz="1000">
              <a:latin typeface="Corbel"/>
              <a:cs typeface="Corbel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4601083" y="1312545"/>
            <a:ext cx="3333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 i="1">
                <a:latin typeface="Corbel"/>
                <a:cs typeface="Corbel"/>
              </a:rPr>
              <a:t>41.8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4391025" y="2965195"/>
            <a:ext cx="753110" cy="543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orbel"/>
                <a:cs typeface="Corbel"/>
              </a:rPr>
              <a:t>YTD</a:t>
            </a:r>
            <a:r>
              <a:rPr dirty="0" sz="1400" spc="-20">
                <a:latin typeface="Corbel"/>
                <a:cs typeface="Corbel"/>
              </a:rPr>
              <a:t> FY19</a:t>
            </a:r>
            <a:endParaRPr sz="1400">
              <a:latin typeface="Corbel"/>
              <a:cs typeface="Corbel"/>
            </a:endParaRPr>
          </a:p>
          <a:p>
            <a:pPr marL="251460">
              <a:lnSpc>
                <a:spcPct val="100000"/>
              </a:lnSpc>
              <a:spcBef>
                <a:spcPts val="955"/>
              </a:spcBef>
            </a:pPr>
            <a:r>
              <a:rPr dirty="0" sz="1200" spc="-20" b="1" i="1">
                <a:solidFill>
                  <a:srgbClr val="FFFFFF"/>
                </a:solidFill>
                <a:latin typeface="Corbel"/>
                <a:cs typeface="Corbel"/>
              </a:rPr>
              <a:t>37.1%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49140" y="629412"/>
            <a:ext cx="2950210" cy="0"/>
          </a:xfrm>
          <a:custGeom>
            <a:avLst/>
            <a:gdLst/>
            <a:ahLst/>
            <a:cxnLst/>
            <a:rect l="l" t="t" r="r" b="b"/>
            <a:pathLst>
              <a:path w="2950209" h="0">
                <a:moveTo>
                  <a:pt x="0" y="0"/>
                </a:moveTo>
                <a:lnTo>
                  <a:pt x="2949702" y="0"/>
                </a:lnTo>
              </a:path>
            </a:pathLst>
          </a:custGeom>
          <a:ln w="9144">
            <a:solidFill>
              <a:srgbClr val="C725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4257" y="149097"/>
            <a:ext cx="8055609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Core</a:t>
            </a:r>
            <a:r>
              <a:rPr dirty="0" u="none" spc="-85"/>
              <a:t> </a:t>
            </a:r>
            <a:r>
              <a:rPr dirty="0" u="none" spc="-10"/>
              <a:t>Investment</a:t>
            </a:r>
            <a:r>
              <a:rPr dirty="0" u="none" spc="-50"/>
              <a:t> </a:t>
            </a:r>
            <a:r>
              <a:rPr dirty="0" u="none"/>
              <a:t>Thesis:</a:t>
            </a:r>
            <a:r>
              <a:rPr dirty="0" u="none" spc="-70"/>
              <a:t> </a:t>
            </a:r>
            <a:r>
              <a:rPr dirty="0" u="none"/>
              <a:t>Execution</a:t>
            </a:r>
            <a:r>
              <a:rPr dirty="0" u="none" spc="-65"/>
              <a:t> </a:t>
            </a:r>
            <a:r>
              <a:rPr dirty="0" u="none"/>
              <a:t>update</a:t>
            </a:r>
            <a:r>
              <a:rPr dirty="0" u="none" spc="-60"/>
              <a:t> </a:t>
            </a:r>
            <a:r>
              <a:rPr dirty="0" u="none"/>
              <a:t>Summary</a:t>
            </a:r>
            <a:r>
              <a:rPr dirty="0" u="none" spc="-65"/>
              <a:t> </a:t>
            </a:r>
            <a:r>
              <a:rPr dirty="0" u="none"/>
              <a:t>–</a:t>
            </a:r>
            <a:r>
              <a:rPr dirty="0" u="none" spc="-75"/>
              <a:t> </a:t>
            </a:r>
            <a:r>
              <a:rPr dirty="0" u="none"/>
              <a:t>YTD</a:t>
            </a:r>
            <a:r>
              <a:rPr dirty="0" u="none" spc="-70"/>
              <a:t> </a:t>
            </a:r>
            <a:r>
              <a:rPr dirty="0" u="none" spc="-20"/>
              <a:t>FY19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082540" y="725423"/>
            <a:ext cx="6875145" cy="943610"/>
          </a:xfrm>
          <a:prstGeom prst="rect">
            <a:avLst/>
          </a:prstGeom>
          <a:ln w="9144">
            <a:solidFill>
              <a:srgbClr val="B51E6A"/>
            </a:solidFill>
          </a:ln>
        </p:spPr>
        <p:txBody>
          <a:bodyPr wrap="square" lIns="0" tIns="34290" rIns="0" bIns="0" rtlCol="0" vert="horz">
            <a:spAutoFit/>
          </a:bodyPr>
          <a:lstStyle/>
          <a:p>
            <a:pPr marL="493395" indent="-234315">
              <a:lnSpc>
                <a:spcPct val="100000"/>
              </a:lnSpc>
              <a:spcBef>
                <a:spcPts val="270"/>
              </a:spcBef>
              <a:buFont typeface="Wingdings"/>
              <a:buChar char=""/>
              <a:tabLst>
                <a:tab pos="493395" algn="l"/>
              </a:tabLst>
            </a:pPr>
            <a:r>
              <a:rPr dirty="0" sz="1400" b="1">
                <a:latin typeface="Corbel"/>
                <a:cs typeface="Corbel"/>
              </a:rPr>
              <a:t>Strong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growth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of</a:t>
            </a:r>
            <a:r>
              <a:rPr dirty="0" sz="1400" spc="-1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15.0%</a:t>
            </a:r>
            <a:r>
              <a:rPr dirty="0" sz="1400" spc="-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YoY</a:t>
            </a:r>
            <a:r>
              <a:rPr dirty="0" sz="1400" spc="-3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in</a:t>
            </a:r>
            <a:r>
              <a:rPr dirty="0" sz="1400" spc="-1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Constant</a:t>
            </a:r>
            <a:r>
              <a:rPr dirty="0" sz="1400" spc="-6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Currency</a:t>
            </a:r>
            <a:endParaRPr sz="1400">
              <a:latin typeface="Corbel"/>
              <a:cs typeface="Corbel"/>
            </a:endParaRPr>
          </a:p>
          <a:p>
            <a:pPr marL="493395" indent="-23431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493395" algn="l"/>
              </a:tabLst>
            </a:pPr>
            <a:r>
              <a:rPr dirty="0" sz="1400" b="1">
                <a:latin typeface="Corbel"/>
                <a:cs typeface="Corbel"/>
              </a:rPr>
              <a:t>Continued</a:t>
            </a:r>
            <a:r>
              <a:rPr dirty="0" sz="1400" spc="-4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momentum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in</a:t>
            </a:r>
            <a:r>
              <a:rPr dirty="0" sz="1400" spc="-1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Deal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wins:</a:t>
            </a:r>
            <a:r>
              <a:rPr dirty="0" sz="1400" spc="-10" b="1">
                <a:latin typeface="Corbel"/>
                <a:cs typeface="Corbel"/>
              </a:rPr>
              <a:t> $484M</a:t>
            </a:r>
            <a:r>
              <a:rPr dirty="0" sz="1400" spc="-12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TCV;</a:t>
            </a:r>
            <a:r>
              <a:rPr dirty="0" sz="1400" spc="-3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New-Gen</a:t>
            </a:r>
            <a:r>
              <a:rPr dirty="0" sz="1400" spc="-7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Services</a:t>
            </a:r>
            <a:r>
              <a:rPr dirty="0" sz="1400" spc="-4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at </a:t>
            </a:r>
            <a:r>
              <a:rPr dirty="0" sz="1400" spc="-25" b="1">
                <a:latin typeface="Corbel"/>
                <a:cs typeface="Corbel"/>
              </a:rPr>
              <a:t>78%</a:t>
            </a:r>
            <a:endParaRPr sz="1400">
              <a:latin typeface="Corbel"/>
              <a:cs typeface="Corbel"/>
            </a:endParaRPr>
          </a:p>
          <a:p>
            <a:pPr marL="493395" indent="-23431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493395" algn="l"/>
              </a:tabLst>
            </a:pPr>
            <a:r>
              <a:rPr dirty="0" sz="1400" b="1">
                <a:latin typeface="Corbel"/>
                <a:cs typeface="Corbel"/>
              </a:rPr>
              <a:t>Broad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based</a:t>
            </a:r>
            <a:r>
              <a:rPr dirty="0" sz="1400" spc="-4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growth</a:t>
            </a:r>
            <a:r>
              <a:rPr dirty="0" sz="1400" spc="-1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from</a:t>
            </a:r>
            <a:r>
              <a:rPr dirty="0" sz="1400" spc="-3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Strategic</a:t>
            </a:r>
            <a:r>
              <a:rPr dirty="0" sz="1400" spc="-2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Accounts;</a:t>
            </a:r>
            <a:r>
              <a:rPr dirty="0" sz="1400" spc="-4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BX</a:t>
            </a:r>
            <a:r>
              <a:rPr dirty="0" sz="1400" spc="-3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portfolio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and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New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Accounts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82540" y="3049523"/>
            <a:ext cx="6875145" cy="626745"/>
          </a:xfrm>
          <a:prstGeom prst="rect">
            <a:avLst/>
          </a:prstGeom>
          <a:ln w="9144">
            <a:solidFill>
              <a:srgbClr val="B51E6A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493395" indent="-234315">
              <a:lnSpc>
                <a:spcPct val="100000"/>
              </a:lnSpc>
              <a:spcBef>
                <a:spcPts val="280"/>
              </a:spcBef>
              <a:buFont typeface="Wingdings"/>
              <a:buChar char=""/>
              <a:tabLst>
                <a:tab pos="493395" algn="l"/>
              </a:tabLst>
            </a:pPr>
            <a:r>
              <a:rPr dirty="0" sz="1400" b="1">
                <a:latin typeface="Corbel"/>
                <a:cs typeface="Corbel"/>
              </a:rPr>
              <a:t>Delivered</a:t>
            </a:r>
            <a:r>
              <a:rPr dirty="0" sz="1400" spc="-7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EBIT of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16.3%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in</a:t>
            </a:r>
            <a:r>
              <a:rPr dirty="0" sz="1400" spc="-1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YTD</a:t>
            </a:r>
            <a:r>
              <a:rPr dirty="0" sz="1400" spc="-1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FY19;</a:t>
            </a:r>
            <a:r>
              <a:rPr dirty="0" sz="1400" spc="-4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Continued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improvement</a:t>
            </a:r>
            <a:r>
              <a:rPr dirty="0" sz="1400" spc="-6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in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operating</a:t>
            </a:r>
            <a:r>
              <a:rPr dirty="0" sz="1400" spc="-1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levers</a:t>
            </a:r>
            <a:endParaRPr sz="1400">
              <a:latin typeface="Corbel"/>
              <a:cs typeface="Corbel"/>
            </a:endParaRPr>
          </a:p>
          <a:p>
            <a:pPr marL="493395" indent="-23431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493395" algn="l"/>
              </a:tabLst>
            </a:pPr>
            <a:r>
              <a:rPr dirty="0" sz="1400" b="1">
                <a:latin typeface="Corbel"/>
                <a:cs typeface="Corbel"/>
              </a:rPr>
              <a:t>Expect</a:t>
            </a:r>
            <a:r>
              <a:rPr dirty="0" sz="1400" spc="-3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to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operate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in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EBIT</a:t>
            </a:r>
            <a:r>
              <a:rPr dirty="0" sz="1400" spc="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of</a:t>
            </a:r>
            <a:r>
              <a:rPr dirty="0" sz="1400" spc="-10" b="1">
                <a:latin typeface="Corbel"/>
                <a:cs typeface="Corbel"/>
              </a:rPr>
              <a:t> 15%-</a:t>
            </a:r>
            <a:r>
              <a:rPr dirty="0" sz="1400" b="1">
                <a:latin typeface="Corbel"/>
                <a:cs typeface="Corbel"/>
              </a:rPr>
              <a:t>17%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spc="-20" b="1">
                <a:latin typeface="Corbel"/>
                <a:cs typeface="Corbel"/>
              </a:rPr>
              <a:t>band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82540" y="2002535"/>
            <a:ext cx="6875145" cy="841375"/>
          </a:xfrm>
          <a:prstGeom prst="rect">
            <a:avLst/>
          </a:prstGeom>
          <a:ln w="9144">
            <a:solidFill>
              <a:srgbClr val="B51E6A"/>
            </a:solidFill>
          </a:ln>
        </p:spPr>
        <p:txBody>
          <a:bodyPr wrap="square" lIns="0" tIns="34290" rIns="0" bIns="0" rtlCol="0" vert="horz">
            <a:spAutoFit/>
          </a:bodyPr>
          <a:lstStyle/>
          <a:p>
            <a:pPr marL="493395" marR="150495" indent="-234950">
              <a:lnSpc>
                <a:spcPct val="100000"/>
              </a:lnSpc>
              <a:spcBef>
                <a:spcPts val="270"/>
              </a:spcBef>
              <a:buFont typeface="Wingdings"/>
              <a:buChar char=""/>
              <a:tabLst>
                <a:tab pos="493395" algn="l"/>
              </a:tabLst>
            </a:pPr>
            <a:r>
              <a:rPr dirty="0" sz="1400" b="1">
                <a:latin typeface="Corbel"/>
                <a:cs typeface="Corbel"/>
              </a:rPr>
              <a:t>Continued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Strong</a:t>
            </a:r>
            <a:r>
              <a:rPr dirty="0" sz="1400" spc="-3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growth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momentum</a:t>
            </a:r>
            <a:r>
              <a:rPr dirty="0" sz="1400" spc="-5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from</a:t>
            </a:r>
            <a:r>
              <a:rPr dirty="0" sz="1400" spc="-2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FY’18;</a:t>
            </a:r>
            <a:r>
              <a:rPr dirty="0" sz="1400" spc="-4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YoY</a:t>
            </a:r>
            <a:r>
              <a:rPr dirty="0" sz="1400" spc="26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constant</a:t>
            </a:r>
            <a:r>
              <a:rPr dirty="0" sz="1400" spc="-6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currency</a:t>
            </a:r>
            <a:r>
              <a:rPr dirty="0" sz="1400" spc="-4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growth </a:t>
            </a:r>
            <a:r>
              <a:rPr dirty="0" sz="1400" b="1">
                <a:latin typeface="Corbel"/>
                <a:cs typeface="Corbel"/>
              </a:rPr>
              <a:t>of</a:t>
            </a:r>
            <a:r>
              <a:rPr dirty="0" sz="1400" spc="-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25.5%</a:t>
            </a:r>
            <a:endParaRPr sz="1400">
              <a:latin typeface="Corbel"/>
              <a:cs typeface="Corbel"/>
            </a:endParaRPr>
          </a:p>
          <a:p>
            <a:pPr marL="493395" indent="-23431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493395" algn="l"/>
              </a:tabLst>
            </a:pPr>
            <a:r>
              <a:rPr dirty="0" sz="1400" b="1">
                <a:latin typeface="Corbel"/>
                <a:cs typeface="Corbel"/>
              </a:rPr>
              <a:t>Good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deal traction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in</a:t>
            </a:r>
            <a:r>
              <a:rPr dirty="0" sz="1400" spc="2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Cloud</a:t>
            </a:r>
            <a:r>
              <a:rPr dirty="0" sz="1400" spc="-1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Partnership; </a:t>
            </a:r>
            <a:r>
              <a:rPr dirty="0" sz="1400" b="1">
                <a:latin typeface="Corbel"/>
                <a:cs typeface="Corbel"/>
              </a:rPr>
              <a:t>Won</a:t>
            </a:r>
            <a:r>
              <a:rPr dirty="0" sz="1400" spc="2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significant</a:t>
            </a:r>
            <a:r>
              <a:rPr dirty="0" sz="140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transformation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deals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82540" y="5218176"/>
            <a:ext cx="6875145" cy="841375"/>
          </a:xfrm>
          <a:prstGeom prst="rect">
            <a:avLst/>
          </a:prstGeom>
          <a:ln w="9144">
            <a:solidFill>
              <a:srgbClr val="B51E6A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493395" marR="235585" indent="-234950">
              <a:lnSpc>
                <a:spcPct val="100000"/>
              </a:lnSpc>
              <a:spcBef>
                <a:spcPts val="275"/>
              </a:spcBef>
              <a:buFont typeface="Wingdings"/>
              <a:buChar char=""/>
              <a:tabLst>
                <a:tab pos="493395" algn="l"/>
              </a:tabLst>
            </a:pPr>
            <a:r>
              <a:rPr dirty="0" sz="1400" b="1">
                <a:latin typeface="Corbel"/>
                <a:cs typeface="Corbel"/>
              </a:rPr>
              <a:t>Strong</a:t>
            </a:r>
            <a:r>
              <a:rPr dirty="0" sz="1400" spc="-3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free</a:t>
            </a:r>
            <a:r>
              <a:rPr dirty="0" sz="1400" spc="-2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cash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flow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generation</a:t>
            </a:r>
            <a:r>
              <a:rPr dirty="0" sz="1400" spc="-3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of</a:t>
            </a:r>
            <a:r>
              <a:rPr dirty="0" sz="1400" spc="-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$121</a:t>
            </a:r>
            <a:r>
              <a:rPr dirty="0" sz="1400" spc="-2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Mn</a:t>
            </a:r>
            <a:r>
              <a:rPr dirty="0" sz="1400" spc="-2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in</a:t>
            </a:r>
            <a:r>
              <a:rPr dirty="0" sz="1400" spc="-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YTD</a:t>
            </a:r>
            <a:r>
              <a:rPr dirty="0" sz="1400" spc="-2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FY19;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Q3</a:t>
            </a:r>
            <a:r>
              <a:rPr dirty="0" sz="1400" spc="-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FY19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Cash</a:t>
            </a:r>
            <a:r>
              <a:rPr dirty="0" sz="1400" spc="-1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Balance </a:t>
            </a:r>
            <a:r>
              <a:rPr dirty="0" sz="1400" b="1">
                <a:latin typeface="Corbel"/>
                <a:cs typeface="Corbel"/>
              </a:rPr>
              <a:t>of</a:t>
            </a:r>
            <a:r>
              <a:rPr dirty="0" sz="1400" spc="-1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$262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Mn</a:t>
            </a:r>
            <a:r>
              <a:rPr dirty="0" sz="1400" spc="-20" b="1">
                <a:latin typeface="Corbel"/>
                <a:cs typeface="Corbel"/>
              </a:rPr>
              <a:t> </a:t>
            </a:r>
            <a:r>
              <a:rPr dirty="0" sz="1200" i="1">
                <a:latin typeface="Corbel"/>
                <a:cs typeface="Corbel"/>
              </a:rPr>
              <a:t>(after share</a:t>
            </a:r>
            <a:r>
              <a:rPr dirty="0" sz="1200" spc="-5" i="1">
                <a:latin typeface="Corbel"/>
                <a:cs typeface="Corbel"/>
              </a:rPr>
              <a:t> </a:t>
            </a:r>
            <a:r>
              <a:rPr dirty="0" sz="1200" spc="-10" i="1">
                <a:latin typeface="Corbel"/>
                <a:cs typeface="Corbel"/>
              </a:rPr>
              <a:t>buyback </a:t>
            </a:r>
            <a:r>
              <a:rPr dirty="0" sz="1200" i="1">
                <a:latin typeface="Corbel"/>
                <a:cs typeface="Corbel"/>
              </a:rPr>
              <a:t>and</a:t>
            </a:r>
            <a:r>
              <a:rPr dirty="0" sz="1200" spc="-10" i="1">
                <a:latin typeface="Corbel"/>
                <a:cs typeface="Corbel"/>
              </a:rPr>
              <a:t> acquisition </a:t>
            </a:r>
            <a:r>
              <a:rPr dirty="0" sz="1200" i="1">
                <a:latin typeface="Corbel"/>
                <a:cs typeface="Corbel"/>
              </a:rPr>
              <a:t>of</a:t>
            </a:r>
            <a:r>
              <a:rPr dirty="0" sz="1200" spc="-20" i="1">
                <a:latin typeface="Corbel"/>
                <a:cs typeface="Corbel"/>
              </a:rPr>
              <a:t> </a:t>
            </a:r>
            <a:r>
              <a:rPr dirty="0" sz="1200" i="1">
                <a:latin typeface="Corbel"/>
                <a:cs typeface="Corbel"/>
              </a:rPr>
              <a:t>Stelligent</a:t>
            </a:r>
            <a:r>
              <a:rPr dirty="0" sz="1200" spc="-15" i="1">
                <a:latin typeface="Corbel"/>
                <a:cs typeface="Corbel"/>
              </a:rPr>
              <a:t> </a:t>
            </a:r>
            <a:r>
              <a:rPr dirty="0" sz="1200" spc="-10" i="1">
                <a:latin typeface="Corbel"/>
                <a:cs typeface="Corbel"/>
              </a:rPr>
              <a:t>Systems</a:t>
            </a:r>
            <a:r>
              <a:rPr dirty="0" sz="1200" spc="-25" i="1">
                <a:latin typeface="Corbel"/>
                <a:cs typeface="Corbel"/>
              </a:rPr>
              <a:t> </a:t>
            </a:r>
            <a:r>
              <a:rPr dirty="0" sz="1200" spc="-20" i="1">
                <a:latin typeface="Corbel"/>
                <a:cs typeface="Corbel"/>
              </a:rPr>
              <a:t>LLC)</a:t>
            </a:r>
            <a:endParaRPr sz="1200">
              <a:latin typeface="Corbel"/>
              <a:cs typeface="Corbel"/>
            </a:endParaRPr>
          </a:p>
          <a:p>
            <a:pPr marL="493395" indent="-234315">
              <a:lnSpc>
                <a:spcPct val="100000"/>
              </a:lnSpc>
              <a:spcBef>
                <a:spcPts val="805"/>
              </a:spcBef>
              <a:buFont typeface="Wingdings"/>
              <a:buChar char=""/>
              <a:tabLst>
                <a:tab pos="493395" algn="l"/>
              </a:tabLst>
            </a:pPr>
            <a:r>
              <a:rPr dirty="0" sz="1400" b="1">
                <a:latin typeface="Corbel"/>
                <a:cs typeface="Corbel"/>
              </a:rPr>
              <a:t>Completed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buy-</a:t>
            </a:r>
            <a:r>
              <a:rPr dirty="0" sz="1400" b="1">
                <a:latin typeface="Corbel"/>
                <a:cs typeface="Corbel"/>
              </a:rPr>
              <a:t>back</a:t>
            </a:r>
            <a:r>
              <a:rPr dirty="0" sz="1400" spc="-3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of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7.3</a:t>
            </a:r>
            <a:r>
              <a:rPr dirty="0" sz="1400" spc="-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million</a:t>
            </a:r>
            <a:r>
              <a:rPr dirty="0" sz="1400" spc="-5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shares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for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a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total</a:t>
            </a:r>
            <a:r>
              <a:rPr dirty="0" sz="1400" spc="-2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outlay</a:t>
            </a:r>
            <a:r>
              <a:rPr dirty="0" sz="1400" spc="-2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of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INR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9,937</a:t>
            </a:r>
            <a:r>
              <a:rPr dirty="0" sz="1400" spc="10" b="1">
                <a:latin typeface="Corbel"/>
                <a:cs typeface="Corbel"/>
              </a:rPr>
              <a:t> </a:t>
            </a:r>
            <a:r>
              <a:rPr dirty="0" sz="1400" spc="-25" b="1">
                <a:latin typeface="Corbel"/>
                <a:cs typeface="Corbel"/>
              </a:rPr>
              <a:t>Mn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67004" y="4203572"/>
            <a:ext cx="37782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600" b="1">
                <a:latin typeface="Corbel"/>
                <a:cs typeface="Corbel"/>
              </a:rPr>
              <a:t>Strong</a:t>
            </a:r>
            <a:r>
              <a:rPr dirty="0" sz="1600" spc="-35" b="1">
                <a:latin typeface="Corbel"/>
                <a:cs typeface="Corbel"/>
              </a:rPr>
              <a:t> </a:t>
            </a:r>
            <a:r>
              <a:rPr dirty="0" sz="1600" spc="-10" b="1">
                <a:latin typeface="Corbel"/>
                <a:cs typeface="Corbel"/>
              </a:rPr>
              <a:t>Management</a:t>
            </a:r>
            <a:r>
              <a:rPr dirty="0" sz="1600" spc="5" b="1">
                <a:latin typeface="Corbel"/>
                <a:cs typeface="Corbel"/>
              </a:rPr>
              <a:t> </a:t>
            </a:r>
            <a:r>
              <a:rPr dirty="0" sz="1600" b="1">
                <a:latin typeface="Corbel"/>
                <a:cs typeface="Corbel"/>
              </a:rPr>
              <a:t>team</a:t>
            </a:r>
            <a:r>
              <a:rPr dirty="0" sz="1600" spc="-5" b="1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backed</a:t>
            </a:r>
            <a:r>
              <a:rPr dirty="0" sz="1600" spc="-1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by</a:t>
            </a:r>
            <a:r>
              <a:rPr dirty="0" sz="1600" spc="-25">
                <a:latin typeface="Corbel"/>
                <a:cs typeface="Corbel"/>
              </a:rPr>
              <a:t> an</a:t>
            </a:r>
            <a:endParaRPr sz="1600">
              <a:latin typeface="Corbel"/>
              <a:cs typeface="Corbel"/>
            </a:endParaRPr>
          </a:p>
          <a:p>
            <a:pPr marL="299085">
              <a:lnSpc>
                <a:spcPct val="100000"/>
              </a:lnSpc>
            </a:pPr>
            <a:r>
              <a:rPr dirty="0" sz="1600" b="1">
                <a:latin typeface="Corbel"/>
                <a:cs typeface="Corbel"/>
              </a:rPr>
              <a:t>experienced</a:t>
            </a:r>
            <a:r>
              <a:rPr dirty="0" sz="1600" spc="-75" b="1">
                <a:latin typeface="Corbel"/>
                <a:cs typeface="Corbel"/>
              </a:rPr>
              <a:t> </a:t>
            </a:r>
            <a:r>
              <a:rPr dirty="0" sz="1600" spc="-10" b="1">
                <a:latin typeface="Corbel"/>
                <a:cs typeface="Corbel"/>
              </a:rPr>
              <a:t>Board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57200" y="725423"/>
            <a:ext cx="426720" cy="373380"/>
          </a:xfrm>
          <a:custGeom>
            <a:avLst/>
            <a:gdLst/>
            <a:ahLst/>
            <a:cxnLst/>
            <a:rect l="l" t="t" r="r" b="b"/>
            <a:pathLst>
              <a:path w="426719" h="373380">
                <a:moveTo>
                  <a:pt x="213359" y="0"/>
                </a:moveTo>
                <a:lnTo>
                  <a:pt x="164440" y="4929"/>
                </a:lnTo>
                <a:lnTo>
                  <a:pt x="119531" y="18972"/>
                </a:lnTo>
                <a:lnTo>
                  <a:pt x="79916" y="41008"/>
                </a:lnTo>
                <a:lnTo>
                  <a:pt x="46874" y="69917"/>
                </a:lnTo>
                <a:lnTo>
                  <a:pt x="21687" y="104580"/>
                </a:lnTo>
                <a:lnTo>
                  <a:pt x="5635" y="143878"/>
                </a:lnTo>
                <a:lnTo>
                  <a:pt x="0" y="186689"/>
                </a:lnTo>
                <a:lnTo>
                  <a:pt x="5635" y="229501"/>
                </a:lnTo>
                <a:lnTo>
                  <a:pt x="21687" y="268799"/>
                </a:lnTo>
                <a:lnTo>
                  <a:pt x="46874" y="303462"/>
                </a:lnTo>
                <a:lnTo>
                  <a:pt x="79916" y="332371"/>
                </a:lnTo>
                <a:lnTo>
                  <a:pt x="119531" y="354407"/>
                </a:lnTo>
                <a:lnTo>
                  <a:pt x="164440" y="368450"/>
                </a:lnTo>
                <a:lnTo>
                  <a:pt x="213359" y="373379"/>
                </a:lnTo>
                <a:lnTo>
                  <a:pt x="262279" y="368450"/>
                </a:lnTo>
                <a:lnTo>
                  <a:pt x="307188" y="354407"/>
                </a:lnTo>
                <a:lnTo>
                  <a:pt x="346803" y="332371"/>
                </a:lnTo>
                <a:lnTo>
                  <a:pt x="379845" y="303462"/>
                </a:lnTo>
                <a:lnTo>
                  <a:pt x="405032" y="268799"/>
                </a:lnTo>
                <a:lnTo>
                  <a:pt x="421084" y="229501"/>
                </a:lnTo>
                <a:lnTo>
                  <a:pt x="426719" y="186689"/>
                </a:lnTo>
                <a:lnTo>
                  <a:pt x="421084" y="143878"/>
                </a:lnTo>
                <a:lnTo>
                  <a:pt x="405032" y="104580"/>
                </a:lnTo>
                <a:lnTo>
                  <a:pt x="379845" y="69917"/>
                </a:lnTo>
                <a:lnTo>
                  <a:pt x="346803" y="41008"/>
                </a:lnTo>
                <a:lnTo>
                  <a:pt x="307188" y="18972"/>
                </a:lnTo>
                <a:lnTo>
                  <a:pt x="262279" y="4929"/>
                </a:lnTo>
                <a:lnTo>
                  <a:pt x="213359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74954" y="732536"/>
            <a:ext cx="23812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91160" algn="l"/>
              </a:tabLst>
            </a:pPr>
            <a:r>
              <a:rPr dirty="0" baseline="-7936" sz="2100" spc="-37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1600" spc="-25">
                <a:latin typeface="Wingdings"/>
                <a:cs typeface="Wingdings"/>
              </a:rPr>
              <a:t>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b="1">
                <a:latin typeface="Corbel"/>
                <a:cs typeface="Corbel"/>
              </a:rPr>
              <a:t>Accelerate</a:t>
            </a:r>
            <a:r>
              <a:rPr dirty="0" sz="1600" spc="-55" b="1">
                <a:latin typeface="Corbel"/>
                <a:cs typeface="Corbel"/>
              </a:rPr>
              <a:t> </a:t>
            </a:r>
            <a:r>
              <a:rPr dirty="0" sz="1600" b="1">
                <a:latin typeface="Corbel"/>
                <a:cs typeface="Corbel"/>
              </a:rPr>
              <a:t>Direct</a:t>
            </a:r>
            <a:r>
              <a:rPr dirty="0" sz="1600" spc="-55" b="1">
                <a:latin typeface="Corbel"/>
                <a:cs typeface="Corbel"/>
              </a:rPr>
              <a:t> </a:t>
            </a:r>
            <a:r>
              <a:rPr dirty="0" sz="1600" spc="-20" b="1">
                <a:latin typeface="Corbel"/>
                <a:cs typeface="Corbel"/>
              </a:rPr>
              <a:t>Core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78536" y="1997964"/>
            <a:ext cx="426720" cy="373380"/>
          </a:xfrm>
          <a:custGeom>
            <a:avLst/>
            <a:gdLst/>
            <a:ahLst/>
            <a:cxnLst/>
            <a:rect l="l" t="t" r="r" b="b"/>
            <a:pathLst>
              <a:path w="426719" h="373380">
                <a:moveTo>
                  <a:pt x="213359" y="0"/>
                </a:moveTo>
                <a:lnTo>
                  <a:pt x="164440" y="4929"/>
                </a:lnTo>
                <a:lnTo>
                  <a:pt x="119531" y="18972"/>
                </a:lnTo>
                <a:lnTo>
                  <a:pt x="79916" y="41008"/>
                </a:lnTo>
                <a:lnTo>
                  <a:pt x="46874" y="69917"/>
                </a:lnTo>
                <a:lnTo>
                  <a:pt x="21687" y="104580"/>
                </a:lnTo>
                <a:lnTo>
                  <a:pt x="5635" y="143878"/>
                </a:lnTo>
                <a:lnTo>
                  <a:pt x="0" y="186689"/>
                </a:lnTo>
                <a:lnTo>
                  <a:pt x="5635" y="229501"/>
                </a:lnTo>
                <a:lnTo>
                  <a:pt x="21687" y="268799"/>
                </a:lnTo>
                <a:lnTo>
                  <a:pt x="46874" y="303462"/>
                </a:lnTo>
                <a:lnTo>
                  <a:pt x="79916" y="332371"/>
                </a:lnTo>
                <a:lnTo>
                  <a:pt x="119531" y="354407"/>
                </a:lnTo>
                <a:lnTo>
                  <a:pt x="164440" y="368450"/>
                </a:lnTo>
                <a:lnTo>
                  <a:pt x="213359" y="373380"/>
                </a:lnTo>
                <a:lnTo>
                  <a:pt x="262279" y="368450"/>
                </a:lnTo>
                <a:lnTo>
                  <a:pt x="307188" y="354407"/>
                </a:lnTo>
                <a:lnTo>
                  <a:pt x="346803" y="332371"/>
                </a:lnTo>
                <a:lnTo>
                  <a:pt x="379845" y="303462"/>
                </a:lnTo>
                <a:lnTo>
                  <a:pt x="405032" y="268799"/>
                </a:lnTo>
                <a:lnTo>
                  <a:pt x="421084" y="229501"/>
                </a:lnTo>
                <a:lnTo>
                  <a:pt x="426720" y="186689"/>
                </a:lnTo>
                <a:lnTo>
                  <a:pt x="421084" y="143878"/>
                </a:lnTo>
                <a:lnTo>
                  <a:pt x="405032" y="104580"/>
                </a:lnTo>
                <a:lnTo>
                  <a:pt x="379845" y="69917"/>
                </a:lnTo>
                <a:lnTo>
                  <a:pt x="346803" y="41008"/>
                </a:lnTo>
                <a:lnTo>
                  <a:pt x="307188" y="18972"/>
                </a:lnTo>
                <a:lnTo>
                  <a:pt x="262279" y="4929"/>
                </a:lnTo>
                <a:lnTo>
                  <a:pt x="213359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33780" y="2028824"/>
            <a:ext cx="34067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2105" algn="l"/>
              </a:tabLst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baseline="1736" sz="2400" spc="-37">
                <a:latin typeface="Wingdings"/>
                <a:cs typeface="Wingdings"/>
              </a:rPr>
              <a:t></a:t>
            </a:r>
            <a:r>
              <a:rPr dirty="0" baseline="1736" sz="2400">
                <a:latin typeface="Times New Roman"/>
                <a:cs typeface="Times New Roman"/>
              </a:rPr>
              <a:t>	</a:t>
            </a:r>
            <a:r>
              <a:rPr dirty="0" baseline="1736" sz="2400" b="1">
                <a:latin typeface="Corbel"/>
                <a:cs typeface="Corbel"/>
              </a:rPr>
              <a:t>Strategic</a:t>
            </a:r>
            <a:r>
              <a:rPr dirty="0" baseline="1736" sz="2400" spc="-22" b="1">
                <a:latin typeface="Corbel"/>
                <a:cs typeface="Corbel"/>
              </a:rPr>
              <a:t> </a:t>
            </a:r>
            <a:r>
              <a:rPr dirty="0" baseline="1736" sz="2400" spc="-15" b="1">
                <a:latin typeface="Corbel"/>
                <a:cs typeface="Corbel"/>
              </a:rPr>
              <a:t>Partnership</a:t>
            </a:r>
            <a:r>
              <a:rPr dirty="0" baseline="1736" sz="2400" spc="-22" b="1">
                <a:latin typeface="Corbel"/>
                <a:cs typeface="Corbel"/>
              </a:rPr>
              <a:t> </a:t>
            </a:r>
            <a:r>
              <a:rPr dirty="0" baseline="1736" sz="2400" b="1">
                <a:latin typeface="Corbel"/>
                <a:cs typeface="Corbel"/>
              </a:rPr>
              <a:t>with</a:t>
            </a:r>
            <a:r>
              <a:rPr dirty="0" baseline="1736" sz="2400" spc="-30" b="1">
                <a:latin typeface="Corbel"/>
                <a:cs typeface="Corbel"/>
              </a:rPr>
              <a:t> </a:t>
            </a:r>
            <a:r>
              <a:rPr dirty="0" baseline="1736" sz="2400" spc="-15" b="1">
                <a:latin typeface="Corbel"/>
                <a:cs typeface="Corbel"/>
              </a:rPr>
              <a:t>DXC/HP</a:t>
            </a:r>
            <a:endParaRPr baseline="1736" sz="2400">
              <a:latin typeface="Corbel"/>
              <a:cs typeface="Corbe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478536" y="3034283"/>
            <a:ext cx="426720" cy="373380"/>
          </a:xfrm>
          <a:custGeom>
            <a:avLst/>
            <a:gdLst/>
            <a:ahLst/>
            <a:cxnLst/>
            <a:rect l="l" t="t" r="r" b="b"/>
            <a:pathLst>
              <a:path w="426719" h="373379">
                <a:moveTo>
                  <a:pt x="213359" y="0"/>
                </a:moveTo>
                <a:lnTo>
                  <a:pt x="164440" y="4929"/>
                </a:lnTo>
                <a:lnTo>
                  <a:pt x="119531" y="18972"/>
                </a:lnTo>
                <a:lnTo>
                  <a:pt x="79916" y="41008"/>
                </a:lnTo>
                <a:lnTo>
                  <a:pt x="46874" y="69917"/>
                </a:lnTo>
                <a:lnTo>
                  <a:pt x="21687" y="104580"/>
                </a:lnTo>
                <a:lnTo>
                  <a:pt x="5635" y="143878"/>
                </a:lnTo>
                <a:lnTo>
                  <a:pt x="0" y="186689"/>
                </a:lnTo>
                <a:lnTo>
                  <a:pt x="5635" y="229501"/>
                </a:lnTo>
                <a:lnTo>
                  <a:pt x="21687" y="268799"/>
                </a:lnTo>
                <a:lnTo>
                  <a:pt x="46874" y="303462"/>
                </a:lnTo>
                <a:lnTo>
                  <a:pt x="79916" y="332371"/>
                </a:lnTo>
                <a:lnTo>
                  <a:pt x="119531" y="354407"/>
                </a:lnTo>
                <a:lnTo>
                  <a:pt x="164440" y="368450"/>
                </a:lnTo>
                <a:lnTo>
                  <a:pt x="213359" y="373379"/>
                </a:lnTo>
                <a:lnTo>
                  <a:pt x="262279" y="368450"/>
                </a:lnTo>
                <a:lnTo>
                  <a:pt x="307188" y="354407"/>
                </a:lnTo>
                <a:lnTo>
                  <a:pt x="346803" y="332371"/>
                </a:lnTo>
                <a:lnTo>
                  <a:pt x="379845" y="303462"/>
                </a:lnTo>
                <a:lnTo>
                  <a:pt x="405032" y="268799"/>
                </a:lnTo>
                <a:lnTo>
                  <a:pt x="421084" y="229501"/>
                </a:lnTo>
                <a:lnTo>
                  <a:pt x="426720" y="186689"/>
                </a:lnTo>
                <a:lnTo>
                  <a:pt x="421084" y="143878"/>
                </a:lnTo>
                <a:lnTo>
                  <a:pt x="405032" y="104580"/>
                </a:lnTo>
                <a:lnTo>
                  <a:pt x="379845" y="69917"/>
                </a:lnTo>
                <a:lnTo>
                  <a:pt x="346803" y="41008"/>
                </a:lnTo>
                <a:lnTo>
                  <a:pt x="307188" y="18972"/>
                </a:lnTo>
                <a:lnTo>
                  <a:pt x="262279" y="4929"/>
                </a:lnTo>
                <a:lnTo>
                  <a:pt x="213359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595680" y="3029838"/>
            <a:ext cx="424053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0205" marR="30480" indent="-320040">
              <a:lnSpc>
                <a:spcPct val="100000"/>
              </a:lnSpc>
              <a:spcBef>
                <a:spcPts val="95"/>
              </a:spcBef>
              <a:tabLst>
                <a:tab pos="370205" algn="l"/>
              </a:tabLst>
            </a:pPr>
            <a:r>
              <a:rPr dirty="0" baseline="-11904" sz="2100" spc="-37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sz="1600" spc="-25">
                <a:latin typeface="Wingdings"/>
                <a:cs typeface="Wingdings"/>
              </a:rPr>
              <a:t>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>
                <a:latin typeface="Corbel"/>
                <a:cs typeface="Corbel"/>
              </a:rPr>
              <a:t>Continued</a:t>
            </a:r>
            <a:r>
              <a:rPr dirty="0" sz="1600" spc="-2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focus</a:t>
            </a:r>
            <a:r>
              <a:rPr dirty="0" sz="1600" spc="-35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on</a:t>
            </a:r>
            <a:r>
              <a:rPr dirty="0" sz="1600" spc="-25">
                <a:latin typeface="Corbel"/>
                <a:cs typeface="Corbel"/>
              </a:rPr>
              <a:t> </a:t>
            </a:r>
            <a:r>
              <a:rPr dirty="0" sz="1600" b="1">
                <a:latin typeface="Corbel"/>
                <a:cs typeface="Corbel"/>
              </a:rPr>
              <a:t>Margin</a:t>
            </a:r>
            <a:r>
              <a:rPr dirty="0" sz="1600" spc="-45" b="1">
                <a:latin typeface="Corbel"/>
                <a:cs typeface="Corbel"/>
              </a:rPr>
              <a:t> </a:t>
            </a:r>
            <a:r>
              <a:rPr dirty="0" sz="1600" b="1">
                <a:latin typeface="Corbel"/>
                <a:cs typeface="Corbel"/>
              </a:rPr>
              <a:t>Expansion</a:t>
            </a:r>
            <a:r>
              <a:rPr dirty="0" sz="1600" spc="-20" b="1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to</a:t>
            </a:r>
            <a:r>
              <a:rPr dirty="0" sz="1600" spc="-50">
                <a:latin typeface="Corbel"/>
                <a:cs typeface="Corbel"/>
              </a:rPr>
              <a:t> </a:t>
            </a:r>
            <a:r>
              <a:rPr dirty="0" sz="1600" spc="-20" b="1">
                <a:latin typeface="Corbel"/>
                <a:cs typeface="Corbel"/>
              </a:rPr>
              <a:t>fuel </a:t>
            </a:r>
            <a:r>
              <a:rPr dirty="0" sz="1600" spc="-10" b="1">
                <a:latin typeface="Corbel"/>
                <a:cs typeface="Corbel"/>
              </a:rPr>
              <a:t>Growth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78536" y="4280915"/>
            <a:ext cx="426720" cy="373380"/>
          </a:xfrm>
          <a:custGeom>
            <a:avLst/>
            <a:gdLst/>
            <a:ahLst/>
            <a:cxnLst/>
            <a:rect l="l" t="t" r="r" b="b"/>
            <a:pathLst>
              <a:path w="426719" h="373379">
                <a:moveTo>
                  <a:pt x="213359" y="0"/>
                </a:moveTo>
                <a:lnTo>
                  <a:pt x="164440" y="4929"/>
                </a:lnTo>
                <a:lnTo>
                  <a:pt x="119531" y="18972"/>
                </a:lnTo>
                <a:lnTo>
                  <a:pt x="79916" y="41008"/>
                </a:lnTo>
                <a:lnTo>
                  <a:pt x="46874" y="69917"/>
                </a:lnTo>
                <a:lnTo>
                  <a:pt x="21687" y="104580"/>
                </a:lnTo>
                <a:lnTo>
                  <a:pt x="5635" y="143878"/>
                </a:lnTo>
                <a:lnTo>
                  <a:pt x="0" y="186689"/>
                </a:lnTo>
                <a:lnTo>
                  <a:pt x="5635" y="229501"/>
                </a:lnTo>
                <a:lnTo>
                  <a:pt x="21687" y="268799"/>
                </a:lnTo>
                <a:lnTo>
                  <a:pt x="46874" y="303462"/>
                </a:lnTo>
                <a:lnTo>
                  <a:pt x="79916" y="332371"/>
                </a:lnTo>
                <a:lnTo>
                  <a:pt x="119531" y="354407"/>
                </a:lnTo>
                <a:lnTo>
                  <a:pt x="164440" y="368450"/>
                </a:lnTo>
                <a:lnTo>
                  <a:pt x="213359" y="373379"/>
                </a:lnTo>
                <a:lnTo>
                  <a:pt x="262279" y="368450"/>
                </a:lnTo>
                <a:lnTo>
                  <a:pt x="307188" y="354407"/>
                </a:lnTo>
                <a:lnTo>
                  <a:pt x="346803" y="332371"/>
                </a:lnTo>
                <a:lnTo>
                  <a:pt x="379845" y="303462"/>
                </a:lnTo>
                <a:lnTo>
                  <a:pt x="405032" y="268799"/>
                </a:lnTo>
                <a:lnTo>
                  <a:pt x="421084" y="229501"/>
                </a:lnTo>
                <a:lnTo>
                  <a:pt x="426720" y="186689"/>
                </a:lnTo>
                <a:lnTo>
                  <a:pt x="421084" y="143878"/>
                </a:lnTo>
                <a:lnTo>
                  <a:pt x="405032" y="104580"/>
                </a:lnTo>
                <a:lnTo>
                  <a:pt x="379845" y="69917"/>
                </a:lnTo>
                <a:lnTo>
                  <a:pt x="346803" y="41008"/>
                </a:lnTo>
                <a:lnTo>
                  <a:pt x="307188" y="18972"/>
                </a:lnTo>
                <a:lnTo>
                  <a:pt x="262279" y="4929"/>
                </a:lnTo>
                <a:lnTo>
                  <a:pt x="213359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33780" y="4337684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40079" y="960908"/>
            <a:ext cx="2752725" cy="60452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9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400">
                <a:latin typeface="Corbel"/>
                <a:cs typeface="Corbel"/>
              </a:rPr>
              <a:t>Farming</a:t>
            </a:r>
            <a:r>
              <a:rPr dirty="0" sz="1400" spc="-4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Strategic</a:t>
            </a:r>
            <a:r>
              <a:rPr dirty="0" sz="1400" spc="-4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Accounts</a:t>
            </a:r>
            <a:endParaRPr sz="1400">
              <a:latin typeface="Corbel"/>
              <a:cs typeface="Corbel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 sz="1400">
                <a:latin typeface="Corbel"/>
                <a:cs typeface="Corbel"/>
              </a:rPr>
              <a:t>Blackstone</a:t>
            </a:r>
            <a:r>
              <a:rPr dirty="0" sz="1400" spc="-65">
                <a:latin typeface="Corbel"/>
                <a:cs typeface="Corbel"/>
              </a:rPr>
              <a:t> </a:t>
            </a:r>
            <a:r>
              <a:rPr dirty="0" sz="1400">
                <a:latin typeface="Corbel"/>
                <a:cs typeface="Corbel"/>
              </a:rPr>
              <a:t>Portfolio</a:t>
            </a:r>
            <a:r>
              <a:rPr dirty="0" sz="1400" spc="-50">
                <a:latin typeface="Corbel"/>
                <a:cs typeface="Corbel"/>
              </a:rPr>
              <a:t> </a:t>
            </a:r>
            <a:r>
              <a:rPr dirty="0" sz="1400" spc="-10">
                <a:latin typeface="Corbel"/>
                <a:cs typeface="Corbel"/>
              </a:rPr>
              <a:t>Opportunity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78536" y="5346191"/>
            <a:ext cx="426720" cy="373380"/>
          </a:xfrm>
          <a:custGeom>
            <a:avLst/>
            <a:gdLst/>
            <a:ahLst/>
            <a:cxnLst/>
            <a:rect l="l" t="t" r="r" b="b"/>
            <a:pathLst>
              <a:path w="426719" h="373379">
                <a:moveTo>
                  <a:pt x="213359" y="0"/>
                </a:moveTo>
                <a:lnTo>
                  <a:pt x="164440" y="4929"/>
                </a:lnTo>
                <a:lnTo>
                  <a:pt x="119531" y="18972"/>
                </a:lnTo>
                <a:lnTo>
                  <a:pt x="79916" y="41008"/>
                </a:lnTo>
                <a:lnTo>
                  <a:pt x="46874" y="69917"/>
                </a:lnTo>
                <a:lnTo>
                  <a:pt x="21687" y="104580"/>
                </a:lnTo>
                <a:lnTo>
                  <a:pt x="5635" y="143878"/>
                </a:lnTo>
                <a:lnTo>
                  <a:pt x="0" y="186690"/>
                </a:lnTo>
                <a:lnTo>
                  <a:pt x="5635" y="229497"/>
                </a:lnTo>
                <a:lnTo>
                  <a:pt x="21687" y="268793"/>
                </a:lnTo>
                <a:lnTo>
                  <a:pt x="46874" y="303457"/>
                </a:lnTo>
                <a:lnTo>
                  <a:pt x="79916" y="332367"/>
                </a:lnTo>
                <a:lnTo>
                  <a:pt x="119531" y="354405"/>
                </a:lnTo>
                <a:lnTo>
                  <a:pt x="164440" y="368449"/>
                </a:lnTo>
                <a:lnTo>
                  <a:pt x="213359" y="373380"/>
                </a:lnTo>
                <a:lnTo>
                  <a:pt x="262279" y="368449"/>
                </a:lnTo>
                <a:lnTo>
                  <a:pt x="307188" y="354405"/>
                </a:lnTo>
                <a:lnTo>
                  <a:pt x="346803" y="332367"/>
                </a:lnTo>
                <a:lnTo>
                  <a:pt x="379845" y="303457"/>
                </a:lnTo>
                <a:lnTo>
                  <a:pt x="405032" y="268793"/>
                </a:lnTo>
                <a:lnTo>
                  <a:pt x="421084" y="229497"/>
                </a:lnTo>
                <a:lnTo>
                  <a:pt x="426720" y="186690"/>
                </a:lnTo>
                <a:lnTo>
                  <a:pt x="421084" y="143878"/>
                </a:lnTo>
                <a:lnTo>
                  <a:pt x="405032" y="104580"/>
                </a:lnTo>
                <a:lnTo>
                  <a:pt x="379845" y="69917"/>
                </a:lnTo>
                <a:lnTo>
                  <a:pt x="346803" y="41008"/>
                </a:lnTo>
                <a:lnTo>
                  <a:pt x="307188" y="18972"/>
                </a:lnTo>
                <a:lnTo>
                  <a:pt x="262279" y="4929"/>
                </a:lnTo>
                <a:lnTo>
                  <a:pt x="213359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595680" y="5301233"/>
            <a:ext cx="425069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0205" marR="30480" indent="-320040">
              <a:lnSpc>
                <a:spcPct val="100000"/>
              </a:lnSpc>
              <a:spcBef>
                <a:spcPts val="95"/>
              </a:spcBef>
              <a:tabLst>
                <a:tab pos="370205" algn="l"/>
              </a:tabLst>
            </a:pPr>
            <a:r>
              <a:rPr dirty="0" baseline="-23809" sz="2100" spc="-37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dirty="0" sz="1600" spc="-25">
                <a:latin typeface="Wingdings"/>
                <a:cs typeface="Wingdings"/>
              </a:rPr>
              <a:t>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b="1">
                <a:latin typeface="Corbel"/>
                <a:cs typeface="Corbel"/>
              </a:rPr>
              <a:t>Strong</a:t>
            </a:r>
            <a:r>
              <a:rPr dirty="0" sz="1600" spc="-55" b="1">
                <a:latin typeface="Corbel"/>
                <a:cs typeface="Corbel"/>
              </a:rPr>
              <a:t> </a:t>
            </a:r>
            <a:r>
              <a:rPr dirty="0" sz="1600" b="1">
                <a:latin typeface="Corbel"/>
                <a:cs typeface="Corbel"/>
              </a:rPr>
              <a:t>Cashflow</a:t>
            </a:r>
            <a:r>
              <a:rPr dirty="0" sz="1600" spc="-45" b="1">
                <a:latin typeface="Corbel"/>
                <a:cs typeface="Corbel"/>
              </a:rPr>
              <a:t> </a:t>
            </a:r>
            <a:r>
              <a:rPr dirty="0" sz="1600" b="1">
                <a:latin typeface="Corbel"/>
                <a:cs typeface="Corbel"/>
              </a:rPr>
              <a:t>Generation</a:t>
            </a:r>
            <a:r>
              <a:rPr dirty="0" sz="1600" spc="-10" b="1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and</a:t>
            </a:r>
            <a:r>
              <a:rPr dirty="0" sz="1600" spc="-30">
                <a:latin typeface="Corbel"/>
                <a:cs typeface="Corbel"/>
              </a:rPr>
              <a:t> </a:t>
            </a:r>
            <a:r>
              <a:rPr dirty="0" sz="1600" spc="-10" b="1">
                <a:latin typeface="Corbel"/>
                <a:cs typeface="Corbel"/>
              </a:rPr>
              <a:t>Optimal </a:t>
            </a:r>
            <a:r>
              <a:rPr dirty="0" sz="1600" b="1">
                <a:latin typeface="Corbel"/>
                <a:cs typeface="Corbel"/>
              </a:rPr>
              <a:t>Cash</a:t>
            </a:r>
            <a:r>
              <a:rPr dirty="0" sz="1600" spc="-50" b="1">
                <a:latin typeface="Corbel"/>
                <a:cs typeface="Corbel"/>
              </a:rPr>
              <a:t> </a:t>
            </a:r>
            <a:r>
              <a:rPr dirty="0" sz="1600" b="1">
                <a:latin typeface="Corbel"/>
                <a:cs typeface="Corbel"/>
              </a:rPr>
              <a:t>Strategy</a:t>
            </a:r>
            <a:r>
              <a:rPr dirty="0" sz="1600" spc="-25" b="1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to</a:t>
            </a:r>
            <a:r>
              <a:rPr dirty="0" sz="1600" spc="-65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maximize</a:t>
            </a:r>
            <a:r>
              <a:rPr dirty="0" sz="1600" spc="-30">
                <a:latin typeface="Corbel"/>
                <a:cs typeface="Corbel"/>
              </a:rPr>
              <a:t> </a:t>
            </a:r>
            <a:r>
              <a:rPr dirty="0" sz="1600">
                <a:latin typeface="Corbel"/>
                <a:cs typeface="Corbel"/>
              </a:rPr>
              <a:t>shareholder</a:t>
            </a:r>
            <a:r>
              <a:rPr dirty="0" sz="1600" spc="-35">
                <a:latin typeface="Corbel"/>
                <a:cs typeface="Corbel"/>
              </a:rPr>
              <a:t> </a:t>
            </a:r>
            <a:r>
              <a:rPr dirty="0" sz="1600" spc="-10">
                <a:latin typeface="Corbel"/>
                <a:cs typeface="Corbel"/>
              </a:rPr>
              <a:t>value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dirty="0" spc="-25"/>
              <a:t>20</a:t>
            </a:fld>
          </a:p>
        </p:txBody>
      </p:sp>
      <p:sp>
        <p:nvSpPr>
          <p:cNvPr id="20" name="object 20" descr=""/>
          <p:cNvSpPr txBox="1"/>
          <p:nvPr/>
        </p:nvSpPr>
        <p:spPr>
          <a:xfrm>
            <a:off x="5082540" y="4251959"/>
            <a:ext cx="6875145" cy="524510"/>
          </a:xfrm>
          <a:prstGeom prst="rect">
            <a:avLst/>
          </a:prstGeom>
          <a:ln w="9144">
            <a:solidFill>
              <a:srgbClr val="B51E6A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493395" indent="-234315">
              <a:lnSpc>
                <a:spcPct val="100000"/>
              </a:lnSpc>
              <a:spcBef>
                <a:spcPts val="280"/>
              </a:spcBef>
              <a:buFont typeface="Wingdings"/>
              <a:buChar char=""/>
              <a:tabLst>
                <a:tab pos="493395" algn="l"/>
              </a:tabLst>
            </a:pPr>
            <a:r>
              <a:rPr dirty="0" sz="1400" spc="-10" b="1">
                <a:latin typeface="Corbel"/>
                <a:cs typeface="Corbel"/>
              </a:rPr>
              <a:t>Management</a:t>
            </a:r>
            <a:r>
              <a:rPr dirty="0" sz="1400" spc="-4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augmenting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Cloud</a:t>
            </a:r>
            <a:r>
              <a:rPr dirty="0" sz="1400" spc="-3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and</a:t>
            </a:r>
            <a:r>
              <a:rPr dirty="0" sz="1400" spc="-2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Cognitive</a:t>
            </a:r>
            <a:r>
              <a:rPr dirty="0" sz="1400" spc="-1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capabilities</a:t>
            </a:r>
            <a:r>
              <a:rPr dirty="0" sz="1400" spc="-4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to</a:t>
            </a:r>
            <a:r>
              <a:rPr dirty="0" sz="1400" spc="-5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deliver</a:t>
            </a:r>
            <a:r>
              <a:rPr dirty="0" sz="1400" spc="-50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Service</a:t>
            </a:r>
            <a:endParaRPr sz="1400">
              <a:latin typeface="Corbel"/>
              <a:cs typeface="Corbel"/>
            </a:endParaRPr>
          </a:p>
          <a:p>
            <a:pPr marL="493395">
              <a:lnSpc>
                <a:spcPct val="100000"/>
              </a:lnSpc>
            </a:pPr>
            <a:r>
              <a:rPr dirty="0" sz="1400" spc="-10" b="1">
                <a:latin typeface="Corbel"/>
                <a:cs typeface="Corbel"/>
              </a:rPr>
              <a:t>Transformation</a:t>
            </a:r>
            <a:r>
              <a:rPr dirty="0" sz="1400" spc="-20" b="1">
                <a:latin typeface="Corbel"/>
                <a:cs typeface="Corbel"/>
              </a:rPr>
              <a:t> </a:t>
            </a:r>
            <a:r>
              <a:rPr dirty="0" sz="1400" b="1">
                <a:latin typeface="Corbel"/>
                <a:cs typeface="Corbel"/>
              </a:rPr>
              <a:t>and</a:t>
            </a:r>
            <a:r>
              <a:rPr dirty="0" sz="1400" spc="35" b="1">
                <a:latin typeface="Corbel"/>
                <a:cs typeface="Corbel"/>
              </a:rPr>
              <a:t> </a:t>
            </a:r>
            <a:r>
              <a:rPr dirty="0" sz="1400" spc="-10" b="1">
                <a:latin typeface="Corbel"/>
                <a:cs typeface="Corbel"/>
              </a:rPr>
              <a:t>Front-2-</a:t>
            </a:r>
            <a:r>
              <a:rPr dirty="0" sz="1400" b="1">
                <a:latin typeface="Corbel"/>
                <a:cs typeface="Corbel"/>
              </a:rPr>
              <a:t>Back </a:t>
            </a:r>
            <a:r>
              <a:rPr dirty="0" sz="1400" spc="-10" b="1">
                <a:latin typeface="Corbel"/>
                <a:cs typeface="Corbel"/>
              </a:rPr>
              <a:t>Modernization</a:t>
            </a:r>
            <a:endParaRPr sz="1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49040">
              <a:lnSpc>
                <a:spcPct val="100000"/>
              </a:lnSpc>
              <a:spcBef>
                <a:spcPts val="100"/>
              </a:spcBef>
            </a:pPr>
            <a:r>
              <a:rPr dirty="0" spc="40"/>
              <a:t> </a:t>
            </a:r>
            <a:r>
              <a:rPr dirty="0"/>
              <a:t>Why</a:t>
            </a:r>
            <a:r>
              <a:rPr dirty="0" spc="-45"/>
              <a:t> </a:t>
            </a:r>
            <a:r>
              <a:rPr dirty="0"/>
              <a:t>Are</a:t>
            </a:r>
            <a:r>
              <a:rPr dirty="0" spc="-50"/>
              <a:t> </a:t>
            </a:r>
            <a:r>
              <a:rPr dirty="0"/>
              <a:t>We</a:t>
            </a:r>
            <a:r>
              <a:rPr dirty="0" spc="-55"/>
              <a:t> </a:t>
            </a:r>
            <a:r>
              <a:rPr dirty="0" spc="-10"/>
              <a:t>Different?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358" y="2078016"/>
            <a:ext cx="5163670" cy="300957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770633" y="2179065"/>
            <a:ext cx="302895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latin typeface="Corbel"/>
                <a:cs typeface="Corbel"/>
              </a:rPr>
              <a:t>T W I</a:t>
            </a:r>
            <a:r>
              <a:rPr dirty="0" sz="2400" spc="600" b="1">
                <a:latin typeface="Corbel"/>
                <a:cs typeface="Corbel"/>
              </a:rPr>
              <a:t> </a:t>
            </a:r>
            <a:r>
              <a:rPr dirty="0" sz="2400" spc="-50" b="1">
                <a:latin typeface="Corbel"/>
                <a:cs typeface="Corbel"/>
              </a:rPr>
              <a:t>T C H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43594" y="3671696"/>
            <a:ext cx="3204845" cy="20377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2585" marR="35433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2585" algn="l"/>
              </a:tabLst>
            </a:pPr>
            <a:r>
              <a:rPr dirty="0" sz="1200" spc="-20" b="1">
                <a:latin typeface="Corbel"/>
                <a:cs typeface="Corbel"/>
              </a:rPr>
              <a:t>T-</a:t>
            </a:r>
            <a:r>
              <a:rPr dirty="0" sz="1200" b="1">
                <a:latin typeface="Corbel"/>
                <a:cs typeface="Corbel"/>
              </a:rPr>
              <a:t>Shaped</a:t>
            </a:r>
            <a:r>
              <a:rPr dirty="0" sz="1200" spc="-15" b="1">
                <a:latin typeface="Corbel"/>
                <a:cs typeface="Corbel"/>
              </a:rPr>
              <a:t> </a:t>
            </a:r>
            <a:r>
              <a:rPr dirty="0" sz="1200" spc="-10" b="1">
                <a:latin typeface="Corbel"/>
                <a:cs typeface="Corbel"/>
              </a:rPr>
              <a:t>Solution</a:t>
            </a:r>
            <a:r>
              <a:rPr dirty="0" sz="1200" spc="-4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Strategy</a:t>
            </a:r>
            <a:r>
              <a:rPr dirty="0" sz="1200" spc="-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–</a:t>
            </a:r>
            <a:r>
              <a:rPr dirty="0" sz="1200" spc="15" b="1">
                <a:latin typeface="Corbel"/>
                <a:cs typeface="Corbel"/>
              </a:rPr>
              <a:t> </a:t>
            </a:r>
            <a:r>
              <a:rPr dirty="0" sz="1200" spc="-10" b="1">
                <a:latin typeface="Corbel"/>
                <a:cs typeface="Corbel"/>
              </a:rPr>
              <a:t>Domain </a:t>
            </a:r>
            <a:r>
              <a:rPr dirty="0" sz="1200" b="1">
                <a:latin typeface="Corbel"/>
                <a:cs typeface="Corbel"/>
              </a:rPr>
              <a:t>depth</a:t>
            </a:r>
            <a:r>
              <a:rPr dirty="0" sz="1200" spc="-3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+</a:t>
            </a:r>
            <a:r>
              <a:rPr dirty="0" sz="1200" spc="-20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Breadth</a:t>
            </a:r>
            <a:r>
              <a:rPr dirty="0" sz="1200" spc="-5" b="1">
                <a:latin typeface="Corbel"/>
                <a:cs typeface="Corbel"/>
              </a:rPr>
              <a:t> </a:t>
            </a:r>
            <a:r>
              <a:rPr dirty="0" sz="1200" spc="-10" b="1">
                <a:latin typeface="Corbel"/>
                <a:cs typeface="Corbel"/>
              </a:rPr>
              <a:t>of</a:t>
            </a:r>
            <a:r>
              <a:rPr dirty="0" sz="1200" spc="-80" b="1">
                <a:latin typeface="Corbel"/>
                <a:cs typeface="Corbel"/>
              </a:rPr>
              <a:t> </a:t>
            </a:r>
            <a:r>
              <a:rPr dirty="0" sz="1200" spc="-10" b="1">
                <a:latin typeface="Corbel"/>
                <a:cs typeface="Corbel"/>
              </a:rPr>
              <a:t>Tech</a:t>
            </a:r>
            <a:r>
              <a:rPr dirty="0" sz="1200" spc="-1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-</a:t>
            </a:r>
            <a:r>
              <a:rPr dirty="0" sz="1200" spc="-2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2C</a:t>
            </a:r>
            <a:r>
              <a:rPr dirty="0" sz="1200" spc="-10" b="1">
                <a:latin typeface="Corbel"/>
                <a:cs typeface="Corbel"/>
              </a:rPr>
              <a:t> powered</a:t>
            </a:r>
            <a:endParaRPr sz="1200">
              <a:latin typeface="Corbel"/>
              <a:cs typeface="Corbel"/>
            </a:endParaRPr>
          </a:p>
          <a:p>
            <a:pPr marL="362585" indent="-286385">
              <a:lnSpc>
                <a:spcPct val="100000"/>
              </a:lnSpc>
              <a:buFont typeface="Arial MT"/>
              <a:buChar char="•"/>
              <a:tabLst>
                <a:tab pos="362585" algn="l"/>
              </a:tabLst>
            </a:pPr>
            <a:r>
              <a:rPr dirty="0" sz="1200" b="1">
                <a:latin typeface="Corbel"/>
                <a:cs typeface="Corbel"/>
              </a:rPr>
              <a:t>Tier 1</a:t>
            </a:r>
            <a:r>
              <a:rPr dirty="0" sz="1200" spc="-2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capabilities</a:t>
            </a:r>
            <a:r>
              <a:rPr dirty="0" sz="1200" spc="-1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in</a:t>
            </a:r>
            <a:r>
              <a:rPr dirty="0" sz="1200" spc="-10" b="1">
                <a:latin typeface="Corbel"/>
                <a:cs typeface="Corbel"/>
              </a:rPr>
              <a:t> </a:t>
            </a:r>
            <a:r>
              <a:rPr dirty="0" sz="1200" spc="-20" b="1">
                <a:latin typeface="Corbel"/>
                <a:cs typeface="Corbel"/>
              </a:rPr>
              <a:t>BFSI</a:t>
            </a:r>
            <a:endParaRPr sz="1200">
              <a:latin typeface="Corbel"/>
              <a:cs typeface="Corbel"/>
            </a:endParaRPr>
          </a:p>
          <a:p>
            <a:pPr marL="362585" indent="-286385">
              <a:lnSpc>
                <a:spcPct val="100000"/>
              </a:lnSpc>
              <a:buFont typeface="Arial MT"/>
              <a:buChar char="•"/>
              <a:tabLst>
                <a:tab pos="362585" algn="l"/>
              </a:tabLst>
            </a:pPr>
            <a:r>
              <a:rPr dirty="0" sz="1200" b="1">
                <a:latin typeface="Corbel"/>
                <a:cs typeface="Corbel"/>
              </a:rPr>
              <a:t>Front2Back</a:t>
            </a:r>
            <a:r>
              <a:rPr dirty="0" baseline="24305" sz="1200" b="1">
                <a:latin typeface="Corbel"/>
                <a:cs typeface="Corbel"/>
              </a:rPr>
              <a:t>TM</a:t>
            </a:r>
            <a:r>
              <a:rPr dirty="0" baseline="24305" sz="1200" spc="15" b="1">
                <a:latin typeface="Corbel"/>
                <a:cs typeface="Corbel"/>
              </a:rPr>
              <a:t> </a:t>
            </a:r>
            <a:r>
              <a:rPr dirty="0" sz="1200" spc="-10" b="1">
                <a:latin typeface="Corbel"/>
                <a:cs typeface="Corbel"/>
              </a:rPr>
              <a:t>Modernization</a:t>
            </a:r>
            <a:endParaRPr sz="1200">
              <a:latin typeface="Corbel"/>
              <a:cs typeface="Corbel"/>
            </a:endParaRPr>
          </a:p>
          <a:p>
            <a:pPr marL="362585" indent="-286385">
              <a:lnSpc>
                <a:spcPct val="100000"/>
              </a:lnSpc>
              <a:buFont typeface="Arial MT"/>
              <a:buChar char="•"/>
              <a:tabLst>
                <a:tab pos="362585" algn="l"/>
              </a:tabLst>
            </a:pPr>
            <a:r>
              <a:rPr dirty="0" sz="1200" spc="-10" b="1">
                <a:latin typeface="Corbel"/>
                <a:cs typeface="Corbel"/>
              </a:rPr>
              <a:t>X2C</a:t>
            </a:r>
            <a:r>
              <a:rPr dirty="0" baseline="24305" sz="1200" spc="-15" b="1">
                <a:latin typeface="Corbel"/>
                <a:cs typeface="Corbel"/>
              </a:rPr>
              <a:t>2TM</a:t>
            </a:r>
            <a:endParaRPr baseline="24305" sz="1200">
              <a:latin typeface="Corbel"/>
              <a:cs typeface="Corbel"/>
            </a:endParaRPr>
          </a:p>
          <a:p>
            <a:pPr marL="362585" indent="-286385">
              <a:lnSpc>
                <a:spcPct val="100000"/>
              </a:lnSpc>
              <a:buFont typeface="Arial MT"/>
              <a:buChar char="•"/>
              <a:tabLst>
                <a:tab pos="362585" algn="l"/>
              </a:tabLst>
            </a:pPr>
            <a:r>
              <a:rPr dirty="0" sz="1200" b="1">
                <a:latin typeface="Corbel"/>
                <a:cs typeface="Corbel"/>
              </a:rPr>
              <a:t>Focus</a:t>
            </a:r>
            <a:r>
              <a:rPr dirty="0" sz="1200" spc="-1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&amp;</a:t>
            </a:r>
            <a:r>
              <a:rPr dirty="0" sz="1200" spc="-45" b="1">
                <a:latin typeface="Corbel"/>
                <a:cs typeface="Corbel"/>
              </a:rPr>
              <a:t> </a:t>
            </a:r>
            <a:r>
              <a:rPr dirty="0" sz="1200" spc="-10" b="1">
                <a:latin typeface="Corbel"/>
                <a:cs typeface="Corbel"/>
              </a:rPr>
              <a:t>Specialization</a:t>
            </a:r>
            <a:endParaRPr sz="1200">
              <a:latin typeface="Corbel"/>
              <a:cs typeface="Corbel"/>
            </a:endParaRPr>
          </a:p>
          <a:p>
            <a:pPr marL="362585" indent="-286385">
              <a:lnSpc>
                <a:spcPct val="100000"/>
              </a:lnSpc>
              <a:buFont typeface="Arial MT"/>
              <a:buChar char="•"/>
              <a:tabLst>
                <a:tab pos="362585" algn="l"/>
              </a:tabLst>
            </a:pPr>
            <a:r>
              <a:rPr dirty="0" sz="1200" spc="-10" b="1">
                <a:latin typeface="Corbel"/>
                <a:cs typeface="Corbel"/>
              </a:rPr>
              <a:t>Data</a:t>
            </a:r>
            <a:r>
              <a:rPr dirty="0" sz="1200" spc="-60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Center of</a:t>
            </a:r>
            <a:r>
              <a:rPr dirty="0" sz="1200" spc="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the</a:t>
            </a:r>
            <a:r>
              <a:rPr dirty="0" sz="1200" spc="-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Future</a:t>
            </a:r>
            <a:r>
              <a:rPr dirty="0" sz="1200" spc="-30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is an</a:t>
            </a:r>
            <a:r>
              <a:rPr dirty="0" sz="1200" spc="-10" b="1">
                <a:latin typeface="Corbel"/>
                <a:cs typeface="Corbel"/>
              </a:rPr>
              <a:t> Empty</a:t>
            </a:r>
            <a:endParaRPr sz="1200">
              <a:latin typeface="Corbel"/>
              <a:cs typeface="Corbel"/>
            </a:endParaRPr>
          </a:p>
          <a:p>
            <a:pPr marL="362585">
              <a:lnSpc>
                <a:spcPct val="100000"/>
              </a:lnSpc>
            </a:pPr>
            <a:r>
              <a:rPr dirty="0" sz="1200" spc="-10" b="1">
                <a:latin typeface="Corbel"/>
                <a:cs typeface="Corbel"/>
              </a:rPr>
              <a:t>Room</a:t>
            </a:r>
            <a:r>
              <a:rPr dirty="0" baseline="24305" sz="1200" spc="-15" b="1">
                <a:latin typeface="Corbel"/>
                <a:cs typeface="Corbel"/>
              </a:rPr>
              <a:t>TM</a:t>
            </a:r>
            <a:endParaRPr baseline="24305" sz="1200">
              <a:latin typeface="Corbel"/>
              <a:cs typeface="Corbel"/>
            </a:endParaRPr>
          </a:p>
          <a:p>
            <a:pPr marL="362585" marR="70231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62585" algn="l"/>
              </a:tabLst>
            </a:pPr>
            <a:r>
              <a:rPr dirty="0" sz="1200" b="1">
                <a:latin typeface="Corbel"/>
                <a:cs typeface="Corbel"/>
              </a:rPr>
              <a:t>N=1</a:t>
            </a:r>
            <a:r>
              <a:rPr dirty="0" sz="1200" spc="-3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Hyper</a:t>
            </a:r>
            <a:r>
              <a:rPr dirty="0" sz="1200" spc="-2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personalization</a:t>
            </a:r>
            <a:r>
              <a:rPr dirty="0" sz="1200" spc="-15" b="1">
                <a:latin typeface="Corbel"/>
                <a:cs typeface="Corbel"/>
              </a:rPr>
              <a:t> </a:t>
            </a:r>
            <a:r>
              <a:rPr dirty="0" sz="1200" spc="-20" b="1">
                <a:latin typeface="Corbel"/>
                <a:cs typeface="Corbel"/>
              </a:rPr>
              <a:t>using </a:t>
            </a:r>
            <a:r>
              <a:rPr dirty="0" sz="1200" spc="-10" b="1">
                <a:latin typeface="Corbel"/>
                <a:cs typeface="Corbel"/>
              </a:rPr>
              <a:t>HyperCloud</a:t>
            </a:r>
            <a:endParaRPr sz="1200">
              <a:latin typeface="Corbel"/>
              <a:cs typeface="Corbel"/>
            </a:endParaRPr>
          </a:p>
          <a:p>
            <a:pPr marL="362585" indent="-286385">
              <a:lnSpc>
                <a:spcPct val="100000"/>
              </a:lnSpc>
              <a:buFont typeface="Arial MT"/>
              <a:buChar char="•"/>
              <a:tabLst>
                <a:tab pos="362585" algn="l"/>
              </a:tabLst>
            </a:pPr>
            <a:r>
              <a:rPr dirty="0" sz="1200" b="1">
                <a:latin typeface="Corbel"/>
                <a:cs typeface="Corbel"/>
              </a:rPr>
              <a:t>Consistently</a:t>
            </a:r>
            <a:r>
              <a:rPr dirty="0" sz="1200" spc="-30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Rated</a:t>
            </a:r>
            <a:r>
              <a:rPr dirty="0" sz="1200" spc="-30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#1</a:t>
            </a:r>
            <a:r>
              <a:rPr dirty="0" sz="1200" spc="-10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or</a:t>
            </a:r>
            <a:r>
              <a:rPr dirty="0" sz="1200" spc="-15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#2</a:t>
            </a:r>
            <a:r>
              <a:rPr dirty="0" sz="1200" spc="-10" b="1">
                <a:latin typeface="Corbel"/>
                <a:cs typeface="Corbel"/>
              </a:rPr>
              <a:t> </a:t>
            </a:r>
            <a:r>
              <a:rPr dirty="0" sz="1200" b="1">
                <a:latin typeface="Corbel"/>
                <a:cs typeface="Corbel"/>
              </a:rPr>
              <a:t>by</a:t>
            </a:r>
            <a:r>
              <a:rPr dirty="0" sz="1200" spc="-60" b="1">
                <a:latin typeface="Corbel"/>
                <a:cs typeface="Corbel"/>
              </a:rPr>
              <a:t> </a:t>
            </a:r>
            <a:r>
              <a:rPr dirty="0" sz="1200" spc="-10" b="1">
                <a:latin typeface="Corbel"/>
                <a:cs typeface="Corbel"/>
              </a:rPr>
              <a:t>Customers</a:t>
            </a:r>
            <a:endParaRPr sz="1200">
              <a:latin typeface="Corbel"/>
              <a:cs typeface="Corbe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7092" y="2907792"/>
            <a:ext cx="2075688" cy="822960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dirty="0" spc="-25"/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51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7011" y="2553716"/>
            <a:ext cx="223329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3200" spc="-10">
                <a:solidFill>
                  <a:srgbClr val="FFFFFF"/>
                </a:solidFill>
                <a:latin typeface="Corbel"/>
                <a:cs typeface="Corbel"/>
              </a:rPr>
              <a:t>THANK</a:t>
            </a:r>
            <a:r>
              <a:rPr dirty="0" u="none" sz="3200" spc="-3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u="none" sz="3200" spc="-25">
                <a:solidFill>
                  <a:srgbClr val="FFFFFF"/>
                </a:solidFill>
                <a:latin typeface="Corbel"/>
                <a:cs typeface="Corbel"/>
              </a:rPr>
              <a:t>YOU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1611" y="3587241"/>
            <a:ext cx="10966450" cy="2668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orbel"/>
                <a:cs typeface="Corbel"/>
              </a:rPr>
              <a:t>Email:</a:t>
            </a:r>
            <a:r>
              <a:rPr dirty="0" sz="14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u="sng" sz="14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orbel"/>
                <a:cs typeface="Corbel"/>
                <a:hlinkClick r:id="rId2"/>
              </a:rPr>
              <a:t>Investor.Relations@mphasis.com</a:t>
            </a:r>
            <a:endParaRPr sz="14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400">
              <a:latin typeface="Corbel"/>
              <a:cs typeface="Corbel"/>
            </a:endParaRPr>
          </a:p>
          <a:p>
            <a:pPr marL="6858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solidFill>
                  <a:srgbClr val="FFFFFF"/>
                </a:solidFill>
                <a:latin typeface="Corbel"/>
                <a:cs typeface="Corbel"/>
              </a:rPr>
              <a:t>About</a:t>
            </a:r>
            <a:r>
              <a:rPr dirty="0" sz="1100" spc="-1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orbel"/>
                <a:cs typeface="Corbel"/>
              </a:rPr>
              <a:t>Mphasis</a:t>
            </a:r>
            <a:endParaRPr sz="1100">
              <a:latin typeface="Corbel"/>
              <a:cs typeface="Corbel"/>
            </a:endParaRPr>
          </a:p>
          <a:p>
            <a:pPr marL="68580" marR="55880">
              <a:lnSpc>
                <a:spcPct val="100000"/>
              </a:lnSpc>
            </a:pP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Mphasis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(BSE: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526299;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NSE: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MPHASIS)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enables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customers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reimagine</a:t>
            </a:r>
            <a:r>
              <a:rPr dirty="0" sz="11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their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digital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future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by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applying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unique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formula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integrated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cloud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cognitive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technology.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Mphasis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X2C</a:t>
            </a:r>
            <a:r>
              <a:rPr dirty="0" baseline="27777" sz="1050">
                <a:solidFill>
                  <a:srgbClr val="FFFFFF"/>
                </a:solidFill>
                <a:latin typeface="Corbel"/>
                <a:cs typeface="Corbel"/>
              </a:rPr>
              <a:t>2</a:t>
            </a:r>
            <a:r>
              <a:rPr dirty="0" baseline="27777" sz="1050" spc="-7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baseline="-19841" sz="1050" spc="-37">
                <a:solidFill>
                  <a:srgbClr val="FFFFFF"/>
                </a:solidFill>
                <a:latin typeface="Corbel"/>
                <a:cs typeface="Corbel"/>
              </a:rPr>
              <a:t>TM</a:t>
            </a:r>
            <a:r>
              <a:rPr dirty="0" baseline="-19841" sz="1050" spc="7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formula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for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success,</a:t>
            </a:r>
            <a:r>
              <a:rPr dirty="0" sz="1100" spc="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(shift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anything</a:t>
            </a:r>
            <a:r>
              <a:rPr dirty="0" sz="11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 cloud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power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everything</a:t>
            </a:r>
            <a:r>
              <a:rPr dirty="0" sz="11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cognitive),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drives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five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dimensions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business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value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integrated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consumer-centric</a:t>
            </a:r>
            <a:r>
              <a:rPr dirty="0" sz="11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Front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 Back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Digital Transformation,</a:t>
            </a:r>
            <a:r>
              <a:rPr dirty="0" sz="11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enabling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Business Operations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Technology</a:t>
            </a:r>
            <a:r>
              <a:rPr dirty="0" sz="1100" spc="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Transformation.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Mphasis applies</a:t>
            </a:r>
            <a:r>
              <a:rPr dirty="0" sz="1100" spc="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advancements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cognitive</a:t>
            </a:r>
            <a:r>
              <a:rPr dirty="0" sz="1100" spc="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cloud</a:t>
            </a:r>
            <a:r>
              <a:rPr dirty="0" sz="1100" spc="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1100" spc="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traditional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application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infrastructure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services</a:t>
            </a:r>
            <a:r>
              <a:rPr dirty="0" sz="1100" spc="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 bring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much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needed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efficiency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cost</a:t>
            </a:r>
            <a:r>
              <a:rPr dirty="0" sz="1100" spc="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effectiveness.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Mphasis’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core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reference</a:t>
            </a:r>
            <a:r>
              <a:rPr dirty="0" sz="11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architectures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tools, combined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domain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expertise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hyper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specialization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are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the foundation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for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 building</a:t>
            </a:r>
            <a:r>
              <a:rPr dirty="0" sz="11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strong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relationships</a:t>
            </a:r>
            <a:r>
              <a:rPr dirty="0" sz="11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marquee</a:t>
            </a:r>
            <a:r>
              <a:rPr dirty="0" sz="11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customers.</a:t>
            </a:r>
            <a:endParaRPr sz="11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orbel"/>
              <a:cs typeface="Corbel"/>
            </a:endParaRPr>
          </a:p>
          <a:p>
            <a:pPr marL="68580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orbel"/>
                <a:cs typeface="Corbel"/>
              </a:rPr>
              <a:t>Important</a:t>
            </a:r>
            <a:r>
              <a:rPr dirty="0" sz="1200" spc="-5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orbel"/>
                <a:cs typeface="Corbel"/>
              </a:rPr>
              <a:t>Confidentiality</a:t>
            </a:r>
            <a:r>
              <a:rPr dirty="0" sz="1200" spc="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orbel"/>
                <a:cs typeface="Corbel"/>
              </a:rPr>
              <a:t>Notice</a:t>
            </a:r>
            <a:endParaRPr sz="1200">
              <a:latin typeface="Corbel"/>
              <a:cs typeface="Corbel"/>
            </a:endParaRPr>
          </a:p>
          <a:p>
            <a:pPr marL="68580" marR="19050">
              <a:lnSpc>
                <a:spcPct val="100000"/>
              </a:lnSpc>
              <a:spcBef>
                <a:spcPts val="270"/>
              </a:spcBef>
            </a:pP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This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document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property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of,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r>
              <a:rPr dirty="0" sz="1100" spc="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proprietary</a:t>
            </a:r>
            <a:r>
              <a:rPr dirty="0" sz="1100" spc="-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 Mphasis,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identified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as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“Confidential”.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Those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parties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whom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it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distributed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shall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exercise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the same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degree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custody</a:t>
            </a:r>
            <a:r>
              <a:rPr dirty="0" sz="1100" spc="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care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afforded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their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own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such</a:t>
            </a:r>
            <a:r>
              <a:rPr dirty="0" sz="1100" spc="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information.</a:t>
            </a:r>
            <a:r>
              <a:rPr dirty="0" sz="1100" spc="-4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It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is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not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 be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disclosed,</a:t>
            </a:r>
            <a:r>
              <a:rPr dirty="0" sz="1100" spc="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whole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part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 any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third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parties,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without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the express</a:t>
            </a:r>
            <a:r>
              <a:rPr dirty="0" sz="1100" spc="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written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authorization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Mphasis.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It is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not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 be duplicated or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used,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 whole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part,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for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any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purpose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other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than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evaluation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of,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response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to,</a:t>
            </a:r>
            <a:r>
              <a:rPr dirty="0" sz="1100" spc="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Mphasis’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proposal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bid,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the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performance</a:t>
            </a:r>
            <a:r>
              <a:rPr dirty="0" sz="11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execution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of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dirty="0" sz="1100" spc="-1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contract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awarded</a:t>
            </a:r>
            <a:r>
              <a:rPr dirty="0" sz="1100" spc="-3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1100" spc="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Mphasis.</a:t>
            </a:r>
            <a:r>
              <a:rPr dirty="0" sz="1100" spc="-2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This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document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will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be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returned</a:t>
            </a:r>
            <a:r>
              <a:rPr dirty="0" sz="1100" spc="-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to Mphasis</a:t>
            </a:r>
            <a:r>
              <a:rPr dirty="0" sz="1100" spc="-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FFFFFF"/>
                </a:solidFill>
                <a:latin typeface="Corbel"/>
                <a:cs typeface="Corbel"/>
              </a:rPr>
              <a:t>upon</a:t>
            </a:r>
            <a:r>
              <a:rPr dirty="0" sz="1100" spc="-2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rbel"/>
                <a:cs typeface="Corbel"/>
              </a:rPr>
              <a:t>request.</a:t>
            </a:r>
            <a:endParaRPr sz="11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549140" y="629412"/>
            <a:ext cx="2950210" cy="0"/>
          </a:xfrm>
          <a:custGeom>
            <a:avLst/>
            <a:gdLst/>
            <a:ahLst/>
            <a:cxnLst/>
            <a:rect l="l" t="t" r="r" b="b"/>
            <a:pathLst>
              <a:path w="2950209" h="0">
                <a:moveTo>
                  <a:pt x="0" y="0"/>
                </a:moveTo>
                <a:lnTo>
                  <a:pt x="2949702" y="0"/>
                </a:lnTo>
              </a:path>
            </a:pathLst>
          </a:custGeom>
          <a:ln w="9144">
            <a:solidFill>
              <a:srgbClr val="C725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66800" y="1123188"/>
            <a:ext cx="10058400" cy="737870"/>
          </a:xfrm>
          <a:custGeom>
            <a:avLst/>
            <a:gdLst/>
            <a:ahLst/>
            <a:cxnLst/>
            <a:rect l="l" t="t" r="r" b="b"/>
            <a:pathLst>
              <a:path w="10058400" h="737869">
                <a:moveTo>
                  <a:pt x="10058400" y="0"/>
                </a:moveTo>
                <a:lnTo>
                  <a:pt x="0" y="0"/>
                </a:lnTo>
                <a:lnTo>
                  <a:pt x="0" y="737615"/>
                </a:lnTo>
                <a:lnTo>
                  <a:pt x="10058400" y="737615"/>
                </a:lnTo>
                <a:lnTo>
                  <a:pt x="10058400" y="0"/>
                </a:lnTo>
                <a:close/>
              </a:path>
            </a:pathLst>
          </a:custGeom>
          <a:solidFill>
            <a:srgbClr val="9FB4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66800" y="1123188"/>
            <a:ext cx="10058400" cy="737870"/>
          </a:xfrm>
          <a:prstGeom prst="rect">
            <a:avLst/>
          </a:prstGeom>
          <a:ln w="12192">
            <a:solidFill>
              <a:srgbClr val="B51E6A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4699000" marR="451485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solidFill>
                  <a:srgbClr val="0D0D0D"/>
                </a:solidFill>
                <a:latin typeface="Corbel"/>
                <a:cs typeface="Corbel"/>
              </a:rPr>
              <a:t>Nitin</a:t>
            </a:r>
            <a:r>
              <a:rPr dirty="0" sz="1200" spc="-30" b="1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200" spc="-10" b="1">
                <a:solidFill>
                  <a:srgbClr val="0D0D0D"/>
                </a:solidFill>
                <a:latin typeface="Corbel"/>
                <a:cs typeface="Corbel"/>
              </a:rPr>
              <a:t>Rakesh </a:t>
            </a:r>
            <a:r>
              <a:rPr dirty="0" sz="1200" spc="-25" b="1">
                <a:solidFill>
                  <a:srgbClr val="0D0D0D"/>
                </a:solidFill>
                <a:latin typeface="Corbel"/>
                <a:cs typeface="Corbel"/>
              </a:rPr>
              <a:t>CEO</a:t>
            </a:r>
            <a:endParaRPr sz="1200">
              <a:latin typeface="Corbel"/>
              <a:cs typeface="Corbe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5191" y="1150619"/>
            <a:ext cx="612648" cy="69494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68444" y="204038"/>
            <a:ext cx="304355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/>
              <a:t>Strong</a:t>
            </a:r>
            <a:r>
              <a:rPr dirty="0" u="none" spc="-90"/>
              <a:t> </a:t>
            </a:r>
            <a:r>
              <a:rPr dirty="0" u="none"/>
              <a:t>Leadership</a:t>
            </a:r>
            <a:r>
              <a:rPr dirty="0" u="none" spc="-80"/>
              <a:t> </a:t>
            </a:r>
            <a:r>
              <a:rPr dirty="0" u="none" spc="-20"/>
              <a:t>Team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1060450" y="2256789"/>
            <a:ext cx="3249930" cy="1336040"/>
            <a:chOff x="1060450" y="2256789"/>
            <a:chExt cx="3249930" cy="1336040"/>
          </a:xfrm>
        </p:grpSpPr>
        <p:sp>
          <p:nvSpPr>
            <p:cNvPr id="8" name="object 8" descr=""/>
            <p:cNvSpPr/>
            <p:nvPr/>
          </p:nvSpPr>
          <p:spPr>
            <a:xfrm>
              <a:off x="1066800" y="2263139"/>
              <a:ext cx="3237230" cy="1323340"/>
            </a:xfrm>
            <a:custGeom>
              <a:avLst/>
              <a:gdLst/>
              <a:ahLst/>
              <a:cxnLst/>
              <a:rect l="l" t="t" r="r" b="b"/>
              <a:pathLst>
                <a:path w="3237229" h="1323339">
                  <a:moveTo>
                    <a:pt x="3236976" y="0"/>
                  </a:moveTo>
                  <a:lnTo>
                    <a:pt x="0" y="0"/>
                  </a:lnTo>
                  <a:lnTo>
                    <a:pt x="0" y="1322831"/>
                  </a:lnTo>
                  <a:lnTo>
                    <a:pt x="3236976" y="1322831"/>
                  </a:lnTo>
                  <a:lnTo>
                    <a:pt x="3236976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66800" y="2263139"/>
              <a:ext cx="3237230" cy="1323340"/>
            </a:xfrm>
            <a:custGeom>
              <a:avLst/>
              <a:gdLst/>
              <a:ahLst/>
              <a:cxnLst/>
              <a:rect l="l" t="t" r="r" b="b"/>
              <a:pathLst>
                <a:path w="3237229" h="1323339">
                  <a:moveTo>
                    <a:pt x="0" y="1322831"/>
                  </a:moveTo>
                  <a:lnTo>
                    <a:pt x="3236976" y="1322831"/>
                  </a:lnTo>
                  <a:lnTo>
                    <a:pt x="3236976" y="0"/>
                  </a:lnTo>
                  <a:lnTo>
                    <a:pt x="0" y="0"/>
                  </a:lnTo>
                  <a:lnTo>
                    <a:pt x="0" y="1322831"/>
                  </a:lnTo>
                  <a:close/>
                </a:path>
              </a:pathLst>
            </a:custGeom>
            <a:ln w="12191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278382" y="3138373"/>
            <a:ext cx="283464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7640" indent="-16764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67640" algn="l"/>
              </a:tabLst>
            </a:pPr>
            <a:r>
              <a:rPr dirty="0" sz="1100" spc="-10">
                <a:solidFill>
                  <a:srgbClr val="0D0D0D"/>
                </a:solidFill>
                <a:latin typeface="Corbel"/>
                <a:cs typeface="Corbel"/>
              </a:rPr>
              <a:t>President,</a:t>
            </a:r>
            <a:r>
              <a:rPr dirty="0" sz="1100" spc="-2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Mphasis</a:t>
            </a:r>
            <a:r>
              <a:rPr dirty="0" sz="1100" spc="-10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Digital</a:t>
            </a:r>
            <a:r>
              <a:rPr dirty="0" sz="1100" spc="-1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&amp;</a:t>
            </a:r>
            <a:r>
              <a:rPr dirty="0" sz="1100" spc="22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Direct</a:t>
            </a:r>
            <a:r>
              <a:rPr dirty="0" sz="1100" spc="-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Core</a:t>
            </a:r>
            <a:r>
              <a:rPr dirty="0" sz="1100" spc="-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 spc="-25">
                <a:solidFill>
                  <a:srgbClr val="0D0D0D"/>
                </a:solidFill>
                <a:latin typeface="Corbel"/>
                <a:cs typeface="Corbel"/>
              </a:rPr>
              <a:t>GTM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05685" y="2525649"/>
            <a:ext cx="83566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 indent="127635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D0D0D"/>
                </a:solidFill>
                <a:latin typeface="Corbel"/>
                <a:cs typeface="Corbel"/>
              </a:rPr>
              <a:t>Dinesh </a:t>
            </a:r>
            <a:r>
              <a:rPr dirty="0" sz="1400" spc="-20" b="1">
                <a:solidFill>
                  <a:srgbClr val="0D0D0D"/>
                </a:solidFill>
                <a:latin typeface="Corbel"/>
                <a:cs typeface="Corbel"/>
              </a:rPr>
              <a:t>Venugopal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130808" y="2397251"/>
            <a:ext cx="1809114" cy="640080"/>
            <a:chOff x="1130808" y="2397251"/>
            <a:chExt cx="1809114" cy="640080"/>
          </a:xfrm>
        </p:grpSpPr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0808" y="2423159"/>
              <a:ext cx="550164" cy="59436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935224" y="2397251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w="0" h="640080">
                  <a:moveTo>
                    <a:pt x="0" y="0"/>
                  </a:moveTo>
                  <a:lnTo>
                    <a:pt x="0" y="640080"/>
                  </a:lnTo>
                </a:path>
              </a:pathLst>
            </a:custGeom>
            <a:ln w="9144">
              <a:solidFill>
                <a:srgbClr val="7D007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4455921" y="2256789"/>
            <a:ext cx="3249930" cy="1336040"/>
            <a:chOff x="4455921" y="2256789"/>
            <a:chExt cx="3249930" cy="1336040"/>
          </a:xfrm>
        </p:grpSpPr>
        <p:sp>
          <p:nvSpPr>
            <p:cNvPr id="16" name="object 16" descr=""/>
            <p:cNvSpPr/>
            <p:nvPr/>
          </p:nvSpPr>
          <p:spPr>
            <a:xfrm>
              <a:off x="4462271" y="2263139"/>
              <a:ext cx="3237230" cy="1323340"/>
            </a:xfrm>
            <a:custGeom>
              <a:avLst/>
              <a:gdLst/>
              <a:ahLst/>
              <a:cxnLst/>
              <a:rect l="l" t="t" r="r" b="b"/>
              <a:pathLst>
                <a:path w="3237229" h="1323339">
                  <a:moveTo>
                    <a:pt x="3236976" y="0"/>
                  </a:moveTo>
                  <a:lnTo>
                    <a:pt x="0" y="0"/>
                  </a:lnTo>
                  <a:lnTo>
                    <a:pt x="0" y="1322831"/>
                  </a:lnTo>
                  <a:lnTo>
                    <a:pt x="3236976" y="1322831"/>
                  </a:lnTo>
                  <a:lnTo>
                    <a:pt x="3236976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462271" y="2263139"/>
              <a:ext cx="3237230" cy="1323340"/>
            </a:xfrm>
            <a:custGeom>
              <a:avLst/>
              <a:gdLst/>
              <a:ahLst/>
              <a:cxnLst/>
              <a:rect l="l" t="t" r="r" b="b"/>
              <a:pathLst>
                <a:path w="3237229" h="1323339">
                  <a:moveTo>
                    <a:pt x="0" y="1322831"/>
                  </a:moveTo>
                  <a:lnTo>
                    <a:pt x="3236976" y="1322831"/>
                  </a:lnTo>
                  <a:lnTo>
                    <a:pt x="3236976" y="0"/>
                  </a:lnTo>
                  <a:lnTo>
                    <a:pt x="0" y="0"/>
                  </a:lnTo>
                  <a:lnTo>
                    <a:pt x="0" y="1322831"/>
                  </a:lnTo>
                  <a:close/>
                </a:path>
              </a:pathLst>
            </a:custGeom>
            <a:ln w="12191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673853" y="3138373"/>
            <a:ext cx="168148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7640" indent="-16764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67640" algn="l"/>
              </a:tabLst>
            </a:pPr>
            <a:r>
              <a:rPr dirty="0" sz="1100" spc="-10">
                <a:solidFill>
                  <a:srgbClr val="0D0D0D"/>
                </a:solidFill>
                <a:latin typeface="Corbel"/>
                <a:cs typeface="Corbel"/>
              </a:rPr>
              <a:t>President,</a:t>
            </a:r>
            <a:r>
              <a:rPr dirty="0" sz="1100" spc="-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Global</a:t>
            </a:r>
            <a:r>
              <a:rPr dirty="0" sz="1100" spc="30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0D0D0D"/>
                </a:solidFill>
                <a:latin typeface="Corbel"/>
                <a:cs typeface="Corbel"/>
              </a:rPr>
              <a:t>Delivery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275453" y="2525649"/>
            <a:ext cx="104457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 indent="23876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D0D0D"/>
                </a:solidFill>
                <a:latin typeface="Corbel"/>
                <a:cs typeface="Corbel"/>
              </a:rPr>
              <a:t>Sundar Subramanian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069335" y="2513457"/>
            <a:ext cx="1069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orbel"/>
                <a:cs typeface="Corbel"/>
              </a:rPr>
              <a:t>10</a:t>
            </a:r>
            <a:r>
              <a:rPr dirty="0" sz="1200" spc="-10">
                <a:latin typeface="Corbel"/>
                <a:cs typeface="Corbel"/>
              </a:rPr>
              <a:t> </a:t>
            </a:r>
            <a:r>
              <a:rPr dirty="0" sz="1200">
                <a:latin typeface="Corbel"/>
                <a:cs typeface="Corbel"/>
              </a:rPr>
              <a:t>yrs</a:t>
            </a:r>
            <a:r>
              <a:rPr dirty="0" sz="1200" spc="-25">
                <a:latin typeface="Corbel"/>
                <a:cs typeface="Corbel"/>
              </a:rPr>
              <a:t> </a:t>
            </a:r>
            <a:r>
              <a:rPr dirty="0" sz="1200">
                <a:latin typeface="Corbel"/>
                <a:cs typeface="Corbel"/>
              </a:rPr>
              <a:t>in</a:t>
            </a:r>
            <a:r>
              <a:rPr dirty="0" sz="1200" spc="-10">
                <a:latin typeface="Corbel"/>
                <a:cs typeface="Corbel"/>
              </a:rPr>
              <a:t> Mphasis </a:t>
            </a:r>
            <a:r>
              <a:rPr dirty="0" sz="1200">
                <a:latin typeface="Corbel"/>
                <a:cs typeface="Corbel"/>
              </a:rPr>
              <a:t>and</a:t>
            </a:r>
            <a:r>
              <a:rPr dirty="0" sz="1200" spc="-30">
                <a:latin typeface="Corbel"/>
                <a:cs typeface="Corbel"/>
              </a:rPr>
              <a:t> </a:t>
            </a:r>
            <a:r>
              <a:rPr dirty="0" sz="1200">
                <a:latin typeface="Corbel"/>
                <a:cs typeface="Corbel"/>
              </a:rPr>
              <a:t>in</a:t>
            </a:r>
            <a:r>
              <a:rPr dirty="0" sz="1200" spc="-20">
                <a:latin typeface="Corbel"/>
                <a:cs typeface="Corbel"/>
              </a:rPr>
              <a:t> ExCo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509515" y="2397251"/>
            <a:ext cx="1894839" cy="640080"/>
            <a:chOff x="4509515" y="2397251"/>
            <a:chExt cx="1894839" cy="640080"/>
          </a:xfrm>
        </p:grpSpPr>
        <p:sp>
          <p:nvSpPr>
            <p:cNvPr id="22" name="object 22" descr=""/>
            <p:cNvSpPr/>
            <p:nvPr/>
          </p:nvSpPr>
          <p:spPr>
            <a:xfrm>
              <a:off x="6399275" y="2397251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w="0" h="640080">
                  <a:moveTo>
                    <a:pt x="0" y="0"/>
                  </a:moveTo>
                  <a:lnTo>
                    <a:pt x="0" y="640080"/>
                  </a:lnTo>
                </a:path>
              </a:pathLst>
            </a:custGeom>
            <a:ln w="9144">
              <a:solidFill>
                <a:srgbClr val="7D007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9515" y="2415539"/>
              <a:ext cx="591312" cy="621791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6517258" y="2513457"/>
            <a:ext cx="1115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orbel"/>
                <a:cs typeface="Corbel"/>
              </a:rPr>
              <a:t>Joined</a:t>
            </a:r>
            <a:r>
              <a:rPr dirty="0" sz="1200" spc="-30">
                <a:latin typeface="Corbel"/>
                <a:cs typeface="Corbel"/>
              </a:rPr>
              <a:t> </a:t>
            </a:r>
            <a:r>
              <a:rPr dirty="0" sz="1200" spc="-10">
                <a:latin typeface="Corbel"/>
                <a:cs typeface="Corbel"/>
              </a:rPr>
              <a:t>in</a:t>
            </a:r>
            <a:r>
              <a:rPr dirty="0" sz="1200" spc="-60">
                <a:latin typeface="Corbel"/>
                <a:cs typeface="Corbel"/>
              </a:rPr>
              <a:t> </a:t>
            </a:r>
            <a:r>
              <a:rPr dirty="0" sz="1200" spc="-10">
                <a:latin typeface="Corbel"/>
                <a:cs typeface="Corbel"/>
              </a:rPr>
              <a:t>October </a:t>
            </a:r>
            <a:r>
              <a:rPr dirty="0" sz="1200" spc="-20">
                <a:latin typeface="Corbel"/>
                <a:cs typeface="Corbel"/>
              </a:rPr>
              <a:t>2017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7865173" y="2258377"/>
            <a:ext cx="3246755" cy="1332865"/>
            <a:chOff x="7865173" y="2258377"/>
            <a:chExt cx="3246755" cy="1332865"/>
          </a:xfrm>
        </p:grpSpPr>
        <p:sp>
          <p:nvSpPr>
            <p:cNvPr id="26" name="object 26" descr=""/>
            <p:cNvSpPr/>
            <p:nvPr/>
          </p:nvSpPr>
          <p:spPr>
            <a:xfrm>
              <a:off x="7869935" y="2263139"/>
              <a:ext cx="3237230" cy="1323340"/>
            </a:xfrm>
            <a:custGeom>
              <a:avLst/>
              <a:gdLst/>
              <a:ahLst/>
              <a:cxnLst/>
              <a:rect l="l" t="t" r="r" b="b"/>
              <a:pathLst>
                <a:path w="3237229" h="1323339">
                  <a:moveTo>
                    <a:pt x="3236976" y="0"/>
                  </a:moveTo>
                  <a:lnTo>
                    <a:pt x="0" y="0"/>
                  </a:lnTo>
                  <a:lnTo>
                    <a:pt x="0" y="1322831"/>
                  </a:lnTo>
                  <a:lnTo>
                    <a:pt x="3236976" y="1322831"/>
                  </a:lnTo>
                  <a:lnTo>
                    <a:pt x="3236976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869935" y="2263139"/>
              <a:ext cx="3237230" cy="1323340"/>
            </a:xfrm>
            <a:custGeom>
              <a:avLst/>
              <a:gdLst/>
              <a:ahLst/>
              <a:cxnLst/>
              <a:rect l="l" t="t" r="r" b="b"/>
              <a:pathLst>
                <a:path w="3237229" h="1323339">
                  <a:moveTo>
                    <a:pt x="0" y="1322831"/>
                  </a:moveTo>
                  <a:lnTo>
                    <a:pt x="3236976" y="1322831"/>
                  </a:lnTo>
                  <a:lnTo>
                    <a:pt x="3236976" y="0"/>
                  </a:lnTo>
                  <a:lnTo>
                    <a:pt x="0" y="0"/>
                  </a:lnTo>
                  <a:lnTo>
                    <a:pt x="0" y="1322831"/>
                  </a:lnTo>
                  <a:close/>
                </a:path>
              </a:pathLst>
            </a:custGeom>
            <a:ln w="9143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082406" y="3138373"/>
            <a:ext cx="177990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7640" indent="-16764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67640" algn="l"/>
              </a:tabLst>
            </a:pPr>
            <a:r>
              <a:rPr dirty="0" sz="1100" spc="-10">
                <a:solidFill>
                  <a:srgbClr val="0D0D0D"/>
                </a:solidFill>
                <a:latin typeface="Corbel"/>
                <a:cs typeface="Corbel"/>
              </a:rPr>
              <a:t>President,</a:t>
            </a:r>
            <a:r>
              <a:rPr dirty="0" sz="1100" spc="-20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HP</a:t>
            </a:r>
            <a:r>
              <a:rPr dirty="0" sz="1100" spc="10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Business </a:t>
            </a:r>
            <a:r>
              <a:rPr dirty="0" sz="1100" spc="-20">
                <a:solidFill>
                  <a:srgbClr val="0D0D0D"/>
                </a:solidFill>
                <a:latin typeface="Corbel"/>
                <a:cs typeface="Corbel"/>
              </a:rPr>
              <a:t>Unit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582532" y="2609214"/>
            <a:ext cx="6946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0D0D0D"/>
                </a:solidFill>
                <a:latin typeface="Corbel"/>
                <a:cs typeface="Corbel"/>
              </a:rPr>
              <a:t>Elango</a:t>
            </a:r>
            <a:r>
              <a:rPr dirty="0" sz="1400" spc="-50" b="1">
                <a:solidFill>
                  <a:srgbClr val="0D0D0D"/>
                </a:solidFill>
                <a:latin typeface="Corbel"/>
                <a:cs typeface="Corbel"/>
              </a:rPr>
              <a:t> R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7952231" y="2397251"/>
            <a:ext cx="1607820" cy="647700"/>
            <a:chOff x="7952231" y="2397251"/>
            <a:chExt cx="1607820" cy="647700"/>
          </a:xfrm>
        </p:grpSpPr>
        <p:sp>
          <p:nvSpPr>
            <p:cNvPr id="31" name="object 31" descr=""/>
            <p:cNvSpPr/>
            <p:nvPr/>
          </p:nvSpPr>
          <p:spPr>
            <a:xfrm>
              <a:off x="9555479" y="2397251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w="0" h="640080">
                  <a:moveTo>
                    <a:pt x="0" y="0"/>
                  </a:moveTo>
                  <a:lnTo>
                    <a:pt x="0" y="640080"/>
                  </a:lnTo>
                </a:path>
              </a:pathLst>
            </a:custGeom>
            <a:ln w="9144">
              <a:solidFill>
                <a:srgbClr val="7D007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52231" y="2423159"/>
              <a:ext cx="582168" cy="621791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9674352" y="2513457"/>
            <a:ext cx="10693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orbel"/>
                <a:cs typeface="Corbel"/>
              </a:rPr>
              <a:t>12</a:t>
            </a:r>
            <a:r>
              <a:rPr dirty="0" sz="1200" spc="-5">
                <a:latin typeface="Corbel"/>
                <a:cs typeface="Corbel"/>
              </a:rPr>
              <a:t> </a:t>
            </a:r>
            <a:r>
              <a:rPr dirty="0" sz="1200">
                <a:latin typeface="Corbel"/>
                <a:cs typeface="Corbel"/>
              </a:rPr>
              <a:t>yrs</a:t>
            </a:r>
            <a:r>
              <a:rPr dirty="0" sz="1200" spc="-25">
                <a:latin typeface="Corbel"/>
                <a:cs typeface="Corbel"/>
              </a:rPr>
              <a:t> </a:t>
            </a:r>
            <a:r>
              <a:rPr dirty="0" sz="1200">
                <a:latin typeface="Corbel"/>
                <a:cs typeface="Corbel"/>
              </a:rPr>
              <a:t>in</a:t>
            </a:r>
            <a:r>
              <a:rPr dirty="0" sz="1200" spc="-10">
                <a:latin typeface="Corbel"/>
                <a:cs typeface="Corbel"/>
              </a:rPr>
              <a:t> Mphasis </a:t>
            </a:r>
            <a:r>
              <a:rPr dirty="0" sz="1200">
                <a:latin typeface="Corbel"/>
                <a:cs typeface="Corbel"/>
              </a:rPr>
              <a:t>and</a:t>
            </a:r>
            <a:r>
              <a:rPr dirty="0" sz="1200" spc="-30">
                <a:latin typeface="Corbel"/>
                <a:cs typeface="Corbel"/>
              </a:rPr>
              <a:t> </a:t>
            </a:r>
            <a:r>
              <a:rPr dirty="0" sz="1200">
                <a:latin typeface="Corbel"/>
                <a:cs typeface="Corbel"/>
              </a:rPr>
              <a:t>in</a:t>
            </a:r>
            <a:r>
              <a:rPr dirty="0" sz="1200" spc="-20">
                <a:latin typeface="Corbel"/>
                <a:cs typeface="Corbel"/>
              </a:rPr>
              <a:t> ExCo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7821168" y="4094988"/>
            <a:ext cx="3237230" cy="1323340"/>
            <a:chOff x="7821168" y="4094988"/>
            <a:chExt cx="3237230" cy="1323340"/>
          </a:xfrm>
        </p:grpSpPr>
        <p:sp>
          <p:nvSpPr>
            <p:cNvPr id="35" name="object 35" descr=""/>
            <p:cNvSpPr/>
            <p:nvPr/>
          </p:nvSpPr>
          <p:spPr>
            <a:xfrm>
              <a:off x="7821168" y="4094988"/>
              <a:ext cx="3237230" cy="1323340"/>
            </a:xfrm>
            <a:custGeom>
              <a:avLst/>
              <a:gdLst/>
              <a:ahLst/>
              <a:cxnLst/>
              <a:rect l="l" t="t" r="r" b="b"/>
              <a:pathLst>
                <a:path w="3237229" h="1323339">
                  <a:moveTo>
                    <a:pt x="3236976" y="0"/>
                  </a:moveTo>
                  <a:lnTo>
                    <a:pt x="0" y="0"/>
                  </a:lnTo>
                  <a:lnTo>
                    <a:pt x="0" y="1322832"/>
                  </a:lnTo>
                  <a:lnTo>
                    <a:pt x="3236976" y="1322832"/>
                  </a:lnTo>
                  <a:lnTo>
                    <a:pt x="3236976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496044" y="4233672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w="0" h="640079">
                  <a:moveTo>
                    <a:pt x="0" y="0"/>
                  </a:moveTo>
                  <a:lnTo>
                    <a:pt x="0" y="640079"/>
                  </a:lnTo>
                </a:path>
              </a:pathLst>
            </a:custGeom>
            <a:ln w="9144">
              <a:solidFill>
                <a:srgbClr val="7D007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7821168" y="4094988"/>
            <a:ext cx="3237230" cy="1323340"/>
          </a:xfrm>
          <a:prstGeom prst="rect">
            <a:avLst/>
          </a:prstGeom>
          <a:ln w="12192">
            <a:solidFill>
              <a:srgbClr val="B51E6A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</a:pPr>
            <a:endParaRPr sz="1200">
              <a:latin typeface="Times New Roman"/>
              <a:cs typeface="Times New Roman"/>
            </a:endParaRPr>
          </a:p>
          <a:p>
            <a:pPr marL="1793239">
              <a:lnSpc>
                <a:spcPts val="1070"/>
              </a:lnSpc>
            </a:pPr>
            <a:r>
              <a:rPr dirty="0" sz="1200">
                <a:latin typeface="Corbel"/>
                <a:cs typeface="Corbel"/>
              </a:rPr>
              <a:t>Joined</a:t>
            </a:r>
            <a:r>
              <a:rPr dirty="0" sz="1200" spc="-5">
                <a:latin typeface="Corbel"/>
                <a:cs typeface="Corbel"/>
              </a:rPr>
              <a:t> </a:t>
            </a:r>
            <a:r>
              <a:rPr dirty="0" sz="1200" spc="-10">
                <a:latin typeface="Corbel"/>
                <a:cs typeface="Corbel"/>
              </a:rPr>
              <a:t>in</a:t>
            </a:r>
            <a:r>
              <a:rPr dirty="0" sz="1200" spc="-65">
                <a:latin typeface="Corbel"/>
                <a:cs typeface="Corbel"/>
              </a:rPr>
              <a:t> </a:t>
            </a:r>
            <a:r>
              <a:rPr dirty="0" sz="1200" spc="-10">
                <a:latin typeface="Corbel"/>
                <a:cs typeface="Corbel"/>
              </a:rPr>
              <a:t>October</a:t>
            </a:r>
            <a:endParaRPr sz="1200">
              <a:latin typeface="Corbel"/>
              <a:cs typeface="Corbel"/>
            </a:endParaRPr>
          </a:p>
          <a:p>
            <a:pPr marL="637540">
              <a:lnSpc>
                <a:spcPts val="1310"/>
              </a:lnSpc>
              <a:tabLst>
                <a:tab pos="1793239" algn="l"/>
              </a:tabLst>
            </a:pPr>
            <a:r>
              <a:rPr dirty="0" sz="1400" spc="-10" b="1">
                <a:solidFill>
                  <a:srgbClr val="0D0D0D"/>
                </a:solidFill>
                <a:latin typeface="Corbel"/>
                <a:cs typeface="Corbel"/>
              </a:rPr>
              <a:t>Eric</a:t>
            </a:r>
            <a:r>
              <a:rPr dirty="0" sz="1400" spc="-60" b="1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400" spc="-10" b="1">
                <a:solidFill>
                  <a:srgbClr val="0D0D0D"/>
                </a:solidFill>
                <a:latin typeface="Corbel"/>
                <a:cs typeface="Corbel"/>
              </a:rPr>
              <a:t>Winston</a:t>
            </a:r>
            <a:r>
              <a:rPr dirty="0" sz="1400" b="1">
                <a:solidFill>
                  <a:srgbClr val="0D0D0D"/>
                </a:solidFill>
                <a:latin typeface="Corbel"/>
                <a:cs typeface="Corbel"/>
              </a:rPr>
              <a:t>	</a:t>
            </a:r>
            <a:r>
              <a:rPr dirty="0" baseline="-25462" sz="1800" spc="-30">
                <a:latin typeface="Corbel"/>
                <a:cs typeface="Corbel"/>
              </a:rPr>
              <a:t>2017</a:t>
            </a:r>
            <a:endParaRPr baseline="-25462" sz="18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400">
              <a:latin typeface="Corbel"/>
              <a:cs typeface="Corbel"/>
            </a:endParaRPr>
          </a:p>
          <a:p>
            <a:pPr marL="380365" indent="-168275">
              <a:lnSpc>
                <a:spcPct val="100000"/>
              </a:lnSpc>
              <a:buFont typeface="Arial MT"/>
              <a:buChar char="•"/>
              <a:tabLst>
                <a:tab pos="380365" algn="l"/>
              </a:tabLst>
            </a:pP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EVP,</a:t>
            </a:r>
            <a:r>
              <a:rPr dirty="0" sz="1100" spc="-20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General</a:t>
            </a:r>
            <a:r>
              <a:rPr dirty="0" sz="1100" spc="-3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Counsel</a:t>
            </a:r>
            <a:r>
              <a:rPr dirty="0" sz="1100" spc="-20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 spc="-25">
                <a:solidFill>
                  <a:srgbClr val="0D0D0D"/>
                </a:solidFill>
                <a:latin typeface="Corbel"/>
                <a:cs typeface="Corbel"/>
              </a:rPr>
              <a:t>and</a:t>
            </a:r>
            <a:endParaRPr sz="1100">
              <a:latin typeface="Corbel"/>
              <a:cs typeface="Corbel"/>
            </a:endParaRPr>
          </a:p>
          <a:p>
            <a:pPr marL="382905">
              <a:lnSpc>
                <a:spcPct val="100000"/>
              </a:lnSpc>
            </a:pP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Chief</a:t>
            </a:r>
            <a:r>
              <a:rPr dirty="0" sz="1100" spc="-2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Ethics</a:t>
            </a:r>
            <a:r>
              <a:rPr dirty="0" sz="1100" spc="-10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&amp;</a:t>
            </a:r>
            <a:r>
              <a:rPr dirty="0" sz="1100" spc="-2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Compliance</a:t>
            </a:r>
            <a:r>
              <a:rPr dirty="0" sz="1100" spc="-2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0D0D0D"/>
                </a:solidFill>
                <a:latin typeface="Corbel"/>
                <a:cs typeface="Corbel"/>
              </a:rPr>
              <a:t>Officer</a:t>
            </a:r>
            <a:endParaRPr sz="1100">
              <a:latin typeface="Corbel"/>
              <a:cs typeface="Corbel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3464" y="4239767"/>
            <a:ext cx="530351" cy="621792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4465065" y="4085590"/>
            <a:ext cx="3249930" cy="1336040"/>
            <a:chOff x="4465065" y="4085590"/>
            <a:chExt cx="3249930" cy="1336040"/>
          </a:xfrm>
        </p:grpSpPr>
        <p:sp>
          <p:nvSpPr>
            <p:cNvPr id="40" name="object 40" descr=""/>
            <p:cNvSpPr/>
            <p:nvPr/>
          </p:nvSpPr>
          <p:spPr>
            <a:xfrm>
              <a:off x="4471415" y="4091940"/>
              <a:ext cx="3237230" cy="1323340"/>
            </a:xfrm>
            <a:custGeom>
              <a:avLst/>
              <a:gdLst/>
              <a:ahLst/>
              <a:cxnLst/>
              <a:rect l="l" t="t" r="r" b="b"/>
              <a:pathLst>
                <a:path w="3237229" h="1323339">
                  <a:moveTo>
                    <a:pt x="3236976" y="0"/>
                  </a:moveTo>
                  <a:lnTo>
                    <a:pt x="0" y="0"/>
                  </a:lnTo>
                  <a:lnTo>
                    <a:pt x="0" y="1322832"/>
                  </a:lnTo>
                  <a:lnTo>
                    <a:pt x="3236976" y="1322832"/>
                  </a:lnTo>
                  <a:lnTo>
                    <a:pt x="3236976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471415" y="4091940"/>
              <a:ext cx="3237230" cy="1323340"/>
            </a:xfrm>
            <a:custGeom>
              <a:avLst/>
              <a:gdLst/>
              <a:ahLst/>
              <a:cxnLst/>
              <a:rect l="l" t="t" r="r" b="b"/>
              <a:pathLst>
                <a:path w="3237229" h="1323339">
                  <a:moveTo>
                    <a:pt x="0" y="1322832"/>
                  </a:moveTo>
                  <a:lnTo>
                    <a:pt x="3236976" y="1322832"/>
                  </a:lnTo>
                  <a:lnTo>
                    <a:pt x="3236976" y="0"/>
                  </a:lnTo>
                  <a:lnTo>
                    <a:pt x="0" y="0"/>
                  </a:lnTo>
                  <a:lnTo>
                    <a:pt x="0" y="1322832"/>
                  </a:lnTo>
                  <a:close/>
                </a:path>
              </a:pathLst>
            </a:custGeom>
            <a:ln w="12192">
              <a:solidFill>
                <a:srgbClr val="B51E6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4683886" y="4967173"/>
            <a:ext cx="193103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7640" indent="-16764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67640" algn="l"/>
              </a:tabLst>
            </a:pP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Chief</a:t>
            </a:r>
            <a:r>
              <a:rPr dirty="0" sz="1100" spc="-20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Human</a:t>
            </a:r>
            <a:r>
              <a:rPr dirty="0" sz="1100" spc="-2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Resource</a:t>
            </a:r>
            <a:r>
              <a:rPr dirty="0" sz="1100" spc="-2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0D0D0D"/>
                </a:solidFill>
                <a:latin typeface="Corbel"/>
                <a:cs typeface="Corbel"/>
              </a:rPr>
              <a:t>Officer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217540" y="4295394"/>
            <a:ext cx="67119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8745" marR="5080" indent="-11938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D0D0D"/>
                </a:solidFill>
                <a:latin typeface="Corbel"/>
                <a:cs typeface="Corbel"/>
              </a:rPr>
              <a:t>Srikanth Karra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4501896" y="4203191"/>
            <a:ext cx="1655445" cy="664845"/>
            <a:chOff x="4501896" y="4203191"/>
            <a:chExt cx="1655445" cy="664845"/>
          </a:xfrm>
        </p:grpSpPr>
        <p:sp>
          <p:nvSpPr>
            <p:cNvPr id="45" name="object 45" descr=""/>
            <p:cNvSpPr/>
            <p:nvPr/>
          </p:nvSpPr>
          <p:spPr>
            <a:xfrm>
              <a:off x="6152388" y="4227575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w="0" h="640079">
                  <a:moveTo>
                    <a:pt x="0" y="0"/>
                  </a:moveTo>
                  <a:lnTo>
                    <a:pt x="0" y="640080"/>
                  </a:lnTo>
                </a:path>
              </a:pathLst>
            </a:custGeom>
            <a:ln w="9144">
              <a:solidFill>
                <a:srgbClr val="7D007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01896" y="4203191"/>
              <a:ext cx="601979" cy="601980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6270625" y="4435855"/>
            <a:ext cx="11861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orbel"/>
                <a:cs typeface="Corbel"/>
              </a:rPr>
              <a:t>Joined</a:t>
            </a:r>
            <a:r>
              <a:rPr dirty="0" sz="1200" spc="-25">
                <a:latin typeface="Corbel"/>
                <a:cs typeface="Corbel"/>
              </a:rPr>
              <a:t> </a:t>
            </a:r>
            <a:r>
              <a:rPr dirty="0" sz="1200">
                <a:latin typeface="Corbel"/>
                <a:cs typeface="Corbel"/>
              </a:rPr>
              <a:t>in</a:t>
            </a:r>
            <a:r>
              <a:rPr dirty="0" sz="1200" spc="-40">
                <a:latin typeface="Corbel"/>
                <a:cs typeface="Corbel"/>
              </a:rPr>
              <a:t> </a:t>
            </a:r>
            <a:r>
              <a:rPr dirty="0" sz="1200">
                <a:latin typeface="Corbel"/>
                <a:cs typeface="Corbel"/>
              </a:rPr>
              <a:t>May</a:t>
            </a:r>
            <a:r>
              <a:rPr dirty="0" sz="1200" spc="-25">
                <a:latin typeface="Corbel"/>
                <a:cs typeface="Corbel"/>
              </a:rPr>
              <a:t> </a:t>
            </a:r>
            <a:r>
              <a:rPr dirty="0" sz="1200" spc="-20">
                <a:latin typeface="Corbel"/>
                <a:cs typeface="Corbel"/>
              </a:rPr>
              <a:t>2017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065275" y="4091940"/>
            <a:ext cx="3237230" cy="1323340"/>
            <a:chOff x="1065275" y="4091940"/>
            <a:chExt cx="3237230" cy="1323340"/>
          </a:xfrm>
        </p:grpSpPr>
        <p:sp>
          <p:nvSpPr>
            <p:cNvPr id="49" name="object 49" descr=""/>
            <p:cNvSpPr/>
            <p:nvPr/>
          </p:nvSpPr>
          <p:spPr>
            <a:xfrm>
              <a:off x="1065275" y="4091940"/>
              <a:ext cx="3237230" cy="1323340"/>
            </a:xfrm>
            <a:custGeom>
              <a:avLst/>
              <a:gdLst/>
              <a:ahLst/>
              <a:cxnLst/>
              <a:rect l="l" t="t" r="r" b="b"/>
              <a:pathLst>
                <a:path w="3237229" h="1323339">
                  <a:moveTo>
                    <a:pt x="3236976" y="0"/>
                  </a:moveTo>
                  <a:lnTo>
                    <a:pt x="0" y="0"/>
                  </a:lnTo>
                  <a:lnTo>
                    <a:pt x="0" y="1322832"/>
                  </a:lnTo>
                  <a:lnTo>
                    <a:pt x="3236976" y="1322832"/>
                  </a:lnTo>
                  <a:lnTo>
                    <a:pt x="3236976" y="0"/>
                  </a:lnTo>
                  <a:close/>
                </a:path>
              </a:pathLst>
            </a:custGeom>
            <a:solidFill>
              <a:srgbClr val="9FB4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061715" y="4247388"/>
              <a:ext cx="0" cy="640080"/>
            </a:xfrm>
            <a:custGeom>
              <a:avLst/>
              <a:gdLst/>
              <a:ahLst/>
              <a:cxnLst/>
              <a:rect l="l" t="t" r="r" b="b"/>
              <a:pathLst>
                <a:path w="0" h="640079">
                  <a:moveTo>
                    <a:pt x="0" y="0"/>
                  </a:moveTo>
                  <a:lnTo>
                    <a:pt x="0" y="640080"/>
                  </a:lnTo>
                </a:path>
              </a:pathLst>
            </a:custGeom>
            <a:ln w="9144">
              <a:solidFill>
                <a:srgbClr val="7D007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1065275" y="4091940"/>
            <a:ext cx="3237230" cy="1323340"/>
          </a:xfrm>
          <a:prstGeom prst="rect">
            <a:avLst/>
          </a:prstGeom>
          <a:ln w="12192">
            <a:solidFill>
              <a:srgbClr val="B51E6A"/>
            </a:solidFill>
          </a:ln>
        </p:spPr>
        <p:txBody>
          <a:bodyPr wrap="square" lIns="0" tIns="1631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85"/>
              </a:spcBef>
            </a:pPr>
            <a:endParaRPr sz="1400">
              <a:latin typeface="Times New Roman"/>
              <a:cs typeface="Times New Roman"/>
            </a:endParaRPr>
          </a:p>
          <a:p>
            <a:pPr marL="671830">
              <a:lnSpc>
                <a:spcPts val="1230"/>
              </a:lnSpc>
              <a:tabLst>
                <a:tab pos="2114550" algn="l"/>
              </a:tabLst>
            </a:pPr>
            <a:r>
              <a:rPr dirty="0" sz="1400" spc="-10" b="1">
                <a:solidFill>
                  <a:srgbClr val="0D0D0D"/>
                </a:solidFill>
                <a:latin typeface="Corbel"/>
                <a:cs typeface="Corbel"/>
              </a:rPr>
              <a:t>Suryanarayanan</a:t>
            </a:r>
            <a:r>
              <a:rPr dirty="0" sz="1400" b="1">
                <a:solidFill>
                  <a:srgbClr val="0D0D0D"/>
                </a:solidFill>
                <a:latin typeface="Corbel"/>
                <a:cs typeface="Corbel"/>
              </a:rPr>
              <a:t>	</a:t>
            </a:r>
            <a:r>
              <a:rPr dirty="0" baseline="39351" sz="1800">
                <a:latin typeface="Corbel"/>
                <a:cs typeface="Corbel"/>
              </a:rPr>
              <a:t>9</a:t>
            </a:r>
            <a:r>
              <a:rPr dirty="0" baseline="39351" sz="1800" spc="-30">
                <a:latin typeface="Corbel"/>
                <a:cs typeface="Corbel"/>
              </a:rPr>
              <a:t> </a:t>
            </a:r>
            <a:r>
              <a:rPr dirty="0" baseline="39351" sz="1800">
                <a:latin typeface="Corbel"/>
                <a:cs typeface="Corbel"/>
              </a:rPr>
              <a:t>yrs</a:t>
            </a:r>
            <a:r>
              <a:rPr dirty="0" baseline="39351" sz="1800" spc="-22">
                <a:latin typeface="Corbel"/>
                <a:cs typeface="Corbel"/>
              </a:rPr>
              <a:t> </a:t>
            </a:r>
            <a:r>
              <a:rPr dirty="0" baseline="39351" sz="1800">
                <a:latin typeface="Corbel"/>
                <a:cs typeface="Corbel"/>
              </a:rPr>
              <a:t>in</a:t>
            </a:r>
            <a:r>
              <a:rPr dirty="0" baseline="39351" sz="1800" spc="-30">
                <a:latin typeface="Corbel"/>
                <a:cs typeface="Corbel"/>
              </a:rPr>
              <a:t> </a:t>
            </a:r>
            <a:r>
              <a:rPr dirty="0" baseline="39351" sz="1800" spc="-15">
                <a:latin typeface="Corbel"/>
                <a:cs typeface="Corbel"/>
              </a:rPr>
              <a:t>Mphasis</a:t>
            </a:r>
            <a:endParaRPr baseline="39351" sz="1800">
              <a:latin typeface="Corbel"/>
              <a:cs typeface="Corbel"/>
            </a:endParaRPr>
          </a:p>
          <a:p>
            <a:pPr marL="2114550">
              <a:lnSpc>
                <a:spcPts val="990"/>
              </a:lnSpc>
            </a:pPr>
            <a:r>
              <a:rPr dirty="0" sz="1200">
                <a:latin typeface="Corbel"/>
                <a:cs typeface="Corbel"/>
              </a:rPr>
              <a:t>4</a:t>
            </a:r>
            <a:r>
              <a:rPr dirty="0" sz="1200" spc="-10">
                <a:latin typeface="Corbel"/>
                <a:cs typeface="Corbel"/>
              </a:rPr>
              <a:t> </a:t>
            </a:r>
            <a:r>
              <a:rPr dirty="0" sz="1200">
                <a:latin typeface="Corbel"/>
                <a:cs typeface="Corbel"/>
              </a:rPr>
              <a:t>yrs</a:t>
            </a:r>
            <a:r>
              <a:rPr dirty="0" sz="1200" spc="-15">
                <a:latin typeface="Corbel"/>
                <a:cs typeface="Corbel"/>
              </a:rPr>
              <a:t> </a:t>
            </a:r>
            <a:r>
              <a:rPr dirty="0" sz="1200">
                <a:latin typeface="Corbel"/>
                <a:cs typeface="Corbel"/>
              </a:rPr>
              <a:t>in</a:t>
            </a:r>
            <a:r>
              <a:rPr dirty="0" sz="1200" spc="-25">
                <a:latin typeface="Corbel"/>
                <a:cs typeface="Corbel"/>
              </a:rPr>
              <a:t> </a:t>
            </a:r>
            <a:r>
              <a:rPr dirty="0" sz="1200" spc="-20">
                <a:latin typeface="Corbel"/>
                <a:cs typeface="Corbel"/>
              </a:rPr>
              <a:t>ExCo</a:t>
            </a:r>
            <a:endParaRPr sz="12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200">
              <a:latin typeface="Corbel"/>
              <a:cs typeface="Corbel"/>
            </a:endParaRPr>
          </a:p>
          <a:p>
            <a:pPr marL="379095" indent="-16764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79095" algn="l"/>
              </a:tabLst>
            </a:pP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Chief</a:t>
            </a:r>
            <a:r>
              <a:rPr dirty="0" sz="1100" spc="-10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>
                <a:solidFill>
                  <a:srgbClr val="0D0D0D"/>
                </a:solidFill>
                <a:latin typeface="Corbel"/>
                <a:cs typeface="Corbel"/>
              </a:rPr>
              <a:t>Financial</a:t>
            </a:r>
            <a:r>
              <a:rPr dirty="0" sz="1100" spc="-45">
                <a:solidFill>
                  <a:srgbClr val="0D0D0D"/>
                </a:solidFill>
                <a:latin typeface="Corbel"/>
                <a:cs typeface="Corbel"/>
              </a:rPr>
              <a:t> </a:t>
            </a:r>
            <a:r>
              <a:rPr dirty="0" sz="1100" spc="-10">
                <a:solidFill>
                  <a:srgbClr val="0D0D0D"/>
                </a:solidFill>
                <a:latin typeface="Corbel"/>
                <a:cs typeface="Corbel"/>
              </a:rPr>
              <a:t>Officer</a:t>
            </a:r>
            <a:endParaRPr sz="1100">
              <a:latin typeface="Corbel"/>
              <a:cs typeface="Corbel"/>
            </a:endParaRPr>
          </a:p>
        </p:txBody>
      </p:sp>
      <p:pic>
        <p:nvPicPr>
          <p:cNvPr id="52" name="object 5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14044" y="4203191"/>
            <a:ext cx="554736" cy="621792"/>
          </a:xfrm>
          <a:prstGeom prst="rect">
            <a:avLst/>
          </a:prstGeom>
        </p:spPr>
      </p:pic>
      <p:sp>
        <p:nvSpPr>
          <p:cNvPr id="53" name="object 5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54" name="object 5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6440" y="218313"/>
            <a:ext cx="29756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7665" algn="l"/>
                <a:tab pos="2962275" algn="l"/>
              </a:tabLst>
            </a:pPr>
            <a:r>
              <a:rPr dirty="0"/>
              <a:t>	Experienced</a:t>
            </a:r>
            <a:r>
              <a:rPr dirty="0" spc="-100"/>
              <a:t> </a:t>
            </a:r>
            <a:r>
              <a:rPr dirty="0" spc="-10"/>
              <a:t>Board</a:t>
            </a:r>
            <a:r>
              <a:rPr dirty="0"/>
              <a:t>	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46176" y="5995415"/>
            <a:ext cx="274320" cy="137160"/>
          </a:xfrm>
          <a:custGeom>
            <a:avLst/>
            <a:gdLst/>
            <a:ahLst/>
            <a:cxnLst/>
            <a:rect l="l" t="t" r="r" b="b"/>
            <a:pathLst>
              <a:path w="274319" h="137160">
                <a:moveTo>
                  <a:pt x="0" y="137160"/>
                </a:moveTo>
                <a:lnTo>
                  <a:pt x="274320" y="137160"/>
                </a:lnTo>
                <a:lnTo>
                  <a:pt x="274320" y="0"/>
                </a:lnTo>
                <a:lnTo>
                  <a:pt x="0" y="0"/>
                </a:lnTo>
                <a:lnTo>
                  <a:pt x="0" y="137160"/>
                </a:lnTo>
                <a:close/>
              </a:path>
            </a:pathLst>
          </a:custGeom>
          <a:ln w="6096">
            <a:solidFill>
              <a:srgbClr val="C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694688" y="6004559"/>
            <a:ext cx="280670" cy="143510"/>
            <a:chOff x="1694688" y="6004559"/>
            <a:chExt cx="280670" cy="143510"/>
          </a:xfrm>
        </p:grpSpPr>
        <p:sp>
          <p:nvSpPr>
            <p:cNvPr id="5" name="object 5" descr=""/>
            <p:cNvSpPr/>
            <p:nvPr/>
          </p:nvSpPr>
          <p:spPr>
            <a:xfrm>
              <a:off x="1697736" y="6007607"/>
              <a:ext cx="274320" cy="137160"/>
            </a:xfrm>
            <a:custGeom>
              <a:avLst/>
              <a:gdLst/>
              <a:ahLst/>
              <a:cxnLst/>
              <a:rect l="l" t="t" r="r" b="b"/>
              <a:pathLst>
                <a:path w="274319" h="137160">
                  <a:moveTo>
                    <a:pt x="274319" y="0"/>
                  </a:moveTo>
                  <a:lnTo>
                    <a:pt x="0" y="0"/>
                  </a:lnTo>
                  <a:lnTo>
                    <a:pt x="0" y="137159"/>
                  </a:lnTo>
                  <a:lnTo>
                    <a:pt x="274319" y="13715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B51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97736" y="6007607"/>
              <a:ext cx="274320" cy="137160"/>
            </a:xfrm>
            <a:custGeom>
              <a:avLst/>
              <a:gdLst/>
              <a:ahLst/>
              <a:cxnLst/>
              <a:rect l="l" t="t" r="r" b="b"/>
              <a:pathLst>
                <a:path w="274319" h="137160">
                  <a:moveTo>
                    <a:pt x="0" y="137159"/>
                  </a:moveTo>
                  <a:lnTo>
                    <a:pt x="274319" y="137159"/>
                  </a:lnTo>
                  <a:lnTo>
                    <a:pt x="274319" y="0"/>
                  </a:lnTo>
                  <a:lnTo>
                    <a:pt x="0" y="0"/>
                  </a:lnTo>
                  <a:lnTo>
                    <a:pt x="0" y="137159"/>
                  </a:lnTo>
                  <a:close/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69365" y="5990945"/>
            <a:ext cx="6635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orbel"/>
                <a:cs typeface="Corbel"/>
              </a:rPr>
              <a:t>Blackstone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992883" y="5995822"/>
            <a:ext cx="13220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orbel"/>
                <a:cs typeface="Corbel"/>
              </a:rPr>
              <a:t>Independent</a:t>
            </a:r>
            <a:r>
              <a:rPr dirty="0" sz="1100" spc="45">
                <a:latin typeface="Corbel"/>
                <a:cs typeface="Corbel"/>
              </a:rPr>
              <a:t> </a:t>
            </a:r>
            <a:r>
              <a:rPr dirty="0" sz="1100" spc="-10">
                <a:latin typeface="Corbel"/>
                <a:cs typeface="Corbel"/>
              </a:rPr>
              <a:t>Directors</a:t>
            </a:r>
            <a:endParaRPr sz="1100">
              <a:latin typeface="Corbel"/>
              <a:cs typeface="Corbe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883" y="1181100"/>
            <a:ext cx="833628" cy="1135379"/>
          </a:xfrm>
          <a:prstGeom prst="rect">
            <a:avLst/>
          </a:prstGeom>
        </p:spPr>
      </p:pic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591312" y="1178052"/>
          <a:ext cx="3427729" cy="1127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405"/>
                <a:gridCol w="2514599"/>
              </a:tblGrid>
              <a:tr h="45847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D007D"/>
                      </a:solidFill>
                      <a:prstDash val="solid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Davinder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Singh</a:t>
                      </a:r>
                      <a:r>
                        <a:rPr dirty="0" sz="1100" spc="-3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Brar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algn="ctr" marL="30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Chairman,</a:t>
                      </a:r>
                      <a:r>
                        <a:rPr dirty="0" sz="1100" spc="3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Independent</a:t>
                      </a:r>
                      <a:r>
                        <a:rPr dirty="0" sz="1100" spc="35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Director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7D007D"/>
                      </a:solidFill>
                      <a:prstDash val="solid"/>
                    </a:lnL>
                    <a:lnR w="9525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B51E6A"/>
                    </a:solidFill>
                  </a:tcPr>
                </a:tc>
              </a:tr>
              <a:tr h="6686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D007D"/>
                      </a:solidFill>
                      <a:prstDash val="solid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Promoter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of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GVK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Biosciences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Formerly</a:t>
                      </a:r>
                      <a:r>
                        <a:rPr dirty="0" sz="1100" spc="-4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Director</a:t>
                      </a:r>
                      <a:r>
                        <a:rPr dirty="0" sz="110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of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the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Reserve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Bank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of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India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(RBI)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7D007D"/>
                      </a:solidFill>
                      <a:prstDash val="solid"/>
                    </a:lnL>
                    <a:lnR w="9525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9FB4D3"/>
                    </a:solidFill>
                  </a:tcPr>
                </a:tc>
              </a:tr>
            </a:tbl>
          </a:graphicData>
        </a:graphic>
      </p:graphicFrame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3964" y="1194816"/>
            <a:ext cx="822960" cy="1129284"/>
          </a:xfrm>
          <a:prstGeom prst="rect">
            <a:avLst/>
          </a:prstGeom>
        </p:spPr>
      </p:pic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4277867" y="1190244"/>
          <a:ext cx="3439795" cy="1129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9310"/>
                <a:gridCol w="2525394"/>
              </a:tblGrid>
              <a:tr h="4464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D007D"/>
                      </a:solidFill>
                      <a:prstDash val="solid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Nitin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Rakesh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10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CEO</a:t>
                      </a: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and</a:t>
                      </a:r>
                      <a:r>
                        <a:rPr dirty="0" sz="1100" spc="-2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Director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7D007D"/>
                      </a:solidFill>
                      <a:prstDash val="solid"/>
                    </a:lnL>
                    <a:lnR w="9525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814B8D"/>
                    </a:solidFill>
                  </a:tcPr>
                </a:tc>
              </a:tr>
              <a:tr h="6826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D007D"/>
                      </a:solidFill>
                      <a:prstDash val="solid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68910">
                        <a:lnSpc>
                          <a:spcPct val="114500"/>
                        </a:lnSpc>
                        <a:spcBef>
                          <a:spcPts val="1015"/>
                        </a:spcBef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CEO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and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Director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at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Mphasis</a:t>
                      </a:r>
                      <a:r>
                        <a:rPr dirty="0" sz="1100" spc="50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Previously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CEO</a:t>
                      </a:r>
                      <a:r>
                        <a:rPr dirty="0" sz="1100" spc="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and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President of</a:t>
                      </a:r>
                      <a:r>
                        <a:rPr dirty="0" sz="1100" spc="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Syntel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7D007D"/>
                      </a:solidFill>
                      <a:prstDash val="solid"/>
                    </a:lnL>
                    <a:lnR w="9525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9FB4D3"/>
                    </a:solidFill>
                  </a:tcPr>
                </a:tc>
              </a:tr>
            </a:tbl>
          </a:graphicData>
        </a:graphic>
      </p:graphicFrame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6719" y="1188719"/>
            <a:ext cx="842772" cy="1135379"/>
          </a:xfrm>
          <a:prstGeom prst="rect">
            <a:avLst/>
          </a:prstGeom>
        </p:spPr>
      </p:pic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8048243" y="1188719"/>
          <a:ext cx="3421379" cy="1128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8040"/>
                <a:gridCol w="2507615"/>
              </a:tblGrid>
              <a:tr h="4476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D007D"/>
                      </a:solidFill>
                      <a:prstDash val="solid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N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Kumar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Independent</a:t>
                      </a:r>
                      <a:r>
                        <a:rPr dirty="0" sz="1100" spc="45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Director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47625">
                    <a:lnL w="12700">
                      <a:solidFill>
                        <a:srgbClr val="7D007D"/>
                      </a:solidFill>
                      <a:prstDash val="solid"/>
                    </a:lnL>
                    <a:lnR w="9525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B51E6A"/>
                    </a:solidFill>
                  </a:tcPr>
                </a:tc>
              </a:tr>
              <a:tr h="6807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D007D"/>
                      </a:solidFill>
                      <a:prstDash val="solid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297815">
                        <a:lnSpc>
                          <a:spcPct val="100000"/>
                        </a:lnSpc>
                      </a:pPr>
                      <a:r>
                        <a:rPr dirty="0" sz="1050">
                          <a:latin typeface="Corbel"/>
                          <a:cs typeface="Corbel"/>
                        </a:rPr>
                        <a:t>Vice</a:t>
                      </a:r>
                      <a:r>
                        <a:rPr dirty="0" sz="105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>
                          <a:latin typeface="Corbel"/>
                          <a:cs typeface="Corbel"/>
                        </a:rPr>
                        <a:t>Chairman</a:t>
                      </a:r>
                      <a:r>
                        <a:rPr dirty="0" sz="105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>
                          <a:latin typeface="Corbel"/>
                          <a:cs typeface="Corbel"/>
                        </a:rPr>
                        <a:t>of</a:t>
                      </a:r>
                      <a:r>
                        <a:rPr dirty="0" sz="105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>
                          <a:latin typeface="Corbel"/>
                          <a:cs typeface="Corbel"/>
                        </a:rPr>
                        <a:t>the</a:t>
                      </a:r>
                      <a:r>
                        <a:rPr dirty="0" sz="105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>
                          <a:latin typeface="Corbel"/>
                          <a:cs typeface="Corbel"/>
                        </a:rPr>
                        <a:t>Sanmar</a:t>
                      </a:r>
                      <a:r>
                        <a:rPr dirty="0" sz="105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>
                          <a:latin typeface="Corbel"/>
                          <a:cs typeface="Corbel"/>
                        </a:rPr>
                        <a:t>Group,</a:t>
                      </a:r>
                      <a:r>
                        <a:rPr dirty="0" sz="105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 spc="-50">
                          <a:latin typeface="Corbel"/>
                          <a:cs typeface="Corbel"/>
                        </a:rPr>
                        <a:t>a</a:t>
                      </a:r>
                      <a:r>
                        <a:rPr dirty="0" sz="1050" spc="-10">
                          <a:latin typeface="Corbel"/>
                          <a:cs typeface="Corbel"/>
                        </a:rPr>
                        <a:t> multinational</a:t>
                      </a:r>
                      <a:r>
                        <a:rPr dirty="0" sz="1050" spc="6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 spc="-10">
                          <a:latin typeface="Corbel"/>
                          <a:cs typeface="Corbel"/>
                        </a:rPr>
                        <a:t>conglomerate</a:t>
                      </a:r>
                      <a:endParaRPr sz="1050">
                        <a:latin typeface="Corbel"/>
                        <a:cs typeface="Corbel"/>
                      </a:endParaRPr>
                    </a:p>
                    <a:p>
                      <a:pPr marL="93980" marR="3397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>
                          <a:latin typeface="Corbel"/>
                          <a:cs typeface="Corbel"/>
                        </a:rPr>
                        <a:t>Honorary</a:t>
                      </a:r>
                      <a:r>
                        <a:rPr dirty="0" sz="105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>
                          <a:latin typeface="Corbel"/>
                          <a:cs typeface="Corbel"/>
                        </a:rPr>
                        <a:t>Consul</a:t>
                      </a:r>
                      <a:r>
                        <a:rPr dirty="0" sz="105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>
                          <a:latin typeface="Corbel"/>
                          <a:cs typeface="Corbel"/>
                        </a:rPr>
                        <a:t>General</a:t>
                      </a:r>
                      <a:r>
                        <a:rPr dirty="0" sz="105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>
                          <a:latin typeface="Corbel"/>
                          <a:cs typeface="Corbel"/>
                        </a:rPr>
                        <a:t>of</a:t>
                      </a:r>
                      <a:r>
                        <a:rPr dirty="0" sz="105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>
                          <a:latin typeface="Corbel"/>
                          <a:cs typeface="Corbel"/>
                        </a:rPr>
                        <a:t>Greece</a:t>
                      </a:r>
                      <a:r>
                        <a:rPr dirty="0" sz="1050" spc="-3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050" spc="-25">
                          <a:latin typeface="Corbel"/>
                          <a:cs typeface="Corbel"/>
                        </a:rPr>
                        <a:t>in</a:t>
                      </a:r>
                      <a:r>
                        <a:rPr dirty="0" sz="1050" spc="-10">
                          <a:latin typeface="Corbel"/>
                          <a:cs typeface="Corbel"/>
                        </a:rPr>
                        <a:t> Chennai</a:t>
                      </a:r>
                      <a:endParaRPr sz="105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12700">
                      <a:solidFill>
                        <a:srgbClr val="7D007D"/>
                      </a:solidFill>
                      <a:prstDash val="solid"/>
                    </a:lnL>
                    <a:lnR w="9525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9FB4D3"/>
                    </a:solidFill>
                  </a:tcPr>
                </a:tc>
              </a:tr>
            </a:tbl>
          </a:graphicData>
        </a:graphic>
      </p:graphicFrame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5883" y="2750820"/>
            <a:ext cx="826008" cy="1124711"/>
          </a:xfrm>
          <a:prstGeom prst="rect">
            <a:avLst/>
          </a:prstGeom>
        </p:spPr>
      </p:pic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591312" y="2743200"/>
          <a:ext cx="3427729" cy="1129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405"/>
                <a:gridCol w="2514599"/>
              </a:tblGrid>
              <a:tr h="47370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D007D"/>
                      </a:solidFill>
                      <a:prstDash val="solid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Jan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Kathleen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Hier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Independent</a:t>
                      </a:r>
                      <a:r>
                        <a:rPr dirty="0" sz="1100" spc="45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Director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7D007D"/>
                      </a:solidFill>
                      <a:prstDash val="solid"/>
                    </a:lnL>
                    <a:lnR w="9525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B51E6A"/>
                    </a:solidFill>
                  </a:tcPr>
                </a:tc>
              </a:tr>
              <a:tr h="6553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D007D"/>
                      </a:solidFill>
                      <a:prstDash val="solid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marR="63500">
                        <a:lnSpc>
                          <a:spcPct val="107300"/>
                        </a:lnSpc>
                        <a:spcBef>
                          <a:spcPts val="340"/>
                        </a:spcBef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Formerly</a:t>
                      </a:r>
                      <a:r>
                        <a:rPr dirty="0" sz="1100" spc="-5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Executive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VP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at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Charles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Schwab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Served</a:t>
                      </a:r>
                      <a:r>
                        <a:rPr dirty="0" sz="110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as</a:t>
                      </a:r>
                      <a:r>
                        <a:rPr dirty="0" sz="1100" spc="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VP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Engineering</a:t>
                      </a:r>
                      <a:r>
                        <a:rPr dirty="0" sz="1100" spc="-3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at</a:t>
                      </a:r>
                      <a:r>
                        <a:rPr dirty="0" sz="1100" spc="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Transaction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Technology,</a:t>
                      </a:r>
                      <a:r>
                        <a:rPr dirty="0" sz="110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Citicorp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subsidiary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7D007D"/>
                      </a:solidFill>
                      <a:prstDash val="solid"/>
                    </a:lnL>
                    <a:lnR w="9525">
                      <a:solidFill>
                        <a:srgbClr val="7D007D"/>
                      </a:solidFill>
                      <a:prstDash val="solid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9FB4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4264152" y="2738627"/>
          <a:ext cx="3459479" cy="1146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835"/>
                <a:gridCol w="2524125"/>
              </a:tblGrid>
              <a:tr h="4622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ysDash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David</a:t>
                      </a:r>
                      <a:r>
                        <a:rPr dirty="0" sz="1100" spc="-3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Lawrence</a:t>
                      </a:r>
                      <a:r>
                        <a:rPr dirty="0" sz="1100" spc="-3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Johnson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Director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55880">
                    <a:lnL w="12700">
                      <a:solidFill>
                        <a:srgbClr val="7D007D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ysDash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814B8D"/>
                    </a:solidFill>
                  </a:tcPr>
                </a:tc>
              </a:tr>
              <a:tr h="6845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ysDash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Senior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Advisor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at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Blackstone</a:t>
                      </a:r>
                      <a:r>
                        <a:rPr dirty="0" sz="110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based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in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New 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York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Formerly</a:t>
                      </a:r>
                      <a:r>
                        <a:rPr dirty="0" sz="1100" spc="-4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Senior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VP</a:t>
                      </a:r>
                      <a:r>
                        <a:rPr dirty="0" sz="110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of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Strategy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at 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Dell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7D007D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ysDash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  <a:solidFill>
                      <a:srgbClr val="9FB4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object 18" descr=""/>
          <p:cNvGraphicFramePr>
            <a:graphicFrameLocks noGrp="1"/>
          </p:cNvGraphicFramePr>
          <p:nvPr/>
        </p:nvGraphicFramePr>
        <p:xfrm>
          <a:off x="8030718" y="2726435"/>
          <a:ext cx="3445510" cy="1147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/>
                <a:gridCol w="2508885"/>
              </a:tblGrid>
              <a:tr h="47117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ysDash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Marshall</a:t>
                      </a:r>
                      <a:r>
                        <a:rPr dirty="0" sz="1100" spc="-3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Lux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algn="ctr" marL="31750">
                        <a:lnSpc>
                          <a:spcPct val="100000"/>
                        </a:lnSpc>
                      </a:pP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Director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64769">
                    <a:lnL w="12700">
                      <a:solidFill>
                        <a:srgbClr val="7D007D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ysDash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814B8D"/>
                    </a:solidFill>
                  </a:tcPr>
                </a:tc>
              </a:tr>
              <a:tr h="6762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ysDash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40"/>
                        </a:lnSpc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Financial</a:t>
                      </a:r>
                      <a:r>
                        <a:rPr dirty="0" sz="1100" spc="-5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Services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consultant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and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Corbel"/>
                          <a:cs typeface="Corbel"/>
                        </a:rPr>
                        <a:t>practitioner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for</a:t>
                      </a:r>
                      <a:r>
                        <a:rPr dirty="0" sz="1100" spc="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over 30</a:t>
                      </a:r>
                      <a:r>
                        <a:rPr dirty="0" sz="1100" spc="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years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94615" marR="61594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On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the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board/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advisory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council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of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 various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PEs</a:t>
                      </a:r>
                      <a:r>
                        <a:rPr dirty="0" sz="1100" spc="19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across</a:t>
                      </a:r>
                      <a:r>
                        <a:rPr dirty="0" sz="110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industries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and</a:t>
                      </a:r>
                      <a:r>
                        <a:rPr dirty="0" sz="1100" spc="-4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geographies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12700">
                      <a:solidFill>
                        <a:srgbClr val="7D007D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ysDash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  <a:solidFill>
                      <a:srgbClr val="9FB4D3"/>
                    </a:solidFill>
                  </a:tcPr>
                </a:tc>
              </a:tr>
            </a:tbl>
          </a:graphicData>
        </a:graphic>
      </p:graphicFrame>
      <p:pic>
        <p:nvPicPr>
          <p:cNvPr id="19" name="object 1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2836" y="4312920"/>
            <a:ext cx="856488" cy="1136903"/>
          </a:xfrm>
          <a:prstGeom prst="rect">
            <a:avLst/>
          </a:prstGeom>
        </p:spPr>
      </p:pic>
      <p:graphicFrame>
        <p:nvGraphicFramePr>
          <p:cNvPr id="20" name="object 20" descr=""/>
          <p:cNvGraphicFramePr>
            <a:graphicFrameLocks noGrp="1"/>
          </p:cNvGraphicFramePr>
          <p:nvPr/>
        </p:nvGraphicFramePr>
        <p:xfrm>
          <a:off x="577595" y="4290821"/>
          <a:ext cx="3449320" cy="1147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4390"/>
                <a:gridCol w="2515235"/>
              </a:tblGrid>
              <a:tr h="4857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ysDash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Paul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James</a:t>
                      </a:r>
                      <a:r>
                        <a:rPr dirty="0" sz="1100" spc="-3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Upchurch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algn="ctr" marL="31750">
                        <a:lnSpc>
                          <a:spcPct val="100000"/>
                        </a:lnSpc>
                      </a:pP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Director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7D007D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ysDash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814B8D"/>
                    </a:solidFill>
                  </a:tcPr>
                </a:tc>
              </a:tr>
              <a:tr h="6616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ysDash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19380">
                        <a:lnSpc>
                          <a:spcPct val="100000"/>
                        </a:lnSpc>
                        <a:spcBef>
                          <a:spcPts val="1095"/>
                        </a:spcBef>
                        <a:buClr>
                          <a:srgbClr val="E1E1E1"/>
                        </a:buClr>
                        <a:buSzPct val="90909"/>
                        <a:buFont typeface="Cambria"/>
                        <a:buChar char="◾"/>
                        <a:tabLst>
                          <a:tab pos="171450" algn="l"/>
                        </a:tabLst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Executive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Director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at</a:t>
                      </a:r>
                      <a:r>
                        <a:rPr dirty="0" sz="1100" spc="-3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Blackstone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170815" indent="-118745">
                        <a:lnSpc>
                          <a:spcPct val="100000"/>
                        </a:lnSpc>
                        <a:spcBef>
                          <a:spcPts val="190"/>
                        </a:spcBef>
                        <a:buClr>
                          <a:srgbClr val="E1E1E1"/>
                        </a:buClr>
                        <a:buSzPct val="90909"/>
                        <a:buFont typeface="Cambria"/>
                        <a:buChar char="◾"/>
                        <a:tabLst>
                          <a:tab pos="170815" algn="l"/>
                        </a:tabLst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Formerly</a:t>
                      </a:r>
                      <a:r>
                        <a:rPr dirty="0" sz="110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an Executive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VP</a:t>
                      </a:r>
                      <a:r>
                        <a:rPr dirty="0" sz="110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at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Nielsen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7D007D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ysDash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  <a:solidFill>
                      <a:srgbClr val="9FB4D3"/>
                    </a:solidFill>
                  </a:tcPr>
                </a:tc>
              </a:tr>
            </a:tbl>
          </a:graphicData>
        </a:graphic>
      </p:graphicFrame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76344" y="4326635"/>
            <a:ext cx="858012" cy="1132332"/>
          </a:xfrm>
          <a:prstGeom prst="rect">
            <a:avLst/>
          </a:prstGeom>
        </p:spPr>
      </p:pic>
      <p:graphicFrame>
        <p:nvGraphicFramePr>
          <p:cNvPr id="22" name="object 22" descr=""/>
          <p:cNvGraphicFramePr>
            <a:graphicFrameLocks noGrp="1"/>
          </p:cNvGraphicFramePr>
          <p:nvPr/>
        </p:nvGraphicFramePr>
        <p:xfrm>
          <a:off x="4264914" y="4303776"/>
          <a:ext cx="3458845" cy="1148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/>
                <a:gridCol w="2522855"/>
              </a:tblGrid>
              <a:tr h="4730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ysDash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Amit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Dixit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algn="ctr" marL="30480">
                        <a:lnSpc>
                          <a:spcPct val="100000"/>
                        </a:lnSpc>
                      </a:pP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Director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7D007D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ysDash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814B8D"/>
                    </a:solidFill>
                  </a:tcPr>
                </a:tc>
              </a:tr>
              <a:tr h="675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ysDash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4615" marR="189230">
                        <a:lnSpc>
                          <a:spcPct val="107300"/>
                        </a:lnSpc>
                        <a:spcBef>
                          <a:spcPts val="390"/>
                        </a:spcBef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Senior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 Managing</a:t>
                      </a:r>
                      <a:r>
                        <a:rPr dirty="0" sz="110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Director</a:t>
                      </a:r>
                      <a:r>
                        <a:rPr dirty="0" sz="1100" spc="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and</a:t>
                      </a:r>
                      <a:r>
                        <a:rPr dirty="0" sz="110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Head</a:t>
                      </a:r>
                      <a:r>
                        <a:rPr dirty="0" sz="1100" spc="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of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 Private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Equity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in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India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for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Blackstone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Formerly</a:t>
                      </a:r>
                      <a:r>
                        <a:rPr dirty="0" sz="1100" spc="-4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Principal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at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Warburg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Pincus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7D007D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ysDash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  <a:solidFill>
                      <a:srgbClr val="9FB4D3"/>
                    </a:solidFill>
                  </a:tcPr>
                </a:tc>
              </a:tr>
            </a:tbl>
          </a:graphicData>
        </a:graphic>
      </p:graphicFrame>
      <p:pic>
        <p:nvPicPr>
          <p:cNvPr id="23" name="object 2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46719" y="4306823"/>
            <a:ext cx="853440" cy="1138428"/>
          </a:xfrm>
          <a:prstGeom prst="rect">
            <a:avLst/>
          </a:prstGeom>
        </p:spPr>
      </p:pic>
      <p:graphicFrame>
        <p:nvGraphicFramePr>
          <p:cNvPr id="24" name="object 24" descr=""/>
          <p:cNvGraphicFramePr>
            <a:graphicFrameLocks noGrp="1"/>
          </p:cNvGraphicFramePr>
          <p:nvPr/>
        </p:nvGraphicFramePr>
        <p:xfrm>
          <a:off x="8030718" y="4299203"/>
          <a:ext cx="3445510" cy="1148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/>
                <a:gridCol w="2508885"/>
              </a:tblGrid>
              <a:tr h="4699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ysDash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Amit</a:t>
                      </a:r>
                      <a:r>
                        <a:rPr dirty="0" sz="1100" spc="-3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Dalmia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100" spc="-10" b="1" i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Director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7D007D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ysDash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9525">
                      <a:solidFill>
                        <a:srgbClr val="7D007D"/>
                      </a:solidFill>
                      <a:prstDash val="solid"/>
                    </a:lnB>
                    <a:solidFill>
                      <a:srgbClr val="814B8D"/>
                    </a:solidFill>
                  </a:tcPr>
                </a:tc>
              </a:tr>
              <a:tr h="6781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ysDash"/>
                    </a:lnL>
                    <a:lnR w="12700">
                      <a:solidFill>
                        <a:srgbClr val="7D007D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ysDash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140"/>
                        </a:lnSpc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Managing</a:t>
                      </a:r>
                      <a:r>
                        <a:rPr dirty="0" sz="1100" spc="-4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Director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in</a:t>
                      </a:r>
                      <a:r>
                        <a:rPr dirty="0" sz="110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the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Private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 Equity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group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in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India</a:t>
                      </a:r>
                      <a:r>
                        <a:rPr dirty="0" sz="1100" spc="-2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for</a:t>
                      </a:r>
                      <a:r>
                        <a:rPr dirty="0" sz="1100" spc="-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Blackstone</a:t>
                      </a:r>
                      <a:endParaRPr sz="1100">
                        <a:latin typeface="Corbel"/>
                        <a:cs typeface="Corbel"/>
                      </a:endParaRPr>
                    </a:p>
                    <a:p>
                      <a:pPr marL="94615" marR="220979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100">
                          <a:latin typeface="Corbel"/>
                          <a:cs typeface="Corbel"/>
                        </a:rPr>
                        <a:t>Formerly</a:t>
                      </a:r>
                      <a:r>
                        <a:rPr dirty="0" sz="1100" spc="-4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served</a:t>
                      </a:r>
                      <a:r>
                        <a:rPr dirty="0" sz="110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various</a:t>
                      </a:r>
                      <a:r>
                        <a:rPr dirty="0" sz="1100" spc="-1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management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roles</a:t>
                      </a:r>
                      <a:r>
                        <a:rPr dirty="0" sz="1100" spc="-3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at</a:t>
                      </a:r>
                      <a:r>
                        <a:rPr dirty="0" sz="1100" spc="-1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Hindustan</a:t>
                      </a:r>
                      <a:r>
                        <a:rPr dirty="0" sz="1100" spc="-35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>
                          <a:latin typeface="Corbel"/>
                          <a:cs typeface="Corbel"/>
                        </a:rPr>
                        <a:t>Unilever</a:t>
                      </a:r>
                      <a:r>
                        <a:rPr dirty="0" sz="1100" spc="-4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100" spc="-20">
                          <a:latin typeface="Corbel"/>
                          <a:cs typeface="Corbel"/>
                        </a:rPr>
                        <a:t>India</a:t>
                      </a:r>
                      <a:endParaRPr sz="11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12700">
                      <a:solidFill>
                        <a:srgbClr val="7D007D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ysDash"/>
                    </a:lnR>
                    <a:lnT w="9525">
                      <a:solidFill>
                        <a:srgbClr val="7D007D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ysDash"/>
                    </a:lnB>
                    <a:solidFill>
                      <a:srgbClr val="9FB4D3"/>
                    </a:solidFill>
                  </a:tcPr>
                </a:tc>
              </a:tr>
            </a:tbl>
          </a:graphicData>
        </a:graphic>
      </p:graphicFrame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87011" y="2758439"/>
            <a:ext cx="847343" cy="112776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61959" y="2747772"/>
            <a:ext cx="809244" cy="1127759"/>
          </a:xfrm>
          <a:prstGeom prst="rect">
            <a:avLst/>
          </a:prstGeom>
        </p:spPr>
      </p:pic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0"/>
              </a:lnSpc>
            </a:pPr>
            <a:r>
              <a:rPr dirty="0"/>
              <a:t>25-01-2019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15"/>
              <a:t> </a:t>
            </a:r>
            <a:r>
              <a:rPr dirty="0"/>
              <a:t>©</a:t>
            </a:r>
            <a:r>
              <a:rPr dirty="0" spc="15"/>
              <a:t> </a:t>
            </a:r>
            <a:r>
              <a:rPr dirty="0"/>
              <a:t>Mphasis</a:t>
            </a:r>
            <a:r>
              <a:rPr dirty="0" spc="50"/>
              <a:t> </a:t>
            </a:r>
            <a:r>
              <a:rPr dirty="0"/>
              <a:t>2018</a:t>
            </a:r>
            <a:r>
              <a:rPr dirty="0" spc="350"/>
              <a:t> </a:t>
            </a:r>
            <a:r>
              <a:rPr dirty="0"/>
              <a:t>Proprietary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/>
              <a:t>confidential</a:t>
            </a:r>
            <a:r>
              <a:rPr dirty="0" spc="10"/>
              <a:t> </a:t>
            </a:r>
            <a:r>
              <a:rPr dirty="0" spc="-10"/>
              <a:t>information</a:t>
            </a: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Rakschit Bhardwaj</dc:creator>
  <dc:title>Mphasis Corporate</dc:title>
  <dcterms:created xsi:type="dcterms:W3CDTF">2026-06-06T13:50:37Z</dcterms:created>
  <dcterms:modified xsi:type="dcterms:W3CDTF">2026-06-06T13:50:37Z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2019-01-25T00:00:00Z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2026-06-06T00:00:00Z</vt:filetime>
  </property>
  <property fmtid="{D5CDD505-2E9C-101B-9397-08002B2CF9AE}" pid="5" name="Producer">
    <vt:lpwstr>Microsoft® PowerPoint® 2013</vt:lpwstr>
  </property>
</Properties>
</file>